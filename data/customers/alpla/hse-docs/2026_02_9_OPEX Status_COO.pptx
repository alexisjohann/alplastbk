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903" r:id="rId5"/>
    <p:sldId id="912" r:id="rId6"/>
    <p:sldId id="1823" r:id="rId7"/>
    <p:sldId id="5308" r:id="rId8"/>
    <p:sldId id="1891" r:id="rId9"/>
    <p:sldId id="1862" r:id="rId10"/>
    <p:sldId id="1856" r:id="rId11"/>
  </p:sldIdLst>
  <p:sldSz cx="9144000" cy="5143500" type="screen16x9"/>
  <p:notesSz cx="29456063" cy="41984613"/>
  <p:custDataLst>
    <p:tags r:id="rId14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4D4C"/>
    <a:srgbClr val="00C7A4"/>
    <a:srgbClr val="EBB73B"/>
    <a:srgbClr val="DABA97"/>
    <a:srgbClr val="9AD4C1"/>
    <a:srgbClr val="49AA82"/>
    <a:srgbClr val="848434"/>
    <a:srgbClr val="E58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>
            <a:extLst>
              <a:ext uri="{FF2B5EF4-FFF2-40B4-BE49-F238E27FC236}">
                <a16:creationId xmlns:a16="http://schemas.microsoft.com/office/drawing/2014/main" id="{CCDE108C-0740-4D59-A868-489EDA37B2B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2121254" y="2885797"/>
            <a:ext cx="12066122" cy="1520428"/>
          </a:xfrm>
          <a:prstGeom prst="rect">
            <a:avLst/>
          </a:prstGeom>
        </p:spPr>
        <p:txBody>
          <a:bodyPr vert="horz" lIns="0" tIns="0" rIns="0" bIns="296667" rtlCol="0" anchor="b"/>
          <a:lstStyle>
            <a:lvl1pPr algn="l">
              <a:defRPr sz="2600"/>
            </a:lvl1pPr>
          </a:lstStyle>
          <a:p>
            <a:endParaRPr lang="en-GB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CF318822-D141-48E2-A18C-1342F66338B4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15364802" y="2885797"/>
            <a:ext cx="12039578" cy="1520428"/>
          </a:xfrm>
          <a:prstGeom prst="rect">
            <a:avLst/>
          </a:prstGeom>
        </p:spPr>
        <p:txBody>
          <a:bodyPr vert="horz" lIns="0" tIns="0" rIns="0" bIns="296667" rtlCol="0" anchor="b"/>
          <a:lstStyle>
            <a:lvl1pPr algn="r">
              <a:defRPr sz="2600"/>
            </a:lvl1pPr>
          </a:lstStyle>
          <a:p>
            <a:fld id="{FA132550-29B4-4D1A-B5A9-C046257652C4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F7AD149-25B4-435D-B18A-F47DEF8826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gray">
          <a:xfrm>
            <a:off x="2121254" y="37071425"/>
            <a:ext cx="12066122" cy="152042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2600"/>
            </a:lvl1pPr>
          </a:lstStyle>
          <a:p>
            <a:endParaRPr lang="en-GB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544C6B5-3EBD-4489-BE81-1AE9C3CFD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gray">
          <a:xfrm>
            <a:off x="15364802" y="37071425"/>
            <a:ext cx="12039578" cy="152042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2600" b="1"/>
            </a:lvl1pPr>
          </a:lstStyle>
          <a:p>
            <a:fld id="{3CA3BB57-E9BD-4315-B19F-606B66B7A050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9661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2" pos="1302" userDrawn="1">
          <p15:clr>
            <a:srgbClr val="F26B43"/>
          </p15:clr>
        </p15:guide>
        <p15:guide id="3" orient="horz" pos="282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2650982" y="1421258"/>
            <a:ext cx="11536399" cy="1520428"/>
          </a:xfrm>
          <a:prstGeom prst="rect">
            <a:avLst/>
          </a:prstGeom>
        </p:spPr>
        <p:txBody>
          <a:bodyPr vert="horz" lIns="0" tIns="0" rIns="0" bIns="296667" rtlCol="0" anchor="b"/>
          <a:lstStyle>
            <a:lvl1pPr algn="l">
              <a:defRPr sz="26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15147430" y="1421258"/>
            <a:ext cx="13196053" cy="1520428"/>
          </a:xfrm>
          <a:prstGeom prst="rect">
            <a:avLst/>
          </a:prstGeom>
        </p:spPr>
        <p:txBody>
          <a:bodyPr vert="horz" lIns="0" tIns="0" rIns="0" bIns="296667" rtlCol="0" anchor="b"/>
          <a:lstStyle>
            <a:lvl1pPr algn="r">
              <a:defRPr sz="2600"/>
            </a:lvl1pPr>
          </a:lstStyle>
          <a:p>
            <a:fld id="{FA132550-29B4-4D1A-B5A9-C046257652C4}" type="datetimeFigureOut">
              <a:rPr lang="en-GB" smtClean="0"/>
              <a:pPr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2798763" y="4030663"/>
            <a:ext cx="25398412" cy="14285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389883" tIns="194942" rIns="389883" bIns="19494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2650982" y="20042594"/>
            <a:ext cx="25695594" cy="177215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2650982" y="39108804"/>
            <a:ext cx="11536399" cy="152042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26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15147430" y="39108804"/>
            <a:ext cx="13196053" cy="152042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2600" b="1"/>
            </a:lvl1pPr>
          </a:lstStyle>
          <a:p>
            <a:fld id="{3CA3BB57-E9BD-4315-B19F-606B66B7A050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69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b="0" kern="1200">
        <a:solidFill>
          <a:srgbClr val="2793C9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00000"/>
      </a:lnSpc>
      <a:spcBef>
        <a:spcPts val="0"/>
      </a:spcBef>
      <a:spcAft>
        <a:spcPts val="300"/>
      </a:spcAft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lphaLcPeriod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rgbClr val="2793C9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1669" userDrawn="1">
          <p15:clr>
            <a:srgbClr val="F26B43"/>
          </p15:clr>
        </p15:guide>
        <p15:guide id="3" pos="17856" userDrawn="1">
          <p15:clr>
            <a:srgbClr val="F26B43"/>
          </p15:clr>
        </p15:guide>
        <p15:guide id="4" orient="horz" pos="12587" userDrawn="1">
          <p15:clr>
            <a:srgbClr val="F26B43"/>
          </p15:clr>
        </p15:guide>
        <p15:guide id="5" orient="horz" pos="1156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FFC5-D8EC-7C0E-9E1C-B71C11E1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7AD00-1252-F61F-7E7B-50DA66FA0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98763" y="4030663"/>
            <a:ext cx="25404762" cy="142906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C6D3E-D774-9880-5796-DC4215581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6DFE4-7DB3-8839-BA1C-2D82CE616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507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982663"/>
            <a:ext cx="6191250" cy="348297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13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34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0EA213C-2843-91F6-E3AF-35603FAC9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213C827-7694-566B-641F-E1C13C4AB189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E24ACF14-ABA4-4379-9386-6FAD7C55B268}" type="datetime1">
              <a:rPr lang="en-GB" smtClean="0"/>
              <a:t>23/02/2026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D71B3D-F878-553F-967A-E1CC402AF5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smtClean="0"/>
              <a:pPr/>
              <a:t>‹Nr.›</a:t>
            </a:fld>
            <a:r>
              <a:rPr lang="en-GB"/>
              <a:t> </a:t>
            </a:r>
            <a:endParaRPr lang="en-GB" noProof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792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93FAB7-4EDF-3A23-CE07-DD747EB86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771525"/>
            <a:ext cx="3239888" cy="4140225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14600" ty="234950" sx="100000" sy="100000" flip="none" algn="b"/>
          </a:blipFill>
        </p:spPr>
        <p:txBody>
          <a:bodyPr lIns="180000" tIns="180000" rIns="180000" bIns="1980000" anchor="b">
            <a:noAutofit/>
          </a:bodyPr>
          <a:lstStyle>
            <a:lvl1pPr algn="ctr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of your Presentation</a:t>
            </a:r>
          </a:p>
        </p:txBody>
      </p:sp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164" y="3111750"/>
            <a:ext cx="2519564" cy="539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GB"/>
              <a:t>Subline or short </a:t>
            </a:r>
            <a:br>
              <a:rPr lang="en-GB"/>
            </a:br>
            <a:r>
              <a:rPr lang="en-GB"/>
              <a:t>describing text</a:t>
            </a:r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81A049E5-7AA7-6A91-1820-00B6E48B2FBD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8388464" y="136203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0171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only tex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9A45F7-ECB2-EA34-352B-4DF9D1C30358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85C7E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b="1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5841" y="2031751"/>
            <a:ext cx="5756160" cy="1620000"/>
          </a:xfrm>
          <a:noFill/>
        </p:spPr>
        <p:txBody>
          <a:bodyPr lIns="0" tIns="0" rIns="0" anchor="b">
            <a:noAutofit/>
          </a:bodyPr>
          <a:lstStyle>
            <a:lvl1pPr algn="l">
              <a:lnSpc>
                <a:spcPct val="90000"/>
              </a:lnSpc>
              <a:defRPr sz="54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of your Presentation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90774D9-CF33-4D17-8122-D28D0F942A1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432002" y="468421"/>
            <a:ext cx="899998" cy="123329"/>
          </a:xfr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fld id="{D0DBC30D-E693-4226-9271-73C68E65585C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A63C7F0-DE81-42C6-9B8D-28527CF777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OPEX Update 2026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3153FEC-AAD5-4735-8BD2-6BC8228EF9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A805F6B-3C4A-8AED-1349-F8A9D7761DA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993064" y="231750"/>
            <a:ext cx="718936" cy="134430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0992FD9-706F-E6F1-ADB4-943C25F8E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32000" y="3831750"/>
            <a:ext cx="5756160" cy="540225"/>
          </a:xfr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  <a:p>
            <a:endParaRPr lang="en-US" noProof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64F7AE6-1DCF-E701-B617-35480AB29A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32000" y="231750"/>
            <a:ext cx="1800000" cy="123329"/>
          </a:xfrm>
          <a:prstGeom prst="rect">
            <a:avLst/>
          </a:prstGeom>
          <a:noFill/>
        </p:spPr>
        <p:txBody>
          <a:bodyPr bIns="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332179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491750"/>
            <a:ext cx="3600000" cy="3240000"/>
          </a:xfrm>
        </p:spPr>
        <p:txBody>
          <a:bodyPr lIns="0" tIns="0" rIns="0" bIns="0">
            <a:noAutofit/>
          </a:bodyPr>
          <a:lstStyle>
            <a:lvl1pPr marL="360000" indent="-3600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400" b="1" i="0"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2pPr>
            <a:lvl3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3pPr>
            <a:lvl4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4pPr>
            <a:lvl5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5pPr>
            <a:lvl6pPr marL="360000" indent="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None/>
              <a:defRPr sz="1000" b="0" i="0" baseline="0">
                <a:solidFill>
                  <a:schemeClr val="tx1"/>
                </a:solidFill>
              </a:defRPr>
            </a:lvl6pPr>
            <a:lvl7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 baseline="0">
                <a:solidFill>
                  <a:schemeClr val="tx1"/>
                </a:solidFill>
              </a:defRPr>
            </a:lvl7pPr>
            <a:lvl8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8pPr>
            <a:lvl9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0A999-245E-4DF2-8E39-AF6C98198336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FDD972CF-A8C2-4F29-B47E-884057737308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C646-676B-4A04-830F-DDAD43A5A1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2E90-E91D-4CF2-A4BF-C360158AAE7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F65042B-07EB-8F48-1A4B-DDDCD686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000" cy="53999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</p:spTree>
    <p:extLst>
      <p:ext uri="{BB962C8B-B14F-4D97-AF65-F5344CB8AC3E}">
        <p14:creationId xmlns:p14="http://schemas.microsoft.com/office/powerpoint/2010/main" val="5113724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491750"/>
            <a:ext cx="3600000" cy="3240000"/>
          </a:xfrm>
        </p:spPr>
        <p:txBody>
          <a:bodyPr lIns="0" tIns="0" rIns="0" bIns="0">
            <a:noAutofit/>
          </a:bodyPr>
          <a:lstStyle>
            <a:lvl1pPr marL="360000" indent="-3600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400" b="1" i="0"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2pPr>
            <a:lvl3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3pPr>
            <a:lvl4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4pPr>
            <a:lvl5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5pPr>
            <a:lvl6pPr marL="360000" indent="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None/>
              <a:defRPr sz="1000" b="0" i="0" baseline="0">
                <a:solidFill>
                  <a:schemeClr val="tx1"/>
                </a:solidFill>
              </a:defRPr>
            </a:lvl6pPr>
            <a:lvl7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 baseline="0">
                <a:solidFill>
                  <a:schemeClr val="tx1"/>
                </a:solidFill>
              </a:defRPr>
            </a:lvl7pPr>
            <a:lvl8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8pPr>
            <a:lvl9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0A999-245E-4DF2-8E39-AF6C98198336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7F339C8E-1348-4F9C-9696-0DFAE0239664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C646-676B-4A04-830F-DDAD43A5A1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2E90-E91D-4CF2-A4BF-C360158AAE7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F65042B-07EB-8F48-1A4B-DDDCD686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000" cy="53999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</p:spTree>
    <p:extLst>
      <p:ext uri="{BB962C8B-B14F-4D97-AF65-F5344CB8AC3E}">
        <p14:creationId xmlns:p14="http://schemas.microsoft.com/office/powerpoint/2010/main" val="329667372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591750"/>
            <a:ext cx="7740450" cy="41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720000" indent="-720000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defRPr sz="2800" b="0" i="0">
                <a:solidFill>
                  <a:schemeClr val="tx1"/>
                </a:solidFill>
              </a:defRPr>
            </a:lvl1pPr>
            <a:lvl2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2pPr>
            <a:lvl3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3pPr>
            <a:lvl4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4pPr>
            <a:lvl5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5pPr>
            <a:lvl6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6pPr>
            <a:lvl7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7pPr>
            <a:lvl8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8pPr>
            <a:lvl9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B3C1EC-F052-AB58-17E4-F73E4D03C82E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D48A1E4C-AB91-41FF-B400-6DEA451438AC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7B7FD2-D197-82EB-D58D-3B4F063332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DA6F1C-6534-8519-08D5-13542D041A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495512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49"/>
            <a:ext cx="5760000" cy="1038710"/>
          </a:xfrm>
          <a:noFill/>
        </p:spPr>
        <p:txBody>
          <a:bodyPr bIns="288000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slide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2E882-B925-44DB-A3E8-6286348E7B48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742816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-1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1D8AA71-6118-BF66-3A0B-05F7897114E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42" y="591750"/>
            <a:ext cx="4316158" cy="2340363"/>
          </a:xfrm>
          <a:prstGeom prst="rect">
            <a:avLst/>
          </a:prstGeom>
          <a:noFill/>
        </p:spPr>
        <p:txBody>
          <a:bodyPr lIns="0" tIns="36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827405B-B830-8268-284C-EC69861341D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5841" y="3415956"/>
            <a:ext cx="5756160" cy="1495794"/>
          </a:xfrm>
          <a:noFill/>
        </p:spPr>
        <p:txBody>
          <a:bodyPr bIns="0" anchor="b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This is a divider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BD7A80-3B24-4339-881A-7EB3F9FBA740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FFBF4FB0-E5E6-E1E9-75D4-82FBACC95C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272000" y="3291750"/>
            <a:ext cx="1440000" cy="1620000"/>
          </a:xfrm>
          <a:noFill/>
        </p:spPr>
        <p:txBody>
          <a:bodyPr anchor="b"/>
          <a:lstStyle>
            <a:lvl1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 b="0">
                <a:solidFill>
                  <a:schemeClr val="tx1"/>
                </a:solidFill>
              </a:defRPr>
            </a:lvl1pPr>
            <a:lvl2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2pPr>
            <a:lvl3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3pPr>
            <a:lvl4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4pPr>
            <a:lvl5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5pPr>
            <a:lvl6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6pPr>
            <a:lvl7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7pPr>
            <a:lvl8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8pPr>
            <a:lvl9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9pPr>
          </a:lstStyle>
          <a:p>
            <a:pPr lvl="8"/>
            <a:r>
              <a:rPr lang="en-GB" noProof="0"/>
              <a:t>##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4CB16D26-36D5-3D91-1479-D6745C4C1159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272338" y="591750"/>
            <a:ext cx="1439662" cy="720725"/>
          </a:xfrm>
        </p:spPr>
        <p:txBody>
          <a:bodyPr wrap="square"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675996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full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accent2"/>
          </a:solidFill>
        </p:spPr>
        <p:txBody>
          <a:bodyPr lIns="360000" tIns="432000" rIns="180000" bIns="1080000" anchor="b">
            <a:no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This is a divider slide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2306DAFF-BBF5-2A77-DE5B-FD7C3950E192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>
          <a:xfrm>
            <a:off x="9153921" y="1521"/>
            <a:ext cx="36000" cy="36000"/>
          </a:xfrm>
        </p:spPr>
        <p:txBody>
          <a:bodyPr tIns="0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A1A86512-A5A9-42DC-A426-3C6DBA46D3E8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000" y="4011750"/>
            <a:ext cx="2520000" cy="5396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</a:t>
            </a:r>
            <a:endParaRPr lang="en-GB" noProof="0"/>
          </a:p>
        </p:txBody>
      </p:sp>
      <p:sp>
        <p:nvSpPr>
          <p:cNvPr id="13" name="Footer Placeholder 25">
            <a:extLst>
              <a:ext uri="{FF2B5EF4-FFF2-40B4-BE49-F238E27FC236}">
                <a16:creationId xmlns:a16="http://schemas.microsoft.com/office/drawing/2014/main" id="{2605F7A9-6AA7-4F77-35BF-36B339BC3EA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/>
              <a:t> </a:t>
            </a:r>
          </a:p>
        </p:txBody>
      </p:sp>
      <p:sp>
        <p:nvSpPr>
          <p:cNvPr id="14" name="Slide Number Placeholder 26">
            <a:extLst>
              <a:ext uri="{FF2B5EF4-FFF2-40B4-BE49-F238E27FC236}">
                <a16:creationId xmlns:a16="http://schemas.microsoft.com/office/drawing/2014/main" id="{5BCB6B92-3787-342D-8172-EEF633B87E4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1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8E1C8DC-6ECA-8668-07EB-779F5448F24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OPEX Update 2026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74950CD-418C-2B71-AA78-6398C4D25A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68420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692D254E-BB87-457B-8FBD-72AE5FD88E18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1342658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630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831EAA7F-AB8D-4840-95DA-61CB0099A965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67278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2000" y="591748"/>
            <a:ext cx="2340000" cy="3420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0" y="591750"/>
            <a:ext cx="3600000" cy="2519750"/>
          </a:xfrm>
        </p:spPr>
        <p:txBody>
          <a:bodyPr/>
          <a:lstStyle>
            <a:lvl1pPr>
              <a:defRPr/>
            </a:lvl1pPr>
            <a:lvl2pPr algn="l">
              <a:defRPr sz="2400" b="1">
                <a:solidFill>
                  <a:schemeClr val="accent1"/>
                </a:solidFill>
                <a:latin typeface="+mj-lt"/>
              </a:defRPr>
            </a:lvl2pPr>
            <a:lvl3pPr>
              <a:defRPr sz="2400" b="1">
                <a:solidFill>
                  <a:schemeClr val="accent1"/>
                </a:solidFill>
                <a:latin typeface="+mj-lt"/>
              </a:defRPr>
            </a:lvl3pPr>
            <a:lvl4pPr>
              <a:defRPr sz="2400" b="1">
                <a:solidFill>
                  <a:schemeClr val="accent1"/>
                </a:solidFill>
                <a:latin typeface="+mj-lt"/>
              </a:defRPr>
            </a:lvl4pPr>
            <a:lvl5pPr>
              <a:defRPr sz="2400" b="1">
                <a:solidFill>
                  <a:schemeClr val="accent1"/>
                </a:solidFill>
                <a:latin typeface="+mj-lt"/>
              </a:defRPr>
            </a:lvl5pPr>
            <a:lvl6pPr>
              <a:defRPr sz="2400" b="1">
                <a:solidFill>
                  <a:schemeClr val="accent1"/>
                </a:solidFill>
                <a:latin typeface="+mj-lt"/>
              </a:defRPr>
            </a:lvl6pPr>
            <a:lvl7pPr>
              <a:defRPr sz="2400" b="1">
                <a:solidFill>
                  <a:schemeClr val="accent1"/>
                </a:solidFill>
                <a:latin typeface="+mj-lt"/>
              </a:defRPr>
            </a:lvl7pPr>
            <a:lvl8pPr algn="l">
              <a:defRPr sz="2400" b="1">
                <a:solidFill>
                  <a:schemeClr val="accent1"/>
                </a:solidFill>
                <a:latin typeface="+mj-lt"/>
              </a:defRPr>
            </a:lvl8pPr>
            <a:lvl9pPr>
              <a:defRPr sz="24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F64D-0084-4ED3-BF9E-1056CC1CD5E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7C59E200-82EF-495A-9108-842C04FE791C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13939-92A2-44B6-9D2E-C8D776E9F1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99DD-3933-4FBC-9CD2-AAB379773C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E551522-E1CF-0E15-8D80-3ABB723E8B5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432004" y="3292350"/>
            <a:ext cx="1800021" cy="72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967605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1387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BC3374-940B-D9A7-E20A-E3E317880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6" name="Date Placeholder 9">
            <a:extLst>
              <a:ext uri="{FF2B5EF4-FFF2-40B4-BE49-F238E27FC236}">
                <a16:creationId xmlns:a16="http://schemas.microsoft.com/office/drawing/2014/main" id="{0CA95738-CA48-59E7-A293-97582CEAC4E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77C84736-801C-4F8A-99A2-53A4D8EFE95F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3171C3FE-08CB-DAA1-FFDE-052386C744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8" name="Slide Number Placeholder 11">
            <a:extLst>
              <a:ext uri="{FF2B5EF4-FFF2-40B4-BE49-F238E27FC236}">
                <a16:creationId xmlns:a16="http://schemas.microsoft.com/office/drawing/2014/main" id="{624F54B8-4C30-27FA-C612-254A2C4328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7FEB3BF-9F09-39CE-83F9-43C659D04C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9969156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B626384-742E-442D-9875-D8B86927C494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331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619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C61703-B7EC-3B88-1893-10BF76A7F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1468E90-DCD3-7392-B334-A0B2F80EC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5478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3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11524" y="591750"/>
            <a:ext cx="5400475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2B1AB60-C650-49DC-9294-1BD610FDC2C5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187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2339187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782528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DC9B911-0EF2-4894-9106-5AA5CBD0A937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9872798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3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521891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2A0D6967-7900-4967-987C-7BEA6E3A91B0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191250" y="591750"/>
            <a:ext cx="2520750" cy="4140000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7E6D24-3C38-206A-B433-B1D920228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521891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29EDACC-4BBB-8B37-1038-E03C1F07A6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521891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23794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572000" y="275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4" y="1851750"/>
            <a:ext cx="36002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40E5B9C-DDBC-4811-93A5-C17B9D4AABA4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C3848-41D2-7760-6391-06281F72F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250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CEA026E5-95C0-CC57-FE0C-698A9CFD3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912501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73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73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57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57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4F1D202-B1C1-49DF-824A-4B834F9BFD04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40996D-B257-09AE-2418-DE69583BE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875969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F095962-823D-45D1-86CD-205A90AC0D6A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31" name="1">
            <a:extLst>
              <a:ext uri="{FF2B5EF4-FFF2-40B4-BE49-F238E27FC236}">
                <a16:creationId xmlns:a16="http://schemas.microsoft.com/office/drawing/2014/main" id="{05942890-71AB-EC54-D757-73C7E14566E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43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</p:txBody>
      </p:sp>
      <p:sp>
        <p:nvSpPr>
          <p:cNvPr id="32" name="2">
            <a:extLst>
              <a:ext uri="{FF2B5EF4-FFF2-40B4-BE49-F238E27FC236}">
                <a16:creationId xmlns:a16="http://schemas.microsoft.com/office/drawing/2014/main" id="{E493CBC4-607F-80FE-FFB9-958CB6A6D27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75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3048336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 &amp; 3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3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19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2519999" cy="899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DDCEC5E-CA90-442B-A41C-8F8EC8D802BE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7" name="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331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20" name="1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32000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E93846E-EE53-4D33-715D-0DD6D9B83D9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1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7A12589-AA6C-4A79-37BE-0F10123AF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619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F13ADCC-E738-E754-6F7D-4D4AA1BCBE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30735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5908FCE-B295-4FC2-B7DB-64FE7097BE1F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259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475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0"/>
          </p:nvPr>
        </p:nvSpPr>
        <p:spPr bwMode="gray">
          <a:xfrm>
            <a:off x="691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59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91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  <a:p>
            <a:endParaRPr lang="en-GB" noProof="0"/>
          </a:p>
          <a:p>
            <a:r>
              <a:rPr lang="en-GB" noProof="0"/>
              <a:t>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75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50851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Content &amp; 5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CD0A600-F09C-4D6A-A2E5-4FFAADBB2E09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05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29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3672412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 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7BC6419-3D39-E09E-68B2-76AE57D2642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91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9F831DC-790E-E6D1-014A-7C592CEB82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968F9FF-E840-614F-81AD-CF21FFD2E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5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690F182-051F-9317-7E08-141CB9DD9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672412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7E2192-9F0A-736C-200E-48C56CE729D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29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F7FE7E1-134C-6C1D-37AA-C66047505E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691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135D5A0C-5ACA-BEB6-3A73-15B1EF63A7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082521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496F7F-B18A-1FDF-0D44-8ABBDD3F1DF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333733" y="1122675"/>
            <a:ext cx="1601587" cy="3440856"/>
          </a:xfrm>
          <a:custGeom>
            <a:avLst/>
            <a:gdLst>
              <a:gd name="connsiteX0" fmla="*/ 178193 w 1601587"/>
              <a:gd name="connsiteY0" fmla="*/ 0 h 3440856"/>
              <a:gd name="connsiteX1" fmla="*/ 361801 w 1601587"/>
              <a:gd name="connsiteY1" fmla="*/ 0 h 3440856"/>
              <a:gd name="connsiteX2" fmla="*/ 374241 w 1601587"/>
              <a:gd name="connsiteY2" fmla="*/ 4998 h 3440856"/>
              <a:gd name="connsiteX3" fmla="*/ 379801 w 1601587"/>
              <a:gd name="connsiteY3" fmla="*/ 18071 h 3440856"/>
              <a:gd name="connsiteX4" fmla="*/ 379801 w 1601587"/>
              <a:gd name="connsiteY4" fmla="*/ 28985 h 3440856"/>
              <a:gd name="connsiteX5" fmla="*/ 474068 w 1601587"/>
              <a:gd name="connsiteY5" fmla="*/ 120510 h 3440856"/>
              <a:gd name="connsiteX6" fmla="*/ 1128890 w 1601587"/>
              <a:gd name="connsiteY6" fmla="*/ 120510 h 3440856"/>
              <a:gd name="connsiteX7" fmla="*/ 1223156 w 1601587"/>
              <a:gd name="connsiteY7" fmla="*/ 28985 h 3440856"/>
              <a:gd name="connsiteX8" fmla="*/ 1223156 w 1601587"/>
              <a:gd name="connsiteY8" fmla="*/ 18071 h 3440856"/>
              <a:gd name="connsiteX9" fmla="*/ 1228717 w 1601587"/>
              <a:gd name="connsiteY9" fmla="*/ 4998 h 3440856"/>
              <a:gd name="connsiteX10" fmla="*/ 1241156 w 1601587"/>
              <a:gd name="connsiteY10" fmla="*/ 0 h 3440856"/>
              <a:gd name="connsiteX11" fmla="*/ 1423395 w 1601587"/>
              <a:gd name="connsiteY11" fmla="*/ 0 h 3440856"/>
              <a:gd name="connsiteX12" fmla="*/ 1601587 w 1601587"/>
              <a:gd name="connsiteY12" fmla="*/ 178194 h 3440856"/>
              <a:gd name="connsiteX13" fmla="*/ 1601587 w 1601587"/>
              <a:gd name="connsiteY13" fmla="*/ 3262664 h 3440856"/>
              <a:gd name="connsiteX14" fmla="*/ 1423395 w 1601587"/>
              <a:gd name="connsiteY14" fmla="*/ 3440856 h 3440856"/>
              <a:gd name="connsiteX15" fmla="*/ 178193 w 1601587"/>
              <a:gd name="connsiteY15" fmla="*/ 3440856 h 3440856"/>
              <a:gd name="connsiteX16" fmla="*/ 0 w 1601587"/>
              <a:gd name="connsiteY16" fmla="*/ 3262664 h 3440856"/>
              <a:gd name="connsiteX17" fmla="*/ 0 w 1601587"/>
              <a:gd name="connsiteY17" fmla="*/ 178194 h 3440856"/>
              <a:gd name="connsiteX18" fmla="*/ 178193 w 1601587"/>
              <a:gd name="connsiteY18" fmla="*/ 0 h 34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01587" h="3440856">
                <a:moveTo>
                  <a:pt x="178193" y="0"/>
                </a:moveTo>
                <a:lnTo>
                  <a:pt x="361801" y="0"/>
                </a:lnTo>
                <a:lnTo>
                  <a:pt x="374241" y="4998"/>
                </a:lnTo>
                <a:cubicBezTo>
                  <a:pt x="377678" y="8338"/>
                  <a:pt x="379801" y="12957"/>
                  <a:pt x="379801" y="18071"/>
                </a:cubicBezTo>
                <a:lnTo>
                  <a:pt x="379801" y="28985"/>
                </a:lnTo>
                <a:cubicBezTo>
                  <a:pt x="379801" y="79517"/>
                  <a:pt x="422071" y="120510"/>
                  <a:pt x="474068" y="120510"/>
                </a:cubicBezTo>
                <a:lnTo>
                  <a:pt x="1128890" y="120510"/>
                </a:lnTo>
                <a:cubicBezTo>
                  <a:pt x="1180887" y="120510"/>
                  <a:pt x="1223156" y="79517"/>
                  <a:pt x="1223156" y="28985"/>
                </a:cubicBezTo>
                <a:lnTo>
                  <a:pt x="1223156" y="18071"/>
                </a:lnTo>
                <a:cubicBezTo>
                  <a:pt x="1223156" y="12957"/>
                  <a:pt x="1225279" y="8338"/>
                  <a:pt x="1228717" y="4998"/>
                </a:cubicBezTo>
                <a:lnTo>
                  <a:pt x="1241156" y="0"/>
                </a:lnTo>
                <a:lnTo>
                  <a:pt x="1423395" y="0"/>
                </a:lnTo>
                <a:cubicBezTo>
                  <a:pt x="1521808" y="0"/>
                  <a:pt x="1601587" y="79780"/>
                  <a:pt x="1601587" y="178194"/>
                </a:cubicBezTo>
                <a:lnTo>
                  <a:pt x="1601587" y="3262664"/>
                </a:lnTo>
                <a:cubicBezTo>
                  <a:pt x="1601587" y="3361077"/>
                  <a:pt x="1521808" y="3440856"/>
                  <a:pt x="1423395" y="3440856"/>
                </a:cubicBezTo>
                <a:lnTo>
                  <a:pt x="178193" y="3440856"/>
                </a:lnTo>
                <a:cubicBezTo>
                  <a:pt x="79780" y="3440856"/>
                  <a:pt x="0" y="3361077"/>
                  <a:pt x="0" y="3262664"/>
                </a:cubicBezTo>
                <a:lnTo>
                  <a:pt x="0" y="178194"/>
                </a:lnTo>
                <a:cubicBezTo>
                  <a:pt x="0" y="79780"/>
                  <a:pt x="79780" y="0"/>
                  <a:pt x="178193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4DC4DA9B-A8AE-418E-8B70-46345A3C0489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66630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Tab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9C590B-BE81-CC7F-8648-0E0087B36454}"/>
              </a:ext>
            </a:extLst>
          </p:cNvPr>
          <p:cNvSpPr/>
          <p:nvPr userDrawn="1"/>
        </p:nvSpPr>
        <p:spPr bwMode="gray">
          <a:xfrm>
            <a:off x="4130040" y="1386840"/>
            <a:ext cx="4472940" cy="3276600"/>
          </a:xfrm>
          <a:prstGeom prst="roundRect">
            <a:avLst>
              <a:gd name="adj" fmla="val 4918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A557D-3A99-67E6-DFB1-A4FDC36B7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gray">
          <a:xfrm>
            <a:off x="3759199" y="1059104"/>
            <a:ext cx="5165681" cy="3885771"/>
          </a:xfrm>
          <a:prstGeom prst="rect">
            <a:avLst/>
          </a:prstGeom>
          <a:effectLst/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429148D-2CB5-CA04-2CF1-BA404C03F71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01744" y="1466851"/>
            <a:ext cx="4340774" cy="3096407"/>
          </a:xfrm>
          <a:custGeom>
            <a:avLst/>
            <a:gdLst>
              <a:gd name="connsiteX0" fmla="*/ 67518 w 4340774"/>
              <a:gd name="connsiteY0" fmla="*/ 0 h 3096407"/>
              <a:gd name="connsiteX1" fmla="*/ 4273256 w 4340774"/>
              <a:gd name="connsiteY1" fmla="*/ 0 h 3096407"/>
              <a:gd name="connsiteX2" fmla="*/ 4340774 w 4340774"/>
              <a:gd name="connsiteY2" fmla="*/ 67656 h 3096407"/>
              <a:gd name="connsiteX3" fmla="*/ 4340774 w 4340774"/>
              <a:gd name="connsiteY3" fmla="*/ 3028751 h 3096407"/>
              <a:gd name="connsiteX4" fmla="*/ 4273256 w 4340774"/>
              <a:gd name="connsiteY4" fmla="*/ 3096407 h 3096407"/>
              <a:gd name="connsiteX5" fmla="*/ 67518 w 4340774"/>
              <a:gd name="connsiteY5" fmla="*/ 3096407 h 3096407"/>
              <a:gd name="connsiteX6" fmla="*/ 0 w 4340774"/>
              <a:gd name="connsiteY6" fmla="*/ 3028751 h 3096407"/>
              <a:gd name="connsiteX7" fmla="*/ 0 w 4340774"/>
              <a:gd name="connsiteY7" fmla="*/ 67656 h 3096407"/>
              <a:gd name="connsiteX8" fmla="*/ 67518 w 4340774"/>
              <a:gd name="connsiteY8" fmla="*/ 0 h 309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774" h="3096407">
                <a:moveTo>
                  <a:pt x="67518" y="0"/>
                </a:moveTo>
                <a:lnTo>
                  <a:pt x="4273256" y="0"/>
                </a:lnTo>
                <a:cubicBezTo>
                  <a:pt x="4310546" y="0"/>
                  <a:pt x="4340774" y="30290"/>
                  <a:pt x="4340774" y="67656"/>
                </a:cubicBezTo>
                <a:lnTo>
                  <a:pt x="4340774" y="3028751"/>
                </a:lnTo>
                <a:cubicBezTo>
                  <a:pt x="4340774" y="3066117"/>
                  <a:pt x="4310546" y="3096407"/>
                  <a:pt x="4273256" y="3096407"/>
                </a:cubicBezTo>
                <a:lnTo>
                  <a:pt x="67518" y="3096407"/>
                </a:lnTo>
                <a:cubicBezTo>
                  <a:pt x="30229" y="3096407"/>
                  <a:pt x="0" y="3066117"/>
                  <a:pt x="0" y="3028751"/>
                </a:cubicBezTo>
                <a:lnTo>
                  <a:pt x="0" y="67656"/>
                </a:lnTo>
                <a:cubicBezTo>
                  <a:pt x="0" y="30290"/>
                  <a:pt x="30229" y="0"/>
                  <a:pt x="67518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6A575347-C547-42D6-8898-32B734D6DF28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85967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Noteboo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16A02EA-D075-8B32-3FF2-81C23F7AFFD6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4130040" y="1737360"/>
              <a:ext cx="4472940" cy="28727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4188D1CF-E5E4-46C1-71A5-A4E072F89F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51C4BE-92D1-8301-ACE4-596D83DBF2F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11433" y="1853424"/>
            <a:ext cx="4324671" cy="2702308"/>
          </a:xfrm>
          <a:custGeom>
            <a:avLst/>
            <a:gdLst>
              <a:gd name="connsiteX0" fmla="*/ 0 w 4324671"/>
              <a:gd name="connsiteY0" fmla="*/ 0 h 2702308"/>
              <a:gd name="connsiteX1" fmla="*/ 4324671 w 4324671"/>
              <a:gd name="connsiteY1" fmla="*/ 0 h 2702308"/>
              <a:gd name="connsiteX2" fmla="*/ 4324671 w 4324671"/>
              <a:gd name="connsiteY2" fmla="*/ 2702308 h 2702308"/>
              <a:gd name="connsiteX3" fmla="*/ 0 w 4324671"/>
              <a:gd name="connsiteY3" fmla="*/ 2702308 h 27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4671" h="2702308">
                <a:moveTo>
                  <a:pt x="0" y="0"/>
                </a:moveTo>
                <a:lnTo>
                  <a:pt x="4324671" y="0"/>
                </a:lnTo>
                <a:lnTo>
                  <a:pt x="4324671" y="2702308"/>
                </a:lnTo>
                <a:lnTo>
                  <a:pt x="0" y="2702308"/>
                </a:lnTo>
                <a:close/>
              </a:path>
            </a:pathLst>
          </a:custGeom>
          <a:noFill/>
        </p:spPr>
        <p:txBody>
          <a:bodyPr wrap="square" lIns="0" tIns="162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23CFC3A2-7C32-4373-8F0F-332CE273F8DF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55966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22" name="Media Placeholder 21">
            <a:extLst>
              <a:ext uri="{FF2B5EF4-FFF2-40B4-BE49-F238E27FC236}">
                <a16:creationId xmlns:a16="http://schemas.microsoft.com/office/drawing/2014/main" id="{0BC38208-45FA-3A9C-42A1-C574F48CFCFD}"/>
              </a:ext>
            </a:extLst>
          </p:cNvPr>
          <p:cNvSpPr>
            <a:spLocks noGrp="1" noChangeAspect="1"/>
          </p:cNvSpPr>
          <p:nvPr>
            <p:ph type="media" sz="quarter" idx="22" hasCustomPrompt="1"/>
          </p:nvPr>
        </p:nvSpPr>
        <p:spPr bwMode="gray">
          <a:xfrm>
            <a:off x="5325422" y="1406582"/>
            <a:ext cx="1613300" cy="2875187"/>
          </a:xfrm>
          <a:prstGeom prst="rect">
            <a:avLst/>
          </a:prstGeom>
        </p:spPr>
        <p:txBody>
          <a:bodyPr wrap="square" tIns="1980000">
            <a:no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7098D41E-B082-4593-9B7E-7129F31BF289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44075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Noteboo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35030A3-364D-6F1E-6199-B2B7F4FCE082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BC882F22-69AD-49D1-595F-D4C2CB54AA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0FAAC2-ACE4-2BD2-8390-A75E3E0FC4C7}"/>
                </a:ext>
              </a:extLst>
            </p:cNvPr>
            <p:cNvSpPr/>
            <p:nvPr userDrawn="1"/>
          </p:nvSpPr>
          <p:spPr bwMode="gray">
            <a:xfrm>
              <a:off x="4089992" y="1779181"/>
              <a:ext cx="4550734" cy="28424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B47822A5-0AA4-C06F-A39A-0AE242B2F34B}"/>
              </a:ext>
            </a:extLst>
          </p:cNvPr>
          <p:cNvSpPr>
            <a:spLocks noGrp="1"/>
          </p:cNvSpPr>
          <p:nvPr>
            <p:ph type="media" sz="quarter" idx="21" hasCustomPrompt="1"/>
          </p:nvPr>
        </p:nvSpPr>
        <p:spPr bwMode="gray">
          <a:xfrm>
            <a:off x="4211432" y="1853424"/>
            <a:ext cx="4324671" cy="2702308"/>
          </a:xfrm>
        </p:spPr>
        <p:txBody>
          <a:bodyPr tIns="1620000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609C7CC3-7017-44BA-B47C-BCAB9398563B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119117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2">
            <a:extLst>
              <a:ext uri="{FF2B5EF4-FFF2-40B4-BE49-F238E27FC236}">
                <a16:creationId xmlns:a16="http://schemas.microsoft.com/office/drawing/2014/main" id="{560DAF77-C570-863F-3745-E9167BD57EA3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64DFBF6A-98A2-4D14-94AE-8A938A6076A3}" type="datetime1">
              <a:rPr lang="en-GB" smtClean="0"/>
              <a:t>23/02/2026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8A3F4E2-5ECA-D70B-2652-D0E353007923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 bwMode="gray">
          <a:xfrm>
            <a:off x="0" y="0"/>
            <a:ext cx="9144000" cy="5143500"/>
          </a:xfrm>
        </p:spPr>
        <p:txBody>
          <a:bodyPr tIns="2916000"/>
          <a:lstStyle>
            <a:lvl1pPr algn="ctr">
              <a:defRPr sz="600"/>
            </a:lvl1pPr>
          </a:lstStyle>
          <a:p>
            <a:r>
              <a:rPr lang="en-GB" noProof="0"/>
              <a:t>Insert a video by clicking on the icon. </a:t>
            </a:r>
          </a:p>
        </p:txBody>
      </p:sp>
    </p:spTree>
    <p:extLst>
      <p:ext uri="{BB962C8B-B14F-4D97-AF65-F5344CB8AC3E}">
        <p14:creationId xmlns:p14="http://schemas.microsoft.com/office/powerpoint/2010/main" val="3221173870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F54E61A-05CC-46D9-BDBB-DF76F7D6EA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bg1"/>
          </a:solidFill>
        </p:spPr>
        <p:txBody>
          <a:bodyPr lIns="360000" tIns="180000" rIns="180000" bIns="1080000"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82101A-7654-4173-AD2F-E50B23010326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 bwMode="gray">
          <a:xfrm>
            <a:off x="792000" y="4011750"/>
            <a:ext cx="2520000" cy="5396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597557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Blanc // Product design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9177900" y="0"/>
            <a:ext cx="36000" cy="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/>
            <a:r>
              <a:rPr lang="en-GB" sz="100" noProof="0">
                <a:solidFill>
                  <a:schemeClr val="tx1">
                    <a:alpha val="0"/>
                  </a:schemeClr>
                </a:solidFill>
              </a:rPr>
              <a:t>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2D8F5F2-C3D1-4A34-8979-42AA8DA3DFE6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398888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FADB50A7-C2A0-496F-9CE4-1CC6B136BF4A}" type="datetime1">
              <a:rPr lang="en-GB" noProof="1" smtClean="0"/>
              <a:t>23/02/2026</a:t>
            </a:fld>
            <a:r>
              <a:rPr lang="en-GB" noProof="1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1"/>
              <a:t>OPEX Update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noProof="1" smtClean="0"/>
              <a:pPr/>
              <a:t>‹Nr.›</a:t>
            </a:fld>
            <a:r>
              <a:rPr lang="en-GB" noProof="1"/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5C60264-B08E-456A-B7CF-6A386C2198F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31800" y="1456419"/>
            <a:ext cx="7740650" cy="230346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lnSpc>
                <a:spcPct val="90000"/>
              </a:lnSpc>
              <a:defRPr sz="3400" cap="all" baseline="0">
                <a:solidFill>
                  <a:schemeClr val="tx1"/>
                </a:solidFill>
                <a:latin typeface="+mj-lt"/>
              </a:defRPr>
            </a:lvl2pPr>
            <a:lvl3pPr eaLnBrk="1" hangingPunct="1">
              <a:lnSpc>
                <a:spcPct val="88000"/>
              </a:lnSpc>
              <a:defRPr sz="4500" cap="all" baseline="0">
                <a:solidFill>
                  <a:schemeClr val="tx1"/>
                </a:solidFill>
                <a:latin typeface="+mj-lt"/>
              </a:defRPr>
            </a:lvl3pPr>
            <a:lvl4pPr eaLnBrk="1" hangingPunct="1">
              <a:lnSpc>
                <a:spcPct val="87000"/>
              </a:lnSpc>
              <a:defRPr sz="5600" cap="all" baseline="0">
                <a:solidFill>
                  <a:schemeClr val="tx1"/>
                </a:solidFill>
                <a:latin typeface="+mj-lt"/>
              </a:defRPr>
            </a:lvl4pPr>
            <a:lvl5pPr eaLnBrk="1" hangingPunct="1">
              <a:lnSpc>
                <a:spcPct val="86000"/>
              </a:lnSpc>
              <a:defRPr sz="6700" cap="all" baseline="0">
                <a:solidFill>
                  <a:schemeClr val="tx1"/>
                </a:solidFill>
                <a:latin typeface="+mj-lt"/>
              </a:defRPr>
            </a:lvl5pPr>
            <a:lvl6pPr eaLnBrk="1" hangingPunct="1">
              <a:lnSpc>
                <a:spcPct val="85000"/>
              </a:lnSpc>
              <a:defRPr sz="7800" cap="all" baseline="0">
                <a:solidFill>
                  <a:schemeClr val="tx1"/>
                </a:solidFill>
                <a:latin typeface="+mj-lt"/>
              </a:defRPr>
            </a:lvl6pPr>
            <a:lvl7pPr eaLnBrk="1" hangingPunct="1">
              <a:lnSpc>
                <a:spcPct val="84000"/>
              </a:lnSpc>
              <a:defRPr sz="8900" cap="all" baseline="0">
                <a:solidFill>
                  <a:schemeClr val="tx1"/>
                </a:solidFill>
                <a:latin typeface="+mj-lt"/>
              </a:defRPr>
            </a:lvl7pPr>
            <a:lvl8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8pPr>
            <a:lvl9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9pPr>
          </a:lstStyle>
          <a:p>
            <a:pPr algn="l"/>
            <a:r>
              <a:rPr lang="en-GB" sz="3800" b="0" noProof="0">
                <a:solidFill>
                  <a:schemeClr val="tx1"/>
                </a:solidFill>
              </a:rPr>
              <a:t>Thank You, </a:t>
            </a:r>
            <a:r>
              <a:rPr lang="en-GB" sz="3800" b="0" noProof="0" err="1">
                <a:solidFill>
                  <a:schemeClr val="tx1"/>
                </a:solidFill>
              </a:rPr>
              <a:t>Vielen</a:t>
            </a:r>
            <a:r>
              <a:rPr lang="en-GB" sz="3800" b="0" noProof="0">
                <a:solidFill>
                  <a:schemeClr val="tx1"/>
                </a:solidFill>
              </a:rPr>
              <a:t> Dank, </a:t>
            </a:r>
          </a:p>
          <a:p>
            <a:pPr algn="l"/>
            <a:r>
              <a:rPr lang="en-GB" sz="3800" b="0" noProof="0">
                <a:solidFill>
                  <a:schemeClr val="tx1"/>
                </a:solidFill>
              </a:rPr>
              <a:t>Merci Beaucoup, </a:t>
            </a:r>
            <a:r>
              <a:rPr lang="en-GB" sz="3800" b="0" noProof="0" err="1">
                <a:solidFill>
                  <a:schemeClr val="tx1"/>
                </a:solidFill>
              </a:rPr>
              <a:t>Muito</a:t>
            </a:r>
            <a:r>
              <a:rPr lang="en-GB" sz="3800" b="0" noProof="0">
                <a:solidFill>
                  <a:schemeClr val="tx1"/>
                </a:solidFill>
              </a:rPr>
              <a:t> </a:t>
            </a:r>
            <a:r>
              <a:rPr lang="en-GB" sz="3800" b="0" noProof="0" err="1">
                <a:solidFill>
                  <a:schemeClr val="tx1"/>
                </a:solidFill>
              </a:rPr>
              <a:t>Obrigado</a:t>
            </a:r>
            <a:r>
              <a:rPr lang="en-GB" sz="3800" b="0" noProof="0">
                <a:solidFill>
                  <a:schemeClr val="tx1"/>
                </a:solidFill>
              </a:rPr>
              <a:t>, </a:t>
            </a:r>
            <a:r>
              <a:rPr lang="en-GB" sz="3800" b="0" noProof="0" err="1">
                <a:solidFill>
                  <a:schemeClr val="tx1"/>
                </a:solidFill>
              </a:rPr>
              <a:t>Muchas</a:t>
            </a:r>
            <a:r>
              <a:rPr lang="en-GB" sz="3800" b="0" noProof="0">
                <a:solidFill>
                  <a:schemeClr val="tx1"/>
                </a:solidFill>
              </a:rPr>
              <a:t> Gracias, </a:t>
            </a:r>
            <a:r>
              <a:rPr lang="en-GB" sz="3800" b="0" noProof="0" err="1">
                <a:solidFill>
                  <a:schemeClr val="tx1"/>
                </a:solidFill>
              </a:rPr>
              <a:t>Grazie</a:t>
            </a:r>
            <a:r>
              <a:rPr lang="en-GB" sz="3800" b="0" noProof="0">
                <a:solidFill>
                  <a:schemeClr val="tx1"/>
                </a:solidFill>
              </a:rPr>
              <a:t> Mille, </a:t>
            </a:r>
            <a:br>
              <a:rPr lang="en-GB" sz="3800" b="0" noProof="0">
                <a:solidFill>
                  <a:schemeClr val="tx1"/>
                </a:solidFill>
              </a:rPr>
            </a:br>
            <a:r>
              <a:rPr lang="ja-JP" altLang="en-GB" sz="3800" b="0" noProof="0">
                <a:solidFill>
                  <a:schemeClr val="tx1"/>
                </a:solidFill>
              </a:rPr>
              <a:t>谢谢</a:t>
            </a:r>
            <a:r>
              <a:rPr lang="en-GB" altLang="ja-JP" sz="3800" b="0" noProof="0">
                <a:solidFill>
                  <a:schemeClr val="tx1"/>
                </a:solidFill>
              </a:rPr>
              <a:t>, </a:t>
            </a:r>
            <a:r>
              <a:rPr lang="en-GB" altLang="ja-JP" sz="3800" b="0" noProof="0" err="1">
                <a:solidFill>
                  <a:schemeClr val="tx1"/>
                </a:solidFill>
              </a:rPr>
              <a:t>Спасибо</a:t>
            </a:r>
            <a:r>
              <a:rPr lang="en-GB" altLang="ja-JP" sz="3800" b="0" noProof="0">
                <a:solidFill>
                  <a:schemeClr val="tx1"/>
                </a:solidFill>
              </a:rPr>
              <a:t>, </a:t>
            </a:r>
            <a:r>
              <a:rPr lang="en-GB" sz="3800" b="0" i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Dziękuję</a:t>
            </a:r>
            <a:r>
              <a:rPr lang="en-GB" sz="3800" b="0" i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3800" b="0" i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شكرا</a:t>
            </a:r>
            <a:r>
              <a:rPr lang="en-GB" sz="3800" b="0" i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4000" b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धन्यवाद</a:t>
            </a:r>
            <a:r>
              <a:rPr lang="en-GB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l-GR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Ευχαριστώ</a:t>
            </a:r>
            <a:r>
              <a:rPr lang="de-DE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de-DE" sz="4000" b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Teşekkürler</a:t>
            </a:r>
            <a:endParaRPr lang="en-GB" sz="3800" b="0" i="0" kern="1200" cap="none" baseline="0" noProof="0"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627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32588" y="591750"/>
            <a:ext cx="6300000" cy="539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32001" y="1851750"/>
            <a:ext cx="6300000" cy="27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43" name="Date Placeholder 3"/>
          <p:cNvSpPr>
            <a:spLocks noGrp="1"/>
          </p:cNvSpPr>
          <p:nvPr userDrawn="1">
            <p:ph type="dt" sz="half" idx="2"/>
          </p:nvPr>
        </p:nvSpPr>
        <p:spPr bwMode="gray">
          <a:xfrm>
            <a:off x="684149" y="231750"/>
            <a:ext cx="468000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>
              <a:defRPr sz="500" b="0" i="0">
                <a:solidFill>
                  <a:schemeClr val="tx1"/>
                </a:solidFill>
              </a:defRPr>
            </a:lvl1pPr>
          </a:lstStyle>
          <a:p>
            <a:fld id="{6E47485B-1107-4706-9271-65C7EE8F8CCB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44" name="Footer Placeholder 4"/>
          <p:cNvSpPr>
            <a:spLocks noGrp="1"/>
          </p:cNvSpPr>
          <p:nvPr userDrawn="1">
            <p:ph type="ftr" sz="quarter" idx="3"/>
          </p:nvPr>
        </p:nvSpPr>
        <p:spPr bwMode="gray">
          <a:xfrm>
            <a:off x="1152149" y="231750"/>
            <a:ext cx="90048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r>
              <a:rPr lang="en-GB"/>
              <a:t>OPEX Update 2026</a:t>
            </a:r>
          </a:p>
        </p:txBody>
      </p:sp>
      <p:sp>
        <p:nvSpPr>
          <p:cNvPr id="45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432000" y="231750"/>
            <a:ext cx="25214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63" name="Freeform 14">
            <a:extLst>
              <a:ext uri="{FF2B5EF4-FFF2-40B4-BE49-F238E27FC236}">
                <a16:creationId xmlns:a16="http://schemas.microsoft.com/office/drawing/2014/main" id="{4350C048-0611-439D-A89E-F96847AE4CFB}"/>
              </a:ext>
            </a:extLst>
          </p:cNvPr>
          <p:cNvSpPr>
            <a:spLocks noChangeAspect="1" noEditPoints="1"/>
          </p:cNvSpPr>
          <p:nvPr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3" r:id="rId2"/>
    <p:sldLayoutId id="2147483716" r:id="rId3"/>
    <p:sldLayoutId id="2147483733" r:id="rId4"/>
    <p:sldLayoutId id="2147483652" r:id="rId5"/>
    <p:sldLayoutId id="2147483722" r:id="rId6"/>
    <p:sldLayoutId id="2147483676" r:id="rId7"/>
    <p:sldLayoutId id="2147483677" r:id="rId8"/>
    <p:sldLayoutId id="2147483699" r:id="rId9"/>
    <p:sldLayoutId id="2147483724" r:id="rId10"/>
    <p:sldLayoutId id="2147483678" r:id="rId11"/>
    <p:sldLayoutId id="2147483702" r:id="rId12"/>
    <p:sldLayoutId id="2147483703" r:id="rId13"/>
    <p:sldLayoutId id="2147483720" r:id="rId14"/>
    <p:sldLayoutId id="2147483705" r:id="rId15"/>
    <p:sldLayoutId id="2147483706" r:id="rId16"/>
    <p:sldLayoutId id="2147483707" r:id="rId17"/>
    <p:sldLayoutId id="2147483708" r:id="rId18"/>
    <p:sldLayoutId id="2147483718" r:id="rId19"/>
    <p:sldLayoutId id="2147483693" r:id="rId20"/>
    <p:sldLayoutId id="2147483709" r:id="rId21"/>
    <p:sldLayoutId id="2147483681" r:id="rId22"/>
    <p:sldLayoutId id="2147483729" r:id="rId23"/>
    <p:sldLayoutId id="2147483730" r:id="rId24"/>
    <p:sldLayoutId id="2147483732" r:id="rId25"/>
    <p:sldLayoutId id="2147483728" r:id="rId26"/>
    <p:sldLayoutId id="2147483727" r:id="rId27"/>
    <p:sldLayoutId id="2147483725" r:id="rId28"/>
    <p:sldLayoutId id="2147483719" r:id="rId29"/>
    <p:sldLayoutId id="2147483712" r:id="rId30"/>
    <p:sldLayoutId id="2147483667" r:id="rId31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eaLnBrk="1" hangingPunct="1">
        <a:defRPr sz="2400" b="1">
          <a:solidFill>
            <a:schemeClr val="accent1"/>
          </a:solidFill>
          <a:latin typeface="+mj-lt"/>
        </a:defRPr>
      </a:lvl2pPr>
      <a:lvl3pPr algn="l" eaLnBrk="1" hangingPunct="1">
        <a:defRPr sz="2400" b="1">
          <a:solidFill>
            <a:schemeClr val="accent1"/>
          </a:solidFill>
        </a:defRPr>
      </a:lvl3pPr>
      <a:lvl4pPr algn="l" eaLnBrk="1" hangingPunct="1">
        <a:defRPr sz="2400" b="1">
          <a:solidFill>
            <a:schemeClr val="accent1"/>
          </a:solidFill>
          <a:latin typeface="+mj-lt"/>
        </a:defRPr>
      </a:lvl4pPr>
      <a:lvl5pPr algn="l" eaLnBrk="1" hangingPunct="1">
        <a:defRPr sz="2400" b="1">
          <a:solidFill>
            <a:schemeClr val="accent1"/>
          </a:solidFill>
        </a:defRPr>
      </a:lvl5pPr>
      <a:lvl6pPr algn="l" eaLnBrk="1" hangingPunct="1">
        <a:defRPr sz="2400" b="1">
          <a:solidFill>
            <a:schemeClr val="accent1"/>
          </a:solidFill>
        </a:defRPr>
      </a:lvl6pPr>
      <a:lvl7pPr algn="l" eaLnBrk="1" hangingPunct="1">
        <a:defRPr sz="2400" b="1">
          <a:solidFill>
            <a:schemeClr val="accent1"/>
          </a:solidFill>
        </a:defRPr>
      </a:lvl7pPr>
      <a:lvl8pPr algn="l" eaLnBrk="1" hangingPunct="1">
        <a:defRPr sz="2400" b="1">
          <a:solidFill>
            <a:schemeClr val="accent1"/>
          </a:solidFill>
        </a:defRPr>
      </a:lvl8pPr>
      <a:lvl9pPr algn="l" eaLnBrk="1" hangingPunct="1">
        <a:defRPr sz="2400" b="1">
          <a:solidFill>
            <a:schemeClr val="accent1"/>
          </a:solidFill>
        </a:defRPr>
      </a:lvl9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rgbClr val="2793C9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-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+mj-lt"/>
        <a:buAutoNum type="arabi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+mj-lt"/>
        <a:buAutoNum type="alphaL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rgbClr val="2793C9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2" userDrawn="1">
          <p15:clr>
            <a:srgbClr val="F26B43"/>
          </p15:clr>
        </p15:guide>
        <p15:guide id="2" orient="horz" pos="146" userDrawn="1">
          <p15:clr>
            <a:srgbClr val="A4A3A4"/>
          </p15:clr>
        </p15:guide>
        <p15:guide id="3" orient="horz" pos="373" userDrawn="1">
          <p15:clr>
            <a:srgbClr val="F26B43"/>
          </p15:clr>
        </p15:guide>
        <p15:guide id="4" orient="horz" pos="486" userDrawn="1">
          <p15:clr>
            <a:srgbClr val="A4A3A4"/>
          </p15:clr>
        </p15:guide>
        <p15:guide id="5" orient="horz" pos="1733" userDrawn="1">
          <p15:clr>
            <a:srgbClr val="A4A3A4"/>
          </p15:clr>
        </p15:guide>
        <p15:guide id="6" orient="horz" pos="1960" userDrawn="1">
          <p15:clr>
            <a:srgbClr val="A4A3A4"/>
          </p15:clr>
        </p15:guide>
        <p15:guide id="8" orient="horz" pos="2300" userDrawn="1">
          <p15:clr>
            <a:srgbClr val="A4A3A4"/>
          </p15:clr>
        </p15:guide>
        <p15:guide id="9" orient="horz" pos="2527" userDrawn="1">
          <p15:clr>
            <a:srgbClr val="A4A3A4"/>
          </p15:clr>
        </p15:guide>
        <p15:guide id="10" orient="horz" pos="3094" userDrawn="1">
          <p15:clr>
            <a:srgbClr val="F26B43"/>
          </p15:clr>
        </p15:guide>
        <p15:guide id="11" pos="1519" userDrawn="1">
          <p15:clr>
            <a:srgbClr val="A4A3A4"/>
          </p15:clr>
        </p15:guide>
        <p15:guide id="12" pos="1633" userDrawn="1">
          <p15:clr>
            <a:srgbClr val="A4A3A4"/>
          </p15:clr>
        </p15:guide>
        <p15:guide id="13" pos="2880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pos="4241" userDrawn="1">
          <p15:clr>
            <a:srgbClr val="A4A3A4"/>
          </p15:clr>
        </p15:guide>
        <p15:guide id="16" pos="4354" userDrawn="1">
          <p15:clr>
            <a:srgbClr val="A4A3A4"/>
          </p15:clr>
        </p15:guide>
        <p15:guide id="17" pos="5488" userDrawn="1">
          <p15:clr>
            <a:srgbClr val="F26B43"/>
          </p15:clr>
        </p15:guide>
        <p15:guide id="18" pos="386" userDrawn="1">
          <p15:clr>
            <a:srgbClr val="A4A3A4"/>
          </p15:clr>
        </p15:guide>
        <p15:guide id="19" pos="499" userDrawn="1">
          <p15:clr>
            <a:srgbClr val="A4A3A4"/>
          </p15:clr>
        </p15:guide>
        <p15:guide id="20" pos="612" userDrawn="1">
          <p15:clr>
            <a:srgbClr val="A4A3A4"/>
          </p15:clr>
        </p15:guide>
        <p15:guide id="21" pos="726" userDrawn="1">
          <p15:clr>
            <a:srgbClr val="A4A3A4"/>
          </p15:clr>
        </p15:guide>
        <p15:guide id="22" pos="839" userDrawn="1">
          <p15:clr>
            <a:srgbClr val="A4A3A4"/>
          </p15:clr>
        </p15:guide>
        <p15:guide id="23" pos="952" userDrawn="1">
          <p15:clr>
            <a:srgbClr val="A4A3A4"/>
          </p15:clr>
        </p15:guide>
        <p15:guide id="24" pos="1066" userDrawn="1">
          <p15:clr>
            <a:srgbClr val="A4A3A4"/>
          </p15:clr>
        </p15:guide>
        <p15:guide id="25" pos="1179" userDrawn="1">
          <p15:clr>
            <a:srgbClr val="A4A3A4"/>
          </p15:clr>
        </p15:guide>
        <p15:guide id="26" pos="1406" userDrawn="1">
          <p15:clr>
            <a:srgbClr val="A4A3A4"/>
          </p15:clr>
        </p15:guide>
        <p15:guide id="27" pos="1293" userDrawn="1">
          <p15:clr>
            <a:srgbClr val="A4A3A4"/>
          </p15:clr>
        </p15:guide>
        <p15:guide id="28" pos="1860" userDrawn="1">
          <p15:clr>
            <a:srgbClr val="A4A3A4"/>
          </p15:clr>
        </p15:guide>
        <p15:guide id="29" pos="1746" userDrawn="1">
          <p15:clr>
            <a:srgbClr val="A4A3A4"/>
          </p15:clr>
        </p15:guide>
        <p15:guide id="30" pos="1973" userDrawn="1">
          <p15:clr>
            <a:srgbClr val="A4A3A4"/>
          </p15:clr>
        </p15:guide>
        <p15:guide id="31" pos="2086" userDrawn="1">
          <p15:clr>
            <a:srgbClr val="A4A3A4"/>
          </p15:clr>
        </p15:guide>
        <p15:guide id="32" pos="2200" userDrawn="1">
          <p15:clr>
            <a:srgbClr val="A4A3A4"/>
          </p15:clr>
        </p15:guide>
        <p15:guide id="33" pos="2313" userDrawn="1">
          <p15:clr>
            <a:srgbClr val="A4A3A4"/>
          </p15:clr>
        </p15:guide>
        <p15:guide id="34" pos="2426" userDrawn="1">
          <p15:clr>
            <a:srgbClr val="A4A3A4"/>
          </p15:clr>
        </p15:guide>
        <p15:guide id="35" pos="2653" userDrawn="1">
          <p15:clr>
            <a:srgbClr val="A4A3A4"/>
          </p15:clr>
        </p15:guide>
        <p15:guide id="36" pos="2540" userDrawn="1">
          <p15:clr>
            <a:srgbClr val="A4A3A4"/>
          </p15:clr>
        </p15:guide>
        <p15:guide id="37" pos="2767" userDrawn="1">
          <p15:clr>
            <a:srgbClr val="A4A3A4"/>
          </p15:clr>
        </p15:guide>
        <p15:guide id="38" pos="3107" userDrawn="1">
          <p15:clr>
            <a:srgbClr val="A4A3A4"/>
          </p15:clr>
        </p15:guide>
        <p15:guide id="39" pos="3220" userDrawn="1">
          <p15:clr>
            <a:srgbClr val="A4A3A4"/>
          </p15:clr>
        </p15:guide>
        <p15:guide id="40" pos="3334" userDrawn="1">
          <p15:clr>
            <a:srgbClr val="A4A3A4"/>
          </p15:clr>
        </p15:guide>
        <p15:guide id="41" pos="3447" userDrawn="1">
          <p15:clr>
            <a:srgbClr val="A4A3A4"/>
          </p15:clr>
        </p15:guide>
        <p15:guide id="42" pos="3560" userDrawn="1">
          <p15:clr>
            <a:srgbClr val="A4A3A4"/>
          </p15:clr>
        </p15:guide>
        <p15:guide id="43" pos="3674" userDrawn="1">
          <p15:clr>
            <a:srgbClr val="A4A3A4"/>
          </p15:clr>
        </p15:guide>
        <p15:guide id="44" pos="3900" userDrawn="1">
          <p15:clr>
            <a:srgbClr val="A4A3A4"/>
          </p15:clr>
        </p15:guide>
        <p15:guide id="45" pos="3787" userDrawn="1">
          <p15:clr>
            <a:srgbClr val="A4A3A4"/>
          </p15:clr>
        </p15:guide>
        <p15:guide id="46" pos="4014" userDrawn="1">
          <p15:clr>
            <a:srgbClr val="A4A3A4"/>
          </p15:clr>
        </p15:guide>
        <p15:guide id="47" pos="4127" userDrawn="1">
          <p15:clr>
            <a:srgbClr val="A4A3A4"/>
          </p15:clr>
        </p15:guide>
        <p15:guide id="48" pos="4467" userDrawn="1">
          <p15:clr>
            <a:srgbClr val="A4A3A4"/>
          </p15:clr>
        </p15:guide>
        <p15:guide id="49" pos="4581" userDrawn="1">
          <p15:clr>
            <a:srgbClr val="A4A3A4"/>
          </p15:clr>
        </p15:guide>
        <p15:guide id="50" pos="4694" userDrawn="1">
          <p15:clr>
            <a:srgbClr val="A4A3A4"/>
          </p15:clr>
        </p15:guide>
        <p15:guide id="51" pos="4808" userDrawn="1">
          <p15:clr>
            <a:srgbClr val="A4A3A4"/>
          </p15:clr>
        </p15:guide>
        <p15:guide id="52" pos="4921" userDrawn="1">
          <p15:clr>
            <a:srgbClr val="A4A3A4"/>
          </p15:clr>
        </p15:guide>
        <p15:guide id="53" pos="5034" userDrawn="1">
          <p15:clr>
            <a:srgbClr val="A4A3A4"/>
          </p15:clr>
        </p15:guide>
        <p15:guide id="54" pos="5148" userDrawn="1">
          <p15:clr>
            <a:srgbClr val="A4A3A4"/>
          </p15:clr>
        </p15:guide>
        <p15:guide id="55" pos="5261" userDrawn="1">
          <p15:clr>
            <a:srgbClr val="A4A3A4"/>
          </p15:clr>
        </p15:guide>
        <p15:guide id="56" pos="5374" userDrawn="1">
          <p15:clr>
            <a:srgbClr val="A4A3A4"/>
          </p15:clr>
        </p15:guide>
        <p15:guide id="57" orient="horz" pos="600" userDrawn="1">
          <p15:clr>
            <a:srgbClr val="A4A3A4"/>
          </p15:clr>
        </p15:guide>
        <p15:guide id="58" orient="horz" pos="713" userDrawn="1">
          <p15:clr>
            <a:srgbClr val="A4A3A4"/>
          </p15:clr>
        </p15:guide>
        <p15:guide id="59" orient="horz" pos="826" userDrawn="1">
          <p15:clr>
            <a:srgbClr val="A4A3A4"/>
          </p15:clr>
        </p15:guide>
        <p15:guide id="60" orient="horz" pos="940" userDrawn="1">
          <p15:clr>
            <a:srgbClr val="A4A3A4"/>
          </p15:clr>
        </p15:guide>
        <p15:guide id="61" orient="horz" pos="1053" userDrawn="1">
          <p15:clr>
            <a:srgbClr val="A4A3A4"/>
          </p15:clr>
        </p15:guide>
        <p15:guide id="62" orient="horz" pos="1166" userDrawn="1">
          <p15:clr>
            <a:srgbClr val="A4A3A4"/>
          </p15:clr>
        </p15:guide>
        <p15:guide id="63" orient="horz" pos="1393" userDrawn="1">
          <p15:clr>
            <a:srgbClr val="A4A3A4"/>
          </p15:clr>
        </p15:guide>
        <p15:guide id="64" orient="horz" pos="1507" userDrawn="1">
          <p15:clr>
            <a:srgbClr val="A4A3A4"/>
          </p15:clr>
        </p15:guide>
        <p15:guide id="65" orient="horz" pos="1620" userDrawn="1">
          <p15:clr>
            <a:srgbClr val="A4A3A4"/>
          </p15:clr>
        </p15:guide>
        <p15:guide id="66" orient="horz" pos="1847" userDrawn="1">
          <p15:clr>
            <a:srgbClr val="A4A3A4"/>
          </p15:clr>
        </p15:guide>
        <p15:guide id="67" orient="horz" pos="2074" userDrawn="1">
          <p15:clr>
            <a:srgbClr val="A4A3A4"/>
          </p15:clr>
        </p15:guide>
        <p15:guide id="68" orient="horz" pos="2187" userDrawn="1">
          <p15:clr>
            <a:srgbClr val="A4A3A4"/>
          </p15:clr>
        </p15:guide>
        <p15:guide id="69" orient="horz" pos="2640" userDrawn="1">
          <p15:clr>
            <a:srgbClr val="A4A3A4"/>
          </p15:clr>
        </p15:guide>
        <p15:guide id="70" orient="horz" pos="2414" userDrawn="1">
          <p15:clr>
            <a:srgbClr val="A4A3A4"/>
          </p15:clr>
        </p15:guide>
        <p15:guide id="71" orient="horz" pos="2754" userDrawn="1">
          <p15:clr>
            <a:srgbClr val="A4A3A4"/>
          </p15:clr>
        </p15:guide>
        <p15:guide id="72" orient="horz" pos="2867" userDrawn="1">
          <p15:clr>
            <a:srgbClr val="A4A3A4"/>
          </p15:clr>
        </p15:guide>
        <p15:guide id="73" orient="horz" pos="2981" userDrawn="1">
          <p15:clr>
            <a:srgbClr val="A4A3A4"/>
          </p15:clr>
        </p15:guide>
        <p15:guide id="74" orient="horz" pos="12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56D993-A2CF-B1C6-D9BF-C58A326A33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OPEX Update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937C-7213-F913-1CD1-48DCCB659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D380A5-0B64-4B8D-A0C1-C68FF183BE07}" type="datetime1">
              <a:rPr lang="en-GB" smtClean="0"/>
              <a:t>23/02/2026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73384-B9AD-836D-8CA9-8997C2462B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0998A37-7DA0-4797-BE0F-1407C577BB96}" type="slidenum">
              <a:rPr lang="en-GB" smtClean="0"/>
              <a:pPr/>
              <a:t>1</a:t>
            </a:fld>
            <a:r>
              <a:rPr lang="en-GB"/>
              <a:t> </a:t>
            </a:r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96A356-DF13-CD99-8104-FEA569BA2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OPEX</a:t>
            </a:r>
            <a:br>
              <a:rPr lang="de-DE" dirty="0"/>
            </a:br>
            <a:r>
              <a:rPr lang="de-DE" dirty="0"/>
              <a:t>Status 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2712645-1299-1C8C-0230-1EE845B54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164" y="3111750"/>
            <a:ext cx="2519564" cy="684136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Martin Laur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491267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3506-B179-1CD4-11B8-582C68E3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6BCEF4-D07E-BE4B-4FD9-3B8FF944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Strategy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9396C-8FD4-E646-09BD-AF71AED6B1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3B2F45C-4CD9-430E-935B-328EA1398A1F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F2374-07AE-79D3-1D7E-C0F07B5E17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FD9170-A721-D9E1-77E8-C9D0200579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004" y="1131749"/>
            <a:ext cx="8279408" cy="431481"/>
          </a:xfrm>
        </p:spPr>
        <p:txBody>
          <a:bodyPr/>
          <a:lstStyle/>
          <a:p>
            <a:r>
              <a:rPr lang="en-US" dirty="0"/>
              <a:t>We </a:t>
            </a:r>
            <a:r>
              <a:rPr lang="en-US" b="1" dirty="0"/>
              <a:t>improve the processes and collaboration of our operations </a:t>
            </a:r>
            <a:r>
              <a:rPr lang="en-US" dirty="0"/>
              <a:t>in a continuous and </a:t>
            </a:r>
            <a:br>
              <a:rPr lang="en-US" dirty="0"/>
            </a:br>
            <a:r>
              <a:rPr lang="en-US" dirty="0"/>
              <a:t>sustainable manner </a:t>
            </a:r>
            <a:r>
              <a:rPr lang="en-US" b="1" dirty="0"/>
              <a:t>to optimize performance and competitiveness </a:t>
            </a:r>
            <a:r>
              <a:rPr lang="en-US" dirty="0"/>
              <a:t>of ALPLA. </a:t>
            </a:r>
            <a:endParaRPr lang="en-US" dirty="0"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3E5007-942D-F9BC-D1C2-6F00AA9D538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OPEX Update 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C7E3E6B-06D2-9544-F4EB-B247823DC00D}"/>
              </a:ext>
            </a:extLst>
          </p:cNvPr>
          <p:cNvGrpSpPr/>
          <p:nvPr/>
        </p:nvGrpSpPr>
        <p:grpSpPr>
          <a:xfrm>
            <a:off x="7847802" y="411750"/>
            <a:ext cx="720000" cy="719999"/>
            <a:chOff x="25799262" y="788440"/>
            <a:chExt cx="3890541" cy="405303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33F771-995E-AF25-8282-1613D766F95D}"/>
                </a:ext>
              </a:extLst>
            </p:cNvPr>
            <p:cNvSpPr/>
            <p:nvPr/>
          </p:nvSpPr>
          <p:spPr bwMode="gray">
            <a:xfrm>
              <a:off x="25799262" y="788440"/>
              <a:ext cx="3890541" cy="4053038"/>
            </a:xfrm>
            <a:prstGeom prst="ellipse">
              <a:avLst/>
            </a:prstGeom>
            <a:solidFill>
              <a:srgbClr val="009CA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02752" tIns="151376" rIns="302752" bIns="1513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AT" sz="3973" b="1" err="1"/>
            </a:p>
          </p:txBody>
        </p:sp>
        <p:pic>
          <p:nvPicPr>
            <p:cNvPr id="10" name="Graphic 9" descr="Sailboat outline">
              <a:extLst>
                <a:ext uri="{FF2B5EF4-FFF2-40B4-BE49-F238E27FC236}">
                  <a16:creationId xmlns:a16="http://schemas.microsoft.com/office/drawing/2014/main" id="{6E4D361F-E2F7-54B1-21DA-D86FAF321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373808" y="830767"/>
              <a:ext cx="2906140" cy="302752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707990-5CCA-BC18-6FD6-FC6261749114}"/>
                </a:ext>
              </a:extLst>
            </p:cNvPr>
            <p:cNvSpPr txBox="1"/>
            <p:nvPr/>
          </p:nvSpPr>
          <p:spPr bwMode="gray">
            <a:xfrm>
              <a:off x="26058610" y="3044572"/>
              <a:ext cx="3536534" cy="1380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2000" tIns="72000" rIns="72000" bIns="7200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993"/>
                </a:spcBef>
                <a:spcAft>
                  <a:spcPts val="993"/>
                </a:spcAft>
              </a:pPr>
              <a:r>
                <a:rPr lang="en-US" sz="600" b="1" noProof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Strategy</a:t>
              </a:r>
              <a:br>
                <a:rPr lang="en-US" sz="600" b="1" noProof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</a:br>
              <a:r>
                <a:rPr lang="en-US" sz="600" b="1" noProof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2026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6723801-A637-10C4-44D8-F6A537283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36445"/>
              </p:ext>
            </p:extLst>
          </p:nvPr>
        </p:nvGraphicFramePr>
        <p:xfrm>
          <a:off x="432001" y="2294373"/>
          <a:ext cx="6924764" cy="1253400"/>
        </p:xfrm>
        <a:graphic>
          <a:graphicData uri="http://schemas.openxmlformats.org/drawingml/2006/table">
            <a:tbl>
              <a:tblPr firstRow="1" bandRow="1"/>
              <a:tblGrid>
                <a:gridCol w="25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85">
                  <a:extLst>
                    <a:ext uri="{9D8B030D-6E8A-4147-A177-3AD203B41FA5}">
                      <a16:colId xmlns:a16="http://schemas.microsoft.com/office/drawing/2014/main" val="3717498463"/>
                    </a:ext>
                  </a:extLst>
                </a:gridCol>
                <a:gridCol w="5778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85">
                  <a:extLst>
                    <a:ext uri="{9D8B030D-6E8A-4147-A177-3AD203B41FA5}">
                      <a16:colId xmlns:a16="http://schemas.microsoft.com/office/drawing/2014/main" val="622811198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Strategic Goals</a:t>
                      </a:r>
                      <a:endParaRPr lang="en-US" sz="700" b="1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noProof="0">
                          <a:solidFill>
                            <a:schemeClr val="tx1"/>
                          </a:solidFill>
                          <a:latin typeface="+mj-lt"/>
                        </a:rPr>
                        <a:t>Strategic Objectives</a:t>
                      </a:r>
                      <a:endParaRPr lang="en-GB" sz="1000" b="1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 (KPI)</a:t>
                      </a:r>
                      <a:endParaRPr lang="en-US" sz="700" b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700" b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700" b="1" noProof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  <a:endParaRPr lang="en-US" sz="700" b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b="1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 YTD</a:t>
                      </a:r>
                      <a:endParaRPr lang="en-US" sz="700" b="1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700" b="1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A3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Aft>
                          <a:spcPts val="655"/>
                        </a:spcAft>
                        <a:tabLst>
                          <a:tab pos="2054069" algn="l"/>
                        </a:tabLst>
                      </a:pP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 </a:t>
                      </a:r>
                      <a:b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maturity of plants </a:t>
                      </a:r>
                      <a:b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NEXT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Amount of plants </a:t>
                      </a:r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with Process Stability; Amount of plants with High Level</a:t>
                      </a:r>
                      <a:endParaRPr lang="en-US" sz="700" b="1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>
                          <a:solidFill>
                            <a:srgbClr val="10B293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</a:t>
                      </a: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0B29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sz="700" b="1" noProof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 / 3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noProof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 / 10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143* / 20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143* / 50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143* / 50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000">
                <a:tc vMerge="1">
                  <a:txBody>
                    <a:bodyPr/>
                    <a:lstStyle/>
                    <a:p>
                      <a:pPr algn="l"/>
                      <a:endParaRPr lang="de-AT" sz="100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36000" marB="0" anchor="b">
                    <a:solidFill>
                      <a:srgbClr val="004D9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A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AT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 / 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76/0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99 / 6</a:t>
                      </a:r>
                      <a:endParaRPr lang="en-US" sz="7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119 / 20</a:t>
                      </a:r>
                      <a:endParaRPr lang="en-US" sz="7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124 / -</a:t>
                      </a:r>
                      <a:endParaRPr lang="en-US" sz="7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143* / 35**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700" b="1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A3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55"/>
                        </a:spcAft>
                        <a:tabLst>
                          <a:tab pos="2054069" algn="l"/>
                        </a:tabLst>
                      </a:pP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</a:t>
                      </a:r>
                      <a:b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</a:t>
                      </a:r>
                      <a:b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operations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OPEX Index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>
                          <a:solidFill>
                            <a:srgbClr val="F7D117"/>
                          </a:solidFill>
                          <a:latin typeface="Arial" panose="020B0604020202020204" pitchFamily="34" charset="0"/>
                          <a:ea typeface="Tahoma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</a:t>
                      </a:r>
                      <a:endParaRPr lang="en-US" sz="1400" kern="1200" noProof="0" dirty="0">
                        <a:solidFill>
                          <a:srgbClr val="F7D117"/>
                        </a:solidFill>
                        <a:latin typeface="Arial" panose="020B0604020202020204" pitchFamily="34" charset="0"/>
                        <a:ea typeface="Tahoma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1" noProof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72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en-GB" sz="1000" b="1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A3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55"/>
                        </a:spcAft>
                        <a:tabLst>
                          <a:tab pos="2054069" algn="l"/>
                        </a:tabLst>
                      </a:pPr>
                      <a:endParaRPr 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>
                        <a:latin typeface="+mj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56***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19494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CA6CF6F-B3B9-B179-6787-EADB3C1DE258}"/>
              </a:ext>
            </a:extLst>
          </p:cNvPr>
          <p:cNvSpPr txBox="1"/>
          <p:nvPr/>
        </p:nvSpPr>
        <p:spPr bwMode="gray">
          <a:xfrm>
            <a:off x="432000" y="4727084"/>
            <a:ext cx="614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/>
            <a:r>
              <a:rPr lang="en-GB" sz="600" i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   Initial target changed from 180 (“all) to all </a:t>
            </a:r>
            <a:r>
              <a:rPr lang="en-GB" sz="600" i="1" u="sng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en-GB" sz="600" i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plants of 143 (due closed/not relevant plants or new division INJECT)</a:t>
            </a:r>
          </a:p>
          <a:p>
            <a:r>
              <a:rPr lang="en-GB" sz="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  Target / Forecast</a:t>
            </a:r>
          </a:p>
          <a:p>
            <a:r>
              <a:rPr lang="en-GB" sz="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 Change of INDEX Formula for 2025, targets NOT changed</a:t>
            </a:r>
            <a:endParaRPr lang="en-US" sz="600" i="1" dirty="0">
              <a:solidFill>
                <a:srgbClr val="000000"/>
              </a:solidFill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94EF5CD7-DD3E-CB4F-CCDB-17155CB2B127}"/>
              </a:ext>
            </a:extLst>
          </p:cNvPr>
          <p:cNvSpPr/>
          <p:nvPr/>
        </p:nvSpPr>
        <p:spPr bwMode="gray">
          <a:xfrm>
            <a:off x="5620068" y="3912625"/>
            <a:ext cx="1798320" cy="542477"/>
          </a:xfrm>
          <a:prstGeom prst="wedgeRectCallout">
            <a:avLst>
              <a:gd name="adj1" fmla="val 23235"/>
              <a:gd name="adj2" fmla="val -218426"/>
            </a:avLst>
          </a:prstGeom>
          <a:solidFill>
            <a:srgbClr val="009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ctr"/>
            <a:r>
              <a:rPr lang="en-US" sz="700" dirty="0"/>
              <a:t>Target to get all plants on process stability end of 2026 is realistic. Only smaller inhouse and small number of base plants missing. </a:t>
            </a:r>
          </a:p>
          <a:p>
            <a:pPr algn="ctr"/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0A1488DD-C7DE-DA09-1E5F-CE4BE96551A0}"/>
              </a:ext>
            </a:extLst>
          </p:cNvPr>
          <p:cNvSpPr/>
          <p:nvPr/>
        </p:nvSpPr>
        <p:spPr bwMode="gray">
          <a:xfrm>
            <a:off x="7565459" y="2393117"/>
            <a:ext cx="1204468" cy="1098233"/>
          </a:xfrm>
          <a:prstGeom prst="wedgeRectCallout">
            <a:avLst>
              <a:gd name="adj1" fmla="val -79565"/>
              <a:gd name="adj2" fmla="val -20155"/>
            </a:avLst>
          </a:prstGeom>
          <a:solidFill>
            <a:srgbClr val="009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ctr"/>
            <a:r>
              <a:rPr lang="en-US" sz="700" dirty="0"/>
              <a:t>Seen critical; Will be difficult to achieve maintaining the current quality. Each region with 1 mandatory additional HC plant as minimum requirement. +15 HC plants in 2026 realistic.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1914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05E8CDB-E249-93DD-E4F2-38A2156A4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SG1: High Class Plants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27B80-6E8F-C34C-F379-4993FD76DD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defTabSz="914378"/>
            <a:fld id="{450A6595-9D02-4187-8981-625528C7A8EC}" type="datetime1">
              <a:rPr lang="en-GB">
                <a:solidFill>
                  <a:srgbClr val="004D90"/>
                </a:solidFill>
                <a:latin typeface="Arial"/>
              </a:rPr>
              <a:pPr defTabSz="914378"/>
              <a:t>23/02/2026</a:t>
            </a:fld>
            <a:endParaRPr lang="en-GB">
              <a:solidFill>
                <a:srgbClr val="004D9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1085-1440-8CBC-FCC8-1F50CBC072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defTabSz="914378"/>
            <a:fld id="{A0998A37-7DA0-4797-BE0F-1407C577BB96}" type="slidenum">
              <a:rPr lang="en-GB">
                <a:solidFill>
                  <a:srgbClr val="004D90"/>
                </a:solidFill>
                <a:latin typeface="Arial"/>
              </a:rPr>
              <a:pPr defTabSz="914378"/>
              <a:t>3</a:t>
            </a:fld>
            <a:endParaRPr lang="en-GB">
              <a:solidFill>
                <a:srgbClr val="004D90"/>
              </a:solidFill>
              <a:latin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C455179-093C-8891-69F5-53F4F0962903}"/>
              </a:ext>
            </a:extLst>
          </p:cNvPr>
          <p:cNvSpPr>
            <a:spLocks/>
          </p:cNvSpPr>
          <p:nvPr/>
        </p:nvSpPr>
        <p:spPr bwMode="auto">
          <a:xfrm>
            <a:off x="7580155" y="4842259"/>
            <a:ext cx="226398" cy="172184"/>
          </a:xfrm>
          <a:custGeom>
            <a:avLst/>
            <a:gdLst/>
            <a:ahLst/>
            <a:cxnLst>
              <a:cxn ang="0">
                <a:pos x="472" y="4"/>
              </a:cxn>
              <a:cxn ang="0">
                <a:pos x="347" y="150"/>
              </a:cxn>
              <a:cxn ang="0">
                <a:pos x="134" y="262"/>
              </a:cxn>
              <a:cxn ang="0">
                <a:pos x="0" y="348"/>
              </a:cxn>
              <a:cxn ang="0">
                <a:pos x="0" y="399"/>
              </a:cxn>
              <a:cxn ang="0">
                <a:pos x="27" y="425"/>
              </a:cxn>
              <a:cxn ang="0">
                <a:pos x="72" y="443"/>
              </a:cxn>
              <a:cxn ang="0">
                <a:pos x="110" y="443"/>
              </a:cxn>
              <a:cxn ang="0">
                <a:pos x="191" y="403"/>
              </a:cxn>
              <a:cxn ang="0">
                <a:pos x="243" y="323"/>
              </a:cxn>
              <a:cxn ang="0">
                <a:pos x="317" y="268"/>
              </a:cxn>
              <a:cxn ang="0">
                <a:pos x="355" y="268"/>
              </a:cxn>
              <a:cxn ang="0">
                <a:pos x="375" y="247"/>
              </a:cxn>
              <a:cxn ang="0">
                <a:pos x="531" y="93"/>
              </a:cxn>
              <a:cxn ang="0">
                <a:pos x="541" y="45"/>
              </a:cxn>
              <a:cxn ang="0">
                <a:pos x="506" y="35"/>
              </a:cxn>
              <a:cxn ang="0">
                <a:pos x="506" y="0"/>
              </a:cxn>
              <a:cxn ang="0">
                <a:pos x="472" y="4"/>
              </a:cxn>
            </a:cxnLst>
            <a:rect l="0" t="0" r="r" b="b"/>
            <a:pathLst>
              <a:path w="541" h="443">
                <a:moveTo>
                  <a:pt x="472" y="4"/>
                </a:moveTo>
                <a:lnTo>
                  <a:pt x="347" y="150"/>
                </a:lnTo>
                <a:lnTo>
                  <a:pt x="134" y="262"/>
                </a:lnTo>
                <a:lnTo>
                  <a:pt x="0" y="348"/>
                </a:lnTo>
                <a:lnTo>
                  <a:pt x="0" y="399"/>
                </a:lnTo>
                <a:lnTo>
                  <a:pt x="27" y="425"/>
                </a:lnTo>
                <a:lnTo>
                  <a:pt x="72" y="443"/>
                </a:lnTo>
                <a:lnTo>
                  <a:pt x="110" y="443"/>
                </a:lnTo>
                <a:lnTo>
                  <a:pt x="191" y="403"/>
                </a:lnTo>
                <a:lnTo>
                  <a:pt x="243" y="323"/>
                </a:lnTo>
                <a:lnTo>
                  <a:pt x="317" y="268"/>
                </a:lnTo>
                <a:lnTo>
                  <a:pt x="355" y="268"/>
                </a:lnTo>
                <a:lnTo>
                  <a:pt x="375" y="247"/>
                </a:lnTo>
                <a:lnTo>
                  <a:pt x="531" y="93"/>
                </a:lnTo>
                <a:lnTo>
                  <a:pt x="541" y="45"/>
                </a:lnTo>
                <a:lnTo>
                  <a:pt x="506" y="35"/>
                </a:lnTo>
                <a:lnTo>
                  <a:pt x="506" y="0"/>
                </a:lnTo>
                <a:lnTo>
                  <a:pt x="472" y="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87BEAFED-92B8-8059-3F5D-08F2CCE7FA62}"/>
              </a:ext>
            </a:extLst>
          </p:cNvPr>
          <p:cNvSpPr>
            <a:spLocks/>
          </p:cNvSpPr>
          <p:nvPr/>
        </p:nvSpPr>
        <p:spPr bwMode="auto">
          <a:xfrm>
            <a:off x="7824866" y="4710405"/>
            <a:ext cx="131511" cy="161327"/>
          </a:xfrm>
          <a:custGeom>
            <a:avLst/>
            <a:gdLst/>
            <a:ahLst/>
            <a:cxnLst>
              <a:cxn ang="0">
                <a:pos x="8" y="251"/>
              </a:cxn>
              <a:cxn ang="0">
                <a:pos x="44" y="321"/>
              </a:cxn>
              <a:cxn ang="0">
                <a:pos x="0" y="403"/>
              </a:cxn>
              <a:cxn ang="0">
                <a:pos x="15" y="419"/>
              </a:cxn>
              <a:cxn ang="0">
                <a:pos x="57" y="409"/>
              </a:cxn>
              <a:cxn ang="0">
                <a:pos x="156" y="310"/>
              </a:cxn>
              <a:cxn ang="0">
                <a:pos x="160" y="268"/>
              </a:cxn>
              <a:cxn ang="0">
                <a:pos x="199" y="253"/>
              </a:cxn>
              <a:cxn ang="0">
                <a:pos x="212" y="267"/>
              </a:cxn>
              <a:cxn ang="0">
                <a:pos x="266" y="213"/>
              </a:cxn>
              <a:cxn ang="0">
                <a:pos x="315" y="146"/>
              </a:cxn>
              <a:cxn ang="0">
                <a:pos x="300" y="131"/>
              </a:cxn>
              <a:cxn ang="0">
                <a:pos x="239" y="144"/>
              </a:cxn>
              <a:cxn ang="0">
                <a:pos x="193" y="97"/>
              </a:cxn>
              <a:cxn ang="0">
                <a:pos x="215" y="30"/>
              </a:cxn>
              <a:cxn ang="0">
                <a:pos x="207" y="0"/>
              </a:cxn>
              <a:cxn ang="0">
                <a:pos x="160" y="24"/>
              </a:cxn>
              <a:cxn ang="0">
                <a:pos x="140" y="127"/>
              </a:cxn>
              <a:cxn ang="0">
                <a:pos x="83" y="184"/>
              </a:cxn>
              <a:cxn ang="0">
                <a:pos x="34" y="209"/>
              </a:cxn>
              <a:cxn ang="0">
                <a:pos x="8" y="251"/>
              </a:cxn>
            </a:cxnLst>
            <a:rect l="0" t="0" r="r" b="b"/>
            <a:pathLst>
              <a:path w="315" h="419">
                <a:moveTo>
                  <a:pt x="8" y="251"/>
                </a:moveTo>
                <a:lnTo>
                  <a:pt x="44" y="321"/>
                </a:lnTo>
                <a:lnTo>
                  <a:pt x="0" y="403"/>
                </a:lnTo>
                <a:lnTo>
                  <a:pt x="15" y="419"/>
                </a:lnTo>
                <a:lnTo>
                  <a:pt x="57" y="409"/>
                </a:lnTo>
                <a:lnTo>
                  <a:pt x="156" y="310"/>
                </a:lnTo>
                <a:lnTo>
                  <a:pt x="160" y="268"/>
                </a:lnTo>
                <a:lnTo>
                  <a:pt x="199" y="253"/>
                </a:lnTo>
                <a:lnTo>
                  <a:pt x="212" y="267"/>
                </a:lnTo>
                <a:lnTo>
                  <a:pt x="266" y="213"/>
                </a:lnTo>
                <a:lnTo>
                  <a:pt x="315" y="146"/>
                </a:lnTo>
                <a:lnTo>
                  <a:pt x="300" y="131"/>
                </a:lnTo>
                <a:lnTo>
                  <a:pt x="239" y="144"/>
                </a:lnTo>
                <a:lnTo>
                  <a:pt x="193" y="97"/>
                </a:lnTo>
                <a:lnTo>
                  <a:pt x="215" y="30"/>
                </a:lnTo>
                <a:lnTo>
                  <a:pt x="207" y="0"/>
                </a:lnTo>
                <a:lnTo>
                  <a:pt x="160" y="24"/>
                </a:lnTo>
                <a:lnTo>
                  <a:pt x="140" y="127"/>
                </a:lnTo>
                <a:lnTo>
                  <a:pt x="83" y="184"/>
                </a:lnTo>
                <a:lnTo>
                  <a:pt x="34" y="209"/>
                </a:lnTo>
                <a:lnTo>
                  <a:pt x="8" y="25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6B11A592-40E4-32A7-48E2-11273A3F1111}"/>
              </a:ext>
            </a:extLst>
          </p:cNvPr>
          <p:cNvSpPr>
            <a:spLocks/>
          </p:cNvSpPr>
          <p:nvPr/>
        </p:nvSpPr>
        <p:spPr bwMode="auto">
          <a:xfrm>
            <a:off x="7873141" y="4642151"/>
            <a:ext cx="34958" cy="60497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0" y="10"/>
              </a:cxn>
              <a:cxn ang="0">
                <a:pos x="28" y="156"/>
              </a:cxn>
              <a:cxn ang="0">
                <a:pos x="85" y="138"/>
              </a:cxn>
              <a:cxn ang="0">
                <a:pos x="85" y="79"/>
              </a:cxn>
              <a:cxn ang="0">
                <a:pos x="36" y="0"/>
              </a:cxn>
            </a:cxnLst>
            <a:rect l="0" t="0" r="r" b="b"/>
            <a:pathLst>
              <a:path w="85" h="156">
                <a:moveTo>
                  <a:pt x="36" y="0"/>
                </a:moveTo>
                <a:lnTo>
                  <a:pt x="0" y="10"/>
                </a:lnTo>
                <a:lnTo>
                  <a:pt x="28" y="156"/>
                </a:lnTo>
                <a:lnTo>
                  <a:pt x="85" y="138"/>
                </a:lnTo>
                <a:lnTo>
                  <a:pt x="85" y="79"/>
                </a:lnTo>
                <a:lnTo>
                  <a:pt x="3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29F1BC84-FFF7-F30D-8973-F33467AB212E}"/>
              </a:ext>
            </a:extLst>
          </p:cNvPr>
          <p:cNvSpPr>
            <a:spLocks/>
          </p:cNvSpPr>
          <p:nvPr/>
        </p:nvSpPr>
        <p:spPr bwMode="auto">
          <a:xfrm>
            <a:off x="4317357" y="1443543"/>
            <a:ext cx="241381" cy="152020"/>
          </a:xfrm>
          <a:custGeom>
            <a:avLst/>
            <a:gdLst/>
            <a:ahLst/>
            <a:cxnLst>
              <a:cxn ang="0">
                <a:pos x="0" y="155"/>
              </a:cxn>
              <a:cxn ang="0">
                <a:pos x="145" y="274"/>
              </a:cxn>
              <a:cxn ang="0">
                <a:pos x="192" y="393"/>
              </a:cxn>
              <a:cxn ang="0">
                <a:pos x="321" y="227"/>
              </a:cxn>
              <a:cxn ang="0">
                <a:pos x="459" y="314"/>
              </a:cxn>
              <a:cxn ang="0">
                <a:pos x="484" y="274"/>
              </a:cxn>
              <a:cxn ang="0">
                <a:pos x="355" y="155"/>
              </a:cxn>
              <a:cxn ang="0">
                <a:pos x="513" y="112"/>
              </a:cxn>
              <a:cxn ang="0">
                <a:pos x="583" y="62"/>
              </a:cxn>
              <a:cxn ang="0">
                <a:pos x="467" y="7"/>
              </a:cxn>
              <a:cxn ang="0">
                <a:pos x="369" y="36"/>
              </a:cxn>
              <a:cxn ang="0">
                <a:pos x="336" y="0"/>
              </a:cxn>
              <a:cxn ang="0">
                <a:pos x="272" y="40"/>
              </a:cxn>
              <a:cxn ang="0">
                <a:pos x="264" y="87"/>
              </a:cxn>
              <a:cxn ang="0">
                <a:pos x="177" y="84"/>
              </a:cxn>
              <a:cxn ang="0">
                <a:pos x="156" y="119"/>
              </a:cxn>
              <a:cxn ang="0">
                <a:pos x="73" y="101"/>
              </a:cxn>
              <a:cxn ang="0">
                <a:pos x="0" y="155"/>
              </a:cxn>
            </a:cxnLst>
            <a:rect l="0" t="0" r="r" b="b"/>
            <a:pathLst>
              <a:path w="583" h="393">
                <a:moveTo>
                  <a:pt x="0" y="155"/>
                </a:moveTo>
                <a:lnTo>
                  <a:pt x="145" y="274"/>
                </a:lnTo>
                <a:lnTo>
                  <a:pt x="192" y="393"/>
                </a:lnTo>
                <a:lnTo>
                  <a:pt x="321" y="227"/>
                </a:lnTo>
                <a:lnTo>
                  <a:pt x="459" y="314"/>
                </a:lnTo>
                <a:lnTo>
                  <a:pt x="484" y="274"/>
                </a:lnTo>
                <a:lnTo>
                  <a:pt x="355" y="155"/>
                </a:lnTo>
                <a:lnTo>
                  <a:pt x="513" y="112"/>
                </a:lnTo>
                <a:lnTo>
                  <a:pt x="583" y="62"/>
                </a:lnTo>
                <a:lnTo>
                  <a:pt x="467" y="7"/>
                </a:lnTo>
                <a:lnTo>
                  <a:pt x="369" y="36"/>
                </a:lnTo>
                <a:lnTo>
                  <a:pt x="336" y="0"/>
                </a:lnTo>
                <a:lnTo>
                  <a:pt x="272" y="40"/>
                </a:lnTo>
                <a:lnTo>
                  <a:pt x="264" y="87"/>
                </a:lnTo>
                <a:lnTo>
                  <a:pt x="177" y="84"/>
                </a:lnTo>
                <a:lnTo>
                  <a:pt x="156" y="119"/>
                </a:lnTo>
                <a:lnTo>
                  <a:pt x="73" y="101"/>
                </a:lnTo>
                <a:lnTo>
                  <a:pt x="0" y="15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4" name="Freeform 38">
            <a:extLst>
              <a:ext uri="{FF2B5EF4-FFF2-40B4-BE49-F238E27FC236}">
                <a16:creationId xmlns:a16="http://schemas.microsoft.com/office/drawing/2014/main" id="{C2665400-41D7-4E4B-0E78-46499E858EBD}"/>
              </a:ext>
            </a:extLst>
          </p:cNvPr>
          <p:cNvSpPr>
            <a:spLocks/>
          </p:cNvSpPr>
          <p:nvPr/>
        </p:nvSpPr>
        <p:spPr bwMode="auto">
          <a:xfrm>
            <a:off x="3756355" y="1941485"/>
            <a:ext cx="183116" cy="102379"/>
          </a:xfrm>
          <a:custGeom>
            <a:avLst/>
            <a:gdLst/>
            <a:ahLst/>
            <a:cxnLst>
              <a:cxn ang="0">
                <a:pos x="330" y="18"/>
              </a:cxn>
              <a:cxn ang="0">
                <a:pos x="196" y="62"/>
              </a:cxn>
              <a:cxn ang="0">
                <a:pos x="134" y="87"/>
              </a:cxn>
              <a:cxn ang="0">
                <a:pos x="90" y="0"/>
              </a:cxn>
              <a:cxn ang="0">
                <a:pos x="0" y="91"/>
              </a:cxn>
              <a:cxn ang="0">
                <a:pos x="76" y="94"/>
              </a:cxn>
              <a:cxn ang="0">
                <a:pos x="4" y="152"/>
              </a:cxn>
              <a:cxn ang="0">
                <a:pos x="80" y="166"/>
              </a:cxn>
              <a:cxn ang="0">
                <a:pos x="109" y="224"/>
              </a:cxn>
              <a:cxn ang="0">
                <a:pos x="246" y="267"/>
              </a:cxn>
              <a:cxn ang="0">
                <a:pos x="369" y="210"/>
              </a:cxn>
              <a:cxn ang="0">
                <a:pos x="434" y="152"/>
              </a:cxn>
              <a:cxn ang="0">
                <a:pos x="438" y="101"/>
              </a:cxn>
              <a:cxn ang="0">
                <a:pos x="409" y="36"/>
              </a:cxn>
              <a:cxn ang="0">
                <a:pos x="330" y="18"/>
              </a:cxn>
            </a:cxnLst>
            <a:rect l="0" t="0" r="r" b="b"/>
            <a:pathLst>
              <a:path w="438" h="267">
                <a:moveTo>
                  <a:pt x="330" y="18"/>
                </a:moveTo>
                <a:lnTo>
                  <a:pt x="196" y="62"/>
                </a:lnTo>
                <a:lnTo>
                  <a:pt x="134" y="87"/>
                </a:lnTo>
                <a:lnTo>
                  <a:pt x="90" y="0"/>
                </a:lnTo>
                <a:lnTo>
                  <a:pt x="0" y="91"/>
                </a:lnTo>
                <a:lnTo>
                  <a:pt x="76" y="94"/>
                </a:lnTo>
                <a:lnTo>
                  <a:pt x="4" y="152"/>
                </a:lnTo>
                <a:lnTo>
                  <a:pt x="80" y="166"/>
                </a:lnTo>
                <a:lnTo>
                  <a:pt x="109" y="224"/>
                </a:lnTo>
                <a:lnTo>
                  <a:pt x="246" y="267"/>
                </a:lnTo>
                <a:lnTo>
                  <a:pt x="369" y="210"/>
                </a:lnTo>
                <a:lnTo>
                  <a:pt x="434" y="152"/>
                </a:lnTo>
                <a:lnTo>
                  <a:pt x="438" y="101"/>
                </a:lnTo>
                <a:lnTo>
                  <a:pt x="409" y="36"/>
                </a:lnTo>
                <a:lnTo>
                  <a:pt x="330" y="1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2788C3BB-3BCE-5C0D-4B00-E2CF489D5C35}"/>
              </a:ext>
            </a:extLst>
          </p:cNvPr>
          <p:cNvSpPr>
            <a:spLocks/>
          </p:cNvSpPr>
          <p:nvPr/>
        </p:nvSpPr>
        <p:spPr bwMode="auto">
          <a:xfrm>
            <a:off x="3999401" y="2602301"/>
            <a:ext cx="228063" cy="197004"/>
          </a:xfrm>
          <a:custGeom>
            <a:avLst/>
            <a:gdLst/>
            <a:ahLst/>
            <a:cxnLst>
              <a:cxn ang="0">
                <a:pos x="528" y="89"/>
              </a:cxn>
              <a:cxn ang="0">
                <a:pos x="395" y="56"/>
              </a:cxn>
              <a:cxn ang="0">
                <a:pos x="379" y="34"/>
              </a:cxn>
              <a:cxn ang="0">
                <a:pos x="85" y="0"/>
              </a:cxn>
              <a:cxn ang="0">
                <a:pos x="0" y="54"/>
              </a:cxn>
              <a:cxn ang="0">
                <a:pos x="10" y="87"/>
              </a:cxn>
              <a:cxn ang="0">
                <a:pos x="136" y="97"/>
              </a:cxn>
              <a:cxn ang="0">
                <a:pos x="109" y="283"/>
              </a:cxn>
              <a:cxn ang="0">
                <a:pos x="91" y="375"/>
              </a:cxn>
              <a:cxn ang="0">
                <a:pos x="50" y="436"/>
              </a:cxn>
              <a:cxn ang="0">
                <a:pos x="63" y="436"/>
              </a:cxn>
              <a:cxn ang="0">
                <a:pos x="105" y="426"/>
              </a:cxn>
              <a:cxn ang="0">
                <a:pos x="147" y="460"/>
              </a:cxn>
              <a:cxn ang="0">
                <a:pos x="176" y="504"/>
              </a:cxn>
              <a:cxn ang="0">
                <a:pos x="198" y="505"/>
              </a:cxn>
              <a:cxn ang="0">
                <a:pos x="217" y="482"/>
              </a:cxn>
              <a:cxn ang="0">
                <a:pos x="257" y="461"/>
              </a:cxn>
              <a:cxn ang="0">
                <a:pos x="368" y="434"/>
              </a:cxn>
              <a:cxn ang="0">
                <a:pos x="381" y="411"/>
              </a:cxn>
              <a:cxn ang="0">
                <a:pos x="422" y="377"/>
              </a:cxn>
              <a:cxn ang="0">
                <a:pos x="422" y="342"/>
              </a:cxn>
              <a:cxn ang="0">
                <a:pos x="410" y="278"/>
              </a:cxn>
              <a:cxn ang="0">
                <a:pos x="442" y="185"/>
              </a:cxn>
              <a:cxn ang="0">
                <a:pos x="489" y="179"/>
              </a:cxn>
              <a:cxn ang="0">
                <a:pos x="545" y="121"/>
              </a:cxn>
              <a:cxn ang="0">
                <a:pos x="528" y="89"/>
              </a:cxn>
            </a:cxnLst>
            <a:rect l="0" t="0" r="r" b="b"/>
            <a:pathLst>
              <a:path w="545" h="505">
                <a:moveTo>
                  <a:pt x="528" y="89"/>
                </a:moveTo>
                <a:lnTo>
                  <a:pt x="395" y="56"/>
                </a:lnTo>
                <a:lnTo>
                  <a:pt x="379" y="34"/>
                </a:lnTo>
                <a:lnTo>
                  <a:pt x="85" y="0"/>
                </a:lnTo>
                <a:lnTo>
                  <a:pt x="0" y="54"/>
                </a:lnTo>
                <a:lnTo>
                  <a:pt x="10" y="87"/>
                </a:lnTo>
                <a:lnTo>
                  <a:pt x="136" y="97"/>
                </a:lnTo>
                <a:lnTo>
                  <a:pt x="109" y="283"/>
                </a:lnTo>
                <a:lnTo>
                  <a:pt x="91" y="375"/>
                </a:lnTo>
                <a:lnTo>
                  <a:pt x="50" y="436"/>
                </a:lnTo>
                <a:lnTo>
                  <a:pt x="63" y="436"/>
                </a:lnTo>
                <a:lnTo>
                  <a:pt x="105" y="426"/>
                </a:lnTo>
                <a:lnTo>
                  <a:pt x="147" y="460"/>
                </a:lnTo>
                <a:lnTo>
                  <a:pt x="176" y="504"/>
                </a:lnTo>
                <a:lnTo>
                  <a:pt x="198" y="505"/>
                </a:lnTo>
                <a:lnTo>
                  <a:pt x="217" y="482"/>
                </a:lnTo>
                <a:lnTo>
                  <a:pt x="257" y="461"/>
                </a:lnTo>
                <a:lnTo>
                  <a:pt x="368" y="434"/>
                </a:lnTo>
                <a:lnTo>
                  <a:pt x="381" y="411"/>
                </a:lnTo>
                <a:lnTo>
                  <a:pt x="422" y="377"/>
                </a:lnTo>
                <a:lnTo>
                  <a:pt x="422" y="342"/>
                </a:lnTo>
                <a:lnTo>
                  <a:pt x="410" y="278"/>
                </a:lnTo>
                <a:lnTo>
                  <a:pt x="442" y="185"/>
                </a:lnTo>
                <a:lnTo>
                  <a:pt x="489" y="179"/>
                </a:lnTo>
                <a:lnTo>
                  <a:pt x="545" y="121"/>
                </a:lnTo>
                <a:lnTo>
                  <a:pt x="528" y="89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9F2217C8-FF8E-F020-1C40-6E304EB566D2}"/>
              </a:ext>
            </a:extLst>
          </p:cNvPr>
          <p:cNvSpPr>
            <a:spLocks/>
          </p:cNvSpPr>
          <p:nvPr/>
        </p:nvSpPr>
        <p:spPr bwMode="auto">
          <a:xfrm>
            <a:off x="4440545" y="2513882"/>
            <a:ext cx="61595" cy="44985"/>
          </a:xfrm>
          <a:custGeom>
            <a:avLst/>
            <a:gdLst/>
            <a:ahLst/>
            <a:cxnLst>
              <a:cxn ang="0">
                <a:pos x="149" y="42"/>
              </a:cxn>
              <a:cxn ang="0">
                <a:pos x="111" y="0"/>
              </a:cxn>
              <a:cxn ang="0">
                <a:pos x="107" y="2"/>
              </a:cxn>
              <a:cxn ang="0">
                <a:pos x="90" y="14"/>
              </a:cxn>
              <a:cxn ang="0">
                <a:pos x="67" y="11"/>
              </a:cxn>
              <a:cxn ang="0">
                <a:pos x="56" y="30"/>
              </a:cxn>
              <a:cxn ang="0">
                <a:pos x="8" y="31"/>
              </a:cxn>
              <a:cxn ang="0">
                <a:pos x="0" y="95"/>
              </a:cxn>
              <a:cxn ang="0">
                <a:pos x="1" y="95"/>
              </a:cxn>
              <a:cxn ang="0">
                <a:pos x="7" y="114"/>
              </a:cxn>
              <a:cxn ang="0">
                <a:pos x="129" y="54"/>
              </a:cxn>
              <a:cxn ang="0">
                <a:pos x="150" y="43"/>
              </a:cxn>
              <a:cxn ang="0">
                <a:pos x="149" y="42"/>
              </a:cxn>
            </a:cxnLst>
            <a:rect l="0" t="0" r="r" b="b"/>
            <a:pathLst>
              <a:path w="150" h="114">
                <a:moveTo>
                  <a:pt x="149" y="42"/>
                </a:moveTo>
                <a:lnTo>
                  <a:pt x="111" y="0"/>
                </a:lnTo>
                <a:lnTo>
                  <a:pt x="107" y="2"/>
                </a:lnTo>
                <a:lnTo>
                  <a:pt x="90" y="14"/>
                </a:lnTo>
                <a:lnTo>
                  <a:pt x="67" y="11"/>
                </a:lnTo>
                <a:lnTo>
                  <a:pt x="56" y="30"/>
                </a:lnTo>
                <a:lnTo>
                  <a:pt x="8" y="31"/>
                </a:lnTo>
                <a:lnTo>
                  <a:pt x="0" y="95"/>
                </a:lnTo>
                <a:lnTo>
                  <a:pt x="1" y="95"/>
                </a:lnTo>
                <a:lnTo>
                  <a:pt x="7" y="114"/>
                </a:lnTo>
                <a:lnTo>
                  <a:pt x="129" y="54"/>
                </a:lnTo>
                <a:lnTo>
                  <a:pt x="150" y="43"/>
                </a:lnTo>
                <a:lnTo>
                  <a:pt x="149" y="42"/>
                </a:lnTo>
                <a:close/>
              </a:path>
            </a:pathLst>
          </a:custGeom>
          <a:solidFill>
            <a:srgbClr val="00B05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7" name="Freeform 20">
            <a:extLst>
              <a:ext uri="{FF2B5EF4-FFF2-40B4-BE49-F238E27FC236}">
                <a16:creationId xmlns:a16="http://schemas.microsoft.com/office/drawing/2014/main" id="{1A2D350A-8FC8-1B1F-3504-DBDAF5E29E8F}"/>
              </a:ext>
            </a:extLst>
          </p:cNvPr>
          <p:cNvSpPr>
            <a:spLocks/>
          </p:cNvSpPr>
          <p:nvPr/>
        </p:nvSpPr>
        <p:spPr bwMode="auto">
          <a:xfrm>
            <a:off x="4280733" y="2499922"/>
            <a:ext cx="91558" cy="43434"/>
          </a:xfrm>
          <a:custGeom>
            <a:avLst/>
            <a:gdLst/>
            <a:ahLst/>
            <a:cxnLst>
              <a:cxn ang="0">
                <a:pos x="210" y="42"/>
              </a:cxn>
              <a:cxn ang="0">
                <a:pos x="201" y="36"/>
              </a:cxn>
              <a:cxn ang="0">
                <a:pos x="177" y="36"/>
              </a:cxn>
              <a:cxn ang="0">
                <a:pos x="177" y="21"/>
              </a:cxn>
              <a:cxn ang="0">
                <a:pos x="176" y="15"/>
              </a:cxn>
              <a:cxn ang="0">
                <a:pos x="174" y="13"/>
              </a:cxn>
              <a:cxn ang="0">
                <a:pos x="160" y="0"/>
              </a:cxn>
              <a:cxn ang="0">
                <a:pos x="131" y="0"/>
              </a:cxn>
              <a:cxn ang="0">
                <a:pos x="72" y="5"/>
              </a:cxn>
              <a:cxn ang="0">
                <a:pos x="56" y="3"/>
              </a:cxn>
              <a:cxn ang="0">
                <a:pos x="55" y="6"/>
              </a:cxn>
              <a:cxn ang="0">
                <a:pos x="41" y="17"/>
              </a:cxn>
              <a:cxn ang="0">
                <a:pos x="5" y="50"/>
              </a:cxn>
              <a:cxn ang="0">
                <a:pos x="0" y="86"/>
              </a:cxn>
              <a:cxn ang="0">
                <a:pos x="27" y="90"/>
              </a:cxn>
              <a:cxn ang="0">
                <a:pos x="34" y="91"/>
              </a:cxn>
              <a:cxn ang="0">
                <a:pos x="40" y="109"/>
              </a:cxn>
              <a:cxn ang="0">
                <a:pos x="40" y="111"/>
              </a:cxn>
              <a:cxn ang="0">
                <a:pos x="86" y="105"/>
              </a:cxn>
              <a:cxn ang="0">
                <a:pos x="110" y="72"/>
              </a:cxn>
              <a:cxn ang="0">
                <a:pos x="128" y="93"/>
              </a:cxn>
              <a:cxn ang="0">
                <a:pos x="193" y="67"/>
              </a:cxn>
              <a:cxn ang="0">
                <a:pos x="221" y="38"/>
              </a:cxn>
              <a:cxn ang="0">
                <a:pos x="210" y="42"/>
              </a:cxn>
            </a:cxnLst>
            <a:rect l="0" t="0" r="r" b="b"/>
            <a:pathLst>
              <a:path w="221" h="111">
                <a:moveTo>
                  <a:pt x="210" y="42"/>
                </a:moveTo>
                <a:lnTo>
                  <a:pt x="201" y="36"/>
                </a:lnTo>
                <a:lnTo>
                  <a:pt x="177" y="36"/>
                </a:lnTo>
                <a:lnTo>
                  <a:pt x="177" y="21"/>
                </a:lnTo>
                <a:lnTo>
                  <a:pt x="176" y="15"/>
                </a:lnTo>
                <a:lnTo>
                  <a:pt x="174" y="13"/>
                </a:lnTo>
                <a:lnTo>
                  <a:pt x="160" y="0"/>
                </a:lnTo>
                <a:lnTo>
                  <a:pt x="131" y="0"/>
                </a:lnTo>
                <a:lnTo>
                  <a:pt x="72" y="5"/>
                </a:lnTo>
                <a:lnTo>
                  <a:pt x="56" y="3"/>
                </a:lnTo>
                <a:lnTo>
                  <a:pt x="55" y="6"/>
                </a:lnTo>
                <a:lnTo>
                  <a:pt x="41" y="17"/>
                </a:lnTo>
                <a:lnTo>
                  <a:pt x="5" y="50"/>
                </a:lnTo>
                <a:lnTo>
                  <a:pt x="0" y="86"/>
                </a:lnTo>
                <a:lnTo>
                  <a:pt x="27" y="90"/>
                </a:lnTo>
                <a:lnTo>
                  <a:pt x="34" y="91"/>
                </a:lnTo>
                <a:lnTo>
                  <a:pt x="40" y="109"/>
                </a:lnTo>
                <a:lnTo>
                  <a:pt x="40" y="111"/>
                </a:lnTo>
                <a:lnTo>
                  <a:pt x="86" y="105"/>
                </a:lnTo>
                <a:lnTo>
                  <a:pt x="110" y="72"/>
                </a:lnTo>
                <a:lnTo>
                  <a:pt x="128" y="93"/>
                </a:lnTo>
                <a:lnTo>
                  <a:pt x="193" y="67"/>
                </a:lnTo>
                <a:lnTo>
                  <a:pt x="221" y="38"/>
                </a:lnTo>
                <a:lnTo>
                  <a:pt x="210" y="42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C06F248C-D337-9650-B6F6-8D7FCEF0C8BF}"/>
              </a:ext>
            </a:extLst>
          </p:cNvPr>
          <p:cNvSpPr>
            <a:spLocks/>
          </p:cNvSpPr>
          <p:nvPr/>
        </p:nvSpPr>
        <p:spPr bwMode="auto">
          <a:xfrm>
            <a:off x="4367299" y="1851515"/>
            <a:ext cx="223070" cy="435891"/>
          </a:xfrm>
          <a:custGeom>
            <a:avLst/>
            <a:gdLst/>
            <a:ahLst/>
            <a:cxnLst>
              <a:cxn ang="0">
                <a:pos x="536" y="282"/>
              </a:cxn>
              <a:cxn ang="0">
                <a:pos x="498" y="125"/>
              </a:cxn>
              <a:cxn ang="0">
                <a:pos x="347" y="5"/>
              </a:cxn>
              <a:cxn ang="0">
                <a:pos x="339" y="0"/>
              </a:cxn>
              <a:cxn ang="0">
                <a:pos x="324" y="5"/>
              </a:cxn>
              <a:cxn ang="0">
                <a:pos x="321" y="50"/>
              </a:cxn>
              <a:cxn ang="0">
                <a:pos x="170" y="108"/>
              </a:cxn>
              <a:cxn ang="0">
                <a:pos x="120" y="268"/>
              </a:cxn>
              <a:cxn ang="0">
                <a:pos x="83" y="409"/>
              </a:cxn>
              <a:cxn ang="0">
                <a:pos x="73" y="435"/>
              </a:cxn>
              <a:cxn ang="0">
                <a:pos x="15" y="494"/>
              </a:cxn>
              <a:cxn ang="0">
                <a:pos x="49" y="643"/>
              </a:cxn>
              <a:cxn ang="0">
                <a:pos x="40" y="677"/>
              </a:cxn>
              <a:cxn ang="0">
                <a:pos x="50" y="713"/>
              </a:cxn>
              <a:cxn ang="0">
                <a:pos x="60" y="748"/>
              </a:cxn>
              <a:cxn ang="0">
                <a:pos x="19" y="841"/>
              </a:cxn>
              <a:cxn ang="0">
                <a:pos x="0" y="861"/>
              </a:cxn>
              <a:cxn ang="0">
                <a:pos x="83" y="1044"/>
              </a:cxn>
              <a:cxn ang="0">
                <a:pos x="112" y="1124"/>
              </a:cxn>
              <a:cxn ang="0">
                <a:pos x="163" y="1116"/>
              </a:cxn>
              <a:cxn ang="0">
                <a:pos x="173" y="1083"/>
              </a:cxn>
              <a:cxn ang="0">
                <a:pos x="255" y="1054"/>
              </a:cxn>
              <a:cxn ang="0">
                <a:pos x="266" y="921"/>
              </a:cxn>
              <a:cxn ang="0">
                <a:pos x="284" y="872"/>
              </a:cxn>
              <a:cxn ang="0">
                <a:pos x="366" y="785"/>
              </a:cxn>
              <a:cxn ang="0">
                <a:pos x="284" y="717"/>
              </a:cxn>
              <a:cxn ang="0">
                <a:pos x="258" y="650"/>
              </a:cxn>
              <a:cxn ang="0">
                <a:pos x="299" y="521"/>
              </a:cxn>
              <a:cxn ang="0">
                <a:pos x="402" y="454"/>
              </a:cxn>
              <a:cxn ang="0">
                <a:pos x="422" y="386"/>
              </a:cxn>
              <a:cxn ang="0">
                <a:pos x="417" y="361"/>
              </a:cxn>
              <a:cxn ang="0">
                <a:pos x="472" y="287"/>
              </a:cxn>
              <a:cxn ang="0">
                <a:pos x="536" y="282"/>
              </a:cxn>
            </a:cxnLst>
            <a:rect l="0" t="0" r="r" b="b"/>
            <a:pathLst>
              <a:path w="536" h="1124">
                <a:moveTo>
                  <a:pt x="536" y="282"/>
                </a:moveTo>
                <a:lnTo>
                  <a:pt x="498" y="125"/>
                </a:lnTo>
                <a:lnTo>
                  <a:pt x="347" y="5"/>
                </a:lnTo>
                <a:lnTo>
                  <a:pt x="339" y="0"/>
                </a:lnTo>
                <a:lnTo>
                  <a:pt x="324" y="5"/>
                </a:lnTo>
                <a:lnTo>
                  <a:pt x="321" y="50"/>
                </a:lnTo>
                <a:lnTo>
                  <a:pt x="170" y="108"/>
                </a:lnTo>
                <a:lnTo>
                  <a:pt x="120" y="268"/>
                </a:lnTo>
                <a:lnTo>
                  <a:pt x="83" y="409"/>
                </a:lnTo>
                <a:lnTo>
                  <a:pt x="73" y="435"/>
                </a:lnTo>
                <a:lnTo>
                  <a:pt x="15" y="494"/>
                </a:lnTo>
                <a:lnTo>
                  <a:pt x="49" y="643"/>
                </a:lnTo>
                <a:lnTo>
                  <a:pt x="40" y="677"/>
                </a:lnTo>
                <a:lnTo>
                  <a:pt x="50" y="713"/>
                </a:lnTo>
                <a:lnTo>
                  <a:pt x="60" y="748"/>
                </a:lnTo>
                <a:lnTo>
                  <a:pt x="19" y="841"/>
                </a:lnTo>
                <a:lnTo>
                  <a:pt x="0" y="861"/>
                </a:lnTo>
                <a:lnTo>
                  <a:pt x="83" y="1044"/>
                </a:lnTo>
                <a:lnTo>
                  <a:pt x="112" y="1124"/>
                </a:lnTo>
                <a:lnTo>
                  <a:pt x="163" y="1116"/>
                </a:lnTo>
                <a:lnTo>
                  <a:pt x="173" y="1083"/>
                </a:lnTo>
                <a:lnTo>
                  <a:pt x="255" y="1054"/>
                </a:lnTo>
                <a:lnTo>
                  <a:pt x="266" y="921"/>
                </a:lnTo>
                <a:lnTo>
                  <a:pt x="284" y="872"/>
                </a:lnTo>
                <a:lnTo>
                  <a:pt x="366" y="785"/>
                </a:lnTo>
                <a:lnTo>
                  <a:pt x="284" y="717"/>
                </a:lnTo>
                <a:lnTo>
                  <a:pt x="258" y="650"/>
                </a:lnTo>
                <a:lnTo>
                  <a:pt x="299" y="521"/>
                </a:lnTo>
                <a:lnTo>
                  <a:pt x="402" y="454"/>
                </a:lnTo>
                <a:lnTo>
                  <a:pt x="422" y="386"/>
                </a:lnTo>
                <a:lnTo>
                  <a:pt x="417" y="361"/>
                </a:lnTo>
                <a:lnTo>
                  <a:pt x="472" y="287"/>
                </a:lnTo>
                <a:lnTo>
                  <a:pt x="536" y="28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84EBB9C8-07BB-5298-B2FA-C0386955A956}"/>
              </a:ext>
            </a:extLst>
          </p:cNvPr>
          <p:cNvSpPr>
            <a:spLocks/>
          </p:cNvSpPr>
          <p:nvPr/>
        </p:nvSpPr>
        <p:spPr bwMode="auto">
          <a:xfrm>
            <a:off x="3989411" y="2636430"/>
            <a:ext cx="66588" cy="136508"/>
          </a:xfrm>
          <a:custGeom>
            <a:avLst/>
            <a:gdLst/>
            <a:ahLst/>
            <a:cxnLst>
              <a:cxn ang="0">
                <a:pos x="132" y="196"/>
              </a:cxn>
              <a:cxn ang="0">
                <a:pos x="159" y="10"/>
              </a:cxn>
              <a:cxn ang="0">
                <a:pos x="33" y="0"/>
              </a:cxn>
              <a:cxn ang="0">
                <a:pos x="42" y="28"/>
              </a:cxn>
              <a:cxn ang="0">
                <a:pos x="0" y="236"/>
              </a:cxn>
              <a:cxn ang="0">
                <a:pos x="29" y="261"/>
              </a:cxn>
              <a:cxn ang="0">
                <a:pos x="21" y="350"/>
              </a:cxn>
              <a:cxn ang="0">
                <a:pos x="73" y="349"/>
              </a:cxn>
              <a:cxn ang="0">
                <a:pos x="114" y="288"/>
              </a:cxn>
              <a:cxn ang="0">
                <a:pos x="132" y="196"/>
              </a:cxn>
            </a:cxnLst>
            <a:rect l="0" t="0" r="r" b="b"/>
            <a:pathLst>
              <a:path w="159" h="350">
                <a:moveTo>
                  <a:pt x="132" y="196"/>
                </a:moveTo>
                <a:lnTo>
                  <a:pt x="159" y="10"/>
                </a:lnTo>
                <a:lnTo>
                  <a:pt x="33" y="0"/>
                </a:lnTo>
                <a:lnTo>
                  <a:pt x="42" y="28"/>
                </a:lnTo>
                <a:lnTo>
                  <a:pt x="0" y="236"/>
                </a:lnTo>
                <a:lnTo>
                  <a:pt x="29" y="261"/>
                </a:lnTo>
                <a:lnTo>
                  <a:pt x="21" y="350"/>
                </a:lnTo>
                <a:lnTo>
                  <a:pt x="73" y="349"/>
                </a:lnTo>
                <a:lnTo>
                  <a:pt x="114" y="288"/>
                </a:lnTo>
                <a:lnTo>
                  <a:pt x="132" y="196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0" name="Freeform 25">
            <a:extLst>
              <a:ext uri="{FF2B5EF4-FFF2-40B4-BE49-F238E27FC236}">
                <a16:creationId xmlns:a16="http://schemas.microsoft.com/office/drawing/2014/main" id="{7E971A73-A662-320A-9792-B54AB82E062A}"/>
              </a:ext>
            </a:extLst>
          </p:cNvPr>
          <p:cNvSpPr>
            <a:spLocks/>
          </p:cNvSpPr>
          <p:nvPr/>
        </p:nvSpPr>
        <p:spPr bwMode="auto">
          <a:xfrm>
            <a:off x="4353980" y="2456489"/>
            <a:ext cx="153151" cy="69805"/>
          </a:xfrm>
          <a:custGeom>
            <a:avLst/>
            <a:gdLst/>
            <a:ahLst/>
            <a:cxnLst>
              <a:cxn ang="0">
                <a:pos x="370" y="56"/>
              </a:cxn>
              <a:cxn ang="0">
                <a:pos x="368" y="22"/>
              </a:cxn>
              <a:cxn ang="0">
                <a:pos x="286" y="0"/>
              </a:cxn>
              <a:cxn ang="0">
                <a:pos x="254" y="9"/>
              </a:cxn>
              <a:cxn ang="0">
                <a:pos x="239" y="39"/>
              </a:cxn>
              <a:cxn ang="0">
                <a:pos x="224" y="35"/>
              </a:cxn>
              <a:cxn ang="0">
                <a:pos x="219" y="34"/>
              </a:cxn>
              <a:cxn ang="0">
                <a:pos x="218" y="34"/>
              </a:cxn>
              <a:cxn ang="0">
                <a:pos x="202" y="39"/>
              </a:cxn>
              <a:cxn ang="0">
                <a:pos x="179" y="84"/>
              </a:cxn>
              <a:cxn ang="0">
                <a:pos x="158" y="93"/>
              </a:cxn>
              <a:cxn ang="0">
                <a:pos x="106" y="100"/>
              </a:cxn>
              <a:cxn ang="0">
                <a:pos x="84" y="98"/>
              </a:cxn>
              <a:cxn ang="0">
                <a:pos x="35" y="122"/>
              </a:cxn>
              <a:cxn ang="0">
                <a:pos x="7" y="117"/>
              </a:cxn>
              <a:cxn ang="0">
                <a:pos x="0" y="126"/>
              </a:cxn>
              <a:cxn ang="0">
                <a:pos x="2" y="128"/>
              </a:cxn>
              <a:cxn ang="0">
                <a:pos x="3" y="134"/>
              </a:cxn>
              <a:cxn ang="0">
                <a:pos x="3" y="149"/>
              </a:cxn>
              <a:cxn ang="0">
                <a:pos x="27" y="149"/>
              </a:cxn>
              <a:cxn ang="0">
                <a:pos x="36" y="155"/>
              </a:cxn>
              <a:cxn ang="0">
                <a:pos x="47" y="151"/>
              </a:cxn>
              <a:cxn ang="0">
                <a:pos x="69" y="145"/>
              </a:cxn>
              <a:cxn ang="0">
                <a:pos x="84" y="134"/>
              </a:cxn>
              <a:cxn ang="0">
                <a:pos x="136" y="139"/>
              </a:cxn>
              <a:cxn ang="0">
                <a:pos x="147" y="158"/>
              </a:cxn>
              <a:cxn ang="0">
                <a:pos x="172" y="167"/>
              </a:cxn>
              <a:cxn ang="0">
                <a:pos x="216" y="180"/>
              </a:cxn>
              <a:cxn ang="0">
                <a:pos x="216" y="180"/>
              </a:cxn>
              <a:cxn ang="0">
                <a:pos x="218" y="180"/>
              </a:cxn>
              <a:cxn ang="0">
                <a:pos x="266" y="179"/>
              </a:cxn>
              <a:cxn ang="0">
                <a:pos x="277" y="160"/>
              </a:cxn>
              <a:cxn ang="0">
                <a:pos x="300" y="163"/>
              </a:cxn>
              <a:cxn ang="0">
                <a:pos x="317" y="151"/>
              </a:cxn>
              <a:cxn ang="0">
                <a:pos x="321" y="149"/>
              </a:cxn>
              <a:cxn ang="0">
                <a:pos x="341" y="134"/>
              </a:cxn>
              <a:cxn ang="0">
                <a:pos x="359" y="103"/>
              </a:cxn>
              <a:cxn ang="0">
                <a:pos x="369" y="65"/>
              </a:cxn>
              <a:cxn ang="0">
                <a:pos x="370" y="60"/>
              </a:cxn>
              <a:cxn ang="0">
                <a:pos x="370" y="56"/>
              </a:cxn>
            </a:cxnLst>
            <a:rect l="0" t="0" r="r" b="b"/>
            <a:pathLst>
              <a:path w="370" h="180">
                <a:moveTo>
                  <a:pt x="370" y="56"/>
                </a:moveTo>
                <a:lnTo>
                  <a:pt x="368" y="22"/>
                </a:lnTo>
                <a:lnTo>
                  <a:pt x="286" y="0"/>
                </a:lnTo>
                <a:lnTo>
                  <a:pt x="254" y="9"/>
                </a:lnTo>
                <a:lnTo>
                  <a:pt x="239" y="39"/>
                </a:lnTo>
                <a:lnTo>
                  <a:pt x="224" y="35"/>
                </a:lnTo>
                <a:lnTo>
                  <a:pt x="219" y="34"/>
                </a:lnTo>
                <a:lnTo>
                  <a:pt x="218" y="34"/>
                </a:lnTo>
                <a:lnTo>
                  <a:pt x="202" y="39"/>
                </a:lnTo>
                <a:lnTo>
                  <a:pt x="179" y="84"/>
                </a:lnTo>
                <a:lnTo>
                  <a:pt x="158" y="93"/>
                </a:lnTo>
                <a:lnTo>
                  <a:pt x="106" y="100"/>
                </a:lnTo>
                <a:lnTo>
                  <a:pt x="84" y="98"/>
                </a:lnTo>
                <a:lnTo>
                  <a:pt x="35" y="122"/>
                </a:lnTo>
                <a:lnTo>
                  <a:pt x="7" y="117"/>
                </a:lnTo>
                <a:lnTo>
                  <a:pt x="0" y="126"/>
                </a:lnTo>
                <a:lnTo>
                  <a:pt x="2" y="128"/>
                </a:lnTo>
                <a:lnTo>
                  <a:pt x="3" y="134"/>
                </a:lnTo>
                <a:lnTo>
                  <a:pt x="3" y="149"/>
                </a:lnTo>
                <a:lnTo>
                  <a:pt x="27" y="149"/>
                </a:lnTo>
                <a:lnTo>
                  <a:pt x="36" y="155"/>
                </a:lnTo>
                <a:lnTo>
                  <a:pt x="47" y="151"/>
                </a:lnTo>
                <a:lnTo>
                  <a:pt x="69" y="145"/>
                </a:lnTo>
                <a:lnTo>
                  <a:pt x="84" y="134"/>
                </a:lnTo>
                <a:lnTo>
                  <a:pt x="136" y="139"/>
                </a:lnTo>
                <a:lnTo>
                  <a:pt x="147" y="158"/>
                </a:lnTo>
                <a:lnTo>
                  <a:pt x="172" y="167"/>
                </a:lnTo>
                <a:lnTo>
                  <a:pt x="216" y="180"/>
                </a:lnTo>
                <a:lnTo>
                  <a:pt x="216" y="180"/>
                </a:lnTo>
                <a:lnTo>
                  <a:pt x="218" y="180"/>
                </a:lnTo>
                <a:lnTo>
                  <a:pt x="266" y="179"/>
                </a:lnTo>
                <a:lnTo>
                  <a:pt x="277" y="160"/>
                </a:lnTo>
                <a:lnTo>
                  <a:pt x="300" y="163"/>
                </a:lnTo>
                <a:lnTo>
                  <a:pt x="317" y="151"/>
                </a:lnTo>
                <a:lnTo>
                  <a:pt x="321" y="149"/>
                </a:lnTo>
                <a:lnTo>
                  <a:pt x="341" y="134"/>
                </a:lnTo>
                <a:lnTo>
                  <a:pt x="359" y="103"/>
                </a:lnTo>
                <a:lnTo>
                  <a:pt x="369" y="65"/>
                </a:lnTo>
                <a:lnTo>
                  <a:pt x="370" y="60"/>
                </a:lnTo>
                <a:lnTo>
                  <a:pt x="370" y="56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1" name="Freeform 26">
            <a:extLst>
              <a:ext uri="{FF2B5EF4-FFF2-40B4-BE49-F238E27FC236}">
                <a16:creationId xmlns:a16="http://schemas.microsoft.com/office/drawing/2014/main" id="{6AE0861B-A63F-54B0-34A2-323BE2CFAE72}"/>
              </a:ext>
            </a:extLst>
          </p:cNvPr>
          <p:cNvSpPr>
            <a:spLocks/>
          </p:cNvSpPr>
          <p:nvPr/>
        </p:nvSpPr>
        <p:spPr bwMode="auto">
          <a:xfrm>
            <a:off x="4229129" y="1781708"/>
            <a:ext cx="459455" cy="434340"/>
          </a:xfrm>
          <a:custGeom>
            <a:avLst/>
            <a:gdLst/>
            <a:ahLst/>
            <a:cxnLst>
              <a:cxn ang="0">
                <a:pos x="1049" y="88"/>
              </a:cxn>
              <a:cxn ang="0">
                <a:pos x="1083" y="58"/>
              </a:cxn>
              <a:cxn ang="0">
                <a:pos x="881" y="0"/>
              </a:cxn>
              <a:cxn ang="0">
                <a:pos x="797" y="40"/>
              </a:cxn>
              <a:cxn ang="0">
                <a:pos x="713" y="66"/>
              </a:cxn>
              <a:cxn ang="0">
                <a:pos x="602" y="108"/>
              </a:cxn>
              <a:cxn ang="0">
                <a:pos x="463" y="185"/>
              </a:cxn>
              <a:cxn ang="0">
                <a:pos x="394" y="291"/>
              </a:cxn>
              <a:cxn ang="0">
                <a:pos x="431" y="301"/>
              </a:cxn>
              <a:cxn ang="0">
                <a:pos x="445" y="330"/>
              </a:cxn>
              <a:cxn ang="0">
                <a:pos x="343" y="533"/>
              </a:cxn>
              <a:cxn ang="0">
                <a:pos x="223" y="634"/>
              </a:cxn>
              <a:cxn ang="0">
                <a:pos x="116" y="715"/>
              </a:cxn>
              <a:cxn ang="0">
                <a:pos x="19" y="795"/>
              </a:cxn>
              <a:cxn ang="0">
                <a:pos x="0" y="884"/>
              </a:cxn>
              <a:cxn ang="0">
                <a:pos x="59" y="1047"/>
              </a:cxn>
              <a:cxn ang="0">
                <a:pos x="101" y="1094"/>
              </a:cxn>
              <a:cxn ang="0">
                <a:pos x="185" y="1119"/>
              </a:cxn>
              <a:cxn ang="0">
                <a:pos x="248" y="1037"/>
              </a:cxn>
              <a:cxn ang="0">
                <a:pos x="326" y="1028"/>
              </a:cxn>
              <a:cxn ang="0">
                <a:pos x="326" y="1029"/>
              </a:cxn>
              <a:cxn ang="0">
                <a:pos x="332" y="1043"/>
              </a:cxn>
              <a:cxn ang="0">
                <a:pos x="351" y="1023"/>
              </a:cxn>
              <a:cxn ang="0">
                <a:pos x="392" y="930"/>
              </a:cxn>
              <a:cxn ang="0">
                <a:pos x="382" y="895"/>
              </a:cxn>
              <a:cxn ang="0">
                <a:pos x="372" y="859"/>
              </a:cxn>
              <a:cxn ang="0">
                <a:pos x="381" y="825"/>
              </a:cxn>
              <a:cxn ang="0">
                <a:pos x="347" y="676"/>
              </a:cxn>
              <a:cxn ang="0">
                <a:pos x="405" y="617"/>
              </a:cxn>
              <a:cxn ang="0">
                <a:pos x="415" y="591"/>
              </a:cxn>
              <a:cxn ang="0">
                <a:pos x="452" y="450"/>
              </a:cxn>
              <a:cxn ang="0">
                <a:pos x="502" y="290"/>
              </a:cxn>
              <a:cxn ang="0">
                <a:pos x="653" y="232"/>
              </a:cxn>
              <a:cxn ang="0">
                <a:pos x="656" y="187"/>
              </a:cxn>
              <a:cxn ang="0">
                <a:pos x="671" y="182"/>
              </a:cxn>
              <a:cxn ang="0">
                <a:pos x="670" y="181"/>
              </a:cxn>
              <a:cxn ang="0">
                <a:pos x="686" y="165"/>
              </a:cxn>
              <a:cxn ang="0">
                <a:pos x="869" y="209"/>
              </a:cxn>
              <a:cxn ang="0">
                <a:pos x="882" y="149"/>
              </a:cxn>
              <a:cxn ang="0">
                <a:pos x="964" y="99"/>
              </a:cxn>
              <a:cxn ang="0">
                <a:pos x="1032" y="172"/>
              </a:cxn>
              <a:cxn ang="0">
                <a:pos x="1106" y="120"/>
              </a:cxn>
              <a:cxn ang="0">
                <a:pos x="1049" y="88"/>
              </a:cxn>
            </a:cxnLst>
            <a:rect l="0" t="0" r="r" b="b"/>
            <a:pathLst>
              <a:path w="1106" h="1119">
                <a:moveTo>
                  <a:pt x="1049" y="88"/>
                </a:moveTo>
                <a:lnTo>
                  <a:pt x="1083" y="58"/>
                </a:lnTo>
                <a:lnTo>
                  <a:pt x="881" y="0"/>
                </a:lnTo>
                <a:lnTo>
                  <a:pt x="797" y="40"/>
                </a:lnTo>
                <a:lnTo>
                  <a:pt x="713" y="66"/>
                </a:lnTo>
                <a:lnTo>
                  <a:pt x="602" y="108"/>
                </a:lnTo>
                <a:lnTo>
                  <a:pt x="463" y="185"/>
                </a:lnTo>
                <a:lnTo>
                  <a:pt x="394" y="291"/>
                </a:lnTo>
                <a:lnTo>
                  <a:pt x="431" y="301"/>
                </a:lnTo>
                <a:lnTo>
                  <a:pt x="445" y="330"/>
                </a:lnTo>
                <a:lnTo>
                  <a:pt x="343" y="533"/>
                </a:lnTo>
                <a:lnTo>
                  <a:pt x="223" y="634"/>
                </a:lnTo>
                <a:lnTo>
                  <a:pt x="116" y="715"/>
                </a:lnTo>
                <a:lnTo>
                  <a:pt x="19" y="795"/>
                </a:lnTo>
                <a:lnTo>
                  <a:pt x="0" y="884"/>
                </a:lnTo>
                <a:lnTo>
                  <a:pt x="59" y="1047"/>
                </a:lnTo>
                <a:lnTo>
                  <a:pt x="101" y="1094"/>
                </a:lnTo>
                <a:lnTo>
                  <a:pt x="185" y="1119"/>
                </a:lnTo>
                <a:lnTo>
                  <a:pt x="248" y="1037"/>
                </a:lnTo>
                <a:lnTo>
                  <a:pt x="326" y="1028"/>
                </a:lnTo>
                <a:lnTo>
                  <a:pt x="326" y="1029"/>
                </a:lnTo>
                <a:lnTo>
                  <a:pt x="332" y="1043"/>
                </a:lnTo>
                <a:lnTo>
                  <a:pt x="351" y="1023"/>
                </a:lnTo>
                <a:lnTo>
                  <a:pt x="392" y="930"/>
                </a:lnTo>
                <a:lnTo>
                  <a:pt x="382" y="895"/>
                </a:lnTo>
                <a:lnTo>
                  <a:pt x="372" y="859"/>
                </a:lnTo>
                <a:lnTo>
                  <a:pt x="381" y="825"/>
                </a:lnTo>
                <a:lnTo>
                  <a:pt x="347" y="676"/>
                </a:lnTo>
                <a:lnTo>
                  <a:pt x="405" y="617"/>
                </a:lnTo>
                <a:lnTo>
                  <a:pt x="415" y="591"/>
                </a:lnTo>
                <a:lnTo>
                  <a:pt x="452" y="450"/>
                </a:lnTo>
                <a:lnTo>
                  <a:pt x="502" y="290"/>
                </a:lnTo>
                <a:lnTo>
                  <a:pt x="653" y="232"/>
                </a:lnTo>
                <a:lnTo>
                  <a:pt x="656" y="187"/>
                </a:lnTo>
                <a:lnTo>
                  <a:pt x="671" y="182"/>
                </a:lnTo>
                <a:lnTo>
                  <a:pt x="670" y="181"/>
                </a:lnTo>
                <a:lnTo>
                  <a:pt x="686" y="165"/>
                </a:lnTo>
                <a:lnTo>
                  <a:pt x="869" y="209"/>
                </a:lnTo>
                <a:lnTo>
                  <a:pt x="882" y="149"/>
                </a:lnTo>
                <a:lnTo>
                  <a:pt x="964" y="99"/>
                </a:lnTo>
                <a:lnTo>
                  <a:pt x="1032" y="172"/>
                </a:lnTo>
                <a:lnTo>
                  <a:pt x="1106" y="120"/>
                </a:lnTo>
                <a:lnTo>
                  <a:pt x="1049" y="8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2" name="Freeform 27">
            <a:extLst>
              <a:ext uri="{FF2B5EF4-FFF2-40B4-BE49-F238E27FC236}">
                <a16:creationId xmlns:a16="http://schemas.microsoft.com/office/drawing/2014/main" id="{6A7C1B6A-7511-399B-B610-85250F40DA07}"/>
              </a:ext>
            </a:extLst>
          </p:cNvPr>
          <p:cNvSpPr>
            <a:spLocks/>
          </p:cNvSpPr>
          <p:nvPr/>
        </p:nvSpPr>
        <p:spPr bwMode="auto">
          <a:xfrm>
            <a:off x="4209153" y="2338595"/>
            <a:ext cx="88229" cy="68253"/>
          </a:xfrm>
          <a:custGeom>
            <a:avLst/>
            <a:gdLst/>
            <a:ahLst/>
            <a:cxnLst>
              <a:cxn ang="0">
                <a:pos x="209" y="45"/>
              </a:cxn>
              <a:cxn ang="0">
                <a:pos x="185" y="0"/>
              </a:cxn>
              <a:cxn ang="0">
                <a:pos x="174" y="2"/>
              </a:cxn>
              <a:cxn ang="0">
                <a:pos x="121" y="13"/>
              </a:cxn>
              <a:cxn ang="0">
                <a:pos x="83" y="85"/>
              </a:cxn>
              <a:cxn ang="0">
                <a:pos x="5" y="158"/>
              </a:cxn>
              <a:cxn ang="0">
                <a:pos x="0" y="163"/>
              </a:cxn>
              <a:cxn ang="0">
                <a:pos x="71" y="177"/>
              </a:cxn>
              <a:cxn ang="0">
                <a:pos x="158" y="154"/>
              </a:cxn>
              <a:cxn ang="0">
                <a:pos x="157" y="152"/>
              </a:cxn>
              <a:cxn ang="0">
                <a:pos x="149" y="130"/>
              </a:cxn>
              <a:cxn ang="0">
                <a:pos x="178" y="125"/>
              </a:cxn>
              <a:cxn ang="0">
                <a:pos x="198" y="122"/>
              </a:cxn>
              <a:cxn ang="0">
                <a:pos x="201" y="90"/>
              </a:cxn>
              <a:cxn ang="0">
                <a:pos x="193" y="74"/>
              </a:cxn>
              <a:cxn ang="0">
                <a:pos x="209" y="45"/>
              </a:cxn>
            </a:cxnLst>
            <a:rect l="0" t="0" r="r" b="b"/>
            <a:pathLst>
              <a:path w="209" h="177">
                <a:moveTo>
                  <a:pt x="209" y="45"/>
                </a:moveTo>
                <a:lnTo>
                  <a:pt x="185" y="0"/>
                </a:lnTo>
                <a:lnTo>
                  <a:pt x="174" y="2"/>
                </a:lnTo>
                <a:lnTo>
                  <a:pt x="121" y="13"/>
                </a:lnTo>
                <a:lnTo>
                  <a:pt x="83" y="85"/>
                </a:lnTo>
                <a:lnTo>
                  <a:pt x="5" y="158"/>
                </a:lnTo>
                <a:lnTo>
                  <a:pt x="0" y="163"/>
                </a:lnTo>
                <a:lnTo>
                  <a:pt x="71" y="177"/>
                </a:lnTo>
                <a:lnTo>
                  <a:pt x="158" y="154"/>
                </a:lnTo>
                <a:lnTo>
                  <a:pt x="157" y="152"/>
                </a:lnTo>
                <a:lnTo>
                  <a:pt x="149" y="130"/>
                </a:lnTo>
                <a:lnTo>
                  <a:pt x="178" y="125"/>
                </a:lnTo>
                <a:lnTo>
                  <a:pt x="198" y="122"/>
                </a:lnTo>
                <a:lnTo>
                  <a:pt x="201" y="90"/>
                </a:lnTo>
                <a:lnTo>
                  <a:pt x="193" y="74"/>
                </a:lnTo>
                <a:lnTo>
                  <a:pt x="209" y="45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04A60E19-97D5-0164-6D27-AC5FE8DCBE6A}"/>
              </a:ext>
            </a:extLst>
          </p:cNvPr>
          <p:cNvSpPr>
            <a:spLocks/>
          </p:cNvSpPr>
          <p:nvPr/>
        </p:nvSpPr>
        <p:spPr bwMode="auto">
          <a:xfrm>
            <a:off x="4265752" y="2430117"/>
            <a:ext cx="18311" cy="21718"/>
          </a:xfrm>
          <a:custGeom>
            <a:avLst/>
            <a:gdLst/>
            <a:ahLst/>
            <a:cxnLst>
              <a:cxn ang="0">
                <a:pos x="33" y="7"/>
              </a:cxn>
              <a:cxn ang="0">
                <a:pos x="31" y="0"/>
              </a:cxn>
              <a:cxn ang="0">
                <a:pos x="5" y="8"/>
              </a:cxn>
              <a:cxn ang="0">
                <a:pos x="0" y="32"/>
              </a:cxn>
              <a:cxn ang="0">
                <a:pos x="4" y="34"/>
              </a:cxn>
              <a:cxn ang="0">
                <a:pos x="43" y="53"/>
              </a:cxn>
              <a:cxn ang="0">
                <a:pos x="33" y="7"/>
              </a:cxn>
            </a:cxnLst>
            <a:rect l="0" t="0" r="r" b="b"/>
            <a:pathLst>
              <a:path w="43" h="53">
                <a:moveTo>
                  <a:pt x="33" y="7"/>
                </a:moveTo>
                <a:lnTo>
                  <a:pt x="31" y="0"/>
                </a:lnTo>
                <a:lnTo>
                  <a:pt x="5" y="8"/>
                </a:lnTo>
                <a:lnTo>
                  <a:pt x="0" y="32"/>
                </a:lnTo>
                <a:lnTo>
                  <a:pt x="4" y="34"/>
                </a:lnTo>
                <a:lnTo>
                  <a:pt x="43" y="53"/>
                </a:lnTo>
                <a:lnTo>
                  <a:pt x="33" y="7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4" name="Freeform 35">
            <a:extLst>
              <a:ext uri="{FF2B5EF4-FFF2-40B4-BE49-F238E27FC236}">
                <a16:creationId xmlns:a16="http://schemas.microsoft.com/office/drawing/2014/main" id="{D7A80607-DADB-28C5-EAF3-4D2B9CB3C148}"/>
              </a:ext>
            </a:extLst>
          </p:cNvPr>
          <p:cNvSpPr>
            <a:spLocks/>
          </p:cNvSpPr>
          <p:nvPr/>
        </p:nvSpPr>
        <p:spPr bwMode="auto">
          <a:xfrm>
            <a:off x="4295717" y="2510185"/>
            <a:ext cx="259691" cy="240437"/>
          </a:xfrm>
          <a:custGeom>
            <a:avLst/>
            <a:gdLst/>
            <a:ahLst/>
            <a:cxnLst>
              <a:cxn ang="0">
                <a:pos x="623" y="466"/>
              </a:cxn>
              <a:cxn ang="0">
                <a:pos x="585" y="440"/>
              </a:cxn>
              <a:cxn ang="0">
                <a:pos x="495" y="390"/>
              </a:cxn>
              <a:cxn ang="0">
                <a:pos x="499" y="378"/>
              </a:cxn>
              <a:cxn ang="0">
                <a:pos x="495" y="365"/>
              </a:cxn>
              <a:cxn ang="0">
                <a:pos x="426" y="354"/>
              </a:cxn>
              <a:cxn ang="0">
                <a:pos x="375" y="306"/>
              </a:cxn>
              <a:cxn ang="0">
                <a:pos x="356" y="258"/>
              </a:cxn>
              <a:cxn ang="0">
                <a:pos x="284" y="212"/>
              </a:cxn>
              <a:cxn ang="0">
                <a:pos x="279" y="132"/>
              </a:cxn>
              <a:cxn ang="0">
                <a:pos x="334" y="114"/>
              </a:cxn>
              <a:cxn ang="0">
                <a:pos x="348" y="110"/>
              </a:cxn>
              <a:cxn ang="0">
                <a:pos x="356" y="46"/>
              </a:cxn>
              <a:cxn ang="0">
                <a:pos x="354" y="46"/>
              </a:cxn>
              <a:cxn ang="0">
                <a:pos x="354" y="46"/>
              </a:cxn>
              <a:cxn ang="0">
                <a:pos x="310" y="33"/>
              </a:cxn>
              <a:cxn ang="0">
                <a:pos x="285" y="24"/>
              </a:cxn>
              <a:cxn ang="0">
                <a:pos x="274" y="5"/>
              </a:cxn>
              <a:cxn ang="0">
                <a:pos x="222" y="0"/>
              </a:cxn>
              <a:cxn ang="0">
                <a:pos x="207" y="11"/>
              </a:cxn>
              <a:cxn ang="0">
                <a:pos x="185" y="17"/>
              </a:cxn>
              <a:cxn ang="0">
                <a:pos x="157" y="46"/>
              </a:cxn>
              <a:cxn ang="0">
                <a:pos x="92" y="72"/>
              </a:cxn>
              <a:cxn ang="0">
                <a:pos x="74" y="51"/>
              </a:cxn>
              <a:cxn ang="0">
                <a:pos x="50" y="84"/>
              </a:cxn>
              <a:cxn ang="0">
                <a:pos x="4" y="90"/>
              </a:cxn>
              <a:cxn ang="0">
                <a:pos x="0" y="156"/>
              </a:cxn>
              <a:cxn ang="0">
                <a:pos x="7" y="191"/>
              </a:cxn>
              <a:cxn ang="0">
                <a:pos x="35" y="209"/>
              </a:cxn>
              <a:cxn ang="0">
                <a:pos x="40" y="247"/>
              </a:cxn>
              <a:cxn ang="0">
                <a:pos x="104" y="207"/>
              </a:cxn>
              <a:cxn ang="0">
                <a:pos x="171" y="237"/>
              </a:cxn>
              <a:cxn ang="0">
                <a:pos x="196" y="300"/>
              </a:cxn>
              <a:cxn ang="0">
                <a:pos x="239" y="328"/>
              </a:cxn>
              <a:cxn ang="0">
                <a:pos x="336" y="410"/>
              </a:cxn>
              <a:cxn ang="0">
                <a:pos x="369" y="416"/>
              </a:cxn>
              <a:cxn ang="0">
                <a:pos x="470" y="476"/>
              </a:cxn>
              <a:cxn ang="0">
                <a:pos x="502" y="553"/>
              </a:cxn>
              <a:cxn ang="0">
                <a:pos x="481" y="600"/>
              </a:cxn>
              <a:cxn ang="0">
                <a:pos x="494" y="619"/>
              </a:cxn>
              <a:cxn ang="0">
                <a:pos x="522" y="604"/>
              </a:cxn>
              <a:cxn ang="0">
                <a:pos x="557" y="546"/>
              </a:cxn>
              <a:cxn ang="0">
                <a:pos x="548" y="515"/>
              </a:cxn>
              <a:cxn ang="0">
                <a:pos x="523" y="503"/>
              </a:cxn>
              <a:cxn ang="0">
                <a:pos x="543" y="458"/>
              </a:cxn>
              <a:cxn ang="0">
                <a:pos x="575" y="459"/>
              </a:cxn>
              <a:cxn ang="0">
                <a:pos x="608" y="489"/>
              </a:cxn>
              <a:cxn ang="0">
                <a:pos x="624" y="483"/>
              </a:cxn>
              <a:cxn ang="0">
                <a:pos x="623" y="466"/>
              </a:cxn>
            </a:cxnLst>
            <a:rect l="0" t="0" r="r" b="b"/>
            <a:pathLst>
              <a:path w="624" h="619">
                <a:moveTo>
                  <a:pt x="623" y="466"/>
                </a:moveTo>
                <a:lnTo>
                  <a:pt x="585" y="440"/>
                </a:lnTo>
                <a:lnTo>
                  <a:pt x="495" y="390"/>
                </a:lnTo>
                <a:lnTo>
                  <a:pt x="499" y="378"/>
                </a:lnTo>
                <a:lnTo>
                  <a:pt x="495" y="365"/>
                </a:lnTo>
                <a:lnTo>
                  <a:pt x="426" y="354"/>
                </a:lnTo>
                <a:lnTo>
                  <a:pt x="375" y="306"/>
                </a:lnTo>
                <a:lnTo>
                  <a:pt x="356" y="258"/>
                </a:lnTo>
                <a:lnTo>
                  <a:pt x="284" y="212"/>
                </a:lnTo>
                <a:lnTo>
                  <a:pt x="279" y="132"/>
                </a:lnTo>
                <a:lnTo>
                  <a:pt x="334" y="114"/>
                </a:lnTo>
                <a:lnTo>
                  <a:pt x="348" y="110"/>
                </a:lnTo>
                <a:lnTo>
                  <a:pt x="356" y="46"/>
                </a:lnTo>
                <a:lnTo>
                  <a:pt x="354" y="46"/>
                </a:lnTo>
                <a:lnTo>
                  <a:pt x="354" y="46"/>
                </a:lnTo>
                <a:lnTo>
                  <a:pt x="310" y="33"/>
                </a:lnTo>
                <a:lnTo>
                  <a:pt x="285" y="24"/>
                </a:lnTo>
                <a:lnTo>
                  <a:pt x="274" y="5"/>
                </a:lnTo>
                <a:lnTo>
                  <a:pt x="222" y="0"/>
                </a:lnTo>
                <a:lnTo>
                  <a:pt x="207" y="11"/>
                </a:lnTo>
                <a:lnTo>
                  <a:pt x="185" y="17"/>
                </a:lnTo>
                <a:lnTo>
                  <a:pt x="157" y="46"/>
                </a:lnTo>
                <a:lnTo>
                  <a:pt x="92" y="72"/>
                </a:lnTo>
                <a:lnTo>
                  <a:pt x="74" y="51"/>
                </a:lnTo>
                <a:lnTo>
                  <a:pt x="50" y="84"/>
                </a:lnTo>
                <a:lnTo>
                  <a:pt x="4" y="90"/>
                </a:lnTo>
                <a:lnTo>
                  <a:pt x="0" y="156"/>
                </a:lnTo>
                <a:lnTo>
                  <a:pt x="7" y="191"/>
                </a:lnTo>
                <a:lnTo>
                  <a:pt x="35" y="209"/>
                </a:lnTo>
                <a:lnTo>
                  <a:pt x="40" y="247"/>
                </a:lnTo>
                <a:lnTo>
                  <a:pt x="104" y="207"/>
                </a:lnTo>
                <a:lnTo>
                  <a:pt x="171" y="237"/>
                </a:lnTo>
                <a:lnTo>
                  <a:pt x="196" y="300"/>
                </a:lnTo>
                <a:lnTo>
                  <a:pt x="239" y="328"/>
                </a:lnTo>
                <a:lnTo>
                  <a:pt x="336" y="410"/>
                </a:lnTo>
                <a:lnTo>
                  <a:pt x="369" y="416"/>
                </a:lnTo>
                <a:lnTo>
                  <a:pt x="470" y="476"/>
                </a:lnTo>
                <a:lnTo>
                  <a:pt x="502" y="553"/>
                </a:lnTo>
                <a:lnTo>
                  <a:pt x="481" y="600"/>
                </a:lnTo>
                <a:lnTo>
                  <a:pt x="494" y="619"/>
                </a:lnTo>
                <a:lnTo>
                  <a:pt x="522" y="604"/>
                </a:lnTo>
                <a:lnTo>
                  <a:pt x="557" y="546"/>
                </a:lnTo>
                <a:lnTo>
                  <a:pt x="548" y="515"/>
                </a:lnTo>
                <a:lnTo>
                  <a:pt x="523" y="503"/>
                </a:lnTo>
                <a:lnTo>
                  <a:pt x="543" y="458"/>
                </a:lnTo>
                <a:lnTo>
                  <a:pt x="575" y="459"/>
                </a:lnTo>
                <a:lnTo>
                  <a:pt x="608" y="489"/>
                </a:lnTo>
                <a:lnTo>
                  <a:pt x="624" y="483"/>
                </a:lnTo>
                <a:lnTo>
                  <a:pt x="623" y="466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11148AE6-36BB-41EB-3D33-FFAA222F5DDA}"/>
              </a:ext>
            </a:extLst>
          </p:cNvPr>
          <p:cNvSpPr>
            <a:spLocks/>
          </p:cNvSpPr>
          <p:nvPr/>
        </p:nvSpPr>
        <p:spPr bwMode="auto">
          <a:xfrm>
            <a:off x="4330674" y="2670557"/>
            <a:ext cx="36624" cy="55843"/>
          </a:xfrm>
          <a:custGeom>
            <a:avLst/>
            <a:gdLst/>
            <a:ahLst/>
            <a:cxnLst>
              <a:cxn ang="0">
                <a:pos x="49" y="0"/>
              </a:cxn>
              <a:cxn ang="0">
                <a:pos x="21" y="19"/>
              </a:cxn>
              <a:cxn ang="0">
                <a:pos x="0" y="22"/>
              </a:cxn>
              <a:cxn ang="0">
                <a:pos x="1" y="43"/>
              </a:cxn>
              <a:cxn ang="0">
                <a:pos x="12" y="135"/>
              </a:cxn>
              <a:cxn ang="0">
                <a:pos x="29" y="147"/>
              </a:cxn>
              <a:cxn ang="0">
                <a:pos x="74" y="125"/>
              </a:cxn>
              <a:cxn ang="0">
                <a:pos x="77" y="64"/>
              </a:cxn>
              <a:cxn ang="0">
                <a:pos x="87" y="26"/>
              </a:cxn>
              <a:cxn ang="0">
                <a:pos x="49" y="0"/>
              </a:cxn>
            </a:cxnLst>
            <a:rect l="0" t="0" r="r" b="b"/>
            <a:pathLst>
              <a:path w="87" h="147">
                <a:moveTo>
                  <a:pt x="49" y="0"/>
                </a:moveTo>
                <a:lnTo>
                  <a:pt x="21" y="19"/>
                </a:lnTo>
                <a:lnTo>
                  <a:pt x="0" y="22"/>
                </a:lnTo>
                <a:lnTo>
                  <a:pt x="1" y="43"/>
                </a:lnTo>
                <a:lnTo>
                  <a:pt x="12" y="135"/>
                </a:lnTo>
                <a:lnTo>
                  <a:pt x="29" y="147"/>
                </a:lnTo>
                <a:lnTo>
                  <a:pt x="74" y="125"/>
                </a:lnTo>
                <a:lnTo>
                  <a:pt x="77" y="64"/>
                </a:lnTo>
                <a:lnTo>
                  <a:pt x="87" y="26"/>
                </a:lnTo>
                <a:lnTo>
                  <a:pt x="49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6" name="Freeform 37">
            <a:extLst>
              <a:ext uri="{FF2B5EF4-FFF2-40B4-BE49-F238E27FC236}">
                <a16:creationId xmlns:a16="http://schemas.microsoft.com/office/drawing/2014/main" id="{5EABBCA7-2CCA-7DE4-956D-9E4ACD17EB2A}"/>
              </a:ext>
            </a:extLst>
          </p:cNvPr>
          <p:cNvSpPr>
            <a:spLocks/>
          </p:cNvSpPr>
          <p:nvPr/>
        </p:nvSpPr>
        <p:spPr bwMode="auto">
          <a:xfrm>
            <a:off x="4423898" y="2740360"/>
            <a:ext cx="64923" cy="37229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157" y="17"/>
              </a:cxn>
              <a:cxn ang="0">
                <a:pos x="153" y="85"/>
              </a:cxn>
              <a:cxn ang="0">
                <a:pos x="139" y="97"/>
              </a:cxn>
              <a:cxn ang="0">
                <a:pos x="0" y="39"/>
              </a:cxn>
              <a:cxn ang="0">
                <a:pos x="0" y="23"/>
              </a:cxn>
              <a:cxn ang="0">
                <a:pos x="24" y="8"/>
              </a:cxn>
              <a:cxn ang="0">
                <a:pos x="89" y="24"/>
              </a:cxn>
              <a:cxn ang="0">
                <a:pos x="152" y="0"/>
              </a:cxn>
            </a:cxnLst>
            <a:rect l="0" t="0" r="r" b="b"/>
            <a:pathLst>
              <a:path w="157" h="97">
                <a:moveTo>
                  <a:pt x="152" y="0"/>
                </a:moveTo>
                <a:lnTo>
                  <a:pt x="157" y="17"/>
                </a:lnTo>
                <a:lnTo>
                  <a:pt x="153" y="85"/>
                </a:lnTo>
                <a:lnTo>
                  <a:pt x="139" y="97"/>
                </a:lnTo>
                <a:lnTo>
                  <a:pt x="0" y="39"/>
                </a:lnTo>
                <a:lnTo>
                  <a:pt x="0" y="23"/>
                </a:lnTo>
                <a:lnTo>
                  <a:pt x="24" y="8"/>
                </a:lnTo>
                <a:lnTo>
                  <a:pt x="89" y="24"/>
                </a:lnTo>
                <a:lnTo>
                  <a:pt x="152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7" name="Freeform 39">
            <a:extLst>
              <a:ext uri="{FF2B5EF4-FFF2-40B4-BE49-F238E27FC236}">
                <a16:creationId xmlns:a16="http://schemas.microsoft.com/office/drawing/2014/main" id="{744701A2-6543-63AC-0F98-A2D645F27557}"/>
              </a:ext>
            </a:extLst>
          </p:cNvPr>
          <p:cNvSpPr>
            <a:spLocks/>
          </p:cNvSpPr>
          <p:nvPr/>
        </p:nvSpPr>
        <p:spPr bwMode="auto">
          <a:xfrm>
            <a:off x="3982755" y="2293610"/>
            <a:ext cx="91558" cy="107034"/>
          </a:xfrm>
          <a:custGeom>
            <a:avLst/>
            <a:gdLst/>
            <a:ahLst/>
            <a:cxnLst>
              <a:cxn ang="0">
                <a:pos x="0" y="233"/>
              </a:cxn>
              <a:cxn ang="0">
                <a:pos x="36" y="274"/>
              </a:cxn>
              <a:cxn ang="0">
                <a:pos x="88" y="270"/>
              </a:cxn>
              <a:cxn ang="0">
                <a:pos x="151" y="236"/>
              </a:cxn>
              <a:cxn ang="0">
                <a:pos x="207" y="236"/>
              </a:cxn>
              <a:cxn ang="0">
                <a:pos x="221" y="167"/>
              </a:cxn>
              <a:cxn ang="0">
                <a:pos x="219" y="96"/>
              </a:cxn>
              <a:cxn ang="0">
                <a:pos x="220" y="95"/>
              </a:cxn>
              <a:cxn ang="0">
                <a:pos x="199" y="80"/>
              </a:cxn>
              <a:cxn ang="0">
                <a:pos x="168" y="78"/>
              </a:cxn>
              <a:cxn ang="0">
                <a:pos x="136" y="70"/>
              </a:cxn>
              <a:cxn ang="0">
                <a:pos x="145" y="25"/>
              </a:cxn>
              <a:cxn ang="0">
                <a:pos x="144" y="0"/>
              </a:cxn>
              <a:cxn ang="0">
                <a:pos x="99" y="35"/>
              </a:cxn>
              <a:cxn ang="0">
                <a:pos x="116" y="51"/>
              </a:cxn>
              <a:cxn ang="0">
                <a:pos x="102" y="78"/>
              </a:cxn>
              <a:cxn ang="0">
                <a:pos x="48" y="65"/>
              </a:cxn>
              <a:cxn ang="0">
                <a:pos x="26" y="88"/>
              </a:cxn>
              <a:cxn ang="0">
                <a:pos x="18" y="130"/>
              </a:cxn>
              <a:cxn ang="0">
                <a:pos x="61" y="147"/>
              </a:cxn>
              <a:cxn ang="0">
                <a:pos x="68" y="162"/>
              </a:cxn>
              <a:cxn ang="0">
                <a:pos x="36" y="188"/>
              </a:cxn>
              <a:cxn ang="0">
                <a:pos x="0" y="233"/>
              </a:cxn>
            </a:cxnLst>
            <a:rect l="0" t="0" r="r" b="b"/>
            <a:pathLst>
              <a:path w="221" h="274">
                <a:moveTo>
                  <a:pt x="0" y="233"/>
                </a:moveTo>
                <a:lnTo>
                  <a:pt x="36" y="274"/>
                </a:lnTo>
                <a:lnTo>
                  <a:pt x="88" y="270"/>
                </a:lnTo>
                <a:lnTo>
                  <a:pt x="151" y="236"/>
                </a:lnTo>
                <a:lnTo>
                  <a:pt x="207" y="236"/>
                </a:lnTo>
                <a:lnTo>
                  <a:pt x="221" y="167"/>
                </a:lnTo>
                <a:lnTo>
                  <a:pt x="219" y="96"/>
                </a:lnTo>
                <a:lnTo>
                  <a:pt x="220" y="95"/>
                </a:lnTo>
                <a:lnTo>
                  <a:pt x="199" y="80"/>
                </a:lnTo>
                <a:lnTo>
                  <a:pt x="168" y="78"/>
                </a:lnTo>
                <a:lnTo>
                  <a:pt x="136" y="70"/>
                </a:lnTo>
                <a:lnTo>
                  <a:pt x="145" y="25"/>
                </a:lnTo>
                <a:lnTo>
                  <a:pt x="144" y="0"/>
                </a:lnTo>
                <a:lnTo>
                  <a:pt x="99" y="35"/>
                </a:lnTo>
                <a:lnTo>
                  <a:pt x="116" y="51"/>
                </a:lnTo>
                <a:lnTo>
                  <a:pt x="102" y="78"/>
                </a:lnTo>
                <a:lnTo>
                  <a:pt x="48" y="65"/>
                </a:lnTo>
                <a:lnTo>
                  <a:pt x="26" y="88"/>
                </a:lnTo>
                <a:lnTo>
                  <a:pt x="18" y="130"/>
                </a:lnTo>
                <a:lnTo>
                  <a:pt x="61" y="147"/>
                </a:lnTo>
                <a:lnTo>
                  <a:pt x="68" y="162"/>
                </a:lnTo>
                <a:lnTo>
                  <a:pt x="36" y="188"/>
                </a:lnTo>
                <a:lnTo>
                  <a:pt x="0" y="23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8" name="Freeform 40">
            <a:extLst>
              <a:ext uri="{FF2B5EF4-FFF2-40B4-BE49-F238E27FC236}">
                <a16:creationId xmlns:a16="http://schemas.microsoft.com/office/drawing/2014/main" id="{F60571C6-E2F2-9978-1E76-DE8919A0D37D}"/>
              </a:ext>
            </a:extLst>
          </p:cNvPr>
          <p:cNvSpPr>
            <a:spLocks/>
          </p:cNvSpPr>
          <p:nvPr/>
        </p:nvSpPr>
        <p:spPr bwMode="auto">
          <a:xfrm>
            <a:off x="4039354" y="2288956"/>
            <a:ext cx="49941" cy="41883"/>
          </a:xfrm>
          <a:custGeom>
            <a:avLst/>
            <a:gdLst/>
            <a:ahLst/>
            <a:cxnLst>
              <a:cxn ang="0">
                <a:pos x="96" y="26"/>
              </a:cxn>
              <a:cxn ang="0">
                <a:pos x="73" y="14"/>
              </a:cxn>
              <a:cxn ang="0">
                <a:pos x="22" y="0"/>
              </a:cxn>
              <a:cxn ang="0">
                <a:pos x="12" y="8"/>
              </a:cxn>
              <a:cxn ang="0">
                <a:pos x="8" y="11"/>
              </a:cxn>
              <a:cxn ang="0">
                <a:pos x="9" y="36"/>
              </a:cxn>
              <a:cxn ang="0">
                <a:pos x="0" y="81"/>
              </a:cxn>
              <a:cxn ang="0">
                <a:pos x="32" y="89"/>
              </a:cxn>
              <a:cxn ang="0">
                <a:pos x="63" y="91"/>
              </a:cxn>
              <a:cxn ang="0">
                <a:pos x="84" y="106"/>
              </a:cxn>
              <a:cxn ang="0">
                <a:pos x="106" y="95"/>
              </a:cxn>
              <a:cxn ang="0">
                <a:pos x="123" y="71"/>
              </a:cxn>
              <a:cxn ang="0">
                <a:pos x="96" y="26"/>
              </a:cxn>
            </a:cxnLst>
            <a:rect l="0" t="0" r="r" b="b"/>
            <a:pathLst>
              <a:path w="123" h="106">
                <a:moveTo>
                  <a:pt x="96" y="26"/>
                </a:moveTo>
                <a:lnTo>
                  <a:pt x="73" y="14"/>
                </a:lnTo>
                <a:lnTo>
                  <a:pt x="22" y="0"/>
                </a:lnTo>
                <a:lnTo>
                  <a:pt x="12" y="8"/>
                </a:lnTo>
                <a:lnTo>
                  <a:pt x="8" y="11"/>
                </a:lnTo>
                <a:lnTo>
                  <a:pt x="9" y="36"/>
                </a:lnTo>
                <a:lnTo>
                  <a:pt x="0" y="81"/>
                </a:lnTo>
                <a:lnTo>
                  <a:pt x="32" y="89"/>
                </a:lnTo>
                <a:lnTo>
                  <a:pt x="63" y="91"/>
                </a:lnTo>
                <a:lnTo>
                  <a:pt x="84" y="106"/>
                </a:lnTo>
                <a:lnTo>
                  <a:pt x="106" y="95"/>
                </a:lnTo>
                <a:lnTo>
                  <a:pt x="123" y="71"/>
                </a:lnTo>
                <a:lnTo>
                  <a:pt x="96" y="2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29" name="Freeform 41">
            <a:extLst>
              <a:ext uri="{FF2B5EF4-FFF2-40B4-BE49-F238E27FC236}">
                <a16:creationId xmlns:a16="http://schemas.microsoft.com/office/drawing/2014/main" id="{06133F98-32FE-DD7E-4602-E798FF6A20F5}"/>
              </a:ext>
            </a:extLst>
          </p:cNvPr>
          <p:cNvSpPr>
            <a:spLocks/>
          </p:cNvSpPr>
          <p:nvPr/>
        </p:nvSpPr>
        <p:spPr bwMode="auto">
          <a:xfrm>
            <a:off x="4065989" y="2195884"/>
            <a:ext cx="128182" cy="248195"/>
          </a:xfrm>
          <a:custGeom>
            <a:avLst/>
            <a:gdLst/>
            <a:ahLst/>
            <a:cxnLst>
              <a:cxn ang="0">
                <a:pos x="3" y="639"/>
              </a:cxn>
              <a:cxn ang="0">
                <a:pos x="75" y="619"/>
              </a:cxn>
              <a:cxn ang="0">
                <a:pos x="92" y="613"/>
              </a:cxn>
              <a:cxn ang="0">
                <a:pos x="131" y="619"/>
              </a:cxn>
              <a:cxn ang="0">
                <a:pos x="166" y="588"/>
              </a:cxn>
              <a:cxn ang="0">
                <a:pos x="226" y="587"/>
              </a:cxn>
              <a:cxn ang="0">
                <a:pos x="250" y="581"/>
              </a:cxn>
              <a:cxn ang="0">
                <a:pos x="283" y="550"/>
              </a:cxn>
              <a:cxn ang="0">
                <a:pos x="271" y="535"/>
              </a:cxn>
              <a:cxn ang="0">
                <a:pos x="303" y="504"/>
              </a:cxn>
              <a:cxn ang="0">
                <a:pos x="307" y="446"/>
              </a:cxn>
              <a:cxn ang="0">
                <a:pos x="265" y="413"/>
              </a:cxn>
              <a:cxn ang="0">
                <a:pos x="262" y="374"/>
              </a:cxn>
              <a:cxn ang="0">
                <a:pos x="260" y="314"/>
              </a:cxn>
              <a:cxn ang="0">
                <a:pos x="236" y="306"/>
              </a:cxn>
              <a:cxn ang="0">
                <a:pos x="220" y="223"/>
              </a:cxn>
              <a:cxn ang="0">
                <a:pos x="162" y="200"/>
              </a:cxn>
              <a:cxn ang="0">
                <a:pos x="187" y="181"/>
              </a:cxn>
              <a:cxn ang="0">
                <a:pos x="222" y="93"/>
              </a:cxn>
              <a:cxn ang="0">
                <a:pos x="210" y="78"/>
              </a:cxn>
              <a:cxn ang="0">
                <a:pos x="173" y="71"/>
              </a:cxn>
              <a:cxn ang="0">
                <a:pos x="122" y="96"/>
              </a:cxn>
              <a:cxn ang="0">
                <a:pos x="120" y="80"/>
              </a:cxn>
              <a:cxn ang="0">
                <a:pos x="166" y="22"/>
              </a:cxn>
              <a:cxn ang="0">
                <a:pos x="165" y="2"/>
              </a:cxn>
              <a:cxn ang="0">
                <a:pos x="82" y="0"/>
              </a:cxn>
              <a:cxn ang="0">
                <a:pos x="51" y="53"/>
              </a:cxn>
              <a:cxn ang="0">
                <a:pos x="45" y="76"/>
              </a:cxn>
              <a:cxn ang="0">
                <a:pos x="32" y="74"/>
              </a:cxn>
              <a:cxn ang="0">
                <a:pos x="9" y="78"/>
              </a:cxn>
              <a:cxn ang="0">
                <a:pos x="17" y="107"/>
              </a:cxn>
              <a:cxn ang="0">
                <a:pos x="40" y="133"/>
              </a:cxn>
              <a:cxn ang="0">
                <a:pos x="17" y="173"/>
              </a:cxn>
              <a:cxn ang="0">
                <a:pos x="23" y="184"/>
              </a:cxn>
              <a:cxn ang="0">
                <a:pos x="48" y="184"/>
              </a:cxn>
              <a:cxn ang="0">
                <a:pos x="41" y="206"/>
              </a:cxn>
              <a:cxn ang="0">
                <a:pos x="40" y="217"/>
              </a:cxn>
              <a:cxn ang="0">
                <a:pos x="50" y="229"/>
              </a:cxn>
              <a:cxn ang="0">
                <a:pos x="82" y="223"/>
              </a:cxn>
              <a:cxn ang="0">
                <a:pos x="89" y="237"/>
              </a:cxn>
              <a:cxn ang="0">
                <a:pos x="66" y="283"/>
              </a:cxn>
              <a:cxn ang="0">
                <a:pos x="77" y="299"/>
              </a:cxn>
              <a:cxn ang="0">
                <a:pos x="143" y="297"/>
              </a:cxn>
              <a:cxn ang="0">
                <a:pos x="154" y="339"/>
              </a:cxn>
              <a:cxn ang="0">
                <a:pos x="174" y="364"/>
              </a:cxn>
              <a:cxn ang="0">
                <a:pos x="165" y="403"/>
              </a:cxn>
              <a:cxn ang="0">
                <a:pos x="96" y="413"/>
              </a:cxn>
              <a:cxn ang="0">
                <a:pos x="86" y="434"/>
              </a:cxn>
              <a:cxn ang="0">
                <a:pos x="107" y="444"/>
              </a:cxn>
              <a:cxn ang="0">
                <a:pos x="116" y="446"/>
              </a:cxn>
              <a:cxn ang="0">
                <a:pos x="109" y="470"/>
              </a:cxn>
              <a:cxn ang="0">
                <a:pos x="64" y="497"/>
              </a:cxn>
              <a:cxn ang="0">
                <a:pos x="71" y="518"/>
              </a:cxn>
              <a:cxn ang="0">
                <a:pos x="103" y="521"/>
              </a:cxn>
              <a:cxn ang="0">
                <a:pos x="132" y="530"/>
              </a:cxn>
              <a:cxn ang="0">
                <a:pos x="137" y="535"/>
              </a:cxn>
              <a:cxn ang="0">
                <a:pos x="129" y="545"/>
              </a:cxn>
              <a:cxn ang="0">
                <a:pos x="103" y="552"/>
              </a:cxn>
              <a:cxn ang="0">
                <a:pos x="89" y="571"/>
              </a:cxn>
              <a:cxn ang="0">
                <a:pos x="40" y="612"/>
              </a:cxn>
              <a:cxn ang="0">
                <a:pos x="0" y="621"/>
              </a:cxn>
              <a:cxn ang="0">
                <a:pos x="3" y="639"/>
              </a:cxn>
            </a:cxnLst>
            <a:rect l="0" t="0" r="r" b="b"/>
            <a:pathLst>
              <a:path w="307" h="639">
                <a:moveTo>
                  <a:pt x="3" y="639"/>
                </a:moveTo>
                <a:lnTo>
                  <a:pt x="75" y="619"/>
                </a:lnTo>
                <a:lnTo>
                  <a:pt x="92" y="613"/>
                </a:lnTo>
                <a:lnTo>
                  <a:pt x="131" y="619"/>
                </a:lnTo>
                <a:lnTo>
                  <a:pt x="166" y="588"/>
                </a:lnTo>
                <a:lnTo>
                  <a:pt x="226" y="587"/>
                </a:lnTo>
                <a:lnTo>
                  <a:pt x="250" y="581"/>
                </a:lnTo>
                <a:lnTo>
                  <a:pt x="283" y="550"/>
                </a:lnTo>
                <a:lnTo>
                  <a:pt x="271" y="535"/>
                </a:lnTo>
                <a:lnTo>
                  <a:pt x="303" y="504"/>
                </a:lnTo>
                <a:lnTo>
                  <a:pt x="307" y="446"/>
                </a:lnTo>
                <a:lnTo>
                  <a:pt x="265" y="413"/>
                </a:lnTo>
                <a:lnTo>
                  <a:pt x="262" y="374"/>
                </a:lnTo>
                <a:lnTo>
                  <a:pt x="260" y="314"/>
                </a:lnTo>
                <a:lnTo>
                  <a:pt x="236" y="306"/>
                </a:lnTo>
                <a:lnTo>
                  <a:pt x="220" y="223"/>
                </a:lnTo>
                <a:lnTo>
                  <a:pt x="162" y="200"/>
                </a:lnTo>
                <a:lnTo>
                  <a:pt x="187" y="181"/>
                </a:lnTo>
                <a:lnTo>
                  <a:pt x="222" y="93"/>
                </a:lnTo>
                <a:lnTo>
                  <a:pt x="210" y="78"/>
                </a:lnTo>
                <a:lnTo>
                  <a:pt x="173" y="71"/>
                </a:lnTo>
                <a:lnTo>
                  <a:pt x="122" y="96"/>
                </a:lnTo>
                <a:lnTo>
                  <a:pt x="120" y="80"/>
                </a:lnTo>
                <a:lnTo>
                  <a:pt x="166" y="22"/>
                </a:lnTo>
                <a:lnTo>
                  <a:pt x="165" y="2"/>
                </a:lnTo>
                <a:lnTo>
                  <a:pt x="82" y="0"/>
                </a:lnTo>
                <a:lnTo>
                  <a:pt x="51" y="53"/>
                </a:lnTo>
                <a:lnTo>
                  <a:pt x="45" y="76"/>
                </a:lnTo>
                <a:lnTo>
                  <a:pt x="32" y="74"/>
                </a:lnTo>
                <a:lnTo>
                  <a:pt x="9" y="78"/>
                </a:lnTo>
                <a:lnTo>
                  <a:pt x="17" y="107"/>
                </a:lnTo>
                <a:lnTo>
                  <a:pt x="40" y="133"/>
                </a:lnTo>
                <a:lnTo>
                  <a:pt x="17" y="173"/>
                </a:lnTo>
                <a:lnTo>
                  <a:pt x="23" y="184"/>
                </a:lnTo>
                <a:lnTo>
                  <a:pt x="48" y="184"/>
                </a:lnTo>
                <a:lnTo>
                  <a:pt x="41" y="206"/>
                </a:lnTo>
                <a:lnTo>
                  <a:pt x="40" y="217"/>
                </a:lnTo>
                <a:lnTo>
                  <a:pt x="50" y="229"/>
                </a:lnTo>
                <a:lnTo>
                  <a:pt x="82" y="223"/>
                </a:lnTo>
                <a:lnTo>
                  <a:pt x="89" y="237"/>
                </a:lnTo>
                <a:lnTo>
                  <a:pt x="66" y="283"/>
                </a:lnTo>
                <a:lnTo>
                  <a:pt x="77" y="299"/>
                </a:lnTo>
                <a:lnTo>
                  <a:pt x="143" y="297"/>
                </a:lnTo>
                <a:lnTo>
                  <a:pt x="154" y="339"/>
                </a:lnTo>
                <a:lnTo>
                  <a:pt x="174" y="364"/>
                </a:lnTo>
                <a:lnTo>
                  <a:pt x="165" y="403"/>
                </a:lnTo>
                <a:lnTo>
                  <a:pt x="96" y="413"/>
                </a:lnTo>
                <a:lnTo>
                  <a:pt x="86" y="434"/>
                </a:lnTo>
                <a:lnTo>
                  <a:pt x="107" y="444"/>
                </a:lnTo>
                <a:lnTo>
                  <a:pt x="116" y="446"/>
                </a:lnTo>
                <a:lnTo>
                  <a:pt x="109" y="470"/>
                </a:lnTo>
                <a:lnTo>
                  <a:pt x="64" y="497"/>
                </a:lnTo>
                <a:lnTo>
                  <a:pt x="71" y="518"/>
                </a:lnTo>
                <a:lnTo>
                  <a:pt x="103" y="521"/>
                </a:lnTo>
                <a:lnTo>
                  <a:pt x="132" y="530"/>
                </a:lnTo>
                <a:lnTo>
                  <a:pt x="137" y="535"/>
                </a:lnTo>
                <a:lnTo>
                  <a:pt x="129" y="545"/>
                </a:lnTo>
                <a:lnTo>
                  <a:pt x="103" y="552"/>
                </a:lnTo>
                <a:lnTo>
                  <a:pt x="89" y="571"/>
                </a:lnTo>
                <a:lnTo>
                  <a:pt x="40" y="612"/>
                </a:lnTo>
                <a:lnTo>
                  <a:pt x="0" y="621"/>
                </a:lnTo>
                <a:lnTo>
                  <a:pt x="3" y="639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0" name="Freeform 44">
            <a:extLst>
              <a:ext uri="{FF2B5EF4-FFF2-40B4-BE49-F238E27FC236}">
                <a16:creationId xmlns:a16="http://schemas.microsoft.com/office/drawing/2014/main" id="{06A4DEB7-BD52-05F9-5037-B9CAB580981F}"/>
              </a:ext>
            </a:extLst>
          </p:cNvPr>
          <p:cNvSpPr>
            <a:spLocks/>
          </p:cNvSpPr>
          <p:nvPr/>
        </p:nvSpPr>
        <p:spPr bwMode="auto">
          <a:xfrm>
            <a:off x="4099283" y="2409953"/>
            <a:ext cx="221404" cy="228028"/>
          </a:xfrm>
          <a:custGeom>
            <a:avLst/>
            <a:gdLst/>
            <a:ahLst/>
            <a:cxnLst>
              <a:cxn ang="0">
                <a:pos x="481" y="445"/>
              </a:cxn>
              <a:cxn ang="0">
                <a:pos x="474" y="410"/>
              </a:cxn>
              <a:cxn ang="0">
                <a:pos x="478" y="344"/>
              </a:cxn>
              <a:cxn ang="0">
                <a:pos x="478" y="342"/>
              </a:cxn>
              <a:cxn ang="0">
                <a:pos x="472" y="324"/>
              </a:cxn>
              <a:cxn ang="0">
                <a:pos x="465" y="323"/>
              </a:cxn>
              <a:cxn ang="0">
                <a:pos x="438" y="319"/>
              </a:cxn>
              <a:cxn ang="0">
                <a:pos x="443" y="283"/>
              </a:cxn>
              <a:cxn ang="0">
                <a:pos x="479" y="250"/>
              </a:cxn>
              <a:cxn ang="0">
                <a:pos x="493" y="239"/>
              </a:cxn>
              <a:cxn ang="0">
                <a:pos x="494" y="236"/>
              </a:cxn>
              <a:cxn ang="0">
                <a:pos x="533" y="144"/>
              </a:cxn>
              <a:cxn ang="0">
                <a:pos x="472" y="118"/>
              </a:cxn>
              <a:cxn ang="0">
                <a:pos x="450" y="108"/>
              </a:cxn>
              <a:cxn ang="0">
                <a:pos x="447" y="106"/>
              </a:cxn>
              <a:cxn ang="0">
                <a:pos x="408" y="87"/>
              </a:cxn>
              <a:cxn ang="0">
                <a:pos x="404" y="85"/>
              </a:cxn>
              <a:cxn ang="0">
                <a:pos x="384" y="74"/>
              </a:cxn>
              <a:cxn ang="0">
                <a:pos x="244" y="0"/>
              </a:cxn>
              <a:cxn ang="0">
                <a:pos x="237" y="7"/>
              </a:cxn>
              <a:cxn ang="0">
                <a:pos x="222" y="22"/>
              </a:cxn>
              <a:cxn ang="0">
                <a:pos x="187" y="74"/>
              </a:cxn>
              <a:cxn ang="0">
                <a:pos x="135" y="101"/>
              </a:cxn>
              <a:cxn ang="0">
                <a:pos x="144" y="158"/>
              </a:cxn>
              <a:cxn ang="0">
                <a:pos x="0" y="154"/>
              </a:cxn>
              <a:cxn ang="0">
                <a:pos x="14" y="218"/>
              </a:cxn>
              <a:cxn ang="0">
                <a:pos x="103" y="247"/>
              </a:cxn>
              <a:cxn ang="0">
                <a:pos x="112" y="277"/>
              </a:cxn>
              <a:cxn ang="0">
                <a:pos x="145" y="406"/>
              </a:cxn>
              <a:cxn ang="0">
                <a:pos x="146" y="518"/>
              </a:cxn>
              <a:cxn ang="0">
                <a:pos x="146" y="531"/>
              </a:cxn>
              <a:cxn ang="0">
                <a:pos x="142" y="531"/>
              </a:cxn>
              <a:cxn ang="0">
                <a:pos x="158" y="553"/>
              </a:cxn>
              <a:cxn ang="0">
                <a:pos x="291" y="586"/>
              </a:cxn>
              <a:cxn ang="0">
                <a:pos x="285" y="577"/>
              </a:cxn>
              <a:cxn ang="0">
                <a:pos x="284" y="576"/>
              </a:cxn>
              <a:cxn ang="0">
                <a:pos x="300" y="545"/>
              </a:cxn>
              <a:cxn ang="0">
                <a:pos x="344" y="526"/>
              </a:cxn>
              <a:cxn ang="0">
                <a:pos x="449" y="556"/>
              </a:cxn>
              <a:cxn ang="0">
                <a:pos x="464" y="537"/>
              </a:cxn>
              <a:cxn ang="0">
                <a:pos x="482" y="519"/>
              </a:cxn>
              <a:cxn ang="0">
                <a:pos x="500" y="509"/>
              </a:cxn>
              <a:cxn ang="0">
                <a:pos x="514" y="501"/>
              </a:cxn>
              <a:cxn ang="0">
                <a:pos x="509" y="463"/>
              </a:cxn>
              <a:cxn ang="0">
                <a:pos x="481" y="445"/>
              </a:cxn>
            </a:cxnLst>
            <a:rect l="0" t="0" r="r" b="b"/>
            <a:pathLst>
              <a:path w="533" h="586">
                <a:moveTo>
                  <a:pt x="481" y="445"/>
                </a:moveTo>
                <a:lnTo>
                  <a:pt x="474" y="410"/>
                </a:lnTo>
                <a:lnTo>
                  <a:pt x="478" y="344"/>
                </a:lnTo>
                <a:lnTo>
                  <a:pt x="478" y="342"/>
                </a:lnTo>
                <a:lnTo>
                  <a:pt x="472" y="324"/>
                </a:lnTo>
                <a:lnTo>
                  <a:pt x="465" y="323"/>
                </a:lnTo>
                <a:lnTo>
                  <a:pt x="438" y="319"/>
                </a:lnTo>
                <a:lnTo>
                  <a:pt x="443" y="283"/>
                </a:lnTo>
                <a:lnTo>
                  <a:pt x="479" y="250"/>
                </a:lnTo>
                <a:lnTo>
                  <a:pt x="493" y="239"/>
                </a:lnTo>
                <a:lnTo>
                  <a:pt x="494" y="236"/>
                </a:lnTo>
                <a:lnTo>
                  <a:pt x="533" y="144"/>
                </a:lnTo>
                <a:lnTo>
                  <a:pt x="472" y="118"/>
                </a:lnTo>
                <a:lnTo>
                  <a:pt x="450" y="108"/>
                </a:lnTo>
                <a:lnTo>
                  <a:pt x="447" y="106"/>
                </a:lnTo>
                <a:lnTo>
                  <a:pt x="408" y="87"/>
                </a:lnTo>
                <a:lnTo>
                  <a:pt x="404" y="85"/>
                </a:lnTo>
                <a:lnTo>
                  <a:pt x="384" y="74"/>
                </a:lnTo>
                <a:lnTo>
                  <a:pt x="244" y="0"/>
                </a:lnTo>
                <a:lnTo>
                  <a:pt x="237" y="7"/>
                </a:lnTo>
                <a:lnTo>
                  <a:pt x="222" y="22"/>
                </a:lnTo>
                <a:lnTo>
                  <a:pt x="187" y="74"/>
                </a:lnTo>
                <a:lnTo>
                  <a:pt x="135" y="101"/>
                </a:lnTo>
                <a:lnTo>
                  <a:pt x="144" y="158"/>
                </a:lnTo>
                <a:lnTo>
                  <a:pt x="0" y="154"/>
                </a:lnTo>
                <a:lnTo>
                  <a:pt x="14" y="218"/>
                </a:lnTo>
                <a:lnTo>
                  <a:pt x="103" y="247"/>
                </a:lnTo>
                <a:lnTo>
                  <a:pt x="112" y="277"/>
                </a:lnTo>
                <a:lnTo>
                  <a:pt x="145" y="406"/>
                </a:lnTo>
                <a:lnTo>
                  <a:pt x="146" y="518"/>
                </a:lnTo>
                <a:lnTo>
                  <a:pt x="146" y="531"/>
                </a:lnTo>
                <a:lnTo>
                  <a:pt x="142" y="531"/>
                </a:lnTo>
                <a:lnTo>
                  <a:pt x="158" y="553"/>
                </a:lnTo>
                <a:lnTo>
                  <a:pt x="291" y="586"/>
                </a:lnTo>
                <a:lnTo>
                  <a:pt x="285" y="577"/>
                </a:lnTo>
                <a:lnTo>
                  <a:pt x="284" y="576"/>
                </a:lnTo>
                <a:lnTo>
                  <a:pt x="300" y="545"/>
                </a:lnTo>
                <a:lnTo>
                  <a:pt x="344" y="526"/>
                </a:lnTo>
                <a:lnTo>
                  <a:pt x="449" y="556"/>
                </a:lnTo>
                <a:lnTo>
                  <a:pt x="464" y="537"/>
                </a:lnTo>
                <a:lnTo>
                  <a:pt x="482" y="519"/>
                </a:lnTo>
                <a:lnTo>
                  <a:pt x="500" y="509"/>
                </a:lnTo>
                <a:lnTo>
                  <a:pt x="514" y="501"/>
                </a:lnTo>
                <a:lnTo>
                  <a:pt x="509" y="463"/>
                </a:lnTo>
                <a:lnTo>
                  <a:pt x="481" y="445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1" name="Freeform 45">
            <a:extLst>
              <a:ext uri="{FF2B5EF4-FFF2-40B4-BE49-F238E27FC236}">
                <a16:creationId xmlns:a16="http://schemas.microsoft.com/office/drawing/2014/main" id="{03609EFA-C247-4F42-2FB8-6B029E36353A}"/>
              </a:ext>
            </a:extLst>
          </p:cNvPr>
          <p:cNvSpPr>
            <a:spLocks/>
          </p:cNvSpPr>
          <p:nvPr/>
        </p:nvSpPr>
        <p:spPr bwMode="auto">
          <a:xfrm>
            <a:off x="4335669" y="2624020"/>
            <a:ext cx="24971" cy="38780"/>
          </a:xfrm>
          <a:custGeom>
            <a:avLst/>
            <a:gdLst/>
            <a:ahLst/>
            <a:cxnLst>
              <a:cxn ang="0">
                <a:pos x="41" y="0"/>
              </a:cxn>
              <a:cxn ang="0">
                <a:pos x="0" y="45"/>
              </a:cxn>
              <a:cxn ang="0">
                <a:pos x="0" y="73"/>
              </a:cxn>
              <a:cxn ang="0">
                <a:pos x="26" y="101"/>
              </a:cxn>
              <a:cxn ang="0">
                <a:pos x="40" y="100"/>
              </a:cxn>
              <a:cxn ang="0">
                <a:pos x="57" y="51"/>
              </a:cxn>
              <a:cxn ang="0">
                <a:pos x="41" y="0"/>
              </a:cxn>
            </a:cxnLst>
            <a:rect l="0" t="0" r="r" b="b"/>
            <a:pathLst>
              <a:path w="57" h="101">
                <a:moveTo>
                  <a:pt x="41" y="0"/>
                </a:moveTo>
                <a:lnTo>
                  <a:pt x="0" y="45"/>
                </a:lnTo>
                <a:lnTo>
                  <a:pt x="0" y="73"/>
                </a:lnTo>
                <a:lnTo>
                  <a:pt x="26" y="101"/>
                </a:lnTo>
                <a:lnTo>
                  <a:pt x="40" y="100"/>
                </a:lnTo>
                <a:lnTo>
                  <a:pt x="57" y="51"/>
                </a:lnTo>
                <a:lnTo>
                  <a:pt x="41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2" name="Freeform 46">
            <a:extLst>
              <a:ext uri="{FF2B5EF4-FFF2-40B4-BE49-F238E27FC236}">
                <a16:creationId xmlns:a16="http://schemas.microsoft.com/office/drawing/2014/main" id="{E790FF88-71B8-0C12-B758-D6B38912DEAE}"/>
              </a:ext>
            </a:extLst>
          </p:cNvPr>
          <p:cNvSpPr>
            <a:spLocks/>
          </p:cNvSpPr>
          <p:nvPr/>
        </p:nvSpPr>
        <p:spPr bwMode="auto">
          <a:xfrm>
            <a:off x="4507132" y="1820490"/>
            <a:ext cx="228063" cy="327306"/>
          </a:xfrm>
          <a:custGeom>
            <a:avLst/>
            <a:gdLst/>
            <a:ahLst/>
            <a:cxnLst>
              <a:cxn ang="0">
                <a:pos x="443" y="423"/>
              </a:cxn>
              <a:cxn ang="0">
                <a:pos x="442" y="420"/>
              </a:cxn>
              <a:cxn ang="0">
                <a:pos x="419" y="303"/>
              </a:cxn>
              <a:cxn ang="0">
                <a:pos x="403" y="241"/>
              </a:cxn>
              <a:cxn ang="0">
                <a:pos x="383" y="167"/>
              </a:cxn>
              <a:cxn ang="0">
                <a:pos x="357" y="95"/>
              </a:cxn>
              <a:cxn ang="0">
                <a:pos x="352" y="80"/>
              </a:cxn>
              <a:cxn ang="0">
                <a:pos x="362" y="73"/>
              </a:cxn>
              <a:cxn ang="0">
                <a:pos x="294" y="0"/>
              </a:cxn>
              <a:cxn ang="0">
                <a:pos x="212" y="50"/>
              </a:cxn>
              <a:cxn ang="0">
                <a:pos x="199" y="110"/>
              </a:cxn>
              <a:cxn ang="0">
                <a:pos x="16" y="66"/>
              </a:cxn>
              <a:cxn ang="0">
                <a:pos x="0" y="82"/>
              </a:cxn>
              <a:cxn ang="0">
                <a:pos x="1" y="83"/>
              </a:cxn>
              <a:cxn ang="0">
                <a:pos x="9" y="88"/>
              </a:cxn>
              <a:cxn ang="0">
                <a:pos x="160" y="208"/>
              </a:cxn>
              <a:cxn ang="0">
                <a:pos x="198" y="365"/>
              </a:cxn>
              <a:cxn ang="0">
                <a:pos x="205" y="365"/>
              </a:cxn>
              <a:cxn ang="0">
                <a:pos x="217" y="380"/>
              </a:cxn>
              <a:cxn ang="0">
                <a:pos x="250" y="420"/>
              </a:cxn>
              <a:cxn ang="0">
                <a:pos x="238" y="435"/>
              </a:cxn>
              <a:cxn ang="0">
                <a:pos x="127" y="552"/>
              </a:cxn>
              <a:cxn ang="0">
                <a:pos x="86" y="611"/>
              </a:cxn>
              <a:cxn ang="0">
                <a:pos x="114" y="707"/>
              </a:cxn>
              <a:cxn ang="0">
                <a:pos x="116" y="790"/>
              </a:cxn>
              <a:cxn ang="0">
                <a:pos x="214" y="845"/>
              </a:cxn>
              <a:cxn ang="0">
                <a:pos x="264" y="811"/>
              </a:cxn>
              <a:cxn ang="0">
                <a:pos x="424" y="768"/>
              </a:cxn>
              <a:cxn ang="0">
                <a:pos x="427" y="768"/>
              </a:cxn>
              <a:cxn ang="0">
                <a:pos x="429" y="769"/>
              </a:cxn>
              <a:cxn ang="0">
                <a:pos x="547" y="572"/>
              </a:cxn>
              <a:cxn ang="0">
                <a:pos x="443" y="423"/>
              </a:cxn>
            </a:cxnLst>
            <a:rect l="0" t="0" r="r" b="b"/>
            <a:pathLst>
              <a:path w="547" h="845">
                <a:moveTo>
                  <a:pt x="443" y="423"/>
                </a:moveTo>
                <a:lnTo>
                  <a:pt x="442" y="420"/>
                </a:lnTo>
                <a:lnTo>
                  <a:pt x="419" y="303"/>
                </a:lnTo>
                <a:lnTo>
                  <a:pt x="403" y="241"/>
                </a:lnTo>
                <a:lnTo>
                  <a:pt x="383" y="167"/>
                </a:lnTo>
                <a:lnTo>
                  <a:pt x="357" y="95"/>
                </a:lnTo>
                <a:lnTo>
                  <a:pt x="352" y="80"/>
                </a:lnTo>
                <a:lnTo>
                  <a:pt x="362" y="73"/>
                </a:lnTo>
                <a:lnTo>
                  <a:pt x="294" y="0"/>
                </a:lnTo>
                <a:lnTo>
                  <a:pt x="212" y="50"/>
                </a:lnTo>
                <a:lnTo>
                  <a:pt x="199" y="110"/>
                </a:lnTo>
                <a:lnTo>
                  <a:pt x="16" y="66"/>
                </a:lnTo>
                <a:lnTo>
                  <a:pt x="0" y="82"/>
                </a:lnTo>
                <a:lnTo>
                  <a:pt x="1" y="83"/>
                </a:lnTo>
                <a:lnTo>
                  <a:pt x="9" y="88"/>
                </a:lnTo>
                <a:lnTo>
                  <a:pt x="160" y="208"/>
                </a:lnTo>
                <a:lnTo>
                  <a:pt x="198" y="365"/>
                </a:lnTo>
                <a:lnTo>
                  <a:pt x="205" y="365"/>
                </a:lnTo>
                <a:lnTo>
                  <a:pt x="217" y="380"/>
                </a:lnTo>
                <a:lnTo>
                  <a:pt x="250" y="420"/>
                </a:lnTo>
                <a:lnTo>
                  <a:pt x="238" y="435"/>
                </a:lnTo>
                <a:lnTo>
                  <a:pt x="127" y="552"/>
                </a:lnTo>
                <a:lnTo>
                  <a:pt x="86" y="611"/>
                </a:lnTo>
                <a:lnTo>
                  <a:pt x="114" y="707"/>
                </a:lnTo>
                <a:lnTo>
                  <a:pt x="116" y="790"/>
                </a:lnTo>
                <a:lnTo>
                  <a:pt x="214" y="845"/>
                </a:lnTo>
                <a:lnTo>
                  <a:pt x="264" y="811"/>
                </a:lnTo>
                <a:lnTo>
                  <a:pt x="424" y="768"/>
                </a:lnTo>
                <a:lnTo>
                  <a:pt x="427" y="768"/>
                </a:lnTo>
                <a:lnTo>
                  <a:pt x="429" y="769"/>
                </a:lnTo>
                <a:lnTo>
                  <a:pt x="547" y="572"/>
                </a:lnTo>
                <a:lnTo>
                  <a:pt x="443" y="42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3" name="Freeform 48">
            <a:extLst>
              <a:ext uri="{FF2B5EF4-FFF2-40B4-BE49-F238E27FC236}">
                <a16:creationId xmlns:a16="http://schemas.microsoft.com/office/drawing/2014/main" id="{2BE1CE0C-B89F-630A-1794-09E01996DD30}"/>
              </a:ext>
            </a:extLst>
          </p:cNvPr>
          <p:cNvSpPr>
            <a:spLocks/>
          </p:cNvSpPr>
          <p:nvPr/>
        </p:nvSpPr>
        <p:spPr bwMode="auto">
          <a:xfrm>
            <a:off x="4309035" y="2223807"/>
            <a:ext cx="56599" cy="83765"/>
          </a:xfrm>
          <a:custGeom>
            <a:avLst/>
            <a:gdLst/>
            <a:ahLst/>
            <a:cxnLst>
              <a:cxn ang="0">
                <a:pos x="127" y="89"/>
              </a:cxn>
              <a:cxn ang="0">
                <a:pos x="115" y="0"/>
              </a:cxn>
              <a:cxn ang="0">
                <a:pos x="3" y="57"/>
              </a:cxn>
              <a:cxn ang="0">
                <a:pos x="0" y="150"/>
              </a:cxn>
              <a:cxn ang="0">
                <a:pos x="0" y="160"/>
              </a:cxn>
              <a:cxn ang="0">
                <a:pos x="10" y="196"/>
              </a:cxn>
              <a:cxn ang="0">
                <a:pos x="115" y="215"/>
              </a:cxn>
              <a:cxn ang="0">
                <a:pos x="115" y="208"/>
              </a:cxn>
              <a:cxn ang="0">
                <a:pos x="118" y="159"/>
              </a:cxn>
              <a:cxn ang="0">
                <a:pos x="136" y="99"/>
              </a:cxn>
              <a:cxn ang="0">
                <a:pos x="127" y="89"/>
              </a:cxn>
            </a:cxnLst>
            <a:rect l="0" t="0" r="r" b="b"/>
            <a:pathLst>
              <a:path w="136" h="215">
                <a:moveTo>
                  <a:pt x="127" y="89"/>
                </a:moveTo>
                <a:lnTo>
                  <a:pt x="115" y="0"/>
                </a:lnTo>
                <a:lnTo>
                  <a:pt x="3" y="57"/>
                </a:lnTo>
                <a:lnTo>
                  <a:pt x="0" y="150"/>
                </a:lnTo>
                <a:lnTo>
                  <a:pt x="0" y="160"/>
                </a:lnTo>
                <a:lnTo>
                  <a:pt x="10" y="196"/>
                </a:lnTo>
                <a:lnTo>
                  <a:pt x="115" y="215"/>
                </a:lnTo>
                <a:lnTo>
                  <a:pt x="115" y="208"/>
                </a:lnTo>
                <a:lnTo>
                  <a:pt x="118" y="159"/>
                </a:lnTo>
                <a:lnTo>
                  <a:pt x="136" y="99"/>
                </a:lnTo>
                <a:lnTo>
                  <a:pt x="127" y="8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4" name="Freeform 49">
            <a:extLst>
              <a:ext uri="{FF2B5EF4-FFF2-40B4-BE49-F238E27FC236}">
                <a16:creationId xmlns:a16="http://schemas.microsoft.com/office/drawing/2014/main" id="{4D8FD294-1980-6101-94C1-120C4F16291B}"/>
              </a:ext>
            </a:extLst>
          </p:cNvPr>
          <p:cNvSpPr>
            <a:spLocks/>
          </p:cNvSpPr>
          <p:nvPr/>
        </p:nvSpPr>
        <p:spPr bwMode="auto">
          <a:xfrm>
            <a:off x="4367298" y="2270342"/>
            <a:ext cx="33294" cy="37229"/>
          </a:xfrm>
          <a:custGeom>
            <a:avLst/>
            <a:gdLst/>
            <a:ahLst/>
            <a:cxnLst>
              <a:cxn ang="0">
                <a:pos x="58" y="0"/>
              </a:cxn>
              <a:cxn ang="0">
                <a:pos x="10" y="17"/>
              </a:cxn>
              <a:cxn ang="0">
                <a:pos x="8" y="47"/>
              </a:cxn>
              <a:cxn ang="0">
                <a:pos x="0" y="77"/>
              </a:cxn>
              <a:cxn ang="0">
                <a:pos x="39" y="98"/>
              </a:cxn>
              <a:cxn ang="0">
                <a:pos x="70" y="84"/>
              </a:cxn>
              <a:cxn ang="0">
                <a:pos x="80" y="47"/>
              </a:cxn>
              <a:cxn ang="0">
                <a:pos x="68" y="8"/>
              </a:cxn>
              <a:cxn ang="0">
                <a:pos x="58" y="0"/>
              </a:cxn>
            </a:cxnLst>
            <a:rect l="0" t="0" r="r" b="b"/>
            <a:pathLst>
              <a:path w="80" h="98">
                <a:moveTo>
                  <a:pt x="58" y="0"/>
                </a:moveTo>
                <a:lnTo>
                  <a:pt x="10" y="17"/>
                </a:lnTo>
                <a:lnTo>
                  <a:pt x="8" y="47"/>
                </a:lnTo>
                <a:lnTo>
                  <a:pt x="0" y="77"/>
                </a:lnTo>
                <a:lnTo>
                  <a:pt x="39" y="98"/>
                </a:lnTo>
                <a:lnTo>
                  <a:pt x="70" y="84"/>
                </a:lnTo>
                <a:lnTo>
                  <a:pt x="80" y="47"/>
                </a:lnTo>
                <a:lnTo>
                  <a:pt x="68" y="8"/>
                </a:lnTo>
                <a:lnTo>
                  <a:pt x="58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5" name="Freeform 51">
            <a:extLst>
              <a:ext uri="{FF2B5EF4-FFF2-40B4-BE49-F238E27FC236}">
                <a16:creationId xmlns:a16="http://schemas.microsoft.com/office/drawing/2014/main" id="{F9A4C555-E5AB-CC51-F5FA-8203BF9902CD}"/>
              </a:ext>
            </a:extLst>
          </p:cNvPr>
          <p:cNvSpPr>
            <a:spLocks/>
          </p:cNvSpPr>
          <p:nvPr/>
        </p:nvSpPr>
        <p:spPr bwMode="auto">
          <a:xfrm>
            <a:off x="4272409" y="2299815"/>
            <a:ext cx="188112" cy="206311"/>
          </a:xfrm>
          <a:custGeom>
            <a:avLst/>
            <a:gdLst/>
            <a:ahLst/>
            <a:cxnLst>
              <a:cxn ang="0">
                <a:pos x="347" y="375"/>
              </a:cxn>
              <a:cxn ang="0">
                <a:pos x="305" y="322"/>
              </a:cxn>
              <a:cxn ang="0">
                <a:pos x="454" y="269"/>
              </a:cxn>
              <a:cxn ang="0">
                <a:pos x="453" y="268"/>
              </a:cxn>
              <a:cxn ang="0">
                <a:pos x="411" y="159"/>
              </a:cxn>
              <a:cxn ang="0">
                <a:pos x="409" y="70"/>
              </a:cxn>
              <a:cxn ang="0">
                <a:pos x="402" y="73"/>
              </a:cxn>
              <a:cxn ang="0">
                <a:pos x="203" y="37"/>
              </a:cxn>
              <a:cxn ang="0">
                <a:pos x="204" y="19"/>
              </a:cxn>
              <a:cxn ang="0">
                <a:pos x="99" y="0"/>
              </a:cxn>
              <a:cxn ang="0">
                <a:pos x="119" y="83"/>
              </a:cxn>
              <a:cxn ang="0">
                <a:pos x="36" y="100"/>
              </a:cxn>
              <a:cxn ang="0">
                <a:pos x="60" y="145"/>
              </a:cxn>
              <a:cxn ang="0">
                <a:pos x="44" y="174"/>
              </a:cxn>
              <a:cxn ang="0">
                <a:pos x="52" y="190"/>
              </a:cxn>
              <a:cxn ang="0">
                <a:pos x="49" y="222"/>
              </a:cxn>
              <a:cxn ang="0">
                <a:pos x="29" y="225"/>
              </a:cxn>
              <a:cxn ang="0">
                <a:pos x="0" y="230"/>
              </a:cxn>
              <a:cxn ang="0">
                <a:pos x="8" y="252"/>
              </a:cxn>
              <a:cxn ang="0">
                <a:pos x="9" y="254"/>
              </a:cxn>
              <a:cxn ang="0">
                <a:pos x="30" y="304"/>
              </a:cxn>
              <a:cxn ang="0">
                <a:pos x="19" y="338"/>
              </a:cxn>
              <a:cxn ang="0">
                <a:pos x="19" y="338"/>
              </a:cxn>
              <a:cxn ang="0">
                <a:pos x="21" y="345"/>
              </a:cxn>
              <a:cxn ang="0">
                <a:pos x="31" y="391"/>
              </a:cxn>
              <a:cxn ang="0">
                <a:pos x="34" y="393"/>
              </a:cxn>
              <a:cxn ang="0">
                <a:pos x="56" y="403"/>
              </a:cxn>
              <a:cxn ang="0">
                <a:pos x="117" y="429"/>
              </a:cxn>
              <a:cxn ang="0">
                <a:pos x="78" y="521"/>
              </a:cxn>
              <a:cxn ang="0">
                <a:pos x="94" y="523"/>
              </a:cxn>
              <a:cxn ang="0">
                <a:pos x="153" y="518"/>
              </a:cxn>
              <a:cxn ang="0">
                <a:pos x="182" y="518"/>
              </a:cxn>
              <a:cxn ang="0">
                <a:pos x="196" y="531"/>
              </a:cxn>
              <a:cxn ang="0">
                <a:pos x="203" y="522"/>
              </a:cxn>
              <a:cxn ang="0">
                <a:pos x="231" y="527"/>
              </a:cxn>
              <a:cxn ang="0">
                <a:pos x="280" y="503"/>
              </a:cxn>
              <a:cxn ang="0">
                <a:pos x="302" y="505"/>
              </a:cxn>
              <a:cxn ang="0">
                <a:pos x="354" y="498"/>
              </a:cxn>
              <a:cxn ang="0">
                <a:pos x="375" y="489"/>
              </a:cxn>
              <a:cxn ang="0">
                <a:pos x="398" y="444"/>
              </a:cxn>
              <a:cxn ang="0">
                <a:pos x="414" y="439"/>
              </a:cxn>
              <a:cxn ang="0">
                <a:pos x="406" y="416"/>
              </a:cxn>
              <a:cxn ang="0">
                <a:pos x="347" y="375"/>
              </a:cxn>
            </a:cxnLst>
            <a:rect l="0" t="0" r="r" b="b"/>
            <a:pathLst>
              <a:path w="454" h="531">
                <a:moveTo>
                  <a:pt x="347" y="375"/>
                </a:moveTo>
                <a:lnTo>
                  <a:pt x="305" y="322"/>
                </a:lnTo>
                <a:lnTo>
                  <a:pt x="454" y="269"/>
                </a:lnTo>
                <a:lnTo>
                  <a:pt x="453" y="268"/>
                </a:lnTo>
                <a:lnTo>
                  <a:pt x="411" y="159"/>
                </a:lnTo>
                <a:lnTo>
                  <a:pt x="409" y="70"/>
                </a:lnTo>
                <a:lnTo>
                  <a:pt x="402" y="73"/>
                </a:lnTo>
                <a:lnTo>
                  <a:pt x="203" y="37"/>
                </a:lnTo>
                <a:lnTo>
                  <a:pt x="204" y="19"/>
                </a:lnTo>
                <a:lnTo>
                  <a:pt x="99" y="0"/>
                </a:lnTo>
                <a:lnTo>
                  <a:pt x="119" y="83"/>
                </a:lnTo>
                <a:lnTo>
                  <a:pt x="36" y="100"/>
                </a:lnTo>
                <a:lnTo>
                  <a:pt x="60" y="145"/>
                </a:lnTo>
                <a:lnTo>
                  <a:pt x="44" y="174"/>
                </a:lnTo>
                <a:lnTo>
                  <a:pt x="52" y="190"/>
                </a:lnTo>
                <a:lnTo>
                  <a:pt x="49" y="222"/>
                </a:lnTo>
                <a:lnTo>
                  <a:pt x="29" y="225"/>
                </a:lnTo>
                <a:lnTo>
                  <a:pt x="0" y="230"/>
                </a:lnTo>
                <a:lnTo>
                  <a:pt x="8" y="252"/>
                </a:lnTo>
                <a:lnTo>
                  <a:pt x="9" y="254"/>
                </a:lnTo>
                <a:lnTo>
                  <a:pt x="30" y="304"/>
                </a:lnTo>
                <a:lnTo>
                  <a:pt x="19" y="338"/>
                </a:lnTo>
                <a:lnTo>
                  <a:pt x="19" y="338"/>
                </a:lnTo>
                <a:lnTo>
                  <a:pt x="21" y="345"/>
                </a:lnTo>
                <a:lnTo>
                  <a:pt x="31" y="391"/>
                </a:lnTo>
                <a:lnTo>
                  <a:pt x="34" y="393"/>
                </a:lnTo>
                <a:lnTo>
                  <a:pt x="56" y="403"/>
                </a:lnTo>
                <a:lnTo>
                  <a:pt x="117" y="429"/>
                </a:lnTo>
                <a:lnTo>
                  <a:pt x="78" y="521"/>
                </a:lnTo>
                <a:lnTo>
                  <a:pt x="94" y="523"/>
                </a:lnTo>
                <a:lnTo>
                  <a:pt x="153" y="518"/>
                </a:lnTo>
                <a:lnTo>
                  <a:pt x="182" y="518"/>
                </a:lnTo>
                <a:lnTo>
                  <a:pt x="196" y="531"/>
                </a:lnTo>
                <a:lnTo>
                  <a:pt x="203" y="522"/>
                </a:lnTo>
                <a:lnTo>
                  <a:pt x="231" y="527"/>
                </a:lnTo>
                <a:lnTo>
                  <a:pt x="280" y="503"/>
                </a:lnTo>
                <a:lnTo>
                  <a:pt x="302" y="505"/>
                </a:lnTo>
                <a:lnTo>
                  <a:pt x="354" y="498"/>
                </a:lnTo>
                <a:lnTo>
                  <a:pt x="375" y="489"/>
                </a:lnTo>
                <a:lnTo>
                  <a:pt x="398" y="444"/>
                </a:lnTo>
                <a:lnTo>
                  <a:pt x="414" y="439"/>
                </a:lnTo>
                <a:lnTo>
                  <a:pt x="406" y="416"/>
                </a:lnTo>
                <a:lnTo>
                  <a:pt x="347" y="375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6" name="Freeform 53">
            <a:extLst>
              <a:ext uri="{FF2B5EF4-FFF2-40B4-BE49-F238E27FC236}">
                <a16:creationId xmlns:a16="http://schemas.microsoft.com/office/drawing/2014/main" id="{464E31EB-96E8-C403-B2C0-12568CBE02B6}"/>
              </a:ext>
            </a:extLst>
          </p:cNvPr>
          <p:cNvSpPr>
            <a:spLocks/>
          </p:cNvSpPr>
          <p:nvPr/>
        </p:nvSpPr>
        <p:spPr bwMode="auto">
          <a:xfrm>
            <a:off x="4199165" y="2397541"/>
            <a:ext cx="84899" cy="44985"/>
          </a:xfrm>
          <a:custGeom>
            <a:avLst/>
            <a:gdLst/>
            <a:ahLst/>
            <a:cxnLst>
              <a:cxn ang="0">
                <a:pos x="160" y="116"/>
              </a:cxn>
              <a:cxn ang="0">
                <a:pos x="165" y="92"/>
              </a:cxn>
              <a:cxn ang="0">
                <a:pos x="191" y="84"/>
              </a:cxn>
              <a:cxn ang="0">
                <a:pos x="191" y="84"/>
              </a:cxn>
              <a:cxn ang="0">
                <a:pos x="202" y="50"/>
              </a:cxn>
              <a:cxn ang="0">
                <a:pos x="181" y="0"/>
              </a:cxn>
              <a:cxn ang="0">
                <a:pos x="94" y="23"/>
              </a:cxn>
              <a:cxn ang="0">
                <a:pos x="23" y="9"/>
              </a:cxn>
              <a:cxn ang="0">
                <a:pos x="0" y="31"/>
              </a:cxn>
              <a:cxn ang="0">
                <a:pos x="140" y="105"/>
              </a:cxn>
              <a:cxn ang="0">
                <a:pos x="160" y="116"/>
              </a:cxn>
            </a:cxnLst>
            <a:rect l="0" t="0" r="r" b="b"/>
            <a:pathLst>
              <a:path w="202" h="116">
                <a:moveTo>
                  <a:pt x="160" y="116"/>
                </a:moveTo>
                <a:lnTo>
                  <a:pt x="165" y="92"/>
                </a:lnTo>
                <a:lnTo>
                  <a:pt x="191" y="84"/>
                </a:lnTo>
                <a:lnTo>
                  <a:pt x="191" y="84"/>
                </a:lnTo>
                <a:lnTo>
                  <a:pt x="202" y="50"/>
                </a:lnTo>
                <a:lnTo>
                  <a:pt x="181" y="0"/>
                </a:lnTo>
                <a:lnTo>
                  <a:pt x="94" y="23"/>
                </a:lnTo>
                <a:lnTo>
                  <a:pt x="23" y="9"/>
                </a:lnTo>
                <a:lnTo>
                  <a:pt x="0" y="31"/>
                </a:lnTo>
                <a:lnTo>
                  <a:pt x="140" y="105"/>
                </a:lnTo>
                <a:lnTo>
                  <a:pt x="160" y="116"/>
                </a:lnTo>
                <a:close/>
              </a:path>
            </a:pathLst>
          </a:custGeom>
          <a:solidFill>
            <a:srgbClr val="0070C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7" name="Freeform 55">
            <a:extLst>
              <a:ext uri="{FF2B5EF4-FFF2-40B4-BE49-F238E27FC236}">
                <a16:creationId xmlns:a16="http://schemas.microsoft.com/office/drawing/2014/main" id="{D6A9FA75-A791-8770-B4A0-2F265CC61AE8}"/>
              </a:ext>
            </a:extLst>
          </p:cNvPr>
          <p:cNvSpPr>
            <a:spLocks/>
          </p:cNvSpPr>
          <p:nvPr/>
        </p:nvSpPr>
        <p:spPr bwMode="auto">
          <a:xfrm>
            <a:off x="6647928" y="3897568"/>
            <a:ext cx="897269" cy="800427"/>
          </a:xfrm>
          <a:custGeom>
            <a:avLst/>
            <a:gdLst/>
            <a:ahLst/>
            <a:cxnLst>
              <a:cxn ang="0">
                <a:pos x="34" y="1462"/>
              </a:cxn>
              <a:cxn ang="0">
                <a:pos x="0" y="1496"/>
              </a:cxn>
              <a:cxn ang="0">
                <a:pos x="130" y="1575"/>
              </a:cxn>
              <a:cxn ang="0">
                <a:pos x="438" y="1530"/>
              </a:cxn>
              <a:cxn ang="0">
                <a:pos x="603" y="1414"/>
              </a:cxn>
              <a:cxn ang="0">
                <a:pos x="775" y="1397"/>
              </a:cxn>
              <a:cxn ang="0">
                <a:pos x="986" y="1443"/>
              </a:cxn>
              <a:cxn ang="0">
                <a:pos x="1015" y="1511"/>
              </a:cxn>
              <a:cxn ang="0">
                <a:pos x="1033" y="1670"/>
              </a:cxn>
              <a:cxn ang="0">
                <a:pos x="1170" y="1578"/>
              </a:cxn>
              <a:cxn ang="0">
                <a:pos x="1228" y="1546"/>
              </a:cxn>
              <a:cxn ang="0">
                <a:pos x="1109" y="1706"/>
              </a:cxn>
              <a:cxn ang="0">
                <a:pos x="1183" y="1646"/>
              </a:cxn>
              <a:cxn ang="0">
                <a:pos x="1181" y="1722"/>
              </a:cxn>
              <a:cxn ang="0">
                <a:pos x="1164" y="1769"/>
              </a:cxn>
              <a:cxn ang="0">
                <a:pos x="1220" y="1762"/>
              </a:cxn>
              <a:cxn ang="0">
                <a:pos x="1202" y="1861"/>
              </a:cxn>
              <a:cxn ang="0">
                <a:pos x="1215" y="1941"/>
              </a:cxn>
              <a:cxn ang="0">
                <a:pos x="1428" y="1980"/>
              </a:cxn>
              <a:cxn ang="0">
                <a:pos x="1554" y="2021"/>
              </a:cxn>
              <a:cxn ang="0">
                <a:pos x="1684" y="2006"/>
              </a:cxn>
              <a:cxn ang="0">
                <a:pos x="1966" y="1601"/>
              </a:cxn>
              <a:cxn ang="0">
                <a:pos x="2132" y="1299"/>
              </a:cxn>
              <a:cxn ang="0">
                <a:pos x="2111" y="955"/>
              </a:cxn>
              <a:cxn ang="0">
                <a:pos x="2098" y="849"/>
              </a:cxn>
              <a:cxn ang="0">
                <a:pos x="2042" y="710"/>
              </a:cxn>
              <a:cxn ang="0">
                <a:pos x="1927" y="581"/>
              </a:cxn>
              <a:cxn ang="0">
                <a:pos x="1934" y="395"/>
              </a:cxn>
              <a:cxn ang="0">
                <a:pos x="1887" y="237"/>
              </a:cxn>
              <a:cxn ang="0">
                <a:pos x="1826" y="48"/>
              </a:cxn>
              <a:cxn ang="0">
                <a:pos x="1781" y="0"/>
              </a:cxn>
              <a:cxn ang="0">
                <a:pos x="1729" y="303"/>
              </a:cxn>
              <a:cxn ang="0">
                <a:pos x="1641" y="457"/>
              </a:cxn>
              <a:cxn ang="0">
                <a:pos x="1554" y="416"/>
              </a:cxn>
              <a:cxn ang="0">
                <a:pos x="1383" y="232"/>
              </a:cxn>
              <a:cxn ang="0">
                <a:pos x="1431" y="129"/>
              </a:cxn>
              <a:cxn ang="0">
                <a:pos x="1481" y="51"/>
              </a:cxn>
              <a:cxn ang="0">
                <a:pos x="1368" y="42"/>
              </a:cxn>
              <a:cxn ang="0">
                <a:pos x="1257" y="46"/>
              </a:cxn>
              <a:cxn ang="0">
                <a:pos x="1154" y="66"/>
              </a:cxn>
              <a:cxn ang="0">
                <a:pos x="1091" y="245"/>
              </a:cxn>
              <a:cxn ang="0">
                <a:pos x="967" y="145"/>
              </a:cxn>
              <a:cxn ang="0">
                <a:pos x="775" y="292"/>
              </a:cxn>
              <a:cxn ang="0">
                <a:pos x="738" y="395"/>
              </a:cxn>
              <a:cxn ang="0">
                <a:pos x="648" y="387"/>
              </a:cxn>
              <a:cxn ang="0">
                <a:pos x="548" y="534"/>
              </a:cxn>
              <a:cxn ang="0">
                <a:pos x="264" y="600"/>
              </a:cxn>
              <a:cxn ang="0">
                <a:pos x="138" y="721"/>
              </a:cxn>
              <a:cxn ang="0">
                <a:pos x="114" y="933"/>
              </a:cxn>
              <a:cxn ang="0">
                <a:pos x="80" y="1042"/>
              </a:cxn>
              <a:cxn ang="0">
                <a:pos x="92" y="1178"/>
              </a:cxn>
              <a:cxn ang="0">
                <a:pos x="82" y="1344"/>
              </a:cxn>
            </a:cxnLst>
            <a:rect l="0" t="0" r="r" b="b"/>
            <a:pathLst>
              <a:path w="2153" h="2061">
                <a:moveTo>
                  <a:pt x="82" y="1344"/>
                </a:moveTo>
                <a:lnTo>
                  <a:pt x="34" y="1462"/>
                </a:lnTo>
                <a:lnTo>
                  <a:pt x="6" y="1448"/>
                </a:lnTo>
                <a:lnTo>
                  <a:pt x="0" y="1496"/>
                </a:lnTo>
                <a:lnTo>
                  <a:pt x="61" y="1569"/>
                </a:lnTo>
                <a:lnTo>
                  <a:pt x="130" y="1575"/>
                </a:lnTo>
                <a:lnTo>
                  <a:pt x="264" y="1501"/>
                </a:lnTo>
                <a:lnTo>
                  <a:pt x="438" y="1530"/>
                </a:lnTo>
                <a:lnTo>
                  <a:pt x="490" y="1467"/>
                </a:lnTo>
                <a:lnTo>
                  <a:pt x="603" y="1414"/>
                </a:lnTo>
                <a:lnTo>
                  <a:pt x="704" y="1428"/>
                </a:lnTo>
                <a:lnTo>
                  <a:pt x="775" y="1397"/>
                </a:lnTo>
                <a:lnTo>
                  <a:pt x="896" y="1393"/>
                </a:lnTo>
                <a:lnTo>
                  <a:pt x="986" y="1443"/>
                </a:lnTo>
                <a:lnTo>
                  <a:pt x="1028" y="1491"/>
                </a:lnTo>
                <a:lnTo>
                  <a:pt x="1015" y="1511"/>
                </a:lnTo>
                <a:lnTo>
                  <a:pt x="1025" y="1543"/>
                </a:lnTo>
                <a:lnTo>
                  <a:pt x="1033" y="1670"/>
                </a:lnTo>
                <a:lnTo>
                  <a:pt x="1049" y="1680"/>
                </a:lnTo>
                <a:lnTo>
                  <a:pt x="1170" y="1578"/>
                </a:lnTo>
                <a:lnTo>
                  <a:pt x="1205" y="1530"/>
                </a:lnTo>
                <a:lnTo>
                  <a:pt x="1228" y="1546"/>
                </a:lnTo>
                <a:lnTo>
                  <a:pt x="1188" y="1603"/>
                </a:lnTo>
                <a:lnTo>
                  <a:pt x="1109" y="1706"/>
                </a:lnTo>
                <a:lnTo>
                  <a:pt x="1147" y="1706"/>
                </a:lnTo>
                <a:lnTo>
                  <a:pt x="1183" y="1646"/>
                </a:lnTo>
                <a:lnTo>
                  <a:pt x="1186" y="1685"/>
                </a:lnTo>
                <a:lnTo>
                  <a:pt x="1181" y="1722"/>
                </a:lnTo>
                <a:lnTo>
                  <a:pt x="1154" y="1748"/>
                </a:lnTo>
                <a:lnTo>
                  <a:pt x="1164" y="1769"/>
                </a:lnTo>
                <a:lnTo>
                  <a:pt x="1226" y="1740"/>
                </a:lnTo>
                <a:lnTo>
                  <a:pt x="1220" y="1762"/>
                </a:lnTo>
                <a:lnTo>
                  <a:pt x="1205" y="1772"/>
                </a:lnTo>
                <a:lnTo>
                  <a:pt x="1202" y="1861"/>
                </a:lnTo>
                <a:lnTo>
                  <a:pt x="1186" y="1903"/>
                </a:lnTo>
                <a:lnTo>
                  <a:pt x="1215" y="1941"/>
                </a:lnTo>
                <a:lnTo>
                  <a:pt x="1339" y="2048"/>
                </a:lnTo>
                <a:lnTo>
                  <a:pt x="1428" y="1980"/>
                </a:lnTo>
                <a:lnTo>
                  <a:pt x="1476" y="2061"/>
                </a:lnTo>
                <a:lnTo>
                  <a:pt x="1554" y="2021"/>
                </a:lnTo>
                <a:lnTo>
                  <a:pt x="1589" y="1998"/>
                </a:lnTo>
                <a:lnTo>
                  <a:pt x="1684" y="2006"/>
                </a:lnTo>
                <a:lnTo>
                  <a:pt x="1787" y="1817"/>
                </a:lnTo>
                <a:lnTo>
                  <a:pt x="1966" y="1601"/>
                </a:lnTo>
                <a:lnTo>
                  <a:pt x="2048" y="1486"/>
                </a:lnTo>
                <a:lnTo>
                  <a:pt x="2132" y="1299"/>
                </a:lnTo>
                <a:lnTo>
                  <a:pt x="2153" y="1105"/>
                </a:lnTo>
                <a:lnTo>
                  <a:pt x="2111" y="955"/>
                </a:lnTo>
                <a:lnTo>
                  <a:pt x="2076" y="916"/>
                </a:lnTo>
                <a:lnTo>
                  <a:pt x="2098" y="849"/>
                </a:lnTo>
                <a:lnTo>
                  <a:pt x="2040" y="823"/>
                </a:lnTo>
                <a:lnTo>
                  <a:pt x="2042" y="710"/>
                </a:lnTo>
                <a:lnTo>
                  <a:pt x="1995" y="641"/>
                </a:lnTo>
                <a:lnTo>
                  <a:pt x="1927" y="581"/>
                </a:lnTo>
                <a:lnTo>
                  <a:pt x="1924" y="479"/>
                </a:lnTo>
                <a:lnTo>
                  <a:pt x="1934" y="395"/>
                </a:lnTo>
                <a:lnTo>
                  <a:pt x="1918" y="269"/>
                </a:lnTo>
                <a:lnTo>
                  <a:pt x="1887" y="237"/>
                </a:lnTo>
                <a:lnTo>
                  <a:pt x="1847" y="232"/>
                </a:lnTo>
                <a:lnTo>
                  <a:pt x="1826" y="48"/>
                </a:lnTo>
                <a:lnTo>
                  <a:pt x="1818" y="0"/>
                </a:lnTo>
                <a:lnTo>
                  <a:pt x="1781" y="0"/>
                </a:lnTo>
                <a:lnTo>
                  <a:pt x="1732" y="174"/>
                </a:lnTo>
                <a:lnTo>
                  <a:pt x="1729" y="303"/>
                </a:lnTo>
                <a:lnTo>
                  <a:pt x="1679" y="397"/>
                </a:lnTo>
                <a:lnTo>
                  <a:pt x="1641" y="457"/>
                </a:lnTo>
                <a:lnTo>
                  <a:pt x="1576" y="471"/>
                </a:lnTo>
                <a:lnTo>
                  <a:pt x="1554" y="416"/>
                </a:lnTo>
                <a:lnTo>
                  <a:pt x="1518" y="397"/>
                </a:lnTo>
                <a:lnTo>
                  <a:pt x="1383" y="232"/>
                </a:lnTo>
                <a:lnTo>
                  <a:pt x="1444" y="158"/>
                </a:lnTo>
                <a:lnTo>
                  <a:pt x="1431" y="129"/>
                </a:lnTo>
                <a:lnTo>
                  <a:pt x="1499" y="77"/>
                </a:lnTo>
                <a:lnTo>
                  <a:pt x="1481" y="51"/>
                </a:lnTo>
                <a:lnTo>
                  <a:pt x="1439" y="63"/>
                </a:lnTo>
                <a:lnTo>
                  <a:pt x="1368" y="42"/>
                </a:lnTo>
                <a:lnTo>
                  <a:pt x="1289" y="6"/>
                </a:lnTo>
                <a:lnTo>
                  <a:pt x="1257" y="46"/>
                </a:lnTo>
                <a:lnTo>
                  <a:pt x="1183" y="56"/>
                </a:lnTo>
                <a:lnTo>
                  <a:pt x="1154" y="66"/>
                </a:lnTo>
                <a:lnTo>
                  <a:pt x="1065" y="177"/>
                </a:lnTo>
                <a:lnTo>
                  <a:pt x="1091" y="245"/>
                </a:lnTo>
                <a:lnTo>
                  <a:pt x="986" y="216"/>
                </a:lnTo>
                <a:lnTo>
                  <a:pt x="967" y="145"/>
                </a:lnTo>
                <a:lnTo>
                  <a:pt x="920" y="148"/>
                </a:lnTo>
                <a:lnTo>
                  <a:pt x="775" y="292"/>
                </a:lnTo>
                <a:lnTo>
                  <a:pt x="752" y="310"/>
                </a:lnTo>
                <a:lnTo>
                  <a:pt x="738" y="395"/>
                </a:lnTo>
                <a:lnTo>
                  <a:pt x="699" y="321"/>
                </a:lnTo>
                <a:lnTo>
                  <a:pt x="648" y="387"/>
                </a:lnTo>
                <a:lnTo>
                  <a:pt x="648" y="429"/>
                </a:lnTo>
                <a:lnTo>
                  <a:pt x="548" y="534"/>
                </a:lnTo>
                <a:lnTo>
                  <a:pt x="414" y="549"/>
                </a:lnTo>
                <a:lnTo>
                  <a:pt x="264" y="600"/>
                </a:lnTo>
                <a:lnTo>
                  <a:pt x="188" y="658"/>
                </a:lnTo>
                <a:lnTo>
                  <a:pt x="138" y="721"/>
                </a:lnTo>
                <a:lnTo>
                  <a:pt x="100" y="854"/>
                </a:lnTo>
                <a:lnTo>
                  <a:pt x="114" y="933"/>
                </a:lnTo>
                <a:lnTo>
                  <a:pt x="77" y="972"/>
                </a:lnTo>
                <a:lnTo>
                  <a:pt x="80" y="1042"/>
                </a:lnTo>
                <a:lnTo>
                  <a:pt x="85" y="1115"/>
                </a:lnTo>
                <a:lnTo>
                  <a:pt x="92" y="1178"/>
                </a:lnTo>
                <a:lnTo>
                  <a:pt x="75" y="1243"/>
                </a:lnTo>
                <a:lnTo>
                  <a:pt x="82" y="134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8" name="Freeform 56">
            <a:extLst>
              <a:ext uri="{FF2B5EF4-FFF2-40B4-BE49-F238E27FC236}">
                <a16:creationId xmlns:a16="http://schemas.microsoft.com/office/drawing/2014/main" id="{52050A7A-F8FC-90FB-4187-F268DFC2BD2D}"/>
              </a:ext>
            </a:extLst>
          </p:cNvPr>
          <p:cNvSpPr>
            <a:spLocks/>
          </p:cNvSpPr>
          <p:nvPr/>
        </p:nvSpPr>
        <p:spPr bwMode="auto">
          <a:xfrm>
            <a:off x="7188952" y="4752287"/>
            <a:ext cx="93223" cy="94623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8" y="86"/>
              </a:cxn>
              <a:cxn ang="0">
                <a:pos x="19" y="134"/>
              </a:cxn>
              <a:cxn ang="0">
                <a:pos x="0" y="173"/>
              </a:cxn>
              <a:cxn ang="0">
                <a:pos x="17" y="239"/>
              </a:cxn>
              <a:cxn ang="0">
                <a:pos x="48" y="242"/>
              </a:cxn>
              <a:cxn ang="0">
                <a:pos x="132" y="187"/>
              </a:cxn>
              <a:cxn ang="0">
                <a:pos x="164" y="139"/>
              </a:cxn>
              <a:cxn ang="0">
                <a:pos x="224" y="29"/>
              </a:cxn>
              <a:cxn ang="0">
                <a:pos x="132" y="45"/>
              </a:cxn>
              <a:cxn ang="0">
                <a:pos x="87" y="29"/>
              </a:cxn>
              <a:cxn ang="0">
                <a:pos x="34" y="0"/>
              </a:cxn>
            </a:cxnLst>
            <a:rect l="0" t="0" r="r" b="b"/>
            <a:pathLst>
              <a:path w="224" h="242">
                <a:moveTo>
                  <a:pt x="34" y="0"/>
                </a:moveTo>
                <a:lnTo>
                  <a:pt x="8" y="86"/>
                </a:lnTo>
                <a:lnTo>
                  <a:pt x="19" y="134"/>
                </a:lnTo>
                <a:lnTo>
                  <a:pt x="0" y="173"/>
                </a:lnTo>
                <a:lnTo>
                  <a:pt x="17" y="239"/>
                </a:lnTo>
                <a:lnTo>
                  <a:pt x="48" y="242"/>
                </a:lnTo>
                <a:lnTo>
                  <a:pt x="132" y="187"/>
                </a:lnTo>
                <a:lnTo>
                  <a:pt x="164" y="139"/>
                </a:lnTo>
                <a:lnTo>
                  <a:pt x="224" y="29"/>
                </a:lnTo>
                <a:lnTo>
                  <a:pt x="132" y="45"/>
                </a:lnTo>
                <a:lnTo>
                  <a:pt x="87" y="29"/>
                </a:lnTo>
                <a:lnTo>
                  <a:pt x="3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2912D57C-7EEF-22F8-00AB-288DE52465F3}"/>
              </a:ext>
            </a:extLst>
          </p:cNvPr>
          <p:cNvSpPr>
            <a:spLocks/>
          </p:cNvSpPr>
          <p:nvPr/>
        </p:nvSpPr>
        <p:spPr bwMode="auto">
          <a:xfrm>
            <a:off x="5021524" y="1468363"/>
            <a:ext cx="216410" cy="279219"/>
          </a:xfrm>
          <a:custGeom>
            <a:avLst/>
            <a:gdLst/>
            <a:ahLst/>
            <a:cxnLst>
              <a:cxn ang="0">
                <a:pos x="261" y="692"/>
              </a:cxn>
              <a:cxn ang="0">
                <a:pos x="242" y="720"/>
              </a:cxn>
              <a:cxn ang="0">
                <a:pos x="88" y="703"/>
              </a:cxn>
              <a:cxn ang="0">
                <a:pos x="0" y="622"/>
              </a:cxn>
              <a:cxn ang="0">
                <a:pos x="98" y="262"/>
              </a:cxn>
              <a:cxn ang="0">
                <a:pos x="136" y="216"/>
              </a:cxn>
              <a:cxn ang="0">
                <a:pos x="459" y="0"/>
              </a:cxn>
              <a:cxn ang="0">
                <a:pos x="513" y="10"/>
              </a:cxn>
              <a:cxn ang="0">
                <a:pos x="521" y="81"/>
              </a:cxn>
              <a:cxn ang="0">
                <a:pos x="252" y="257"/>
              </a:cxn>
              <a:cxn ang="0">
                <a:pos x="153" y="487"/>
              </a:cxn>
              <a:cxn ang="0">
                <a:pos x="136" y="563"/>
              </a:cxn>
              <a:cxn ang="0">
                <a:pos x="185" y="638"/>
              </a:cxn>
              <a:cxn ang="0">
                <a:pos x="261" y="692"/>
              </a:cxn>
            </a:cxnLst>
            <a:rect l="0" t="0" r="r" b="b"/>
            <a:pathLst>
              <a:path w="521" h="720">
                <a:moveTo>
                  <a:pt x="261" y="692"/>
                </a:moveTo>
                <a:lnTo>
                  <a:pt x="242" y="720"/>
                </a:lnTo>
                <a:lnTo>
                  <a:pt x="88" y="703"/>
                </a:lnTo>
                <a:lnTo>
                  <a:pt x="0" y="622"/>
                </a:lnTo>
                <a:lnTo>
                  <a:pt x="98" y="262"/>
                </a:lnTo>
                <a:lnTo>
                  <a:pt x="136" y="216"/>
                </a:lnTo>
                <a:lnTo>
                  <a:pt x="459" y="0"/>
                </a:lnTo>
                <a:lnTo>
                  <a:pt x="513" y="10"/>
                </a:lnTo>
                <a:lnTo>
                  <a:pt x="521" y="81"/>
                </a:lnTo>
                <a:lnTo>
                  <a:pt x="252" y="257"/>
                </a:lnTo>
                <a:lnTo>
                  <a:pt x="153" y="487"/>
                </a:lnTo>
                <a:lnTo>
                  <a:pt x="136" y="563"/>
                </a:lnTo>
                <a:lnTo>
                  <a:pt x="185" y="638"/>
                </a:lnTo>
                <a:lnTo>
                  <a:pt x="261" y="69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0" name="Freeform 71">
            <a:extLst>
              <a:ext uri="{FF2B5EF4-FFF2-40B4-BE49-F238E27FC236}">
                <a16:creationId xmlns:a16="http://schemas.microsoft.com/office/drawing/2014/main" id="{5C58AC02-8F74-FDBB-BFAB-B0253027B08D}"/>
              </a:ext>
            </a:extLst>
          </p:cNvPr>
          <p:cNvSpPr>
            <a:spLocks/>
          </p:cNvSpPr>
          <p:nvPr/>
        </p:nvSpPr>
        <p:spPr bwMode="auto">
          <a:xfrm>
            <a:off x="5525924" y="1207759"/>
            <a:ext cx="74911" cy="71355"/>
          </a:xfrm>
          <a:custGeom>
            <a:avLst/>
            <a:gdLst/>
            <a:ahLst/>
            <a:cxnLst>
              <a:cxn ang="0">
                <a:pos x="102" y="0"/>
              </a:cxn>
              <a:cxn ang="0">
                <a:pos x="0" y="114"/>
              </a:cxn>
              <a:cxn ang="0">
                <a:pos x="15" y="176"/>
              </a:cxn>
              <a:cxn ang="0">
                <a:pos x="62" y="188"/>
              </a:cxn>
              <a:cxn ang="0">
                <a:pos x="181" y="47"/>
              </a:cxn>
              <a:cxn ang="0">
                <a:pos x="102" y="0"/>
              </a:cxn>
            </a:cxnLst>
            <a:rect l="0" t="0" r="r" b="b"/>
            <a:pathLst>
              <a:path w="181" h="188">
                <a:moveTo>
                  <a:pt x="102" y="0"/>
                </a:moveTo>
                <a:lnTo>
                  <a:pt x="0" y="114"/>
                </a:lnTo>
                <a:lnTo>
                  <a:pt x="15" y="176"/>
                </a:lnTo>
                <a:lnTo>
                  <a:pt x="62" y="188"/>
                </a:lnTo>
                <a:lnTo>
                  <a:pt x="181" y="47"/>
                </a:lnTo>
                <a:lnTo>
                  <a:pt x="10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9EBD1444-D653-FF30-6D12-88E58C712448}"/>
              </a:ext>
            </a:extLst>
          </p:cNvPr>
          <p:cNvSpPr>
            <a:spLocks/>
          </p:cNvSpPr>
          <p:nvPr/>
        </p:nvSpPr>
        <p:spPr bwMode="auto">
          <a:xfrm>
            <a:off x="5574201" y="1240335"/>
            <a:ext cx="98218" cy="46536"/>
          </a:xfrm>
          <a:custGeom>
            <a:avLst/>
            <a:gdLst/>
            <a:ahLst/>
            <a:cxnLst>
              <a:cxn ang="0">
                <a:pos x="67" y="6"/>
              </a:cxn>
              <a:cxn ang="0">
                <a:pos x="0" y="101"/>
              </a:cxn>
              <a:cxn ang="0">
                <a:pos x="225" y="122"/>
              </a:cxn>
              <a:cxn ang="0">
                <a:pos x="235" y="87"/>
              </a:cxn>
              <a:cxn ang="0">
                <a:pos x="195" y="0"/>
              </a:cxn>
              <a:cxn ang="0">
                <a:pos x="67" y="6"/>
              </a:cxn>
            </a:cxnLst>
            <a:rect l="0" t="0" r="r" b="b"/>
            <a:pathLst>
              <a:path w="235" h="122">
                <a:moveTo>
                  <a:pt x="67" y="6"/>
                </a:moveTo>
                <a:lnTo>
                  <a:pt x="0" y="101"/>
                </a:lnTo>
                <a:lnTo>
                  <a:pt x="225" y="122"/>
                </a:lnTo>
                <a:lnTo>
                  <a:pt x="235" y="87"/>
                </a:lnTo>
                <a:lnTo>
                  <a:pt x="195" y="0"/>
                </a:lnTo>
                <a:lnTo>
                  <a:pt x="67" y="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2" name="Freeform 73">
            <a:extLst>
              <a:ext uri="{FF2B5EF4-FFF2-40B4-BE49-F238E27FC236}">
                <a16:creationId xmlns:a16="http://schemas.microsoft.com/office/drawing/2014/main" id="{F7930888-4E29-5633-D12B-F9FC9E043047}"/>
              </a:ext>
            </a:extLst>
          </p:cNvPr>
          <p:cNvSpPr>
            <a:spLocks/>
          </p:cNvSpPr>
          <p:nvPr/>
        </p:nvSpPr>
        <p:spPr bwMode="auto">
          <a:xfrm>
            <a:off x="5690730" y="1240336"/>
            <a:ext cx="76576" cy="76009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2" y="188"/>
              </a:cxn>
              <a:cxn ang="0">
                <a:pos x="27" y="195"/>
              </a:cxn>
              <a:cxn ang="0">
                <a:pos x="186" y="79"/>
              </a:cxn>
              <a:cxn ang="0">
                <a:pos x="178" y="39"/>
              </a:cxn>
              <a:cxn ang="0">
                <a:pos x="62" y="0"/>
              </a:cxn>
              <a:cxn ang="0">
                <a:pos x="0" y="22"/>
              </a:cxn>
            </a:cxnLst>
            <a:rect l="0" t="0" r="r" b="b"/>
            <a:pathLst>
              <a:path w="186" h="195">
                <a:moveTo>
                  <a:pt x="0" y="22"/>
                </a:moveTo>
                <a:lnTo>
                  <a:pt x="2" y="188"/>
                </a:lnTo>
                <a:lnTo>
                  <a:pt x="27" y="195"/>
                </a:lnTo>
                <a:lnTo>
                  <a:pt x="186" y="79"/>
                </a:lnTo>
                <a:lnTo>
                  <a:pt x="178" y="39"/>
                </a:lnTo>
                <a:lnTo>
                  <a:pt x="62" y="0"/>
                </a:lnTo>
                <a:lnTo>
                  <a:pt x="0" y="2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3" name="Freeform 74">
            <a:extLst>
              <a:ext uri="{FF2B5EF4-FFF2-40B4-BE49-F238E27FC236}">
                <a16:creationId xmlns:a16="http://schemas.microsoft.com/office/drawing/2014/main" id="{75BDAB8E-3864-0F27-9BB3-8C78879787F9}"/>
              </a:ext>
            </a:extLst>
          </p:cNvPr>
          <p:cNvSpPr>
            <a:spLocks/>
          </p:cNvSpPr>
          <p:nvPr/>
        </p:nvSpPr>
        <p:spPr bwMode="auto">
          <a:xfrm>
            <a:off x="6326641" y="1151914"/>
            <a:ext cx="149822" cy="83765"/>
          </a:xfrm>
          <a:custGeom>
            <a:avLst/>
            <a:gdLst/>
            <a:ahLst/>
            <a:cxnLst>
              <a:cxn ang="0">
                <a:pos x="0" y="87"/>
              </a:cxn>
              <a:cxn ang="0">
                <a:pos x="24" y="160"/>
              </a:cxn>
              <a:cxn ang="0">
                <a:pos x="171" y="214"/>
              </a:cxn>
              <a:cxn ang="0">
                <a:pos x="334" y="97"/>
              </a:cxn>
              <a:cxn ang="0">
                <a:pos x="355" y="55"/>
              </a:cxn>
              <a:cxn ang="0">
                <a:pos x="361" y="0"/>
              </a:cxn>
              <a:cxn ang="0">
                <a:pos x="155" y="3"/>
              </a:cxn>
              <a:cxn ang="0">
                <a:pos x="147" y="62"/>
              </a:cxn>
              <a:cxn ang="0">
                <a:pos x="27" y="48"/>
              </a:cxn>
              <a:cxn ang="0">
                <a:pos x="0" y="87"/>
              </a:cxn>
            </a:cxnLst>
            <a:rect l="0" t="0" r="r" b="b"/>
            <a:pathLst>
              <a:path w="361" h="214">
                <a:moveTo>
                  <a:pt x="0" y="87"/>
                </a:moveTo>
                <a:lnTo>
                  <a:pt x="24" y="160"/>
                </a:lnTo>
                <a:lnTo>
                  <a:pt x="171" y="214"/>
                </a:lnTo>
                <a:lnTo>
                  <a:pt x="334" y="97"/>
                </a:lnTo>
                <a:lnTo>
                  <a:pt x="355" y="55"/>
                </a:lnTo>
                <a:lnTo>
                  <a:pt x="361" y="0"/>
                </a:lnTo>
                <a:lnTo>
                  <a:pt x="155" y="3"/>
                </a:lnTo>
                <a:lnTo>
                  <a:pt x="147" y="62"/>
                </a:lnTo>
                <a:lnTo>
                  <a:pt x="27" y="48"/>
                </a:lnTo>
                <a:lnTo>
                  <a:pt x="0" y="8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4" name="Freeform 75">
            <a:extLst>
              <a:ext uri="{FF2B5EF4-FFF2-40B4-BE49-F238E27FC236}">
                <a16:creationId xmlns:a16="http://schemas.microsoft.com/office/drawing/2014/main" id="{4A6C8CD2-6666-99EF-91ED-919B44ACF814}"/>
              </a:ext>
            </a:extLst>
          </p:cNvPr>
          <p:cNvSpPr>
            <a:spLocks/>
          </p:cNvSpPr>
          <p:nvPr/>
        </p:nvSpPr>
        <p:spPr bwMode="auto">
          <a:xfrm>
            <a:off x="6448164" y="1246540"/>
            <a:ext cx="59928" cy="32575"/>
          </a:xfrm>
          <a:custGeom>
            <a:avLst/>
            <a:gdLst/>
            <a:ahLst/>
            <a:cxnLst>
              <a:cxn ang="0">
                <a:pos x="6" y="0"/>
              </a:cxn>
              <a:cxn ang="0">
                <a:pos x="0" y="81"/>
              </a:cxn>
              <a:cxn ang="0">
                <a:pos x="144" y="51"/>
              </a:cxn>
              <a:cxn ang="0">
                <a:pos x="117" y="2"/>
              </a:cxn>
              <a:cxn ang="0">
                <a:pos x="6" y="0"/>
              </a:cxn>
            </a:cxnLst>
            <a:rect l="0" t="0" r="r" b="b"/>
            <a:pathLst>
              <a:path w="144" h="81">
                <a:moveTo>
                  <a:pt x="6" y="0"/>
                </a:moveTo>
                <a:lnTo>
                  <a:pt x="0" y="81"/>
                </a:lnTo>
                <a:lnTo>
                  <a:pt x="144" y="51"/>
                </a:lnTo>
                <a:lnTo>
                  <a:pt x="117" y="2"/>
                </a:lnTo>
                <a:lnTo>
                  <a:pt x="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5" name="Freeform 76">
            <a:extLst>
              <a:ext uri="{FF2B5EF4-FFF2-40B4-BE49-F238E27FC236}">
                <a16:creationId xmlns:a16="http://schemas.microsoft.com/office/drawing/2014/main" id="{170963BD-3B10-FC64-97C2-073CD8BFE065}"/>
              </a:ext>
            </a:extLst>
          </p:cNvPr>
          <p:cNvSpPr>
            <a:spLocks/>
          </p:cNvSpPr>
          <p:nvPr/>
        </p:nvSpPr>
        <p:spPr bwMode="auto">
          <a:xfrm>
            <a:off x="6491445" y="1131750"/>
            <a:ext cx="86564" cy="34127"/>
          </a:xfrm>
          <a:custGeom>
            <a:avLst/>
            <a:gdLst/>
            <a:ahLst/>
            <a:cxnLst>
              <a:cxn ang="0">
                <a:pos x="0" y="27"/>
              </a:cxn>
              <a:cxn ang="0">
                <a:pos x="9" y="84"/>
              </a:cxn>
              <a:cxn ang="0">
                <a:pos x="128" y="89"/>
              </a:cxn>
              <a:cxn ang="0">
                <a:pos x="179" y="67"/>
              </a:cxn>
              <a:cxn ang="0">
                <a:pos x="207" y="43"/>
              </a:cxn>
              <a:cxn ang="0">
                <a:pos x="207" y="0"/>
              </a:cxn>
              <a:cxn ang="0">
                <a:pos x="0" y="27"/>
              </a:cxn>
            </a:cxnLst>
            <a:rect l="0" t="0" r="r" b="b"/>
            <a:pathLst>
              <a:path w="207" h="89">
                <a:moveTo>
                  <a:pt x="0" y="27"/>
                </a:moveTo>
                <a:lnTo>
                  <a:pt x="9" y="84"/>
                </a:lnTo>
                <a:lnTo>
                  <a:pt x="128" y="89"/>
                </a:lnTo>
                <a:lnTo>
                  <a:pt x="179" y="67"/>
                </a:lnTo>
                <a:lnTo>
                  <a:pt x="207" y="43"/>
                </a:lnTo>
                <a:lnTo>
                  <a:pt x="207" y="0"/>
                </a:lnTo>
                <a:lnTo>
                  <a:pt x="0" y="2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6" name="Freeform 77">
            <a:extLst>
              <a:ext uri="{FF2B5EF4-FFF2-40B4-BE49-F238E27FC236}">
                <a16:creationId xmlns:a16="http://schemas.microsoft.com/office/drawing/2014/main" id="{BFB2792E-3435-3409-006A-714F6DCC7EBC}"/>
              </a:ext>
            </a:extLst>
          </p:cNvPr>
          <p:cNvSpPr>
            <a:spLocks/>
          </p:cNvSpPr>
          <p:nvPr/>
        </p:nvSpPr>
        <p:spPr bwMode="auto">
          <a:xfrm>
            <a:off x="5096433" y="1319447"/>
            <a:ext cx="39953" cy="44985"/>
          </a:xfrm>
          <a:custGeom>
            <a:avLst/>
            <a:gdLst/>
            <a:ahLst/>
            <a:cxnLst>
              <a:cxn ang="0">
                <a:pos x="25" y="14"/>
              </a:cxn>
              <a:cxn ang="0">
                <a:pos x="30" y="67"/>
              </a:cxn>
              <a:cxn ang="0">
                <a:pos x="0" y="81"/>
              </a:cxn>
              <a:cxn ang="0">
                <a:pos x="27" y="119"/>
              </a:cxn>
              <a:cxn ang="0">
                <a:pos x="92" y="64"/>
              </a:cxn>
              <a:cxn ang="0">
                <a:pos x="52" y="0"/>
              </a:cxn>
              <a:cxn ang="0">
                <a:pos x="25" y="14"/>
              </a:cxn>
            </a:cxnLst>
            <a:rect l="0" t="0" r="r" b="b"/>
            <a:pathLst>
              <a:path w="92" h="119">
                <a:moveTo>
                  <a:pt x="25" y="14"/>
                </a:moveTo>
                <a:lnTo>
                  <a:pt x="30" y="67"/>
                </a:lnTo>
                <a:lnTo>
                  <a:pt x="0" y="81"/>
                </a:lnTo>
                <a:lnTo>
                  <a:pt x="27" y="119"/>
                </a:lnTo>
                <a:lnTo>
                  <a:pt x="92" y="64"/>
                </a:lnTo>
                <a:lnTo>
                  <a:pt x="52" y="0"/>
                </a:lnTo>
                <a:lnTo>
                  <a:pt x="25" y="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7" name="Freeform 78">
            <a:extLst>
              <a:ext uri="{FF2B5EF4-FFF2-40B4-BE49-F238E27FC236}">
                <a16:creationId xmlns:a16="http://schemas.microsoft.com/office/drawing/2014/main" id="{9E858DD6-C3D2-E400-A928-945AB2F90302}"/>
              </a:ext>
            </a:extLst>
          </p:cNvPr>
          <p:cNvSpPr>
            <a:spLocks/>
          </p:cNvSpPr>
          <p:nvPr/>
        </p:nvSpPr>
        <p:spPr bwMode="auto">
          <a:xfrm>
            <a:off x="5044829" y="1344265"/>
            <a:ext cx="39953" cy="3878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" y="98"/>
              </a:cxn>
              <a:cxn ang="0">
                <a:pos x="87" y="84"/>
              </a:cxn>
              <a:cxn ang="0">
                <a:pos x="99" y="41"/>
              </a:cxn>
              <a:cxn ang="0">
                <a:pos x="60" y="0"/>
              </a:cxn>
              <a:cxn ang="0">
                <a:pos x="0" y="0"/>
              </a:cxn>
            </a:cxnLst>
            <a:rect l="0" t="0" r="r" b="b"/>
            <a:pathLst>
              <a:path w="99" h="98">
                <a:moveTo>
                  <a:pt x="0" y="0"/>
                </a:moveTo>
                <a:lnTo>
                  <a:pt x="30" y="98"/>
                </a:lnTo>
                <a:lnTo>
                  <a:pt x="87" y="84"/>
                </a:lnTo>
                <a:lnTo>
                  <a:pt x="99" y="41"/>
                </a:lnTo>
                <a:lnTo>
                  <a:pt x="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8" name="Freeform 79">
            <a:extLst>
              <a:ext uri="{FF2B5EF4-FFF2-40B4-BE49-F238E27FC236}">
                <a16:creationId xmlns:a16="http://schemas.microsoft.com/office/drawing/2014/main" id="{87A4B1D5-DDFB-8F50-B8C5-8E42DACCE213}"/>
              </a:ext>
            </a:extLst>
          </p:cNvPr>
          <p:cNvSpPr>
            <a:spLocks/>
          </p:cNvSpPr>
          <p:nvPr/>
        </p:nvSpPr>
        <p:spPr bwMode="auto">
          <a:xfrm>
            <a:off x="4978240" y="1322549"/>
            <a:ext cx="41618" cy="26371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68"/>
              </a:cxn>
              <a:cxn ang="0">
                <a:pos x="97" y="54"/>
              </a:cxn>
              <a:cxn ang="0">
                <a:pos x="35" y="0"/>
              </a:cxn>
            </a:cxnLst>
            <a:rect l="0" t="0" r="r" b="b"/>
            <a:pathLst>
              <a:path w="97" h="68">
                <a:moveTo>
                  <a:pt x="35" y="0"/>
                </a:moveTo>
                <a:lnTo>
                  <a:pt x="0" y="68"/>
                </a:lnTo>
                <a:lnTo>
                  <a:pt x="97" y="54"/>
                </a:lnTo>
                <a:lnTo>
                  <a:pt x="35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49" name="Freeform 80">
            <a:extLst>
              <a:ext uri="{FF2B5EF4-FFF2-40B4-BE49-F238E27FC236}">
                <a16:creationId xmlns:a16="http://schemas.microsoft.com/office/drawing/2014/main" id="{DBD998FE-A79F-6FC0-9EA6-44A8C4477A34}"/>
              </a:ext>
            </a:extLst>
          </p:cNvPr>
          <p:cNvSpPr>
            <a:spLocks/>
          </p:cNvSpPr>
          <p:nvPr/>
        </p:nvSpPr>
        <p:spPr bwMode="auto">
          <a:xfrm>
            <a:off x="4963257" y="1359777"/>
            <a:ext cx="36624" cy="31024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0" y="53"/>
              </a:cxn>
              <a:cxn ang="0">
                <a:pos x="57" y="78"/>
              </a:cxn>
              <a:cxn ang="0">
                <a:pos x="90" y="59"/>
              </a:cxn>
              <a:cxn ang="0">
                <a:pos x="30" y="0"/>
              </a:cxn>
            </a:cxnLst>
            <a:rect l="0" t="0" r="r" b="b"/>
            <a:pathLst>
              <a:path w="90" h="78">
                <a:moveTo>
                  <a:pt x="30" y="0"/>
                </a:moveTo>
                <a:lnTo>
                  <a:pt x="0" y="53"/>
                </a:lnTo>
                <a:lnTo>
                  <a:pt x="57" y="78"/>
                </a:lnTo>
                <a:lnTo>
                  <a:pt x="90" y="59"/>
                </a:lnTo>
                <a:lnTo>
                  <a:pt x="3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0" name="Freeform 81">
            <a:extLst>
              <a:ext uri="{FF2B5EF4-FFF2-40B4-BE49-F238E27FC236}">
                <a16:creationId xmlns:a16="http://schemas.microsoft.com/office/drawing/2014/main" id="{56B5B815-EC48-3491-14F0-3A6C8FBB5AAB}"/>
              </a:ext>
            </a:extLst>
          </p:cNvPr>
          <p:cNvSpPr>
            <a:spLocks/>
          </p:cNvSpPr>
          <p:nvPr/>
        </p:nvSpPr>
        <p:spPr bwMode="auto">
          <a:xfrm>
            <a:off x="5003210" y="1355126"/>
            <a:ext cx="39953" cy="37229"/>
          </a:xfrm>
          <a:custGeom>
            <a:avLst/>
            <a:gdLst/>
            <a:ahLst/>
            <a:cxnLst>
              <a:cxn ang="0">
                <a:pos x="0" y="19"/>
              </a:cxn>
              <a:cxn ang="0">
                <a:pos x="33" y="97"/>
              </a:cxn>
              <a:cxn ang="0">
                <a:pos x="95" y="84"/>
              </a:cxn>
              <a:cxn ang="0">
                <a:pos x="49" y="0"/>
              </a:cxn>
              <a:cxn ang="0">
                <a:pos x="0" y="19"/>
              </a:cxn>
            </a:cxnLst>
            <a:rect l="0" t="0" r="r" b="b"/>
            <a:pathLst>
              <a:path w="95" h="97">
                <a:moveTo>
                  <a:pt x="0" y="19"/>
                </a:moveTo>
                <a:lnTo>
                  <a:pt x="33" y="97"/>
                </a:lnTo>
                <a:lnTo>
                  <a:pt x="95" y="84"/>
                </a:lnTo>
                <a:lnTo>
                  <a:pt x="49" y="0"/>
                </a:lnTo>
                <a:lnTo>
                  <a:pt x="0" y="1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1" name="Freeform 82">
            <a:extLst>
              <a:ext uri="{FF2B5EF4-FFF2-40B4-BE49-F238E27FC236}">
                <a16:creationId xmlns:a16="http://schemas.microsoft.com/office/drawing/2014/main" id="{2A824CE0-69C4-E1A6-2B0A-97D07C1A1309}"/>
              </a:ext>
            </a:extLst>
          </p:cNvPr>
          <p:cNvSpPr>
            <a:spLocks/>
          </p:cNvSpPr>
          <p:nvPr/>
        </p:nvSpPr>
        <p:spPr bwMode="auto">
          <a:xfrm>
            <a:off x="4870036" y="1383047"/>
            <a:ext cx="49941" cy="26371"/>
          </a:xfrm>
          <a:custGeom>
            <a:avLst/>
            <a:gdLst/>
            <a:ahLst/>
            <a:cxnLst>
              <a:cxn ang="0">
                <a:pos x="116" y="0"/>
              </a:cxn>
              <a:cxn ang="0">
                <a:pos x="123" y="65"/>
              </a:cxn>
              <a:cxn ang="0">
                <a:pos x="0" y="59"/>
              </a:cxn>
              <a:cxn ang="0">
                <a:pos x="41" y="0"/>
              </a:cxn>
              <a:cxn ang="0">
                <a:pos x="116" y="0"/>
              </a:cxn>
            </a:cxnLst>
            <a:rect l="0" t="0" r="r" b="b"/>
            <a:pathLst>
              <a:path w="123" h="65">
                <a:moveTo>
                  <a:pt x="116" y="0"/>
                </a:moveTo>
                <a:lnTo>
                  <a:pt x="123" y="65"/>
                </a:lnTo>
                <a:lnTo>
                  <a:pt x="0" y="59"/>
                </a:lnTo>
                <a:lnTo>
                  <a:pt x="41" y="0"/>
                </a:lnTo>
                <a:lnTo>
                  <a:pt x="11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2" name="Freeform 83">
            <a:extLst>
              <a:ext uri="{FF2B5EF4-FFF2-40B4-BE49-F238E27FC236}">
                <a16:creationId xmlns:a16="http://schemas.microsoft.com/office/drawing/2014/main" id="{142EC123-24F2-238A-23D6-D7ED16CD08F5}"/>
              </a:ext>
            </a:extLst>
          </p:cNvPr>
          <p:cNvSpPr>
            <a:spLocks/>
          </p:cNvSpPr>
          <p:nvPr/>
        </p:nvSpPr>
        <p:spPr bwMode="auto">
          <a:xfrm>
            <a:off x="4943281" y="1389251"/>
            <a:ext cx="39953" cy="21718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0" y="38"/>
              </a:cxn>
              <a:cxn ang="0">
                <a:pos x="78" y="57"/>
              </a:cxn>
              <a:cxn ang="0">
                <a:pos x="97" y="30"/>
              </a:cxn>
              <a:cxn ang="0">
                <a:pos x="16" y="0"/>
              </a:cxn>
            </a:cxnLst>
            <a:rect l="0" t="0" r="r" b="b"/>
            <a:pathLst>
              <a:path w="97" h="57">
                <a:moveTo>
                  <a:pt x="16" y="0"/>
                </a:moveTo>
                <a:lnTo>
                  <a:pt x="0" y="38"/>
                </a:lnTo>
                <a:lnTo>
                  <a:pt x="78" y="57"/>
                </a:lnTo>
                <a:lnTo>
                  <a:pt x="97" y="30"/>
                </a:lnTo>
                <a:lnTo>
                  <a:pt x="1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3" name="Freeform 84">
            <a:extLst>
              <a:ext uri="{FF2B5EF4-FFF2-40B4-BE49-F238E27FC236}">
                <a16:creationId xmlns:a16="http://schemas.microsoft.com/office/drawing/2014/main" id="{5CB6FFFE-C2C0-5795-1EA9-ACE80F5606F1}"/>
              </a:ext>
            </a:extLst>
          </p:cNvPr>
          <p:cNvSpPr>
            <a:spLocks/>
          </p:cNvSpPr>
          <p:nvPr/>
        </p:nvSpPr>
        <p:spPr bwMode="auto">
          <a:xfrm>
            <a:off x="6920937" y="2001980"/>
            <a:ext cx="173129" cy="265257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0" y="48"/>
              </a:cxn>
              <a:cxn ang="0">
                <a:pos x="171" y="300"/>
              </a:cxn>
              <a:cxn ang="0">
                <a:pos x="307" y="684"/>
              </a:cxn>
              <a:cxn ang="0">
                <a:pos x="353" y="635"/>
              </a:cxn>
              <a:cxn ang="0">
                <a:pos x="416" y="657"/>
              </a:cxn>
              <a:cxn ang="0">
                <a:pos x="304" y="546"/>
              </a:cxn>
              <a:cxn ang="0">
                <a:pos x="253" y="397"/>
              </a:cxn>
              <a:cxn ang="0">
                <a:pos x="277" y="375"/>
              </a:cxn>
              <a:cxn ang="0">
                <a:pos x="342" y="459"/>
              </a:cxn>
              <a:cxn ang="0">
                <a:pos x="361" y="432"/>
              </a:cxn>
              <a:cxn ang="0">
                <a:pos x="27" y="0"/>
              </a:cxn>
            </a:cxnLst>
            <a:rect l="0" t="0" r="r" b="b"/>
            <a:pathLst>
              <a:path w="416" h="684">
                <a:moveTo>
                  <a:pt x="27" y="0"/>
                </a:moveTo>
                <a:lnTo>
                  <a:pt x="0" y="48"/>
                </a:lnTo>
                <a:lnTo>
                  <a:pt x="171" y="300"/>
                </a:lnTo>
                <a:lnTo>
                  <a:pt x="307" y="684"/>
                </a:lnTo>
                <a:lnTo>
                  <a:pt x="353" y="635"/>
                </a:lnTo>
                <a:lnTo>
                  <a:pt x="416" y="657"/>
                </a:lnTo>
                <a:lnTo>
                  <a:pt x="304" y="546"/>
                </a:lnTo>
                <a:lnTo>
                  <a:pt x="253" y="397"/>
                </a:lnTo>
                <a:lnTo>
                  <a:pt x="277" y="375"/>
                </a:lnTo>
                <a:lnTo>
                  <a:pt x="342" y="459"/>
                </a:lnTo>
                <a:lnTo>
                  <a:pt x="361" y="432"/>
                </a:lnTo>
                <a:lnTo>
                  <a:pt x="2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4" name="Freeform 63">
            <a:extLst>
              <a:ext uri="{FF2B5EF4-FFF2-40B4-BE49-F238E27FC236}">
                <a16:creationId xmlns:a16="http://schemas.microsoft.com/office/drawing/2014/main" id="{3EC6A486-F190-83BF-A80C-1FA9DD30C088}"/>
              </a:ext>
            </a:extLst>
          </p:cNvPr>
          <p:cNvSpPr>
            <a:spLocks/>
          </p:cNvSpPr>
          <p:nvPr/>
        </p:nvSpPr>
        <p:spPr bwMode="auto">
          <a:xfrm>
            <a:off x="5590848" y="2611610"/>
            <a:ext cx="166469" cy="105483"/>
          </a:xfrm>
          <a:custGeom>
            <a:avLst/>
            <a:gdLst/>
            <a:ahLst/>
            <a:cxnLst>
              <a:cxn ang="0">
                <a:pos x="308" y="84"/>
              </a:cxn>
              <a:cxn ang="0">
                <a:pos x="110" y="84"/>
              </a:cxn>
              <a:cxn ang="0">
                <a:pos x="148" y="38"/>
              </a:cxn>
              <a:cxn ang="0">
                <a:pos x="130" y="0"/>
              </a:cxn>
              <a:cxn ang="0">
                <a:pos x="99" y="14"/>
              </a:cxn>
              <a:cxn ang="0">
                <a:pos x="77" y="23"/>
              </a:cxn>
              <a:cxn ang="0">
                <a:pos x="0" y="117"/>
              </a:cxn>
              <a:cxn ang="0">
                <a:pos x="87" y="249"/>
              </a:cxn>
              <a:cxn ang="0">
                <a:pos x="98" y="242"/>
              </a:cxn>
              <a:cxn ang="0">
                <a:pos x="147" y="213"/>
              </a:cxn>
              <a:cxn ang="0">
                <a:pos x="167" y="177"/>
              </a:cxn>
              <a:cxn ang="0">
                <a:pos x="221" y="219"/>
              </a:cxn>
              <a:cxn ang="0">
                <a:pos x="227" y="252"/>
              </a:cxn>
              <a:cxn ang="0">
                <a:pos x="231" y="271"/>
              </a:cxn>
              <a:cxn ang="0">
                <a:pos x="279" y="239"/>
              </a:cxn>
              <a:cxn ang="0">
                <a:pos x="311" y="218"/>
              </a:cxn>
              <a:cxn ang="0">
                <a:pos x="389" y="207"/>
              </a:cxn>
              <a:cxn ang="0">
                <a:pos x="399" y="183"/>
              </a:cxn>
              <a:cxn ang="0">
                <a:pos x="308" y="84"/>
              </a:cxn>
            </a:cxnLst>
            <a:rect l="0" t="0" r="r" b="b"/>
            <a:pathLst>
              <a:path w="399" h="271">
                <a:moveTo>
                  <a:pt x="308" y="84"/>
                </a:moveTo>
                <a:lnTo>
                  <a:pt x="110" y="84"/>
                </a:lnTo>
                <a:lnTo>
                  <a:pt x="148" y="38"/>
                </a:lnTo>
                <a:lnTo>
                  <a:pt x="130" y="0"/>
                </a:lnTo>
                <a:lnTo>
                  <a:pt x="99" y="14"/>
                </a:lnTo>
                <a:lnTo>
                  <a:pt x="77" y="23"/>
                </a:lnTo>
                <a:lnTo>
                  <a:pt x="0" y="117"/>
                </a:lnTo>
                <a:lnTo>
                  <a:pt x="87" y="249"/>
                </a:lnTo>
                <a:lnTo>
                  <a:pt x="98" y="242"/>
                </a:lnTo>
                <a:lnTo>
                  <a:pt x="147" y="213"/>
                </a:lnTo>
                <a:lnTo>
                  <a:pt x="167" y="177"/>
                </a:lnTo>
                <a:lnTo>
                  <a:pt x="221" y="219"/>
                </a:lnTo>
                <a:lnTo>
                  <a:pt x="227" y="252"/>
                </a:lnTo>
                <a:lnTo>
                  <a:pt x="231" y="271"/>
                </a:lnTo>
                <a:lnTo>
                  <a:pt x="279" y="239"/>
                </a:lnTo>
                <a:lnTo>
                  <a:pt x="311" y="218"/>
                </a:lnTo>
                <a:lnTo>
                  <a:pt x="389" y="207"/>
                </a:lnTo>
                <a:lnTo>
                  <a:pt x="399" y="183"/>
                </a:lnTo>
                <a:lnTo>
                  <a:pt x="308" y="8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5" name="Freeform 92">
            <a:extLst>
              <a:ext uri="{FF2B5EF4-FFF2-40B4-BE49-F238E27FC236}">
                <a16:creationId xmlns:a16="http://schemas.microsoft.com/office/drawing/2014/main" id="{DD4916ED-67E3-D6BF-D3DA-D7647ACBB3A2}"/>
              </a:ext>
            </a:extLst>
          </p:cNvPr>
          <p:cNvSpPr>
            <a:spLocks/>
          </p:cNvSpPr>
          <p:nvPr/>
        </p:nvSpPr>
        <p:spPr bwMode="auto">
          <a:xfrm>
            <a:off x="7375398" y="3660232"/>
            <a:ext cx="221404" cy="232682"/>
          </a:xfrm>
          <a:custGeom>
            <a:avLst/>
            <a:gdLst/>
            <a:ahLst/>
            <a:cxnLst>
              <a:cxn ang="0">
                <a:pos x="513" y="545"/>
              </a:cxn>
              <a:cxn ang="0">
                <a:pos x="356" y="352"/>
              </a:cxn>
              <a:cxn ang="0">
                <a:pos x="334" y="286"/>
              </a:cxn>
              <a:cxn ang="0">
                <a:pos x="375" y="257"/>
              </a:cxn>
              <a:cxn ang="0">
                <a:pos x="363" y="231"/>
              </a:cxn>
              <a:cxn ang="0">
                <a:pos x="270" y="174"/>
              </a:cxn>
              <a:cxn ang="0">
                <a:pos x="218" y="101"/>
              </a:cxn>
              <a:cxn ang="0">
                <a:pos x="69" y="23"/>
              </a:cxn>
              <a:cxn ang="0">
                <a:pos x="21" y="0"/>
              </a:cxn>
              <a:cxn ang="0">
                <a:pos x="0" y="470"/>
              </a:cxn>
              <a:cxn ang="0">
                <a:pos x="1" y="471"/>
              </a:cxn>
              <a:cxn ang="0">
                <a:pos x="3" y="471"/>
              </a:cxn>
              <a:cxn ang="0">
                <a:pos x="99" y="462"/>
              </a:cxn>
              <a:cxn ang="0">
                <a:pos x="185" y="334"/>
              </a:cxn>
              <a:cxn ang="0">
                <a:pos x="279" y="371"/>
              </a:cxn>
              <a:cxn ang="0">
                <a:pos x="336" y="532"/>
              </a:cxn>
              <a:cxn ang="0">
                <a:pos x="529" y="599"/>
              </a:cxn>
              <a:cxn ang="0">
                <a:pos x="513" y="545"/>
              </a:cxn>
            </a:cxnLst>
            <a:rect l="0" t="0" r="r" b="b"/>
            <a:pathLst>
              <a:path w="529" h="599">
                <a:moveTo>
                  <a:pt x="513" y="545"/>
                </a:moveTo>
                <a:lnTo>
                  <a:pt x="356" y="352"/>
                </a:lnTo>
                <a:lnTo>
                  <a:pt x="334" y="286"/>
                </a:lnTo>
                <a:lnTo>
                  <a:pt x="375" y="257"/>
                </a:lnTo>
                <a:lnTo>
                  <a:pt x="363" y="231"/>
                </a:lnTo>
                <a:lnTo>
                  <a:pt x="270" y="174"/>
                </a:lnTo>
                <a:lnTo>
                  <a:pt x="218" y="101"/>
                </a:lnTo>
                <a:lnTo>
                  <a:pt x="69" y="23"/>
                </a:lnTo>
                <a:lnTo>
                  <a:pt x="21" y="0"/>
                </a:lnTo>
                <a:lnTo>
                  <a:pt x="0" y="470"/>
                </a:lnTo>
                <a:lnTo>
                  <a:pt x="1" y="471"/>
                </a:lnTo>
                <a:lnTo>
                  <a:pt x="3" y="471"/>
                </a:lnTo>
                <a:lnTo>
                  <a:pt x="99" y="462"/>
                </a:lnTo>
                <a:lnTo>
                  <a:pt x="185" y="334"/>
                </a:lnTo>
                <a:lnTo>
                  <a:pt x="279" y="371"/>
                </a:lnTo>
                <a:lnTo>
                  <a:pt x="336" y="532"/>
                </a:lnTo>
                <a:lnTo>
                  <a:pt x="529" y="599"/>
                </a:lnTo>
                <a:lnTo>
                  <a:pt x="513" y="545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6" name="Freeform 96">
            <a:extLst>
              <a:ext uri="{FF2B5EF4-FFF2-40B4-BE49-F238E27FC236}">
                <a16:creationId xmlns:a16="http://schemas.microsoft.com/office/drawing/2014/main" id="{6A2EAED6-21A9-66EA-42CC-438BDD58F301}"/>
              </a:ext>
            </a:extLst>
          </p:cNvPr>
          <p:cNvSpPr>
            <a:spLocks/>
          </p:cNvSpPr>
          <p:nvPr/>
        </p:nvSpPr>
        <p:spPr bwMode="auto">
          <a:xfrm>
            <a:off x="5918792" y="2862907"/>
            <a:ext cx="191440" cy="86867"/>
          </a:xfrm>
          <a:custGeom>
            <a:avLst/>
            <a:gdLst/>
            <a:ahLst/>
            <a:cxnLst>
              <a:cxn ang="0">
                <a:pos x="64" y="0"/>
              </a:cxn>
              <a:cxn ang="0">
                <a:pos x="37" y="7"/>
              </a:cxn>
              <a:cxn ang="0">
                <a:pos x="0" y="84"/>
              </a:cxn>
              <a:cxn ang="0">
                <a:pos x="219" y="191"/>
              </a:cxn>
              <a:cxn ang="0">
                <a:pos x="446" y="221"/>
              </a:cxn>
              <a:cxn ang="0">
                <a:pos x="462" y="124"/>
              </a:cxn>
              <a:cxn ang="0">
                <a:pos x="429" y="125"/>
              </a:cxn>
              <a:cxn ang="0">
                <a:pos x="64" y="0"/>
              </a:cxn>
            </a:cxnLst>
            <a:rect l="0" t="0" r="r" b="b"/>
            <a:pathLst>
              <a:path w="462" h="221">
                <a:moveTo>
                  <a:pt x="64" y="0"/>
                </a:moveTo>
                <a:lnTo>
                  <a:pt x="37" y="7"/>
                </a:lnTo>
                <a:lnTo>
                  <a:pt x="0" y="84"/>
                </a:lnTo>
                <a:lnTo>
                  <a:pt x="219" y="191"/>
                </a:lnTo>
                <a:lnTo>
                  <a:pt x="446" y="221"/>
                </a:lnTo>
                <a:lnTo>
                  <a:pt x="462" y="124"/>
                </a:lnTo>
                <a:lnTo>
                  <a:pt x="429" y="125"/>
                </a:lnTo>
                <a:lnTo>
                  <a:pt x="64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7" name="Freeform 98">
            <a:extLst>
              <a:ext uri="{FF2B5EF4-FFF2-40B4-BE49-F238E27FC236}">
                <a16:creationId xmlns:a16="http://schemas.microsoft.com/office/drawing/2014/main" id="{CD97D131-F761-E661-32D2-7707141596B5}"/>
              </a:ext>
            </a:extLst>
          </p:cNvPr>
          <p:cNvSpPr>
            <a:spLocks/>
          </p:cNvSpPr>
          <p:nvPr/>
        </p:nvSpPr>
        <p:spPr bwMode="auto">
          <a:xfrm>
            <a:off x="5920457" y="2226908"/>
            <a:ext cx="664213" cy="286975"/>
          </a:xfrm>
          <a:custGeom>
            <a:avLst/>
            <a:gdLst/>
            <a:ahLst/>
            <a:cxnLst>
              <a:cxn ang="0">
                <a:pos x="1523" y="178"/>
              </a:cxn>
              <a:cxn ang="0">
                <a:pos x="1380" y="189"/>
              </a:cxn>
              <a:cxn ang="0">
                <a:pos x="1367" y="26"/>
              </a:cxn>
              <a:cxn ang="0">
                <a:pos x="1365" y="26"/>
              </a:cxn>
              <a:cxn ang="0">
                <a:pos x="1305" y="12"/>
              </a:cxn>
              <a:cxn ang="0">
                <a:pos x="1255" y="0"/>
              </a:cxn>
              <a:cxn ang="0">
                <a:pos x="1233" y="29"/>
              </a:cxn>
              <a:cxn ang="0">
                <a:pos x="1194" y="80"/>
              </a:cxn>
              <a:cxn ang="0">
                <a:pos x="1003" y="122"/>
              </a:cxn>
              <a:cxn ang="0">
                <a:pos x="895" y="70"/>
              </a:cxn>
              <a:cxn ang="0">
                <a:pos x="715" y="115"/>
              </a:cxn>
              <a:cxn ang="0">
                <a:pos x="640" y="52"/>
              </a:cxn>
              <a:cxn ang="0">
                <a:pos x="465" y="0"/>
              </a:cxn>
              <a:cxn ang="0">
                <a:pos x="455" y="87"/>
              </a:cxn>
              <a:cxn ang="0">
                <a:pos x="472" y="105"/>
              </a:cxn>
              <a:cxn ang="0">
                <a:pos x="485" y="169"/>
              </a:cxn>
              <a:cxn ang="0">
                <a:pos x="376" y="178"/>
              </a:cxn>
              <a:cxn ang="0">
                <a:pos x="177" y="138"/>
              </a:cxn>
              <a:cxn ang="0">
                <a:pos x="0" y="306"/>
              </a:cxn>
              <a:cxn ang="0">
                <a:pos x="17" y="314"/>
              </a:cxn>
              <a:cxn ang="0">
                <a:pos x="149" y="372"/>
              </a:cxn>
              <a:cxn ang="0">
                <a:pos x="225" y="553"/>
              </a:cxn>
              <a:cxn ang="0">
                <a:pos x="521" y="634"/>
              </a:cxn>
              <a:cxn ang="0">
                <a:pos x="567" y="733"/>
              </a:cxn>
              <a:cxn ang="0">
                <a:pos x="781" y="701"/>
              </a:cxn>
              <a:cxn ang="0">
                <a:pos x="883" y="705"/>
              </a:cxn>
              <a:cxn ang="0">
                <a:pos x="1041" y="741"/>
              </a:cxn>
              <a:cxn ang="0">
                <a:pos x="1159" y="657"/>
              </a:cxn>
              <a:cxn ang="0">
                <a:pos x="1227" y="654"/>
              </a:cxn>
              <a:cxn ang="0">
                <a:pos x="1316" y="548"/>
              </a:cxn>
              <a:cxn ang="0">
                <a:pos x="1294" y="446"/>
              </a:cxn>
              <a:cxn ang="0">
                <a:pos x="1383" y="438"/>
              </a:cxn>
              <a:cxn ang="0">
                <a:pos x="1456" y="375"/>
              </a:cxn>
              <a:cxn ang="0">
                <a:pos x="1462" y="336"/>
              </a:cxn>
              <a:cxn ang="0">
                <a:pos x="1596" y="232"/>
              </a:cxn>
              <a:cxn ang="0">
                <a:pos x="1523" y="178"/>
              </a:cxn>
            </a:cxnLst>
            <a:rect l="0" t="0" r="r" b="b"/>
            <a:pathLst>
              <a:path w="1596" h="741">
                <a:moveTo>
                  <a:pt x="1523" y="178"/>
                </a:moveTo>
                <a:lnTo>
                  <a:pt x="1380" y="189"/>
                </a:lnTo>
                <a:lnTo>
                  <a:pt x="1367" y="26"/>
                </a:lnTo>
                <a:lnTo>
                  <a:pt x="1365" y="26"/>
                </a:lnTo>
                <a:lnTo>
                  <a:pt x="1305" y="12"/>
                </a:lnTo>
                <a:lnTo>
                  <a:pt x="1255" y="0"/>
                </a:lnTo>
                <a:lnTo>
                  <a:pt x="1233" y="29"/>
                </a:lnTo>
                <a:lnTo>
                  <a:pt x="1194" y="80"/>
                </a:lnTo>
                <a:lnTo>
                  <a:pt x="1003" y="122"/>
                </a:lnTo>
                <a:lnTo>
                  <a:pt x="895" y="70"/>
                </a:lnTo>
                <a:lnTo>
                  <a:pt x="715" y="115"/>
                </a:lnTo>
                <a:lnTo>
                  <a:pt x="640" y="52"/>
                </a:lnTo>
                <a:lnTo>
                  <a:pt x="465" y="0"/>
                </a:lnTo>
                <a:lnTo>
                  <a:pt x="455" y="87"/>
                </a:lnTo>
                <a:lnTo>
                  <a:pt x="472" y="105"/>
                </a:lnTo>
                <a:lnTo>
                  <a:pt x="485" y="169"/>
                </a:lnTo>
                <a:lnTo>
                  <a:pt x="376" y="178"/>
                </a:lnTo>
                <a:lnTo>
                  <a:pt x="177" y="138"/>
                </a:lnTo>
                <a:lnTo>
                  <a:pt x="0" y="306"/>
                </a:lnTo>
                <a:lnTo>
                  <a:pt x="17" y="314"/>
                </a:lnTo>
                <a:lnTo>
                  <a:pt x="149" y="372"/>
                </a:lnTo>
                <a:lnTo>
                  <a:pt x="225" y="553"/>
                </a:lnTo>
                <a:lnTo>
                  <a:pt x="521" y="634"/>
                </a:lnTo>
                <a:lnTo>
                  <a:pt x="567" y="733"/>
                </a:lnTo>
                <a:lnTo>
                  <a:pt x="781" y="701"/>
                </a:lnTo>
                <a:lnTo>
                  <a:pt x="883" y="705"/>
                </a:lnTo>
                <a:lnTo>
                  <a:pt x="1041" y="741"/>
                </a:lnTo>
                <a:lnTo>
                  <a:pt x="1159" y="657"/>
                </a:lnTo>
                <a:lnTo>
                  <a:pt x="1227" y="654"/>
                </a:lnTo>
                <a:lnTo>
                  <a:pt x="1316" y="548"/>
                </a:lnTo>
                <a:lnTo>
                  <a:pt x="1294" y="446"/>
                </a:lnTo>
                <a:lnTo>
                  <a:pt x="1383" y="438"/>
                </a:lnTo>
                <a:lnTo>
                  <a:pt x="1456" y="375"/>
                </a:lnTo>
                <a:lnTo>
                  <a:pt x="1462" y="336"/>
                </a:lnTo>
                <a:lnTo>
                  <a:pt x="1596" y="232"/>
                </a:lnTo>
                <a:lnTo>
                  <a:pt x="1523" y="17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8" name="Freeform 122">
            <a:extLst>
              <a:ext uri="{FF2B5EF4-FFF2-40B4-BE49-F238E27FC236}">
                <a16:creationId xmlns:a16="http://schemas.microsoft.com/office/drawing/2014/main" id="{771C6297-479C-CCA7-CEB7-22225C8E1D45}"/>
              </a:ext>
            </a:extLst>
          </p:cNvPr>
          <p:cNvSpPr>
            <a:spLocks/>
          </p:cNvSpPr>
          <p:nvPr/>
        </p:nvSpPr>
        <p:spPr bwMode="auto">
          <a:xfrm>
            <a:off x="6974207" y="3804495"/>
            <a:ext cx="93223" cy="52741"/>
          </a:xfrm>
          <a:custGeom>
            <a:avLst/>
            <a:gdLst/>
            <a:ahLst/>
            <a:cxnLst>
              <a:cxn ang="0">
                <a:pos x="216" y="22"/>
              </a:cxn>
              <a:cxn ang="0">
                <a:pos x="94" y="79"/>
              </a:cxn>
              <a:cxn ang="0">
                <a:pos x="40" y="124"/>
              </a:cxn>
              <a:cxn ang="0">
                <a:pos x="0" y="133"/>
              </a:cxn>
              <a:cxn ang="0">
                <a:pos x="16" y="79"/>
              </a:cxn>
              <a:cxn ang="0">
                <a:pos x="109" y="27"/>
              </a:cxn>
              <a:cxn ang="0">
                <a:pos x="154" y="7"/>
              </a:cxn>
              <a:cxn ang="0">
                <a:pos x="223" y="0"/>
              </a:cxn>
              <a:cxn ang="0">
                <a:pos x="216" y="22"/>
              </a:cxn>
            </a:cxnLst>
            <a:rect l="0" t="0" r="r" b="b"/>
            <a:pathLst>
              <a:path w="223" h="133">
                <a:moveTo>
                  <a:pt x="216" y="22"/>
                </a:moveTo>
                <a:lnTo>
                  <a:pt x="94" y="79"/>
                </a:lnTo>
                <a:lnTo>
                  <a:pt x="40" y="124"/>
                </a:lnTo>
                <a:lnTo>
                  <a:pt x="0" y="133"/>
                </a:lnTo>
                <a:lnTo>
                  <a:pt x="16" y="79"/>
                </a:lnTo>
                <a:lnTo>
                  <a:pt x="109" y="27"/>
                </a:lnTo>
                <a:lnTo>
                  <a:pt x="154" y="7"/>
                </a:lnTo>
                <a:lnTo>
                  <a:pt x="223" y="0"/>
                </a:lnTo>
                <a:lnTo>
                  <a:pt x="216" y="2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59" name="Freeform 123">
            <a:extLst>
              <a:ext uri="{FF2B5EF4-FFF2-40B4-BE49-F238E27FC236}">
                <a16:creationId xmlns:a16="http://schemas.microsoft.com/office/drawing/2014/main" id="{035968C4-43F1-88D1-9937-14A6888A7B0C}"/>
              </a:ext>
            </a:extLst>
          </p:cNvPr>
          <p:cNvSpPr>
            <a:spLocks/>
          </p:cNvSpPr>
          <p:nvPr/>
        </p:nvSpPr>
        <p:spPr bwMode="auto">
          <a:xfrm>
            <a:off x="6869332" y="3829313"/>
            <a:ext cx="44948" cy="27921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63" y="0"/>
              </a:cxn>
              <a:cxn ang="0">
                <a:pos x="107" y="40"/>
              </a:cxn>
              <a:cxn ang="0">
                <a:pos x="78" y="69"/>
              </a:cxn>
              <a:cxn ang="0">
                <a:pos x="0" y="7"/>
              </a:cxn>
            </a:cxnLst>
            <a:rect l="0" t="0" r="r" b="b"/>
            <a:pathLst>
              <a:path w="107" h="69">
                <a:moveTo>
                  <a:pt x="0" y="7"/>
                </a:moveTo>
                <a:lnTo>
                  <a:pt x="63" y="0"/>
                </a:lnTo>
                <a:lnTo>
                  <a:pt x="107" y="40"/>
                </a:lnTo>
                <a:lnTo>
                  <a:pt x="78" y="69"/>
                </a:lnTo>
                <a:lnTo>
                  <a:pt x="0" y="7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60" name="Freeform 57">
            <a:extLst>
              <a:ext uri="{FF2B5EF4-FFF2-40B4-BE49-F238E27FC236}">
                <a16:creationId xmlns:a16="http://schemas.microsoft.com/office/drawing/2014/main" id="{7D08CAD4-EE31-9601-8150-F1D5E4E667C4}"/>
              </a:ext>
            </a:extLst>
          </p:cNvPr>
          <p:cNvSpPr>
            <a:spLocks/>
          </p:cNvSpPr>
          <p:nvPr/>
        </p:nvSpPr>
        <p:spPr bwMode="auto">
          <a:xfrm>
            <a:off x="6444834" y="3007170"/>
            <a:ext cx="208087" cy="366086"/>
          </a:xfrm>
          <a:custGeom>
            <a:avLst/>
            <a:gdLst/>
            <a:ahLst/>
            <a:cxnLst>
              <a:cxn ang="0">
                <a:pos x="437" y="492"/>
              </a:cxn>
              <a:cxn ang="0">
                <a:pos x="233" y="298"/>
              </a:cxn>
              <a:cxn ang="0">
                <a:pos x="221" y="217"/>
              </a:cxn>
              <a:cxn ang="0">
                <a:pos x="319" y="120"/>
              </a:cxn>
              <a:cxn ang="0">
                <a:pos x="327" y="112"/>
              </a:cxn>
              <a:cxn ang="0">
                <a:pos x="226" y="0"/>
              </a:cxn>
              <a:cxn ang="0">
                <a:pos x="95" y="22"/>
              </a:cxn>
              <a:cxn ang="0">
                <a:pos x="43" y="30"/>
              </a:cxn>
              <a:cxn ang="0">
                <a:pos x="0" y="73"/>
              </a:cxn>
              <a:cxn ang="0">
                <a:pos x="76" y="155"/>
              </a:cxn>
              <a:cxn ang="0">
                <a:pos x="160" y="204"/>
              </a:cxn>
              <a:cxn ang="0">
                <a:pos x="122" y="269"/>
              </a:cxn>
              <a:cxn ang="0">
                <a:pos x="328" y="461"/>
              </a:cxn>
              <a:cxn ang="0">
                <a:pos x="356" y="544"/>
              </a:cxn>
              <a:cxn ang="0">
                <a:pos x="382" y="654"/>
              </a:cxn>
              <a:cxn ang="0">
                <a:pos x="213" y="833"/>
              </a:cxn>
              <a:cxn ang="0">
                <a:pos x="244" y="860"/>
              </a:cxn>
              <a:cxn ang="0">
                <a:pos x="240" y="896"/>
              </a:cxn>
              <a:cxn ang="0">
                <a:pos x="271" y="947"/>
              </a:cxn>
              <a:cxn ang="0">
                <a:pos x="415" y="848"/>
              </a:cxn>
              <a:cxn ang="0">
                <a:pos x="499" y="716"/>
              </a:cxn>
              <a:cxn ang="0">
                <a:pos x="437" y="492"/>
              </a:cxn>
            </a:cxnLst>
            <a:rect l="0" t="0" r="r" b="b"/>
            <a:pathLst>
              <a:path w="499" h="947">
                <a:moveTo>
                  <a:pt x="437" y="492"/>
                </a:moveTo>
                <a:lnTo>
                  <a:pt x="233" y="298"/>
                </a:lnTo>
                <a:lnTo>
                  <a:pt x="221" y="217"/>
                </a:lnTo>
                <a:lnTo>
                  <a:pt x="319" y="120"/>
                </a:lnTo>
                <a:lnTo>
                  <a:pt x="327" y="112"/>
                </a:lnTo>
                <a:lnTo>
                  <a:pt x="226" y="0"/>
                </a:lnTo>
                <a:lnTo>
                  <a:pt x="95" y="22"/>
                </a:lnTo>
                <a:lnTo>
                  <a:pt x="43" y="30"/>
                </a:lnTo>
                <a:lnTo>
                  <a:pt x="0" y="73"/>
                </a:lnTo>
                <a:lnTo>
                  <a:pt x="76" y="155"/>
                </a:lnTo>
                <a:lnTo>
                  <a:pt x="160" y="204"/>
                </a:lnTo>
                <a:lnTo>
                  <a:pt x="122" y="269"/>
                </a:lnTo>
                <a:lnTo>
                  <a:pt x="328" y="461"/>
                </a:lnTo>
                <a:lnTo>
                  <a:pt x="356" y="544"/>
                </a:lnTo>
                <a:lnTo>
                  <a:pt x="382" y="654"/>
                </a:lnTo>
                <a:lnTo>
                  <a:pt x="213" y="833"/>
                </a:lnTo>
                <a:lnTo>
                  <a:pt x="244" y="860"/>
                </a:lnTo>
                <a:lnTo>
                  <a:pt x="240" y="896"/>
                </a:lnTo>
                <a:lnTo>
                  <a:pt x="271" y="947"/>
                </a:lnTo>
                <a:lnTo>
                  <a:pt x="415" y="848"/>
                </a:lnTo>
                <a:lnTo>
                  <a:pt x="499" y="716"/>
                </a:lnTo>
                <a:lnTo>
                  <a:pt x="437" y="492"/>
                </a:lnTo>
                <a:close/>
              </a:path>
            </a:pathLst>
          </a:custGeom>
          <a:solidFill>
            <a:srgbClr val="FFC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FF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61" name="Freeform 59">
            <a:extLst>
              <a:ext uri="{FF2B5EF4-FFF2-40B4-BE49-F238E27FC236}">
                <a16:creationId xmlns:a16="http://schemas.microsoft.com/office/drawing/2014/main" id="{807D5226-69E4-A39B-4C34-4B172D6CF158}"/>
              </a:ext>
            </a:extLst>
          </p:cNvPr>
          <p:cNvSpPr>
            <a:spLocks/>
          </p:cNvSpPr>
          <p:nvPr/>
        </p:nvSpPr>
        <p:spPr bwMode="auto">
          <a:xfrm>
            <a:off x="5316173" y="2506126"/>
            <a:ext cx="379551" cy="207864"/>
          </a:xfrm>
          <a:custGeom>
            <a:avLst/>
            <a:gdLst/>
            <a:ahLst/>
            <a:cxnLst>
              <a:cxn ang="0">
                <a:pos x="868" y="260"/>
              </a:cxn>
              <a:cxn ang="0">
                <a:pos x="781" y="225"/>
              </a:cxn>
              <a:cxn ang="0">
                <a:pos x="771" y="194"/>
              </a:cxn>
              <a:cxn ang="0">
                <a:pos x="757" y="205"/>
              </a:cxn>
              <a:cxn ang="0">
                <a:pos x="684" y="266"/>
              </a:cxn>
              <a:cxn ang="0">
                <a:pos x="551" y="221"/>
              </a:cxn>
              <a:cxn ang="0">
                <a:pos x="537" y="162"/>
              </a:cxn>
              <a:cxn ang="0">
                <a:pos x="462" y="105"/>
              </a:cxn>
              <a:cxn ang="0">
                <a:pos x="310" y="126"/>
              </a:cxn>
              <a:cxn ang="0">
                <a:pos x="250" y="50"/>
              </a:cxn>
              <a:cxn ang="0">
                <a:pos x="235" y="60"/>
              </a:cxn>
              <a:cxn ang="0">
                <a:pos x="260" y="133"/>
              </a:cxn>
              <a:cxn ang="0">
                <a:pos x="132" y="144"/>
              </a:cxn>
              <a:cxn ang="0">
                <a:pos x="99" y="66"/>
              </a:cxn>
              <a:cxn ang="0">
                <a:pos x="111" y="0"/>
              </a:cxn>
              <a:cxn ang="0">
                <a:pos x="0" y="40"/>
              </a:cxn>
              <a:cxn ang="0">
                <a:pos x="57" y="306"/>
              </a:cxn>
              <a:cxn ang="0">
                <a:pos x="120" y="302"/>
              </a:cxn>
              <a:cxn ang="0">
                <a:pos x="87" y="265"/>
              </a:cxn>
              <a:cxn ang="0">
                <a:pos x="153" y="197"/>
              </a:cxn>
              <a:cxn ang="0">
                <a:pos x="247" y="252"/>
              </a:cxn>
              <a:cxn ang="0">
                <a:pos x="322" y="298"/>
              </a:cxn>
              <a:cxn ang="0">
                <a:pos x="623" y="485"/>
              </a:cxn>
              <a:cxn ang="0">
                <a:pos x="639" y="525"/>
              </a:cxn>
              <a:cxn ang="0">
                <a:pos x="719" y="536"/>
              </a:cxn>
              <a:cxn ang="0">
                <a:pos x="745" y="521"/>
              </a:cxn>
              <a:cxn ang="0">
                <a:pos x="658" y="389"/>
              </a:cxn>
              <a:cxn ang="0">
                <a:pos x="735" y="295"/>
              </a:cxn>
              <a:cxn ang="0">
                <a:pos x="757" y="286"/>
              </a:cxn>
              <a:cxn ang="0">
                <a:pos x="788" y="272"/>
              </a:cxn>
              <a:cxn ang="0">
                <a:pos x="806" y="310"/>
              </a:cxn>
              <a:cxn ang="0">
                <a:pos x="811" y="319"/>
              </a:cxn>
              <a:cxn ang="0">
                <a:pos x="868" y="295"/>
              </a:cxn>
              <a:cxn ang="0">
                <a:pos x="910" y="278"/>
              </a:cxn>
              <a:cxn ang="0">
                <a:pos x="868" y="260"/>
              </a:cxn>
            </a:cxnLst>
            <a:rect l="0" t="0" r="r" b="b"/>
            <a:pathLst>
              <a:path w="910" h="536">
                <a:moveTo>
                  <a:pt x="868" y="260"/>
                </a:moveTo>
                <a:lnTo>
                  <a:pt x="781" y="225"/>
                </a:lnTo>
                <a:lnTo>
                  <a:pt x="771" y="194"/>
                </a:lnTo>
                <a:lnTo>
                  <a:pt x="757" y="205"/>
                </a:lnTo>
                <a:lnTo>
                  <a:pt x="684" y="266"/>
                </a:lnTo>
                <a:lnTo>
                  <a:pt x="551" y="221"/>
                </a:lnTo>
                <a:lnTo>
                  <a:pt x="537" y="162"/>
                </a:lnTo>
                <a:lnTo>
                  <a:pt x="462" y="105"/>
                </a:lnTo>
                <a:lnTo>
                  <a:pt x="310" y="126"/>
                </a:lnTo>
                <a:lnTo>
                  <a:pt x="250" y="50"/>
                </a:lnTo>
                <a:lnTo>
                  <a:pt x="235" y="60"/>
                </a:lnTo>
                <a:lnTo>
                  <a:pt x="260" y="133"/>
                </a:lnTo>
                <a:lnTo>
                  <a:pt x="132" y="144"/>
                </a:lnTo>
                <a:lnTo>
                  <a:pt x="99" y="66"/>
                </a:lnTo>
                <a:lnTo>
                  <a:pt x="111" y="0"/>
                </a:lnTo>
                <a:lnTo>
                  <a:pt x="0" y="40"/>
                </a:lnTo>
                <a:lnTo>
                  <a:pt x="57" y="306"/>
                </a:lnTo>
                <a:lnTo>
                  <a:pt x="120" y="302"/>
                </a:lnTo>
                <a:lnTo>
                  <a:pt x="87" y="265"/>
                </a:lnTo>
                <a:lnTo>
                  <a:pt x="153" y="197"/>
                </a:lnTo>
                <a:lnTo>
                  <a:pt x="247" y="252"/>
                </a:lnTo>
                <a:lnTo>
                  <a:pt x="322" y="298"/>
                </a:lnTo>
                <a:lnTo>
                  <a:pt x="623" y="485"/>
                </a:lnTo>
                <a:lnTo>
                  <a:pt x="639" y="525"/>
                </a:lnTo>
                <a:lnTo>
                  <a:pt x="719" y="536"/>
                </a:lnTo>
                <a:lnTo>
                  <a:pt x="745" y="521"/>
                </a:lnTo>
                <a:lnTo>
                  <a:pt x="658" y="389"/>
                </a:lnTo>
                <a:lnTo>
                  <a:pt x="735" y="295"/>
                </a:lnTo>
                <a:lnTo>
                  <a:pt x="757" y="286"/>
                </a:lnTo>
                <a:lnTo>
                  <a:pt x="788" y="272"/>
                </a:lnTo>
                <a:lnTo>
                  <a:pt x="806" y="310"/>
                </a:lnTo>
                <a:lnTo>
                  <a:pt x="811" y="319"/>
                </a:lnTo>
                <a:lnTo>
                  <a:pt x="868" y="295"/>
                </a:lnTo>
                <a:lnTo>
                  <a:pt x="910" y="278"/>
                </a:lnTo>
                <a:lnTo>
                  <a:pt x="868" y="26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62" name="Freeform 60">
            <a:extLst>
              <a:ext uri="{FF2B5EF4-FFF2-40B4-BE49-F238E27FC236}">
                <a16:creationId xmlns:a16="http://schemas.microsoft.com/office/drawing/2014/main" id="{5F72B4D5-AED0-9152-2A49-E44BBD41F704}"/>
              </a:ext>
            </a:extLst>
          </p:cNvPr>
          <p:cNvSpPr>
            <a:spLocks/>
          </p:cNvSpPr>
          <p:nvPr/>
        </p:nvSpPr>
        <p:spPr bwMode="auto">
          <a:xfrm>
            <a:off x="5257908" y="2582137"/>
            <a:ext cx="324616" cy="186145"/>
          </a:xfrm>
          <a:custGeom>
            <a:avLst/>
            <a:gdLst/>
            <a:ahLst/>
            <a:cxnLst>
              <a:cxn ang="0">
                <a:pos x="763" y="288"/>
              </a:cxn>
              <a:cxn ang="0">
                <a:pos x="462" y="101"/>
              </a:cxn>
              <a:cxn ang="0">
                <a:pos x="387" y="55"/>
              </a:cxn>
              <a:cxn ang="0">
                <a:pos x="293" y="0"/>
              </a:cxn>
              <a:cxn ang="0">
                <a:pos x="227" y="68"/>
              </a:cxn>
              <a:cxn ang="0">
                <a:pos x="260" y="105"/>
              </a:cxn>
              <a:cxn ang="0">
                <a:pos x="197" y="109"/>
              </a:cxn>
              <a:cxn ang="0">
                <a:pos x="159" y="112"/>
              </a:cxn>
              <a:cxn ang="0">
                <a:pos x="122" y="51"/>
              </a:cxn>
              <a:cxn ang="0">
                <a:pos x="53" y="46"/>
              </a:cxn>
              <a:cxn ang="0">
                <a:pos x="0" y="88"/>
              </a:cxn>
              <a:cxn ang="0">
                <a:pos x="12" y="111"/>
              </a:cxn>
              <a:cxn ang="0">
                <a:pos x="108" y="281"/>
              </a:cxn>
              <a:cxn ang="0">
                <a:pos x="125" y="382"/>
              </a:cxn>
              <a:cxn ang="0">
                <a:pos x="172" y="360"/>
              </a:cxn>
              <a:cxn ang="0">
                <a:pos x="197" y="331"/>
              </a:cxn>
              <a:cxn ang="0">
                <a:pos x="412" y="361"/>
              </a:cxn>
              <a:cxn ang="0">
                <a:pos x="510" y="404"/>
              </a:cxn>
              <a:cxn ang="0">
                <a:pos x="514" y="457"/>
              </a:cxn>
              <a:cxn ang="0">
                <a:pos x="514" y="461"/>
              </a:cxn>
              <a:cxn ang="0">
                <a:pos x="588" y="480"/>
              </a:cxn>
              <a:cxn ang="0">
                <a:pos x="623" y="463"/>
              </a:cxn>
              <a:cxn ang="0">
                <a:pos x="650" y="423"/>
              </a:cxn>
              <a:cxn ang="0">
                <a:pos x="707" y="337"/>
              </a:cxn>
              <a:cxn ang="0">
                <a:pos x="749" y="329"/>
              </a:cxn>
              <a:cxn ang="0">
                <a:pos x="765" y="326"/>
              </a:cxn>
              <a:cxn ang="0">
                <a:pos x="779" y="328"/>
              </a:cxn>
              <a:cxn ang="0">
                <a:pos x="763" y="288"/>
              </a:cxn>
            </a:cxnLst>
            <a:rect l="0" t="0" r="r" b="b"/>
            <a:pathLst>
              <a:path w="779" h="480">
                <a:moveTo>
                  <a:pt x="763" y="288"/>
                </a:moveTo>
                <a:lnTo>
                  <a:pt x="462" y="101"/>
                </a:lnTo>
                <a:lnTo>
                  <a:pt x="387" y="55"/>
                </a:lnTo>
                <a:lnTo>
                  <a:pt x="293" y="0"/>
                </a:lnTo>
                <a:lnTo>
                  <a:pt x="227" y="68"/>
                </a:lnTo>
                <a:lnTo>
                  <a:pt x="260" y="105"/>
                </a:lnTo>
                <a:lnTo>
                  <a:pt x="197" y="109"/>
                </a:lnTo>
                <a:lnTo>
                  <a:pt x="159" y="112"/>
                </a:lnTo>
                <a:lnTo>
                  <a:pt x="122" y="51"/>
                </a:lnTo>
                <a:lnTo>
                  <a:pt x="53" y="46"/>
                </a:lnTo>
                <a:lnTo>
                  <a:pt x="0" y="88"/>
                </a:lnTo>
                <a:lnTo>
                  <a:pt x="12" y="111"/>
                </a:lnTo>
                <a:lnTo>
                  <a:pt x="108" y="281"/>
                </a:lnTo>
                <a:lnTo>
                  <a:pt x="125" y="382"/>
                </a:lnTo>
                <a:lnTo>
                  <a:pt x="172" y="360"/>
                </a:lnTo>
                <a:lnTo>
                  <a:pt x="197" y="331"/>
                </a:lnTo>
                <a:lnTo>
                  <a:pt x="412" y="361"/>
                </a:lnTo>
                <a:lnTo>
                  <a:pt x="510" y="404"/>
                </a:lnTo>
                <a:lnTo>
                  <a:pt x="514" y="457"/>
                </a:lnTo>
                <a:lnTo>
                  <a:pt x="514" y="461"/>
                </a:lnTo>
                <a:lnTo>
                  <a:pt x="588" y="480"/>
                </a:lnTo>
                <a:lnTo>
                  <a:pt x="623" y="463"/>
                </a:lnTo>
                <a:lnTo>
                  <a:pt x="650" y="423"/>
                </a:lnTo>
                <a:lnTo>
                  <a:pt x="707" y="337"/>
                </a:lnTo>
                <a:lnTo>
                  <a:pt x="749" y="329"/>
                </a:lnTo>
                <a:lnTo>
                  <a:pt x="765" y="326"/>
                </a:lnTo>
                <a:lnTo>
                  <a:pt x="779" y="328"/>
                </a:lnTo>
                <a:lnTo>
                  <a:pt x="763" y="28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63" name="Freeform 61">
            <a:extLst>
              <a:ext uri="{FF2B5EF4-FFF2-40B4-BE49-F238E27FC236}">
                <a16:creationId xmlns:a16="http://schemas.microsoft.com/office/drawing/2014/main" id="{909F1AC8-A1F5-E370-343D-7FEA0778246F}"/>
              </a:ext>
            </a:extLst>
          </p:cNvPr>
          <p:cNvSpPr>
            <a:spLocks/>
          </p:cNvSpPr>
          <p:nvPr/>
        </p:nvSpPr>
        <p:spPr bwMode="auto">
          <a:xfrm>
            <a:off x="6361600" y="3089385"/>
            <a:ext cx="184782" cy="349024"/>
          </a:xfrm>
          <a:custGeom>
            <a:avLst/>
            <a:gdLst/>
            <a:ahLst/>
            <a:cxnLst>
              <a:cxn ang="0">
                <a:pos x="342" y="133"/>
              </a:cxn>
              <a:cxn ang="0">
                <a:pos x="255" y="150"/>
              </a:cxn>
              <a:cxn ang="0">
                <a:pos x="255" y="150"/>
              </a:cxn>
              <a:cxn ang="0">
                <a:pos x="199" y="169"/>
              </a:cxn>
              <a:cxn ang="0">
                <a:pos x="179" y="67"/>
              </a:cxn>
              <a:cxn ang="0">
                <a:pos x="143" y="34"/>
              </a:cxn>
              <a:cxn ang="0">
                <a:pos x="116" y="22"/>
              </a:cxn>
              <a:cxn ang="0">
                <a:pos x="97" y="13"/>
              </a:cxn>
              <a:cxn ang="0">
                <a:pos x="72" y="0"/>
              </a:cxn>
              <a:cxn ang="0">
                <a:pos x="0" y="128"/>
              </a:cxn>
              <a:cxn ang="0">
                <a:pos x="77" y="260"/>
              </a:cxn>
              <a:cxn ang="0">
                <a:pos x="133" y="443"/>
              </a:cxn>
              <a:cxn ang="0">
                <a:pos x="135" y="598"/>
              </a:cxn>
              <a:cxn ang="0">
                <a:pos x="128" y="646"/>
              </a:cxn>
              <a:cxn ang="0">
                <a:pos x="128" y="647"/>
              </a:cxn>
              <a:cxn ang="0">
                <a:pos x="93" y="661"/>
              </a:cxn>
              <a:cxn ang="0">
                <a:pos x="92" y="757"/>
              </a:cxn>
              <a:cxn ang="0">
                <a:pos x="150" y="786"/>
              </a:cxn>
              <a:cxn ang="0">
                <a:pos x="152" y="790"/>
              </a:cxn>
              <a:cxn ang="0">
                <a:pos x="174" y="837"/>
              </a:cxn>
              <a:cxn ang="0">
                <a:pos x="213" y="823"/>
              </a:cxn>
              <a:cxn ang="0">
                <a:pos x="257" y="850"/>
              </a:cxn>
              <a:cxn ang="0">
                <a:pos x="250" y="900"/>
              </a:cxn>
              <a:cxn ang="0">
                <a:pos x="300" y="887"/>
              </a:cxn>
              <a:cxn ang="0">
                <a:pos x="306" y="866"/>
              </a:cxn>
              <a:cxn ang="0">
                <a:pos x="240" y="806"/>
              </a:cxn>
              <a:cxn ang="0">
                <a:pos x="227" y="784"/>
              </a:cxn>
              <a:cxn ang="0">
                <a:pos x="159" y="665"/>
              </a:cxn>
              <a:cxn ang="0">
                <a:pos x="165" y="630"/>
              </a:cxn>
              <a:cxn ang="0">
                <a:pos x="185" y="519"/>
              </a:cxn>
              <a:cxn ang="0">
                <a:pos x="188" y="439"/>
              </a:cxn>
              <a:cxn ang="0">
                <a:pos x="230" y="432"/>
              </a:cxn>
              <a:cxn ang="0">
                <a:pos x="240" y="481"/>
              </a:cxn>
              <a:cxn ang="0">
                <a:pos x="263" y="487"/>
              </a:cxn>
              <a:cxn ang="0">
                <a:pos x="319" y="536"/>
              </a:cxn>
              <a:cxn ang="0">
                <a:pos x="322" y="509"/>
              </a:cxn>
              <a:cxn ang="0">
                <a:pos x="291" y="436"/>
              </a:cxn>
              <a:cxn ang="0">
                <a:pos x="318" y="387"/>
              </a:cxn>
              <a:cxn ang="0">
                <a:pos x="327" y="370"/>
              </a:cxn>
              <a:cxn ang="0">
                <a:pos x="355" y="354"/>
              </a:cxn>
              <a:cxn ang="0">
                <a:pos x="416" y="354"/>
              </a:cxn>
              <a:cxn ang="0">
                <a:pos x="444" y="283"/>
              </a:cxn>
              <a:cxn ang="0">
                <a:pos x="342" y="133"/>
              </a:cxn>
            </a:cxnLst>
            <a:rect l="0" t="0" r="r" b="b"/>
            <a:pathLst>
              <a:path w="444" h="900">
                <a:moveTo>
                  <a:pt x="342" y="133"/>
                </a:moveTo>
                <a:lnTo>
                  <a:pt x="255" y="150"/>
                </a:lnTo>
                <a:lnTo>
                  <a:pt x="255" y="150"/>
                </a:lnTo>
                <a:lnTo>
                  <a:pt x="199" y="169"/>
                </a:lnTo>
                <a:lnTo>
                  <a:pt x="179" y="67"/>
                </a:lnTo>
                <a:lnTo>
                  <a:pt x="143" y="34"/>
                </a:lnTo>
                <a:lnTo>
                  <a:pt x="116" y="22"/>
                </a:lnTo>
                <a:lnTo>
                  <a:pt x="97" y="13"/>
                </a:lnTo>
                <a:lnTo>
                  <a:pt x="72" y="0"/>
                </a:lnTo>
                <a:lnTo>
                  <a:pt x="0" y="128"/>
                </a:lnTo>
                <a:lnTo>
                  <a:pt x="77" y="260"/>
                </a:lnTo>
                <a:lnTo>
                  <a:pt x="133" y="443"/>
                </a:lnTo>
                <a:lnTo>
                  <a:pt x="135" y="598"/>
                </a:lnTo>
                <a:lnTo>
                  <a:pt x="128" y="646"/>
                </a:lnTo>
                <a:lnTo>
                  <a:pt x="128" y="647"/>
                </a:lnTo>
                <a:lnTo>
                  <a:pt x="93" y="661"/>
                </a:lnTo>
                <a:lnTo>
                  <a:pt x="92" y="757"/>
                </a:lnTo>
                <a:lnTo>
                  <a:pt x="150" y="786"/>
                </a:lnTo>
                <a:lnTo>
                  <a:pt x="152" y="790"/>
                </a:lnTo>
                <a:lnTo>
                  <a:pt x="174" y="837"/>
                </a:lnTo>
                <a:lnTo>
                  <a:pt x="213" y="823"/>
                </a:lnTo>
                <a:lnTo>
                  <a:pt x="257" y="850"/>
                </a:lnTo>
                <a:lnTo>
                  <a:pt x="250" y="900"/>
                </a:lnTo>
                <a:lnTo>
                  <a:pt x="300" y="887"/>
                </a:lnTo>
                <a:lnTo>
                  <a:pt x="306" y="866"/>
                </a:lnTo>
                <a:lnTo>
                  <a:pt x="240" y="806"/>
                </a:lnTo>
                <a:lnTo>
                  <a:pt x="227" y="784"/>
                </a:lnTo>
                <a:lnTo>
                  <a:pt x="159" y="665"/>
                </a:lnTo>
                <a:lnTo>
                  <a:pt x="165" y="630"/>
                </a:lnTo>
                <a:lnTo>
                  <a:pt x="185" y="519"/>
                </a:lnTo>
                <a:lnTo>
                  <a:pt x="188" y="439"/>
                </a:lnTo>
                <a:lnTo>
                  <a:pt x="230" y="432"/>
                </a:lnTo>
                <a:lnTo>
                  <a:pt x="240" y="481"/>
                </a:lnTo>
                <a:lnTo>
                  <a:pt x="263" y="487"/>
                </a:lnTo>
                <a:lnTo>
                  <a:pt x="319" y="536"/>
                </a:lnTo>
                <a:lnTo>
                  <a:pt x="322" y="509"/>
                </a:lnTo>
                <a:lnTo>
                  <a:pt x="291" y="436"/>
                </a:lnTo>
                <a:lnTo>
                  <a:pt x="318" y="387"/>
                </a:lnTo>
                <a:lnTo>
                  <a:pt x="327" y="370"/>
                </a:lnTo>
                <a:lnTo>
                  <a:pt x="355" y="354"/>
                </a:lnTo>
                <a:lnTo>
                  <a:pt x="416" y="354"/>
                </a:lnTo>
                <a:lnTo>
                  <a:pt x="444" y="283"/>
                </a:lnTo>
                <a:lnTo>
                  <a:pt x="342" y="133"/>
                </a:lnTo>
                <a:close/>
              </a:path>
            </a:pathLst>
          </a:custGeom>
          <a:solidFill>
            <a:srgbClr val="FFC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FF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24" name="Freeform 62">
            <a:extLst>
              <a:ext uri="{FF2B5EF4-FFF2-40B4-BE49-F238E27FC236}">
                <a16:creationId xmlns:a16="http://schemas.microsoft.com/office/drawing/2014/main" id="{740AAC58-7AEB-00CE-8672-1ADD0D0E119C}"/>
              </a:ext>
            </a:extLst>
          </p:cNvPr>
          <p:cNvSpPr>
            <a:spLocks/>
          </p:cNvSpPr>
          <p:nvPr/>
        </p:nvSpPr>
        <p:spPr bwMode="auto">
          <a:xfrm>
            <a:off x="6831043" y="2926506"/>
            <a:ext cx="34958" cy="91522"/>
          </a:xfrm>
          <a:custGeom>
            <a:avLst/>
            <a:gdLst/>
            <a:ahLst/>
            <a:cxnLst>
              <a:cxn ang="0">
                <a:pos x="86" y="6"/>
              </a:cxn>
              <a:cxn ang="0">
                <a:pos x="48" y="0"/>
              </a:cxn>
              <a:cxn ang="0">
                <a:pos x="0" y="81"/>
              </a:cxn>
              <a:cxn ang="0">
                <a:pos x="5" y="138"/>
              </a:cxn>
              <a:cxn ang="0">
                <a:pos x="52" y="235"/>
              </a:cxn>
              <a:cxn ang="0">
                <a:pos x="74" y="221"/>
              </a:cxn>
              <a:cxn ang="0">
                <a:pos x="79" y="141"/>
              </a:cxn>
              <a:cxn ang="0">
                <a:pos x="86" y="6"/>
              </a:cxn>
            </a:cxnLst>
            <a:rect l="0" t="0" r="r" b="b"/>
            <a:pathLst>
              <a:path w="86" h="235">
                <a:moveTo>
                  <a:pt x="86" y="6"/>
                </a:moveTo>
                <a:lnTo>
                  <a:pt x="48" y="0"/>
                </a:lnTo>
                <a:lnTo>
                  <a:pt x="0" y="81"/>
                </a:lnTo>
                <a:lnTo>
                  <a:pt x="5" y="138"/>
                </a:lnTo>
                <a:lnTo>
                  <a:pt x="52" y="235"/>
                </a:lnTo>
                <a:lnTo>
                  <a:pt x="74" y="221"/>
                </a:lnTo>
                <a:lnTo>
                  <a:pt x="79" y="141"/>
                </a:lnTo>
                <a:lnTo>
                  <a:pt x="86" y="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25" name="Freeform 65">
            <a:extLst>
              <a:ext uri="{FF2B5EF4-FFF2-40B4-BE49-F238E27FC236}">
                <a16:creationId xmlns:a16="http://schemas.microsoft.com/office/drawing/2014/main" id="{CF94F1C3-2C3E-8653-9C75-83E6F194D108}"/>
              </a:ext>
            </a:extLst>
          </p:cNvPr>
          <p:cNvSpPr>
            <a:spLocks/>
          </p:cNvSpPr>
          <p:nvPr/>
        </p:nvSpPr>
        <p:spPr bwMode="auto">
          <a:xfrm>
            <a:off x="6842696" y="2548009"/>
            <a:ext cx="83235" cy="124098"/>
          </a:xfrm>
          <a:custGeom>
            <a:avLst/>
            <a:gdLst/>
            <a:ahLst/>
            <a:cxnLst>
              <a:cxn ang="0">
                <a:pos x="153" y="95"/>
              </a:cxn>
              <a:cxn ang="0">
                <a:pos x="91" y="18"/>
              </a:cxn>
              <a:cxn ang="0">
                <a:pos x="76" y="0"/>
              </a:cxn>
              <a:cxn ang="0">
                <a:pos x="0" y="76"/>
              </a:cxn>
              <a:cxn ang="0">
                <a:pos x="6" y="78"/>
              </a:cxn>
              <a:cxn ang="0">
                <a:pos x="8" y="78"/>
              </a:cxn>
              <a:cxn ang="0">
                <a:pos x="18" y="135"/>
              </a:cxn>
              <a:cxn ang="0">
                <a:pos x="79" y="321"/>
              </a:cxn>
              <a:cxn ang="0">
                <a:pos x="201" y="225"/>
              </a:cxn>
              <a:cxn ang="0">
                <a:pos x="153" y="95"/>
              </a:cxn>
            </a:cxnLst>
            <a:rect l="0" t="0" r="r" b="b"/>
            <a:pathLst>
              <a:path w="201" h="321">
                <a:moveTo>
                  <a:pt x="153" y="95"/>
                </a:moveTo>
                <a:lnTo>
                  <a:pt x="91" y="18"/>
                </a:lnTo>
                <a:lnTo>
                  <a:pt x="76" y="0"/>
                </a:lnTo>
                <a:lnTo>
                  <a:pt x="0" y="76"/>
                </a:lnTo>
                <a:lnTo>
                  <a:pt x="6" y="78"/>
                </a:lnTo>
                <a:lnTo>
                  <a:pt x="8" y="78"/>
                </a:lnTo>
                <a:lnTo>
                  <a:pt x="18" y="135"/>
                </a:lnTo>
                <a:lnTo>
                  <a:pt x="79" y="321"/>
                </a:lnTo>
                <a:lnTo>
                  <a:pt x="201" y="225"/>
                </a:lnTo>
                <a:lnTo>
                  <a:pt x="153" y="95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50" name="Freeform 66">
            <a:extLst>
              <a:ext uri="{FF2B5EF4-FFF2-40B4-BE49-F238E27FC236}">
                <a16:creationId xmlns:a16="http://schemas.microsoft.com/office/drawing/2014/main" id="{6498B763-E1D2-B707-C91E-5854B5304C1C}"/>
              </a:ext>
            </a:extLst>
          </p:cNvPr>
          <p:cNvSpPr>
            <a:spLocks/>
          </p:cNvSpPr>
          <p:nvPr/>
        </p:nvSpPr>
        <p:spPr bwMode="auto">
          <a:xfrm>
            <a:off x="5987046" y="3362399"/>
            <a:ext cx="44948" cy="88419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94" y="90"/>
              </a:cxn>
              <a:cxn ang="0">
                <a:pos x="109" y="173"/>
              </a:cxn>
              <a:cxn ang="0">
                <a:pos x="83" y="220"/>
              </a:cxn>
              <a:cxn ang="0">
                <a:pos x="45" y="228"/>
              </a:cxn>
              <a:cxn ang="0">
                <a:pos x="4" y="182"/>
              </a:cxn>
              <a:cxn ang="0">
                <a:pos x="0" y="112"/>
              </a:cxn>
              <a:cxn ang="0">
                <a:pos x="2" y="57"/>
              </a:cxn>
              <a:cxn ang="0">
                <a:pos x="9" y="33"/>
              </a:cxn>
              <a:cxn ang="0">
                <a:pos x="19" y="0"/>
              </a:cxn>
            </a:cxnLst>
            <a:rect l="0" t="0" r="r" b="b"/>
            <a:pathLst>
              <a:path w="109" h="228">
                <a:moveTo>
                  <a:pt x="19" y="0"/>
                </a:moveTo>
                <a:lnTo>
                  <a:pt x="94" y="90"/>
                </a:lnTo>
                <a:lnTo>
                  <a:pt x="109" y="173"/>
                </a:lnTo>
                <a:lnTo>
                  <a:pt x="83" y="220"/>
                </a:lnTo>
                <a:lnTo>
                  <a:pt x="45" y="228"/>
                </a:lnTo>
                <a:lnTo>
                  <a:pt x="4" y="182"/>
                </a:lnTo>
                <a:lnTo>
                  <a:pt x="0" y="112"/>
                </a:lnTo>
                <a:lnTo>
                  <a:pt x="2" y="57"/>
                </a:lnTo>
                <a:lnTo>
                  <a:pt x="9" y="33"/>
                </a:lnTo>
                <a:lnTo>
                  <a:pt x="19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75" name="Freeform 85">
            <a:extLst>
              <a:ext uri="{FF2B5EF4-FFF2-40B4-BE49-F238E27FC236}">
                <a16:creationId xmlns:a16="http://schemas.microsoft.com/office/drawing/2014/main" id="{1606BBF3-3CF7-F0F2-F4A9-D2DBD9529E0A}"/>
              </a:ext>
            </a:extLst>
          </p:cNvPr>
          <p:cNvSpPr>
            <a:spLocks/>
          </p:cNvSpPr>
          <p:nvPr/>
        </p:nvSpPr>
        <p:spPr bwMode="auto">
          <a:xfrm>
            <a:off x="6829378" y="3301900"/>
            <a:ext cx="56599" cy="66702"/>
          </a:xfrm>
          <a:custGeom>
            <a:avLst/>
            <a:gdLst/>
            <a:ahLst/>
            <a:cxnLst>
              <a:cxn ang="0">
                <a:pos x="114" y="0"/>
              </a:cxn>
              <a:cxn ang="0">
                <a:pos x="0" y="160"/>
              </a:cxn>
              <a:cxn ang="0">
                <a:pos x="30" y="172"/>
              </a:cxn>
              <a:cxn ang="0">
                <a:pos x="135" y="49"/>
              </a:cxn>
              <a:cxn ang="0">
                <a:pos x="114" y="0"/>
              </a:cxn>
            </a:cxnLst>
            <a:rect l="0" t="0" r="r" b="b"/>
            <a:pathLst>
              <a:path w="135" h="172">
                <a:moveTo>
                  <a:pt x="114" y="0"/>
                </a:moveTo>
                <a:lnTo>
                  <a:pt x="0" y="160"/>
                </a:lnTo>
                <a:lnTo>
                  <a:pt x="30" y="172"/>
                </a:lnTo>
                <a:lnTo>
                  <a:pt x="135" y="49"/>
                </a:lnTo>
                <a:lnTo>
                  <a:pt x="114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76" name="Freeform 86">
            <a:extLst>
              <a:ext uri="{FF2B5EF4-FFF2-40B4-BE49-F238E27FC236}">
                <a16:creationId xmlns:a16="http://schemas.microsoft.com/office/drawing/2014/main" id="{E21DEC6C-2197-0DCA-1687-A2E609F3600F}"/>
              </a:ext>
            </a:extLst>
          </p:cNvPr>
          <p:cNvSpPr>
            <a:spLocks/>
          </p:cNvSpPr>
          <p:nvPr/>
        </p:nvSpPr>
        <p:spPr bwMode="auto">
          <a:xfrm>
            <a:off x="6867667" y="3101794"/>
            <a:ext cx="104876" cy="142712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13" y="147"/>
              </a:cxn>
              <a:cxn ang="0">
                <a:pos x="0" y="171"/>
              </a:cxn>
              <a:cxn ang="0">
                <a:pos x="51" y="296"/>
              </a:cxn>
              <a:cxn ang="0">
                <a:pos x="75" y="313"/>
              </a:cxn>
              <a:cxn ang="0">
                <a:pos x="132" y="325"/>
              </a:cxn>
              <a:cxn ang="0">
                <a:pos x="211" y="360"/>
              </a:cxn>
              <a:cxn ang="0">
                <a:pos x="237" y="368"/>
              </a:cxn>
              <a:cxn ang="0">
                <a:pos x="252" y="344"/>
              </a:cxn>
              <a:cxn ang="0">
                <a:pos x="228" y="313"/>
              </a:cxn>
              <a:cxn ang="0">
                <a:pos x="145" y="278"/>
              </a:cxn>
              <a:cxn ang="0">
                <a:pos x="125" y="276"/>
              </a:cxn>
              <a:cxn ang="0">
                <a:pos x="99" y="230"/>
              </a:cxn>
              <a:cxn ang="0">
                <a:pos x="116" y="171"/>
              </a:cxn>
              <a:cxn ang="0">
                <a:pos x="128" y="112"/>
              </a:cxn>
              <a:cxn ang="0">
                <a:pos x="101" y="0"/>
              </a:cxn>
              <a:cxn ang="0">
                <a:pos x="26" y="0"/>
              </a:cxn>
            </a:cxnLst>
            <a:rect l="0" t="0" r="r" b="b"/>
            <a:pathLst>
              <a:path w="252" h="368">
                <a:moveTo>
                  <a:pt x="26" y="0"/>
                </a:moveTo>
                <a:lnTo>
                  <a:pt x="13" y="147"/>
                </a:lnTo>
                <a:lnTo>
                  <a:pt x="0" y="171"/>
                </a:lnTo>
                <a:lnTo>
                  <a:pt x="51" y="296"/>
                </a:lnTo>
                <a:lnTo>
                  <a:pt x="75" y="313"/>
                </a:lnTo>
                <a:lnTo>
                  <a:pt x="132" y="325"/>
                </a:lnTo>
                <a:lnTo>
                  <a:pt x="211" y="360"/>
                </a:lnTo>
                <a:lnTo>
                  <a:pt x="237" y="368"/>
                </a:lnTo>
                <a:lnTo>
                  <a:pt x="252" y="344"/>
                </a:lnTo>
                <a:lnTo>
                  <a:pt x="228" y="313"/>
                </a:lnTo>
                <a:lnTo>
                  <a:pt x="145" y="278"/>
                </a:lnTo>
                <a:lnTo>
                  <a:pt x="125" y="276"/>
                </a:lnTo>
                <a:lnTo>
                  <a:pt x="99" y="230"/>
                </a:lnTo>
                <a:lnTo>
                  <a:pt x="116" y="171"/>
                </a:lnTo>
                <a:lnTo>
                  <a:pt x="128" y="112"/>
                </a:lnTo>
                <a:lnTo>
                  <a:pt x="101" y="0"/>
                </a:lnTo>
                <a:lnTo>
                  <a:pt x="26" y="0"/>
                </a:lnTo>
                <a:close/>
              </a:path>
            </a:pathLst>
          </a:custGeom>
          <a:solidFill>
            <a:srgbClr val="FFC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FF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77" name="Freeform 87">
            <a:extLst>
              <a:ext uri="{FF2B5EF4-FFF2-40B4-BE49-F238E27FC236}">
                <a16:creationId xmlns:a16="http://schemas.microsoft.com/office/drawing/2014/main" id="{ADE6FA1B-1CC9-F95C-574F-663C68158812}"/>
              </a:ext>
            </a:extLst>
          </p:cNvPr>
          <p:cNvSpPr>
            <a:spLocks/>
          </p:cNvSpPr>
          <p:nvPr/>
        </p:nvSpPr>
        <p:spPr bwMode="auto">
          <a:xfrm>
            <a:off x="6889307" y="3233648"/>
            <a:ext cx="29964" cy="325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3" y="16"/>
              </a:cxn>
              <a:cxn ang="0">
                <a:pos x="74" y="59"/>
              </a:cxn>
              <a:cxn ang="0">
                <a:pos x="50" y="83"/>
              </a:cxn>
              <a:cxn ang="0">
                <a:pos x="0" y="0"/>
              </a:cxn>
            </a:cxnLst>
            <a:rect l="0" t="0" r="r" b="b"/>
            <a:pathLst>
              <a:path w="74" h="83">
                <a:moveTo>
                  <a:pt x="0" y="0"/>
                </a:moveTo>
                <a:lnTo>
                  <a:pt x="63" y="16"/>
                </a:lnTo>
                <a:lnTo>
                  <a:pt x="74" y="59"/>
                </a:lnTo>
                <a:lnTo>
                  <a:pt x="50" y="83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78" name="Freeform 88">
            <a:extLst>
              <a:ext uri="{FF2B5EF4-FFF2-40B4-BE49-F238E27FC236}">
                <a16:creationId xmlns:a16="http://schemas.microsoft.com/office/drawing/2014/main" id="{2CA53C36-2209-CD38-964E-C10C203AA4B4}"/>
              </a:ext>
            </a:extLst>
          </p:cNvPr>
          <p:cNvSpPr>
            <a:spLocks/>
          </p:cNvSpPr>
          <p:nvPr/>
        </p:nvSpPr>
        <p:spPr bwMode="auto">
          <a:xfrm>
            <a:off x="6980864" y="3255363"/>
            <a:ext cx="36624" cy="62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6" y="0"/>
              </a:cxn>
              <a:cxn ang="0">
                <a:pos x="88" y="80"/>
              </a:cxn>
              <a:cxn ang="0">
                <a:pos x="57" y="101"/>
              </a:cxn>
              <a:cxn ang="0">
                <a:pos x="72" y="149"/>
              </a:cxn>
              <a:cxn ang="0">
                <a:pos x="50" y="159"/>
              </a:cxn>
              <a:cxn ang="0">
                <a:pos x="20" y="99"/>
              </a:cxn>
              <a:cxn ang="0">
                <a:pos x="41" y="64"/>
              </a:cxn>
              <a:cxn ang="0">
                <a:pos x="0" y="0"/>
              </a:cxn>
            </a:cxnLst>
            <a:rect l="0" t="0" r="r" b="b"/>
            <a:pathLst>
              <a:path w="88" h="159">
                <a:moveTo>
                  <a:pt x="0" y="0"/>
                </a:moveTo>
                <a:lnTo>
                  <a:pt x="46" y="0"/>
                </a:lnTo>
                <a:lnTo>
                  <a:pt x="88" y="80"/>
                </a:lnTo>
                <a:lnTo>
                  <a:pt x="57" y="101"/>
                </a:lnTo>
                <a:lnTo>
                  <a:pt x="72" y="149"/>
                </a:lnTo>
                <a:lnTo>
                  <a:pt x="50" y="159"/>
                </a:lnTo>
                <a:lnTo>
                  <a:pt x="20" y="99"/>
                </a:lnTo>
                <a:lnTo>
                  <a:pt x="41" y="6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79" name="Freeform 89">
            <a:extLst>
              <a:ext uri="{FF2B5EF4-FFF2-40B4-BE49-F238E27FC236}">
                <a16:creationId xmlns:a16="http://schemas.microsoft.com/office/drawing/2014/main" id="{FFED3B8A-2100-16EA-455B-7D9C7B46A7D5}"/>
              </a:ext>
            </a:extLst>
          </p:cNvPr>
          <p:cNvSpPr>
            <a:spLocks/>
          </p:cNvSpPr>
          <p:nvPr/>
        </p:nvSpPr>
        <p:spPr bwMode="auto">
          <a:xfrm>
            <a:off x="6930924" y="3278633"/>
            <a:ext cx="31630" cy="2947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" y="64"/>
              </a:cxn>
              <a:cxn ang="0">
                <a:pos x="45" y="75"/>
              </a:cxn>
              <a:cxn ang="0">
                <a:pos x="74" y="35"/>
              </a:cxn>
              <a:cxn ang="0">
                <a:pos x="0" y="0"/>
              </a:cxn>
            </a:cxnLst>
            <a:rect l="0" t="0" r="r" b="b"/>
            <a:pathLst>
              <a:path w="74" h="75">
                <a:moveTo>
                  <a:pt x="0" y="0"/>
                </a:moveTo>
                <a:lnTo>
                  <a:pt x="2" y="64"/>
                </a:lnTo>
                <a:lnTo>
                  <a:pt x="45" y="75"/>
                </a:lnTo>
                <a:lnTo>
                  <a:pt x="74" y="3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0" name="Freeform 90">
            <a:extLst>
              <a:ext uri="{FF2B5EF4-FFF2-40B4-BE49-F238E27FC236}">
                <a16:creationId xmlns:a16="http://schemas.microsoft.com/office/drawing/2014/main" id="{76E3133F-EAE6-608B-BC53-134991DAD87E}"/>
              </a:ext>
            </a:extLst>
          </p:cNvPr>
          <p:cNvSpPr>
            <a:spLocks/>
          </p:cNvSpPr>
          <p:nvPr/>
        </p:nvSpPr>
        <p:spPr bwMode="auto">
          <a:xfrm>
            <a:off x="6949236" y="3303453"/>
            <a:ext cx="31630" cy="49639"/>
          </a:xfrm>
          <a:custGeom>
            <a:avLst/>
            <a:gdLst/>
            <a:ahLst/>
            <a:cxnLst>
              <a:cxn ang="0">
                <a:pos x="47" y="0"/>
              </a:cxn>
              <a:cxn ang="0">
                <a:pos x="0" y="66"/>
              </a:cxn>
              <a:cxn ang="0">
                <a:pos x="47" y="126"/>
              </a:cxn>
              <a:cxn ang="0">
                <a:pos x="71" y="83"/>
              </a:cxn>
              <a:cxn ang="0">
                <a:pos x="75" y="42"/>
              </a:cxn>
              <a:cxn ang="0">
                <a:pos x="47" y="0"/>
              </a:cxn>
            </a:cxnLst>
            <a:rect l="0" t="0" r="r" b="b"/>
            <a:pathLst>
              <a:path w="75" h="126">
                <a:moveTo>
                  <a:pt x="47" y="0"/>
                </a:moveTo>
                <a:lnTo>
                  <a:pt x="0" y="66"/>
                </a:lnTo>
                <a:lnTo>
                  <a:pt x="47" y="126"/>
                </a:lnTo>
                <a:lnTo>
                  <a:pt x="71" y="83"/>
                </a:lnTo>
                <a:lnTo>
                  <a:pt x="75" y="42"/>
                </a:lnTo>
                <a:lnTo>
                  <a:pt x="47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1" name="Freeform 91">
            <a:extLst>
              <a:ext uri="{FF2B5EF4-FFF2-40B4-BE49-F238E27FC236}">
                <a16:creationId xmlns:a16="http://schemas.microsoft.com/office/drawing/2014/main" id="{34EC2365-8AB3-5038-45DB-29FDA4856716}"/>
              </a:ext>
            </a:extLst>
          </p:cNvPr>
          <p:cNvSpPr>
            <a:spLocks/>
          </p:cNvSpPr>
          <p:nvPr/>
        </p:nvSpPr>
        <p:spPr bwMode="auto">
          <a:xfrm>
            <a:off x="6947572" y="3331375"/>
            <a:ext cx="94889" cy="103931"/>
          </a:xfrm>
          <a:custGeom>
            <a:avLst/>
            <a:gdLst/>
            <a:ahLst/>
            <a:cxnLst>
              <a:cxn ang="0">
                <a:pos x="162" y="0"/>
              </a:cxn>
              <a:cxn ang="0">
                <a:pos x="149" y="64"/>
              </a:cxn>
              <a:cxn ang="0">
                <a:pos x="79" y="109"/>
              </a:cxn>
              <a:cxn ang="0">
                <a:pos x="65" y="85"/>
              </a:cxn>
              <a:cxn ang="0">
                <a:pos x="0" y="136"/>
              </a:cxn>
              <a:cxn ang="0">
                <a:pos x="11" y="162"/>
              </a:cxn>
              <a:cxn ang="0">
                <a:pos x="103" y="152"/>
              </a:cxn>
              <a:cxn ang="0">
                <a:pos x="122" y="239"/>
              </a:cxn>
              <a:cxn ang="0">
                <a:pos x="172" y="266"/>
              </a:cxn>
              <a:cxn ang="0">
                <a:pos x="191" y="246"/>
              </a:cxn>
              <a:cxn ang="0">
                <a:pos x="206" y="197"/>
              </a:cxn>
              <a:cxn ang="0">
                <a:pos x="232" y="149"/>
              </a:cxn>
              <a:cxn ang="0">
                <a:pos x="210" y="48"/>
              </a:cxn>
              <a:cxn ang="0">
                <a:pos x="162" y="0"/>
              </a:cxn>
            </a:cxnLst>
            <a:rect l="0" t="0" r="r" b="b"/>
            <a:pathLst>
              <a:path w="232" h="266">
                <a:moveTo>
                  <a:pt x="162" y="0"/>
                </a:moveTo>
                <a:lnTo>
                  <a:pt x="149" y="64"/>
                </a:lnTo>
                <a:lnTo>
                  <a:pt x="79" y="109"/>
                </a:lnTo>
                <a:lnTo>
                  <a:pt x="65" y="85"/>
                </a:lnTo>
                <a:lnTo>
                  <a:pt x="0" y="136"/>
                </a:lnTo>
                <a:lnTo>
                  <a:pt x="11" y="162"/>
                </a:lnTo>
                <a:lnTo>
                  <a:pt x="103" y="152"/>
                </a:lnTo>
                <a:lnTo>
                  <a:pt x="122" y="239"/>
                </a:lnTo>
                <a:lnTo>
                  <a:pt x="172" y="266"/>
                </a:lnTo>
                <a:lnTo>
                  <a:pt x="191" y="246"/>
                </a:lnTo>
                <a:lnTo>
                  <a:pt x="206" y="197"/>
                </a:lnTo>
                <a:lnTo>
                  <a:pt x="232" y="149"/>
                </a:lnTo>
                <a:lnTo>
                  <a:pt x="210" y="48"/>
                </a:lnTo>
                <a:lnTo>
                  <a:pt x="162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2" name="Freeform 95">
            <a:extLst>
              <a:ext uri="{FF2B5EF4-FFF2-40B4-BE49-F238E27FC236}">
                <a16:creationId xmlns:a16="http://schemas.microsoft.com/office/drawing/2014/main" id="{A09FBAF7-D1A0-B5D8-99F0-77E4930EE932}"/>
              </a:ext>
            </a:extLst>
          </p:cNvPr>
          <p:cNvSpPr>
            <a:spLocks/>
          </p:cNvSpPr>
          <p:nvPr/>
        </p:nvSpPr>
        <p:spPr bwMode="auto">
          <a:xfrm>
            <a:off x="6774443" y="2403747"/>
            <a:ext cx="109869" cy="173737"/>
          </a:xfrm>
          <a:custGeom>
            <a:avLst/>
            <a:gdLst/>
            <a:ahLst/>
            <a:cxnLst>
              <a:cxn ang="0">
                <a:pos x="229" y="159"/>
              </a:cxn>
              <a:cxn ang="0">
                <a:pos x="234" y="64"/>
              </a:cxn>
              <a:cxn ang="0">
                <a:pos x="251" y="55"/>
              </a:cxn>
              <a:cxn ang="0">
                <a:pos x="266" y="46"/>
              </a:cxn>
              <a:cxn ang="0">
                <a:pos x="209" y="0"/>
              </a:cxn>
              <a:cxn ang="0">
                <a:pos x="206" y="5"/>
              </a:cxn>
              <a:cxn ang="0">
                <a:pos x="204" y="8"/>
              </a:cxn>
              <a:cxn ang="0">
                <a:pos x="146" y="86"/>
              </a:cxn>
              <a:cxn ang="0">
                <a:pos x="153" y="135"/>
              </a:cxn>
              <a:cxn ang="0">
                <a:pos x="87" y="142"/>
              </a:cxn>
              <a:cxn ang="0">
                <a:pos x="0" y="293"/>
              </a:cxn>
              <a:cxn ang="0">
                <a:pos x="45" y="304"/>
              </a:cxn>
              <a:cxn ang="0">
                <a:pos x="73" y="358"/>
              </a:cxn>
              <a:cxn ang="0">
                <a:pos x="76" y="418"/>
              </a:cxn>
              <a:cxn ang="0">
                <a:pos x="163" y="447"/>
              </a:cxn>
              <a:cxn ang="0">
                <a:pos x="239" y="371"/>
              </a:cxn>
              <a:cxn ang="0">
                <a:pos x="167" y="281"/>
              </a:cxn>
              <a:cxn ang="0">
                <a:pos x="200" y="245"/>
              </a:cxn>
              <a:cxn ang="0">
                <a:pos x="229" y="159"/>
              </a:cxn>
            </a:cxnLst>
            <a:rect l="0" t="0" r="r" b="b"/>
            <a:pathLst>
              <a:path w="266" h="447">
                <a:moveTo>
                  <a:pt x="229" y="159"/>
                </a:moveTo>
                <a:lnTo>
                  <a:pt x="234" y="64"/>
                </a:lnTo>
                <a:lnTo>
                  <a:pt x="251" y="55"/>
                </a:lnTo>
                <a:lnTo>
                  <a:pt x="266" y="46"/>
                </a:lnTo>
                <a:lnTo>
                  <a:pt x="209" y="0"/>
                </a:lnTo>
                <a:lnTo>
                  <a:pt x="206" y="5"/>
                </a:lnTo>
                <a:lnTo>
                  <a:pt x="204" y="8"/>
                </a:lnTo>
                <a:lnTo>
                  <a:pt x="146" y="86"/>
                </a:lnTo>
                <a:lnTo>
                  <a:pt x="153" y="135"/>
                </a:lnTo>
                <a:lnTo>
                  <a:pt x="87" y="142"/>
                </a:lnTo>
                <a:lnTo>
                  <a:pt x="0" y="293"/>
                </a:lnTo>
                <a:lnTo>
                  <a:pt x="45" y="304"/>
                </a:lnTo>
                <a:lnTo>
                  <a:pt x="73" y="358"/>
                </a:lnTo>
                <a:lnTo>
                  <a:pt x="76" y="418"/>
                </a:lnTo>
                <a:lnTo>
                  <a:pt x="163" y="447"/>
                </a:lnTo>
                <a:lnTo>
                  <a:pt x="239" y="371"/>
                </a:lnTo>
                <a:lnTo>
                  <a:pt x="167" y="281"/>
                </a:lnTo>
                <a:lnTo>
                  <a:pt x="200" y="245"/>
                </a:lnTo>
                <a:lnTo>
                  <a:pt x="229" y="15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3" name="Freeform 97">
            <a:extLst>
              <a:ext uri="{FF2B5EF4-FFF2-40B4-BE49-F238E27FC236}">
                <a16:creationId xmlns:a16="http://schemas.microsoft.com/office/drawing/2014/main" id="{9080DC8D-FF28-49AE-93DB-38981B68E735}"/>
              </a:ext>
            </a:extLst>
          </p:cNvPr>
          <p:cNvSpPr>
            <a:spLocks/>
          </p:cNvSpPr>
          <p:nvPr/>
        </p:nvSpPr>
        <p:spPr bwMode="auto">
          <a:xfrm>
            <a:off x="6228425" y="2890828"/>
            <a:ext cx="191440" cy="454506"/>
          </a:xfrm>
          <a:custGeom>
            <a:avLst/>
            <a:gdLst/>
            <a:ahLst/>
            <a:cxnLst>
              <a:cxn ang="0">
                <a:pos x="396" y="773"/>
              </a:cxn>
              <a:cxn ang="0">
                <a:pos x="319" y="641"/>
              </a:cxn>
              <a:cxn ang="0">
                <a:pos x="391" y="513"/>
              </a:cxn>
              <a:cxn ang="0">
                <a:pos x="416" y="526"/>
              </a:cxn>
              <a:cxn ang="0">
                <a:pos x="459" y="422"/>
              </a:cxn>
              <a:cxn ang="0">
                <a:pos x="419" y="410"/>
              </a:cxn>
              <a:cxn ang="0">
                <a:pos x="251" y="262"/>
              </a:cxn>
              <a:cxn ang="0">
                <a:pos x="275" y="172"/>
              </a:cxn>
              <a:cxn ang="0">
                <a:pos x="281" y="147"/>
              </a:cxn>
              <a:cxn ang="0">
                <a:pos x="212" y="0"/>
              </a:cxn>
              <a:cxn ang="0">
                <a:pos x="184" y="0"/>
              </a:cxn>
              <a:cxn ang="0">
                <a:pos x="180" y="0"/>
              </a:cxn>
              <a:cxn ang="0">
                <a:pos x="122" y="105"/>
              </a:cxn>
              <a:cxn ang="0">
                <a:pos x="82" y="178"/>
              </a:cxn>
              <a:cxn ang="0">
                <a:pos x="23" y="409"/>
              </a:cxn>
              <a:cxn ang="0">
                <a:pos x="14" y="444"/>
              </a:cxn>
              <a:cxn ang="0">
                <a:pos x="0" y="498"/>
              </a:cxn>
              <a:cxn ang="0">
                <a:pos x="2" y="501"/>
              </a:cxn>
              <a:cxn ang="0">
                <a:pos x="145" y="679"/>
              </a:cxn>
              <a:cxn ang="0">
                <a:pos x="143" y="801"/>
              </a:cxn>
              <a:cxn ang="0">
                <a:pos x="227" y="813"/>
              </a:cxn>
              <a:cxn ang="0">
                <a:pos x="293" y="742"/>
              </a:cxn>
              <a:cxn ang="0">
                <a:pos x="370" y="920"/>
              </a:cxn>
              <a:cxn ang="0">
                <a:pos x="413" y="1062"/>
              </a:cxn>
              <a:cxn ang="0">
                <a:pos x="412" y="1174"/>
              </a:cxn>
              <a:cxn ang="0">
                <a:pos x="447" y="1159"/>
              </a:cxn>
              <a:cxn ang="0">
                <a:pos x="454" y="1111"/>
              </a:cxn>
              <a:cxn ang="0">
                <a:pos x="452" y="956"/>
              </a:cxn>
              <a:cxn ang="0">
                <a:pos x="396" y="773"/>
              </a:cxn>
            </a:cxnLst>
            <a:rect l="0" t="0" r="r" b="b"/>
            <a:pathLst>
              <a:path w="459" h="1174">
                <a:moveTo>
                  <a:pt x="396" y="773"/>
                </a:moveTo>
                <a:lnTo>
                  <a:pt x="319" y="641"/>
                </a:lnTo>
                <a:lnTo>
                  <a:pt x="391" y="513"/>
                </a:lnTo>
                <a:lnTo>
                  <a:pt x="416" y="526"/>
                </a:lnTo>
                <a:lnTo>
                  <a:pt x="459" y="422"/>
                </a:lnTo>
                <a:lnTo>
                  <a:pt x="419" y="410"/>
                </a:lnTo>
                <a:lnTo>
                  <a:pt x="251" y="262"/>
                </a:lnTo>
                <a:lnTo>
                  <a:pt x="275" y="172"/>
                </a:lnTo>
                <a:lnTo>
                  <a:pt x="281" y="147"/>
                </a:lnTo>
                <a:lnTo>
                  <a:pt x="212" y="0"/>
                </a:lnTo>
                <a:lnTo>
                  <a:pt x="184" y="0"/>
                </a:lnTo>
                <a:lnTo>
                  <a:pt x="180" y="0"/>
                </a:lnTo>
                <a:lnTo>
                  <a:pt x="122" y="105"/>
                </a:lnTo>
                <a:lnTo>
                  <a:pt x="82" y="178"/>
                </a:lnTo>
                <a:lnTo>
                  <a:pt x="23" y="409"/>
                </a:lnTo>
                <a:lnTo>
                  <a:pt x="14" y="444"/>
                </a:lnTo>
                <a:lnTo>
                  <a:pt x="0" y="498"/>
                </a:lnTo>
                <a:lnTo>
                  <a:pt x="2" y="501"/>
                </a:lnTo>
                <a:lnTo>
                  <a:pt x="145" y="679"/>
                </a:lnTo>
                <a:lnTo>
                  <a:pt x="143" y="801"/>
                </a:lnTo>
                <a:lnTo>
                  <a:pt x="227" y="813"/>
                </a:lnTo>
                <a:lnTo>
                  <a:pt x="293" y="742"/>
                </a:lnTo>
                <a:lnTo>
                  <a:pt x="370" y="920"/>
                </a:lnTo>
                <a:lnTo>
                  <a:pt x="413" y="1062"/>
                </a:lnTo>
                <a:lnTo>
                  <a:pt x="412" y="1174"/>
                </a:lnTo>
                <a:lnTo>
                  <a:pt x="447" y="1159"/>
                </a:lnTo>
                <a:lnTo>
                  <a:pt x="454" y="1111"/>
                </a:lnTo>
                <a:lnTo>
                  <a:pt x="452" y="956"/>
                </a:lnTo>
                <a:lnTo>
                  <a:pt x="396" y="77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4" name="Freeform 99">
            <a:extLst>
              <a:ext uri="{FF2B5EF4-FFF2-40B4-BE49-F238E27FC236}">
                <a16:creationId xmlns:a16="http://schemas.microsoft.com/office/drawing/2014/main" id="{B65BD2AE-6EE5-05EF-F067-B4945A42BFB0}"/>
              </a:ext>
            </a:extLst>
          </p:cNvPr>
          <p:cNvSpPr>
            <a:spLocks/>
          </p:cNvSpPr>
          <p:nvPr/>
        </p:nvSpPr>
        <p:spPr bwMode="auto">
          <a:xfrm>
            <a:off x="6667903" y="3407383"/>
            <a:ext cx="219740" cy="159776"/>
          </a:xfrm>
          <a:custGeom>
            <a:avLst/>
            <a:gdLst/>
            <a:ahLst/>
            <a:cxnLst>
              <a:cxn ang="0">
                <a:pos x="461" y="66"/>
              </a:cxn>
              <a:cxn ang="0">
                <a:pos x="411" y="2"/>
              </a:cxn>
              <a:cxn ang="0">
                <a:pos x="375" y="0"/>
              </a:cxn>
              <a:cxn ang="0">
                <a:pos x="314" y="122"/>
              </a:cxn>
              <a:cxn ang="0">
                <a:pos x="327" y="145"/>
              </a:cxn>
              <a:cxn ang="0">
                <a:pos x="290" y="204"/>
              </a:cxn>
              <a:cxn ang="0">
                <a:pos x="255" y="172"/>
              </a:cxn>
              <a:cxn ang="0">
                <a:pos x="230" y="192"/>
              </a:cxn>
              <a:cxn ang="0">
                <a:pos x="112" y="301"/>
              </a:cxn>
              <a:cxn ang="0">
                <a:pos x="106" y="315"/>
              </a:cxn>
              <a:cxn ang="0">
                <a:pos x="85" y="372"/>
              </a:cxn>
              <a:cxn ang="0">
                <a:pos x="0" y="370"/>
              </a:cxn>
              <a:cxn ang="0">
                <a:pos x="35" y="412"/>
              </a:cxn>
              <a:cxn ang="0">
                <a:pos x="125" y="405"/>
              </a:cxn>
              <a:cxn ang="0">
                <a:pos x="200" y="376"/>
              </a:cxn>
              <a:cxn ang="0">
                <a:pos x="283" y="369"/>
              </a:cxn>
              <a:cxn ang="0">
                <a:pos x="320" y="254"/>
              </a:cxn>
              <a:cxn ang="0">
                <a:pos x="347" y="172"/>
              </a:cxn>
              <a:cxn ang="0">
                <a:pos x="451" y="191"/>
              </a:cxn>
              <a:cxn ang="0">
                <a:pos x="451" y="180"/>
              </a:cxn>
              <a:cxn ang="0">
                <a:pos x="487" y="165"/>
              </a:cxn>
              <a:cxn ang="0">
                <a:pos x="494" y="134"/>
              </a:cxn>
              <a:cxn ang="0">
                <a:pos x="527" y="104"/>
              </a:cxn>
              <a:cxn ang="0">
                <a:pos x="461" y="66"/>
              </a:cxn>
            </a:cxnLst>
            <a:rect l="0" t="0" r="r" b="b"/>
            <a:pathLst>
              <a:path w="527" h="412">
                <a:moveTo>
                  <a:pt x="461" y="66"/>
                </a:moveTo>
                <a:lnTo>
                  <a:pt x="411" y="2"/>
                </a:lnTo>
                <a:lnTo>
                  <a:pt x="375" y="0"/>
                </a:lnTo>
                <a:lnTo>
                  <a:pt x="314" y="122"/>
                </a:lnTo>
                <a:lnTo>
                  <a:pt x="327" y="145"/>
                </a:lnTo>
                <a:lnTo>
                  <a:pt x="290" y="204"/>
                </a:lnTo>
                <a:lnTo>
                  <a:pt x="255" y="172"/>
                </a:lnTo>
                <a:lnTo>
                  <a:pt x="230" y="192"/>
                </a:lnTo>
                <a:lnTo>
                  <a:pt x="112" y="301"/>
                </a:lnTo>
                <a:lnTo>
                  <a:pt x="106" y="315"/>
                </a:lnTo>
                <a:lnTo>
                  <a:pt x="85" y="372"/>
                </a:lnTo>
                <a:lnTo>
                  <a:pt x="0" y="370"/>
                </a:lnTo>
                <a:lnTo>
                  <a:pt x="35" y="412"/>
                </a:lnTo>
                <a:lnTo>
                  <a:pt x="125" y="405"/>
                </a:lnTo>
                <a:lnTo>
                  <a:pt x="200" y="376"/>
                </a:lnTo>
                <a:lnTo>
                  <a:pt x="283" y="369"/>
                </a:lnTo>
                <a:lnTo>
                  <a:pt x="320" y="254"/>
                </a:lnTo>
                <a:lnTo>
                  <a:pt x="347" y="172"/>
                </a:lnTo>
                <a:lnTo>
                  <a:pt x="451" y="191"/>
                </a:lnTo>
                <a:lnTo>
                  <a:pt x="451" y="180"/>
                </a:lnTo>
                <a:lnTo>
                  <a:pt x="487" y="165"/>
                </a:lnTo>
                <a:lnTo>
                  <a:pt x="494" y="134"/>
                </a:lnTo>
                <a:lnTo>
                  <a:pt x="527" y="104"/>
                </a:lnTo>
                <a:lnTo>
                  <a:pt x="461" y="6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5" name="Freeform 100">
            <a:extLst>
              <a:ext uri="{FF2B5EF4-FFF2-40B4-BE49-F238E27FC236}">
                <a16:creationId xmlns:a16="http://schemas.microsoft.com/office/drawing/2014/main" id="{634EB42A-645E-5AFA-69D8-F0CB4B3AD64B}"/>
              </a:ext>
            </a:extLst>
          </p:cNvPr>
          <p:cNvSpPr>
            <a:spLocks/>
          </p:cNvSpPr>
          <p:nvPr/>
        </p:nvSpPr>
        <p:spPr bwMode="auto">
          <a:xfrm>
            <a:off x="6433184" y="3408935"/>
            <a:ext cx="121523" cy="155121"/>
          </a:xfrm>
          <a:custGeom>
            <a:avLst/>
            <a:gdLst/>
            <a:ahLst/>
            <a:cxnLst>
              <a:cxn ang="0">
                <a:pos x="241" y="189"/>
              </a:cxn>
              <a:cxn ang="0">
                <a:pos x="160" y="68"/>
              </a:cxn>
              <a:cxn ang="0">
                <a:pos x="132" y="43"/>
              </a:cxn>
              <a:cxn ang="0">
                <a:pos x="126" y="64"/>
              </a:cxn>
              <a:cxn ang="0">
                <a:pos x="76" y="77"/>
              </a:cxn>
              <a:cxn ang="0">
                <a:pos x="83" y="27"/>
              </a:cxn>
              <a:cxn ang="0">
                <a:pos x="39" y="0"/>
              </a:cxn>
              <a:cxn ang="0">
                <a:pos x="0" y="14"/>
              </a:cxn>
              <a:cxn ang="0">
                <a:pos x="51" y="124"/>
              </a:cxn>
              <a:cxn ang="0">
                <a:pos x="130" y="302"/>
              </a:cxn>
              <a:cxn ang="0">
                <a:pos x="258" y="401"/>
              </a:cxn>
              <a:cxn ang="0">
                <a:pos x="291" y="390"/>
              </a:cxn>
              <a:cxn ang="0">
                <a:pos x="241" y="189"/>
              </a:cxn>
            </a:cxnLst>
            <a:rect l="0" t="0" r="r" b="b"/>
            <a:pathLst>
              <a:path w="291" h="401">
                <a:moveTo>
                  <a:pt x="241" y="189"/>
                </a:moveTo>
                <a:lnTo>
                  <a:pt x="160" y="68"/>
                </a:lnTo>
                <a:lnTo>
                  <a:pt x="132" y="43"/>
                </a:lnTo>
                <a:lnTo>
                  <a:pt x="126" y="64"/>
                </a:lnTo>
                <a:lnTo>
                  <a:pt x="76" y="77"/>
                </a:lnTo>
                <a:lnTo>
                  <a:pt x="83" y="27"/>
                </a:lnTo>
                <a:lnTo>
                  <a:pt x="39" y="0"/>
                </a:lnTo>
                <a:lnTo>
                  <a:pt x="0" y="14"/>
                </a:lnTo>
                <a:lnTo>
                  <a:pt x="51" y="124"/>
                </a:lnTo>
                <a:lnTo>
                  <a:pt x="130" y="302"/>
                </a:lnTo>
                <a:lnTo>
                  <a:pt x="258" y="401"/>
                </a:lnTo>
                <a:lnTo>
                  <a:pt x="291" y="390"/>
                </a:lnTo>
                <a:lnTo>
                  <a:pt x="241" y="18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6" name="Freeform 102">
            <a:extLst>
              <a:ext uri="{FF2B5EF4-FFF2-40B4-BE49-F238E27FC236}">
                <a16:creationId xmlns:a16="http://schemas.microsoft.com/office/drawing/2014/main" id="{FE173AF6-40A0-43D0-DDBB-582AC969B49B}"/>
              </a:ext>
            </a:extLst>
          </p:cNvPr>
          <p:cNvSpPr>
            <a:spLocks/>
          </p:cNvSpPr>
          <p:nvPr/>
        </p:nvSpPr>
        <p:spPr bwMode="auto">
          <a:xfrm>
            <a:off x="6401551" y="3035090"/>
            <a:ext cx="188112" cy="189249"/>
          </a:xfrm>
          <a:custGeom>
            <a:avLst/>
            <a:gdLst/>
            <a:ahLst/>
            <a:cxnLst>
              <a:cxn ang="0">
                <a:pos x="432" y="391"/>
              </a:cxn>
              <a:cxn ang="0">
                <a:pos x="431" y="388"/>
              </a:cxn>
              <a:cxn ang="0">
                <a:pos x="225" y="196"/>
              </a:cxn>
              <a:cxn ang="0">
                <a:pos x="263" y="131"/>
              </a:cxn>
              <a:cxn ang="0">
                <a:pos x="179" y="82"/>
              </a:cxn>
              <a:cxn ang="0">
                <a:pos x="103" y="0"/>
              </a:cxn>
              <a:cxn ang="0">
                <a:pos x="87" y="16"/>
              </a:cxn>
              <a:cxn ang="0">
                <a:pos x="52" y="51"/>
              </a:cxn>
              <a:cxn ang="0">
                <a:pos x="47" y="50"/>
              </a:cxn>
              <a:cxn ang="0">
                <a:pos x="43" y="49"/>
              </a:cxn>
              <a:cxn ang="0">
                <a:pos x="0" y="153"/>
              </a:cxn>
              <a:cxn ang="0">
                <a:pos x="19" y="162"/>
              </a:cxn>
              <a:cxn ang="0">
                <a:pos x="46" y="174"/>
              </a:cxn>
              <a:cxn ang="0">
                <a:pos x="82" y="207"/>
              </a:cxn>
              <a:cxn ang="0">
                <a:pos x="102" y="309"/>
              </a:cxn>
              <a:cxn ang="0">
                <a:pos x="158" y="290"/>
              </a:cxn>
              <a:cxn ang="0">
                <a:pos x="158" y="290"/>
              </a:cxn>
              <a:cxn ang="0">
                <a:pos x="245" y="273"/>
              </a:cxn>
              <a:cxn ang="0">
                <a:pos x="330" y="399"/>
              </a:cxn>
              <a:cxn ang="0">
                <a:pos x="347" y="423"/>
              </a:cxn>
              <a:cxn ang="0">
                <a:pos x="326" y="475"/>
              </a:cxn>
              <a:cxn ang="0">
                <a:pos x="388" y="488"/>
              </a:cxn>
              <a:cxn ang="0">
                <a:pos x="408" y="455"/>
              </a:cxn>
              <a:cxn ang="0">
                <a:pos x="451" y="455"/>
              </a:cxn>
              <a:cxn ang="0">
                <a:pos x="453" y="453"/>
              </a:cxn>
              <a:cxn ang="0">
                <a:pos x="432" y="391"/>
              </a:cxn>
            </a:cxnLst>
            <a:rect l="0" t="0" r="r" b="b"/>
            <a:pathLst>
              <a:path w="453" h="488">
                <a:moveTo>
                  <a:pt x="432" y="391"/>
                </a:moveTo>
                <a:lnTo>
                  <a:pt x="431" y="388"/>
                </a:lnTo>
                <a:lnTo>
                  <a:pt x="225" y="196"/>
                </a:lnTo>
                <a:lnTo>
                  <a:pt x="263" y="131"/>
                </a:lnTo>
                <a:lnTo>
                  <a:pt x="179" y="82"/>
                </a:lnTo>
                <a:lnTo>
                  <a:pt x="103" y="0"/>
                </a:lnTo>
                <a:lnTo>
                  <a:pt x="87" y="16"/>
                </a:lnTo>
                <a:lnTo>
                  <a:pt x="52" y="51"/>
                </a:lnTo>
                <a:lnTo>
                  <a:pt x="47" y="50"/>
                </a:lnTo>
                <a:lnTo>
                  <a:pt x="43" y="49"/>
                </a:lnTo>
                <a:lnTo>
                  <a:pt x="0" y="153"/>
                </a:lnTo>
                <a:lnTo>
                  <a:pt x="19" y="162"/>
                </a:lnTo>
                <a:lnTo>
                  <a:pt x="46" y="174"/>
                </a:lnTo>
                <a:lnTo>
                  <a:pt x="82" y="207"/>
                </a:lnTo>
                <a:lnTo>
                  <a:pt x="102" y="309"/>
                </a:lnTo>
                <a:lnTo>
                  <a:pt x="158" y="290"/>
                </a:lnTo>
                <a:lnTo>
                  <a:pt x="158" y="290"/>
                </a:lnTo>
                <a:lnTo>
                  <a:pt x="245" y="273"/>
                </a:lnTo>
                <a:lnTo>
                  <a:pt x="330" y="399"/>
                </a:lnTo>
                <a:lnTo>
                  <a:pt x="347" y="423"/>
                </a:lnTo>
                <a:lnTo>
                  <a:pt x="326" y="475"/>
                </a:lnTo>
                <a:lnTo>
                  <a:pt x="388" y="488"/>
                </a:lnTo>
                <a:lnTo>
                  <a:pt x="408" y="455"/>
                </a:lnTo>
                <a:lnTo>
                  <a:pt x="451" y="455"/>
                </a:lnTo>
                <a:lnTo>
                  <a:pt x="453" y="453"/>
                </a:lnTo>
                <a:lnTo>
                  <a:pt x="432" y="39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7" name="Freeform 104">
            <a:extLst>
              <a:ext uri="{FF2B5EF4-FFF2-40B4-BE49-F238E27FC236}">
                <a16:creationId xmlns:a16="http://schemas.microsoft.com/office/drawing/2014/main" id="{210A5469-2440-4879-F9DE-800E4F088521}"/>
              </a:ext>
            </a:extLst>
          </p:cNvPr>
          <p:cNvSpPr>
            <a:spLocks/>
          </p:cNvSpPr>
          <p:nvPr/>
        </p:nvSpPr>
        <p:spPr bwMode="auto">
          <a:xfrm>
            <a:off x="5637458" y="2546459"/>
            <a:ext cx="198099" cy="97726"/>
          </a:xfrm>
          <a:custGeom>
            <a:avLst/>
            <a:gdLst/>
            <a:ahLst/>
            <a:cxnLst>
              <a:cxn ang="0">
                <a:pos x="460" y="11"/>
              </a:cxn>
              <a:cxn ang="0">
                <a:pos x="441" y="11"/>
              </a:cxn>
              <a:cxn ang="0">
                <a:pos x="434" y="11"/>
              </a:cxn>
              <a:cxn ang="0">
                <a:pos x="138" y="0"/>
              </a:cxn>
              <a:cxn ang="0">
                <a:pos x="134" y="41"/>
              </a:cxn>
              <a:cxn ang="0">
                <a:pos x="36" y="43"/>
              </a:cxn>
              <a:cxn ang="0">
                <a:pos x="24" y="74"/>
              </a:cxn>
              <a:cxn ang="0">
                <a:pos x="3" y="92"/>
              </a:cxn>
              <a:cxn ang="0">
                <a:pos x="13" y="123"/>
              </a:cxn>
              <a:cxn ang="0">
                <a:pos x="100" y="158"/>
              </a:cxn>
              <a:cxn ang="0">
                <a:pos x="142" y="176"/>
              </a:cxn>
              <a:cxn ang="0">
                <a:pos x="100" y="193"/>
              </a:cxn>
              <a:cxn ang="0">
                <a:pos x="43" y="217"/>
              </a:cxn>
              <a:cxn ang="0">
                <a:pos x="38" y="208"/>
              </a:cxn>
              <a:cxn ang="0">
                <a:pos x="0" y="254"/>
              </a:cxn>
              <a:cxn ang="0">
                <a:pos x="198" y="254"/>
              </a:cxn>
              <a:cxn ang="0">
                <a:pos x="189" y="245"/>
              </a:cxn>
              <a:cxn ang="0">
                <a:pos x="205" y="228"/>
              </a:cxn>
              <a:cxn ang="0">
                <a:pos x="275" y="163"/>
              </a:cxn>
              <a:cxn ang="0">
                <a:pos x="305" y="144"/>
              </a:cxn>
              <a:cxn ang="0">
                <a:pos x="404" y="81"/>
              </a:cxn>
              <a:cxn ang="0">
                <a:pos x="477" y="36"/>
              </a:cxn>
              <a:cxn ang="0">
                <a:pos x="460" y="11"/>
              </a:cxn>
            </a:cxnLst>
            <a:rect l="0" t="0" r="r" b="b"/>
            <a:pathLst>
              <a:path w="477" h="254">
                <a:moveTo>
                  <a:pt x="460" y="11"/>
                </a:moveTo>
                <a:lnTo>
                  <a:pt x="441" y="11"/>
                </a:lnTo>
                <a:lnTo>
                  <a:pt x="434" y="11"/>
                </a:lnTo>
                <a:lnTo>
                  <a:pt x="138" y="0"/>
                </a:lnTo>
                <a:lnTo>
                  <a:pt x="134" y="41"/>
                </a:lnTo>
                <a:lnTo>
                  <a:pt x="36" y="43"/>
                </a:lnTo>
                <a:lnTo>
                  <a:pt x="24" y="74"/>
                </a:lnTo>
                <a:lnTo>
                  <a:pt x="3" y="92"/>
                </a:lnTo>
                <a:lnTo>
                  <a:pt x="13" y="123"/>
                </a:lnTo>
                <a:lnTo>
                  <a:pt x="100" y="158"/>
                </a:lnTo>
                <a:lnTo>
                  <a:pt x="142" y="176"/>
                </a:lnTo>
                <a:lnTo>
                  <a:pt x="100" y="193"/>
                </a:lnTo>
                <a:lnTo>
                  <a:pt x="43" y="217"/>
                </a:lnTo>
                <a:lnTo>
                  <a:pt x="38" y="208"/>
                </a:lnTo>
                <a:lnTo>
                  <a:pt x="0" y="254"/>
                </a:lnTo>
                <a:lnTo>
                  <a:pt x="198" y="254"/>
                </a:lnTo>
                <a:lnTo>
                  <a:pt x="189" y="245"/>
                </a:lnTo>
                <a:lnTo>
                  <a:pt x="205" y="228"/>
                </a:lnTo>
                <a:lnTo>
                  <a:pt x="275" y="163"/>
                </a:lnTo>
                <a:lnTo>
                  <a:pt x="305" y="144"/>
                </a:lnTo>
                <a:lnTo>
                  <a:pt x="404" y="81"/>
                </a:lnTo>
                <a:lnTo>
                  <a:pt x="477" y="36"/>
                </a:lnTo>
                <a:lnTo>
                  <a:pt x="460" y="1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8" name="Freeform 106">
            <a:extLst>
              <a:ext uri="{FF2B5EF4-FFF2-40B4-BE49-F238E27FC236}">
                <a16:creationId xmlns:a16="http://schemas.microsoft.com/office/drawing/2014/main" id="{8C56E26F-2874-55FB-CA6A-4878B24506FA}"/>
              </a:ext>
            </a:extLst>
          </p:cNvPr>
          <p:cNvSpPr>
            <a:spLocks/>
          </p:cNvSpPr>
          <p:nvPr/>
        </p:nvSpPr>
        <p:spPr bwMode="auto">
          <a:xfrm>
            <a:off x="5109750" y="2205192"/>
            <a:ext cx="810706" cy="420379"/>
          </a:xfrm>
          <a:custGeom>
            <a:avLst/>
            <a:gdLst/>
            <a:ahLst/>
            <a:cxnLst>
              <a:cxn ang="0">
                <a:pos x="1742" y="305"/>
              </a:cxn>
              <a:cxn ang="0">
                <a:pos x="1535" y="255"/>
              </a:cxn>
              <a:cxn ang="0">
                <a:pos x="1171" y="138"/>
              </a:cxn>
              <a:cxn ang="0">
                <a:pos x="1015" y="0"/>
              </a:cxn>
              <a:cxn ang="0">
                <a:pos x="612" y="341"/>
              </a:cxn>
              <a:cxn ang="0">
                <a:pos x="612" y="419"/>
              </a:cxn>
              <a:cxn ang="0">
                <a:pos x="204" y="377"/>
              </a:cxn>
              <a:cxn ang="0">
                <a:pos x="87" y="527"/>
              </a:cxn>
              <a:cxn ang="0">
                <a:pos x="0" y="588"/>
              </a:cxn>
              <a:cxn ang="0">
                <a:pos x="128" y="754"/>
              </a:cxn>
              <a:cxn ang="0">
                <a:pos x="305" y="681"/>
              </a:cxn>
              <a:cxn ang="0">
                <a:pos x="329" y="807"/>
              </a:cxn>
              <a:cxn ang="0">
                <a:pos x="342" y="1035"/>
              </a:cxn>
              <a:cxn ang="0">
                <a:pos x="410" y="1021"/>
              </a:cxn>
              <a:cxn ang="0">
                <a:pos x="516" y="1087"/>
              </a:cxn>
              <a:cxn ang="0">
                <a:pos x="497" y="818"/>
              </a:cxn>
              <a:cxn ang="0">
                <a:pos x="614" y="746"/>
              </a:cxn>
              <a:cxn ang="0">
                <a:pos x="703" y="662"/>
              </a:cxn>
              <a:cxn ang="0">
                <a:pos x="732" y="666"/>
              </a:cxn>
              <a:cxn ang="0">
                <a:pos x="778" y="804"/>
              </a:cxn>
              <a:cxn ang="0">
                <a:pos x="807" y="904"/>
              </a:cxn>
              <a:cxn ang="0">
                <a:pos x="1034" y="940"/>
              </a:cxn>
              <a:cxn ang="0">
                <a:pos x="1181" y="1044"/>
              </a:cxn>
              <a:cxn ang="0">
                <a:pos x="1268" y="972"/>
              </a:cxn>
              <a:cxn ang="0">
                <a:pos x="1301" y="923"/>
              </a:cxn>
              <a:cxn ang="0">
                <a:pos x="1403" y="880"/>
              </a:cxn>
              <a:cxn ang="0">
                <a:pos x="1706" y="891"/>
              </a:cxn>
              <a:cxn ang="0">
                <a:pos x="1735" y="802"/>
              </a:cxn>
              <a:cxn ang="0">
                <a:pos x="1785" y="672"/>
              </a:cxn>
              <a:cxn ang="0">
                <a:pos x="1889" y="491"/>
              </a:cxn>
              <a:cxn ang="0">
                <a:pos x="1943" y="367"/>
              </a:cxn>
              <a:cxn ang="0">
                <a:pos x="1874" y="333"/>
              </a:cxn>
            </a:cxnLst>
            <a:rect l="0" t="0" r="r" b="b"/>
            <a:pathLst>
              <a:path w="1945" h="1087">
                <a:moveTo>
                  <a:pt x="1874" y="333"/>
                </a:moveTo>
                <a:lnTo>
                  <a:pt x="1742" y="305"/>
                </a:lnTo>
                <a:lnTo>
                  <a:pt x="1739" y="252"/>
                </a:lnTo>
                <a:lnTo>
                  <a:pt x="1535" y="255"/>
                </a:lnTo>
                <a:lnTo>
                  <a:pt x="1311" y="28"/>
                </a:lnTo>
                <a:lnTo>
                  <a:pt x="1171" y="138"/>
                </a:lnTo>
                <a:lnTo>
                  <a:pt x="1045" y="74"/>
                </a:lnTo>
                <a:lnTo>
                  <a:pt x="1015" y="0"/>
                </a:lnTo>
                <a:lnTo>
                  <a:pt x="577" y="161"/>
                </a:lnTo>
                <a:lnTo>
                  <a:pt x="612" y="341"/>
                </a:lnTo>
                <a:lnTo>
                  <a:pt x="640" y="363"/>
                </a:lnTo>
                <a:lnTo>
                  <a:pt x="612" y="419"/>
                </a:lnTo>
                <a:lnTo>
                  <a:pt x="342" y="430"/>
                </a:lnTo>
                <a:lnTo>
                  <a:pt x="204" y="377"/>
                </a:lnTo>
                <a:lnTo>
                  <a:pt x="64" y="456"/>
                </a:lnTo>
                <a:lnTo>
                  <a:pt x="87" y="527"/>
                </a:lnTo>
                <a:lnTo>
                  <a:pt x="3" y="513"/>
                </a:lnTo>
                <a:lnTo>
                  <a:pt x="0" y="588"/>
                </a:lnTo>
                <a:lnTo>
                  <a:pt x="119" y="764"/>
                </a:lnTo>
                <a:lnTo>
                  <a:pt x="128" y="754"/>
                </a:lnTo>
                <a:lnTo>
                  <a:pt x="232" y="673"/>
                </a:lnTo>
                <a:lnTo>
                  <a:pt x="305" y="681"/>
                </a:lnTo>
                <a:lnTo>
                  <a:pt x="319" y="758"/>
                </a:lnTo>
                <a:lnTo>
                  <a:pt x="329" y="807"/>
                </a:lnTo>
                <a:lnTo>
                  <a:pt x="217" y="899"/>
                </a:lnTo>
                <a:lnTo>
                  <a:pt x="342" y="1035"/>
                </a:lnTo>
                <a:lnTo>
                  <a:pt x="357" y="1063"/>
                </a:lnTo>
                <a:lnTo>
                  <a:pt x="410" y="1021"/>
                </a:lnTo>
                <a:lnTo>
                  <a:pt x="479" y="1026"/>
                </a:lnTo>
                <a:lnTo>
                  <a:pt x="516" y="1087"/>
                </a:lnTo>
                <a:lnTo>
                  <a:pt x="554" y="1084"/>
                </a:lnTo>
                <a:lnTo>
                  <a:pt x="497" y="818"/>
                </a:lnTo>
                <a:lnTo>
                  <a:pt x="608" y="778"/>
                </a:lnTo>
                <a:lnTo>
                  <a:pt x="614" y="746"/>
                </a:lnTo>
                <a:lnTo>
                  <a:pt x="696" y="669"/>
                </a:lnTo>
                <a:lnTo>
                  <a:pt x="703" y="662"/>
                </a:lnTo>
                <a:lnTo>
                  <a:pt x="717" y="664"/>
                </a:lnTo>
                <a:lnTo>
                  <a:pt x="732" y="666"/>
                </a:lnTo>
                <a:lnTo>
                  <a:pt x="726" y="737"/>
                </a:lnTo>
                <a:lnTo>
                  <a:pt x="778" y="804"/>
                </a:lnTo>
                <a:lnTo>
                  <a:pt x="747" y="828"/>
                </a:lnTo>
                <a:lnTo>
                  <a:pt x="807" y="904"/>
                </a:lnTo>
                <a:lnTo>
                  <a:pt x="959" y="883"/>
                </a:lnTo>
                <a:lnTo>
                  <a:pt x="1034" y="940"/>
                </a:lnTo>
                <a:lnTo>
                  <a:pt x="1048" y="999"/>
                </a:lnTo>
                <a:lnTo>
                  <a:pt x="1181" y="1044"/>
                </a:lnTo>
                <a:lnTo>
                  <a:pt x="1254" y="983"/>
                </a:lnTo>
                <a:lnTo>
                  <a:pt x="1268" y="972"/>
                </a:lnTo>
                <a:lnTo>
                  <a:pt x="1289" y="954"/>
                </a:lnTo>
                <a:lnTo>
                  <a:pt x="1301" y="923"/>
                </a:lnTo>
                <a:lnTo>
                  <a:pt x="1399" y="921"/>
                </a:lnTo>
                <a:lnTo>
                  <a:pt x="1403" y="880"/>
                </a:lnTo>
                <a:lnTo>
                  <a:pt x="1699" y="891"/>
                </a:lnTo>
                <a:lnTo>
                  <a:pt x="1706" y="891"/>
                </a:lnTo>
                <a:lnTo>
                  <a:pt x="1733" y="891"/>
                </a:lnTo>
                <a:lnTo>
                  <a:pt x="1735" y="802"/>
                </a:lnTo>
                <a:lnTo>
                  <a:pt x="1681" y="726"/>
                </a:lnTo>
                <a:lnTo>
                  <a:pt x="1785" y="672"/>
                </a:lnTo>
                <a:lnTo>
                  <a:pt x="1751" y="529"/>
                </a:lnTo>
                <a:lnTo>
                  <a:pt x="1889" y="491"/>
                </a:lnTo>
                <a:lnTo>
                  <a:pt x="1938" y="378"/>
                </a:lnTo>
                <a:lnTo>
                  <a:pt x="1943" y="367"/>
                </a:lnTo>
                <a:lnTo>
                  <a:pt x="1945" y="364"/>
                </a:lnTo>
                <a:lnTo>
                  <a:pt x="1874" y="33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89" name="Freeform 107">
            <a:extLst>
              <a:ext uri="{FF2B5EF4-FFF2-40B4-BE49-F238E27FC236}">
                <a16:creationId xmlns:a16="http://schemas.microsoft.com/office/drawing/2014/main" id="{6AD3C88D-62B8-2B1E-FB53-71AC09884BB1}"/>
              </a:ext>
            </a:extLst>
          </p:cNvPr>
          <p:cNvSpPr>
            <a:spLocks/>
          </p:cNvSpPr>
          <p:nvPr/>
        </p:nvSpPr>
        <p:spPr bwMode="auto">
          <a:xfrm>
            <a:off x="6481458" y="3210379"/>
            <a:ext cx="121523" cy="119443"/>
          </a:xfrm>
          <a:custGeom>
            <a:avLst/>
            <a:gdLst/>
            <a:ahLst/>
            <a:cxnLst>
              <a:cxn ang="0">
                <a:pos x="259" y="0"/>
              </a:cxn>
              <a:cxn ang="0">
                <a:pos x="257" y="2"/>
              </a:cxn>
              <a:cxn ang="0">
                <a:pos x="214" y="2"/>
              </a:cxn>
              <a:cxn ang="0">
                <a:pos x="194" y="35"/>
              </a:cxn>
              <a:cxn ang="0">
                <a:pos x="132" y="22"/>
              </a:cxn>
              <a:cxn ang="0">
                <a:pos x="125" y="41"/>
              </a:cxn>
              <a:cxn ang="0">
                <a:pos x="64" y="41"/>
              </a:cxn>
              <a:cxn ang="0">
                <a:pos x="36" y="57"/>
              </a:cxn>
              <a:cxn ang="0">
                <a:pos x="27" y="74"/>
              </a:cxn>
              <a:cxn ang="0">
                <a:pos x="0" y="123"/>
              </a:cxn>
              <a:cxn ang="0">
                <a:pos x="31" y="196"/>
              </a:cxn>
              <a:cxn ang="0">
                <a:pos x="28" y="223"/>
              </a:cxn>
              <a:cxn ang="0">
                <a:pos x="62" y="254"/>
              </a:cxn>
              <a:cxn ang="0">
                <a:pos x="76" y="267"/>
              </a:cxn>
              <a:cxn ang="0">
                <a:pos x="122" y="307"/>
              </a:cxn>
              <a:cxn ang="0">
                <a:pos x="291" y="128"/>
              </a:cxn>
              <a:cxn ang="0">
                <a:pos x="265" y="18"/>
              </a:cxn>
              <a:cxn ang="0">
                <a:pos x="259" y="0"/>
              </a:cxn>
            </a:cxnLst>
            <a:rect l="0" t="0" r="r" b="b"/>
            <a:pathLst>
              <a:path w="291" h="307">
                <a:moveTo>
                  <a:pt x="259" y="0"/>
                </a:moveTo>
                <a:lnTo>
                  <a:pt x="257" y="2"/>
                </a:lnTo>
                <a:lnTo>
                  <a:pt x="214" y="2"/>
                </a:lnTo>
                <a:lnTo>
                  <a:pt x="194" y="35"/>
                </a:lnTo>
                <a:lnTo>
                  <a:pt x="132" y="22"/>
                </a:lnTo>
                <a:lnTo>
                  <a:pt x="125" y="41"/>
                </a:lnTo>
                <a:lnTo>
                  <a:pt x="64" y="41"/>
                </a:lnTo>
                <a:lnTo>
                  <a:pt x="36" y="57"/>
                </a:lnTo>
                <a:lnTo>
                  <a:pt x="27" y="74"/>
                </a:lnTo>
                <a:lnTo>
                  <a:pt x="0" y="123"/>
                </a:lnTo>
                <a:lnTo>
                  <a:pt x="31" y="196"/>
                </a:lnTo>
                <a:lnTo>
                  <a:pt x="28" y="223"/>
                </a:lnTo>
                <a:lnTo>
                  <a:pt x="62" y="254"/>
                </a:lnTo>
                <a:lnTo>
                  <a:pt x="76" y="267"/>
                </a:lnTo>
                <a:lnTo>
                  <a:pt x="122" y="307"/>
                </a:lnTo>
                <a:lnTo>
                  <a:pt x="291" y="128"/>
                </a:lnTo>
                <a:lnTo>
                  <a:pt x="265" y="18"/>
                </a:lnTo>
                <a:lnTo>
                  <a:pt x="259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0" name="Freeform 110">
            <a:extLst>
              <a:ext uri="{FF2B5EF4-FFF2-40B4-BE49-F238E27FC236}">
                <a16:creationId xmlns:a16="http://schemas.microsoft.com/office/drawing/2014/main" id="{EC4F0E8B-4EA5-302D-4CF6-A937096B7518}"/>
              </a:ext>
            </a:extLst>
          </p:cNvPr>
          <p:cNvSpPr>
            <a:spLocks/>
          </p:cNvSpPr>
          <p:nvPr/>
        </p:nvSpPr>
        <p:spPr bwMode="auto">
          <a:xfrm>
            <a:off x="7054112" y="2284303"/>
            <a:ext cx="108207" cy="122546"/>
          </a:xfrm>
          <a:custGeom>
            <a:avLst/>
            <a:gdLst/>
            <a:ahLst/>
            <a:cxnLst>
              <a:cxn ang="0">
                <a:pos x="18" y="0"/>
              </a:cxn>
              <a:cxn ang="0">
                <a:pos x="261" y="128"/>
              </a:cxn>
              <a:cxn ang="0">
                <a:pos x="202" y="198"/>
              </a:cxn>
              <a:cxn ang="0">
                <a:pos x="189" y="264"/>
              </a:cxn>
              <a:cxn ang="0">
                <a:pos x="97" y="233"/>
              </a:cxn>
              <a:cxn ang="0">
                <a:pos x="78" y="261"/>
              </a:cxn>
              <a:cxn ang="0">
                <a:pos x="88" y="292"/>
              </a:cxn>
              <a:cxn ang="0">
                <a:pos x="62" y="314"/>
              </a:cxn>
              <a:cxn ang="0">
                <a:pos x="5" y="252"/>
              </a:cxn>
              <a:cxn ang="0">
                <a:pos x="18" y="207"/>
              </a:cxn>
              <a:cxn ang="0">
                <a:pos x="57" y="169"/>
              </a:cxn>
              <a:cxn ang="0">
                <a:pos x="0" y="24"/>
              </a:cxn>
              <a:cxn ang="0">
                <a:pos x="18" y="0"/>
              </a:cxn>
            </a:cxnLst>
            <a:rect l="0" t="0" r="r" b="b"/>
            <a:pathLst>
              <a:path w="261" h="314">
                <a:moveTo>
                  <a:pt x="18" y="0"/>
                </a:moveTo>
                <a:lnTo>
                  <a:pt x="261" y="128"/>
                </a:lnTo>
                <a:lnTo>
                  <a:pt x="202" y="198"/>
                </a:lnTo>
                <a:lnTo>
                  <a:pt x="189" y="264"/>
                </a:lnTo>
                <a:lnTo>
                  <a:pt x="97" y="233"/>
                </a:lnTo>
                <a:lnTo>
                  <a:pt x="78" y="261"/>
                </a:lnTo>
                <a:lnTo>
                  <a:pt x="88" y="292"/>
                </a:lnTo>
                <a:lnTo>
                  <a:pt x="62" y="314"/>
                </a:lnTo>
                <a:lnTo>
                  <a:pt x="5" y="252"/>
                </a:lnTo>
                <a:lnTo>
                  <a:pt x="18" y="207"/>
                </a:lnTo>
                <a:lnTo>
                  <a:pt x="57" y="169"/>
                </a:lnTo>
                <a:lnTo>
                  <a:pt x="0" y="24"/>
                </a:lnTo>
                <a:lnTo>
                  <a:pt x="18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1" name="Freeform 111">
            <a:extLst>
              <a:ext uri="{FF2B5EF4-FFF2-40B4-BE49-F238E27FC236}">
                <a16:creationId xmlns:a16="http://schemas.microsoft.com/office/drawing/2014/main" id="{493746B2-21A7-A02C-2F76-4CA9A30CBDBE}"/>
              </a:ext>
            </a:extLst>
          </p:cNvPr>
          <p:cNvSpPr>
            <a:spLocks/>
          </p:cNvSpPr>
          <p:nvPr/>
        </p:nvSpPr>
        <p:spPr bwMode="auto">
          <a:xfrm>
            <a:off x="6975872" y="2411503"/>
            <a:ext cx="198099" cy="252847"/>
          </a:xfrm>
          <a:custGeom>
            <a:avLst/>
            <a:gdLst/>
            <a:ahLst/>
            <a:cxnLst>
              <a:cxn ang="0">
                <a:pos x="313" y="0"/>
              </a:cxn>
              <a:cxn ang="0">
                <a:pos x="266" y="52"/>
              </a:cxn>
              <a:cxn ang="0">
                <a:pos x="285" y="114"/>
              </a:cxn>
              <a:cxn ang="0">
                <a:pos x="307" y="244"/>
              </a:cxn>
              <a:cxn ang="0">
                <a:pos x="294" y="346"/>
              </a:cxn>
              <a:cxn ang="0">
                <a:pos x="235" y="369"/>
              </a:cxn>
              <a:cxn ang="0">
                <a:pos x="214" y="422"/>
              </a:cxn>
              <a:cxn ang="0">
                <a:pos x="214" y="474"/>
              </a:cxn>
              <a:cxn ang="0">
                <a:pos x="199" y="507"/>
              </a:cxn>
              <a:cxn ang="0">
                <a:pos x="159" y="493"/>
              </a:cxn>
              <a:cxn ang="0">
                <a:pos x="61" y="531"/>
              </a:cxn>
              <a:cxn ang="0">
                <a:pos x="0" y="619"/>
              </a:cxn>
              <a:cxn ang="0">
                <a:pos x="28" y="652"/>
              </a:cxn>
              <a:cxn ang="0">
                <a:pos x="79" y="635"/>
              </a:cxn>
              <a:cxn ang="0">
                <a:pos x="147" y="569"/>
              </a:cxn>
              <a:cxn ang="0">
                <a:pos x="211" y="557"/>
              </a:cxn>
              <a:cxn ang="0">
                <a:pos x="216" y="609"/>
              </a:cxn>
              <a:cxn ang="0">
                <a:pos x="271" y="650"/>
              </a:cxn>
              <a:cxn ang="0">
                <a:pos x="302" y="593"/>
              </a:cxn>
              <a:cxn ang="0">
                <a:pos x="318" y="569"/>
              </a:cxn>
              <a:cxn ang="0">
                <a:pos x="447" y="514"/>
              </a:cxn>
              <a:cxn ang="0">
                <a:pos x="475" y="450"/>
              </a:cxn>
              <a:cxn ang="0">
                <a:pos x="430" y="308"/>
              </a:cxn>
              <a:cxn ang="0">
                <a:pos x="414" y="248"/>
              </a:cxn>
              <a:cxn ang="0">
                <a:pos x="423" y="147"/>
              </a:cxn>
              <a:cxn ang="0">
                <a:pos x="335" y="33"/>
              </a:cxn>
              <a:cxn ang="0">
                <a:pos x="313" y="0"/>
              </a:cxn>
            </a:cxnLst>
            <a:rect l="0" t="0" r="r" b="b"/>
            <a:pathLst>
              <a:path w="475" h="652">
                <a:moveTo>
                  <a:pt x="313" y="0"/>
                </a:moveTo>
                <a:lnTo>
                  <a:pt x="266" y="52"/>
                </a:lnTo>
                <a:lnTo>
                  <a:pt x="285" y="114"/>
                </a:lnTo>
                <a:lnTo>
                  <a:pt x="307" y="244"/>
                </a:lnTo>
                <a:lnTo>
                  <a:pt x="294" y="346"/>
                </a:lnTo>
                <a:lnTo>
                  <a:pt x="235" y="369"/>
                </a:lnTo>
                <a:lnTo>
                  <a:pt x="214" y="422"/>
                </a:lnTo>
                <a:lnTo>
                  <a:pt x="214" y="474"/>
                </a:lnTo>
                <a:lnTo>
                  <a:pt x="199" y="507"/>
                </a:lnTo>
                <a:lnTo>
                  <a:pt x="159" y="493"/>
                </a:lnTo>
                <a:lnTo>
                  <a:pt x="61" y="531"/>
                </a:lnTo>
                <a:lnTo>
                  <a:pt x="0" y="619"/>
                </a:lnTo>
                <a:lnTo>
                  <a:pt x="28" y="652"/>
                </a:lnTo>
                <a:lnTo>
                  <a:pt x="79" y="635"/>
                </a:lnTo>
                <a:lnTo>
                  <a:pt x="147" y="569"/>
                </a:lnTo>
                <a:lnTo>
                  <a:pt x="211" y="557"/>
                </a:lnTo>
                <a:lnTo>
                  <a:pt x="216" y="609"/>
                </a:lnTo>
                <a:lnTo>
                  <a:pt x="271" y="650"/>
                </a:lnTo>
                <a:lnTo>
                  <a:pt x="302" y="593"/>
                </a:lnTo>
                <a:lnTo>
                  <a:pt x="318" y="569"/>
                </a:lnTo>
                <a:lnTo>
                  <a:pt x="447" y="514"/>
                </a:lnTo>
                <a:lnTo>
                  <a:pt x="475" y="450"/>
                </a:lnTo>
                <a:lnTo>
                  <a:pt x="430" y="308"/>
                </a:lnTo>
                <a:lnTo>
                  <a:pt x="414" y="248"/>
                </a:lnTo>
                <a:lnTo>
                  <a:pt x="423" y="147"/>
                </a:lnTo>
                <a:lnTo>
                  <a:pt x="335" y="33"/>
                </a:lnTo>
                <a:lnTo>
                  <a:pt x="313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2" name="Freeform 112">
            <a:extLst>
              <a:ext uri="{FF2B5EF4-FFF2-40B4-BE49-F238E27FC236}">
                <a16:creationId xmlns:a16="http://schemas.microsoft.com/office/drawing/2014/main" id="{0FE780A9-72C5-715A-43EB-9CB927CEA406}"/>
              </a:ext>
            </a:extLst>
          </p:cNvPr>
          <p:cNvSpPr>
            <a:spLocks/>
          </p:cNvSpPr>
          <p:nvPr/>
        </p:nvSpPr>
        <p:spPr bwMode="auto">
          <a:xfrm>
            <a:off x="7017489" y="2650390"/>
            <a:ext cx="39953" cy="46536"/>
          </a:xfrm>
          <a:custGeom>
            <a:avLst/>
            <a:gdLst/>
            <a:ahLst/>
            <a:cxnLst>
              <a:cxn ang="0">
                <a:pos x="63" y="0"/>
              </a:cxn>
              <a:cxn ang="0">
                <a:pos x="96" y="23"/>
              </a:cxn>
              <a:cxn ang="0">
                <a:pos x="55" y="64"/>
              </a:cxn>
              <a:cxn ang="0">
                <a:pos x="48" y="121"/>
              </a:cxn>
              <a:cxn ang="0">
                <a:pos x="0" y="73"/>
              </a:cxn>
              <a:cxn ang="0">
                <a:pos x="24" y="14"/>
              </a:cxn>
              <a:cxn ang="0">
                <a:pos x="63" y="0"/>
              </a:cxn>
            </a:cxnLst>
            <a:rect l="0" t="0" r="r" b="b"/>
            <a:pathLst>
              <a:path w="96" h="121">
                <a:moveTo>
                  <a:pt x="63" y="0"/>
                </a:moveTo>
                <a:lnTo>
                  <a:pt x="96" y="23"/>
                </a:lnTo>
                <a:lnTo>
                  <a:pt x="55" y="64"/>
                </a:lnTo>
                <a:lnTo>
                  <a:pt x="48" y="121"/>
                </a:lnTo>
                <a:lnTo>
                  <a:pt x="0" y="73"/>
                </a:lnTo>
                <a:lnTo>
                  <a:pt x="24" y="14"/>
                </a:lnTo>
                <a:lnTo>
                  <a:pt x="63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3" name="Freeform 113">
            <a:extLst>
              <a:ext uri="{FF2B5EF4-FFF2-40B4-BE49-F238E27FC236}">
                <a16:creationId xmlns:a16="http://schemas.microsoft.com/office/drawing/2014/main" id="{93500CDB-B300-4AB5-06D9-0A921B851512}"/>
              </a:ext>
            </a:extLst>
          </p:cNvPr>
          <p:cNvSpPr>
            <a:spLocks/>
          </p:cNvSpPr>
          <p:nvPr/>
        </p:nvSpPr>
        <p:spPr bwMode="auto">
          <a:xfrm>
            <a:off x="6947572" y="2669004"/>
            <a:ext cx="64923" cy="80663"/>
          </a:xfrm>
          <a:custGeom>
            <a:avLst/>
            <a:gdLst/>
            <a:ahLst/>
            <a:cxnLst>
              <a:cxn ang="0">
                <a:pos x="129" y="41"/>
              </a:cxn>
              <a:cxn ang="0">
                <a:pos x="61" y="0"/>
              </a:cxn>
              <a:cxn ang="0">
                <a:pos x="0" y="67"/>
              </a:cxn>
              <a:cxn ang="0">
                <a:pos x="63" y="119"/>
              </a:cxn>
              <a:cxn ang="0">
                <a:pos x="108" y="209"/>
              </a:cxn>
              <a:cxn ang="0">
                <a:pos x="158" y="191"/>
              </a:cxn>
              <a:cxn ang="0">
                <a:pos x="149" y="53"/>
              </a:cxn>
              <a:cxn ang="0">
                <a:pos x="129" y="41"/>
              </a:cxn>
            </a:cxnLst>
            <a:rect l="0" t="0" r="r" b="b"/>
            <a:pathLst>
              <a:path w="158" h="209">
                <a:moveTo>
                  <a:pt x="129" y="41"/>
                </a:moveTo>
                <a:lnTo>
                  <a:pt x="61" y="0"/>
                </a:lnTo>
                <a:lnTo>
                  <a:pt x="0" y="67"/>
                </a:lnTo>
                <a:lnTo>
                  <a:pt x="63" y="119"/>
                </a:lnTo>
                <a:lnTo>
                  <a:pt x="108" y="209"/>
                </a:lnTo>
                <a:lnTo>
                  <a:pt x="158" y="191"/>
                </a:lnTo>
                <a:lnTo>
                  <a:pt x="149" y="53"/>
                </a:lnTo>
                <a:lnTo>
                  <a:pt x="129" y="4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4" name="Freeform 117">
            <a:extLst>
              <a:ext uri="{FF2B5EF4-FFF2-40B4-BE49-F238E27FC236}">
                <a16:creationId xmlns:a16="http://schemas.microsoft.com/office/drawing/2014/main" id="{84CAC298-CE4F-F56D-1E0F-FD2C52766816}"/>
              </a:ext>
            </a:extLst>
          </p:cNvPr>
          <p:cNvSpPr>
            <a:spLocks/>
          </p:cNvSpPr>
          <p:nvPr/>
        </p:nvSpPr>
        <p:spPr bwMode="auto">
          <a:xfrm>
            <a:off x="5675746" y="2731052"/>
            <a:ext cx="627590" cy="670125"/>
          </a:xfrm>
          <a:custGeom>
            <a:avLst/>
            <a:gdLst/>
            <a:ahLst/>
            <a:cxnLst>
              <a:cxn ang="0">
                <a:pos x="1441" y="333"/>
              </a:cxn>
              <a:cxn ang="0">
                <a:pos x="1280" y="422"/>
              </a:cxn>
              <a:cxn ang="0">
                <a:pos x="1254" y="432"/>
              </a:cxn>
              <a:cxn ang="0">
                <a:pos x="1140" y="533"/>
              </a:cxn>
              <a:cxn ang="0">
                <a:pos x="1084" y="464"/>
              </a:cxn>
              <a:cxn ang="0">
                <a:pos x="1030" y="561"/>
              </a:cxn>
              <a:cxn ang="0">
                <a:pos x="584" y="424"/>
              </a:cxn>
              <a:cxn ang="0">
                <a:pos x="609" y="350"/>
              </a:cxn>
              <a:cxn ang="0">
                <a:pos x="474" y="231"/>
              </a:cxn>
              <a:cxn ang="0">
                <a:pos x="405" y="53"/>
              </a:cxn>
              <a:cxn ang="0">
                <a:pos x="317" y="3"/>
              </a:cxn>
              <a:cxn ang="0">
                <a:pos x="341" y="33"/>
              </a:cxn>
              <a:cxn ang="0">
                <a:pos x="170" y="109"/>
              </a:cxn>
              <a:cxn ang="0">
                <a:pos x="236" y="424"/>
              </a:cxn>
              <a:cxn ang="0">
                <a:pos x="98" y="521"/>
              </a:cxn>
              <a:cxn ang="0">
                <a:pos x="167" y="727"/>
              </a:cxn>
              <a:cxn ang="0">
                <a:pos x="0" y="797"/>
              </a:cxn>
              <a:cxn ang="0">
                <a:pos x="80" y="868"/>
              </a:cxn>
              <a:cxn ang="0">
                <a:pos x="172" y="988"/>
              </a:cxn>
              <a:cxn ang="0">
                <a:pos x="264" y="916"/>
              </a:cxn>
              <a:cxn ang="0">
                <a:pos x="291" y="1035"/>
              </a:cxn>
              <a:cxn ang="0">
                <a:pos x="461" y="1452"/>
              </a:cxn>
              <a:cxn ang="0">
                <a:pos x="608" y="1727"/>
              </a:cxn>
              <a:cxn ang="0">
                <a:pos x="736" y="1590"/>
              </a:cxn>
              <a:cxn ang="0">
                <a:pos x="726" y="1261"/>
              </a:cxn>
              <a:cxn ang="0">
                <a:pos x="1042" y="944"/>
              </a:cxn>
              <a:cxn ang="0">
                <a:pos x="1145" y="860"/>
              </a:cxn>
              <a:cxn ang="0">
                <a:pos x="1140" y="572"/>
              </a:cxn>
              <a:cxn ang="0">
                <a:pos x="1287" y="640"/>
              </a:cxn>
              <a:cxn ang="0">
                <a:pos x="1247" y="701"/>
              </a:cxn>
              <a:cxn ang="0">
                <a:pos x="1351" y="818"/>
              </a:cxn>
              <a:cxn ang="0">
                <a:pos x="1450" y="514"/>
              </a:cxn>
              <a:cxn ang="0">
                <a:pos x="1490" y="409"/>
              </a:cxn>
            </a:cxnLst>
            <a:rect l="0" t="0" r="r" b="b"/>
            <a:pathLst>
              <a:path w="1508" h="1727">
                <a:moveTo>
                  <a:pt x="1490" y="409"/>
                </a:moveTo>
                <a:lnTo>
                  <a:pt x="1441" y="333"/>
                </a:lnTo>
                <a:lnTo>
                  <a:pt x="1357" y="363"/>
                </a:lnTo>
                <a:lnTo>
                  <a:pt x="1280" y="422"/>
                </a:lnTo>
                <a:lnTo>
                  <a:pt x="1259" y="430"/>
                </a:lnTo>
                <a:lnTo>
                  <a:pt x="1254" y="432"/>
                </a:lnTo>
                <a:lnTo>
                  <a:pt x="1265" y="513"/>
                </a:lnTo>
                <a:lnTo>
                  <a:pt x="1140" y="533"/>
                </a:lnTo>
                <a:lnTo>
                  <a:pt x="1076" y="511"/>
                </a:lnTo>
                <a:lnTo>
                  <a:pt x="1084" y="464"/>
                </a:lnTo>
                <a:lnTo>
                  <a:pt x="1046" y="464"/>
                </a:lnTo>
                <a:lnTo>
                  <a:pt x="1030" y="561"/>
                </a:lnTo>
                <a:lnTo>
                  <a:pt x="803" y="531"/>
                </a:lnTo>
                <a:lnTo>
                  <a:pt x="584" y="424"/>
                </a:lnTo>
                <a:lnTo>
                  <a:pt x="621" y="347"/>
                </a:lnTo>
                <a:lnTo>
                  <a:pt x="609" y="350"/>
                </a:lnTo>
                <a:lnTo>
                  <a:pt x="513" y="305"/>
                </a:lnTo>
                <a:lnTo>
                  <a:pt x="474" y="231"/>
                </a:lnTo>
                <a:lnTo>
                  <a:pt x="515" y="195"/>
                </a:lnTo>
                <a:lnTo>
                  <a:pt x="405" y="53"/>
                </a:lnTo>
                <a:lnTo>
                  <a:pt x="362" y="0"/>
                </a:lnTo>
                <a:lnTo>
                  <a:pt x="317" y="3"/>
                </a:lnTo>
                <a:lnTo>
                  <a:pt x="331" y="21"/>
                </a:lnTo>
                <a:lnTo>
                  <a:pt x="341" y="33"/>
                </a:lnTo>
                <a:lnTo>
                  <a:pt x="289" y="79"/>
                </a:lnTo>
                <a:lnTo>
                  <a:pt x="170" y="109"/>
                </a:lnTo>
                <a:lnTo>
                  <a:pt x="290" y="247"/>
                </a:lnTo>
                <a:lnTo>
                  <a:pt x="236" y="424"/>
                </a:lnTo>
                <a:lnTo>
                  <a:pt x="159" y="525"/>
                </a:lnTo>
                <a:lnTo>
                  <a:pt x="98" y="521"/>
                </a:lnTo>
                <a:lnTo>
                  <a:pt x="43" y="600"/>
                </a:lnTo>
                <a:lnTo>
                  <a:pt x="167" y="727"/>
                </a:lnTo>
                <a:lnTo>
                  <a:pt x="157" y="749"/>
                </a:lnTo>
                <a:lnTo>
                  <a:pt x="0" y="797"/>
                </a:lnTo>
                <a:lnTo>
                  <a:pt x="80" y="856"/>
                </a:lnTo>
                <a:lnTo>
                  <a:pt x="80" y="868"/>
                </a:lnTo>
                <a:lnTo>
                  <a:pt x="66" y="890"/>
                </a:lnTo>
                <a:lnTo>
                  <a:pt x="172" y="988"/>
                </a:lnTo>
                <a:lnTo>
                  <a:pt x="234" y="954"/>
                </a:lnTo>
                <a:lnTo>
                  <a:pt x="264" y="916"/>
                </a:lnTo>
                <a:lnTo>
                  <a:pt x="287" y="923"/>
                </a:lnTo>
                <a:lnTo>
                  <a:pt x="291" y="1035"/>
                </a:lnTo>
                <a:lnTo>
                  <a:pt x="333" y="1191"/>
                </a:lnTo>
                <a:lnTo>
                  <a:pt x="461" y="1452"/>
                </a:lnTo>
                <a:lnTo>
                  <a:pt x="532" y="1616"/>
                </a:lnTo>
                <a:lnTo>
                  <a:pt x="608" y="1727"/>
                </a:lnTo>
                <a:lnTo>
                  <a:pt x="652" y="1719"/>
                </a:lnTo>
                <a:lnTo>
                  <a:pt x="736" y="1590"/>
                </a:lnTo>
                <a:lnTo>
                  <a:pt x="752" y="1436"/>
                </a:lnTo>
                <a:lnTo>
                  <a:pt x="726" y="1261"/>
                </a:lnTo>
                <a:lnTo>
                  <a:pt x="857" y="1142"/>
                </a:lnTo>
                <a:lnTo>
                  <a:pt x="1042" y="944"/>
                </a:lnTo>
                <a:lnTo>
                  <a:pt x="1028" y="897"/>
                </a:lnTo>
                <a:lnTo>
                  <a:pt x="1145" y="860"/>
                </a:lnTo>
                <a:lnTo>
                  <a:pt x="1053" y="575"/>
                </a:lnTo>
                <a:lnTo>
                  <a:pt x="1140" y="572"/>
                </a:lnTo>
                <a:lnTo>
                  <a:pt x="1145" y="633"/>
                </a:lnTo>
                <a:lnTo>
                  <a:pt x="1287" y="640"/>
                </a:lnTo>
                <a:lnTo>
                  <a:pt x="1296" y="676"/>
                </a:lnTo>
                <a:lnTo>
                  <a:pt x="1247" y="701"/>
                </a:lnTo>
                <a:lnTo>
                  <a:pt x="1278" y="722"/>
                </a:lnTo>
                <a:lnTo>
                  <a:pt x="1351" y="818"/>
                </a:lnTo>
                <a:lnTo>
                  <a:pt x="1410" y="587"/>
                </a:lnTo>
                <a:lnTo>
                  <a:pt x="1450" y="514"/>
                </a:lnTo>
                <a:lnTo>
                  <a:pt x="1508" y="409"/>
                </a:lnTo>
                <a:lnTo>
                  <a:pt x="1490" y="409"/>
                </a:lnTo>
                <a:close/>
              </a:path>
            </a:pathLst>
          </a:custGeom>
          <a:solidFill>
            <a:srgbClr val="92D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5" name="Freeform 118">
            <a:extLst>
              <a:ext uri="{FF2B5EF4-FFF2-40B4-BE49-F238E27FC236}">
                <a16:creationId xmlns:a16="http://schemas.microsoft.com/office/drawing/2014/main" id="{48A05FDC-31F0-FC94-BFD7-D4FCA4132421}"/>
              </a:ext>
            </a:extLst>
          </p:cNvPr>
          <p:cNvSpPr>
            <a:spLocks/>
          </p:cNvSpPr>
          <p:nvPr/>
        </p:nvSpPr>
        <p:spPr bwMode="auto">
          <a:xfrm>
            <a:off x="6654585" y="3474085"/>
            <a:ext cx="229728" cy="210966"/>
          </a:xfrm>
          <a:custGeom>
            <a:avLst/>
            <a:gdLst/>
            <a:ahLst/>
            <a:cxnLst>
              <a:cxn ang="0">
                <a:pos x="535" y="200"/>
              </a:cxn>
              <a:cxn ang="0">
                <a:pos x="478" y="105"/>
              </a:cxn>
              <a:cxn ang="0">
                <a:pos x="483" y="45"/>
              </a:cxn>
              <a:cxn ang="0">
                <a:pos x="485" y="19"/>
              </a:cxn>
              <a:cxn ang="0">
                <a:pos x="381" y="0"/>
              </a:cxn>
              <a:cxn ang="0">
                <a:pos x="354" y="82"/>
              </a:cxn>
              <a:cxn ang="0">
                <a:pos x="317" y="197"/>
              </a:cxn>
              <a:cxn ang="0">
                <a:pos x="234" y="204"/>
              </a:cxn>
              <a:cxn ang="0">
                <a:pos x="159" y="233"/>
              </a:cxn>
              <a:cxn ang="0">
                <a:pos x="69" y="240"/>
              </a:cxn>
              <a:cxn ang="0">
                <a:pos x="34" y="198"/>
              </a:cxn>
              <a:cxn ang="0">
                <a:pos x="24" y="197"/>
              </a:cxn>
              <a:cxn ang="0">
                <a:pos x="0" y="254"/>
              </a:cxn>
              <a:cxn ang="0">
                <a:pos x="65" y="364"/>
              </a:cxn>
              <a:cxn ang="0">
                <a:pos x="79" y="463"/>
              </a:cxn>
              <a:cxn ang="0">
                <a:pos x="193" y="501"/>
              </a:cxn>
              <a:cxn ang="0">
                <a:pos x="295" y="516"/>
              </a:cxn>
              <a:cxn ang="0">
                <a:pos x="321" y="546"/>
              </a:cxn>
              <a:cxn ang="0">
                <a:pos x="392" y="529"/>
              </a:cxn>
              <a:cxn ang="0">
                <a:pos x="449" y="349"/>
              </a:cxn>
              <a:cxn ang="0">
                <a:pos x="502" y="243"/>
              </a:cxn>
              <a:cxn ang="0">
                <a:pos x="552" y="228"/>
              </a:cxn>
              <a:cxn ang="0">
                <a:pos x="535" y="200"/>
              </a:cxn>
            </a:cxnLst>
            <a:rect l="0" t="0" r="r" b="b"/>
            <a:pathLst>
              <a:path w="552" h="546">
                <a:moveTo>
                  <a:pt x="535" y="200"/>
                </a:moveTo>
                <a:lnTo>
                  <a:pt x="478" y="105"/>
                </a:lnTo>
                <a:lnTo>
                  <a:pt x="483" y="45"/>
                </a:lnTo>
                <a:lnTo>
                  <a:pt x="485" y="19"/>
                </a:lnTo>
                <a:lnTo>
                  <a:pt x="381" y="0"/>
                </a:lnTo>
                <a:lnTo>
                  <a:pt x="354" y="82"/>
                </a:lnTo>
                <a:lnTo>
                  <a:pt x="317" y="197"/>
                </a:lnTo>
                <a:lnTo>
                  <a:pt x="234" y="204"/>
                </a:lnTo>
                <a:lnTo>
                  <a:pt x="159" y="233"/>
                </a:lnTo>
                <a:lnTo>
                  <a:pt x="69" y="240"/>
                </a:lnTo>
                <a:lnTo>
                  <a:pt x="34" y="198"/>
                </a:lnTo>
                <a:lnTo>
                  <a:pt x="24" y="197"/>
                </a:lnTo>
                <a:lnTo>
                  <a:pt x="0" y="254"/>
                </a:lnTo>
                <a:lnTo>
                  <a:pt x="65" y="364"/>
                </a:lnTo>
                <a:lnTo>
                  <a:pt x="79" y="463"/>
                </a:lnTo>
                <a:lnTo>
                  <a:pt x="193" y="501"/>
                </a:lnTo>
                <a:lnTo>
                  <a:pt x="295" y="516"/>
                </a:lnTo>
                <a:lnTo>
                  <a:pt x="321" y="546"/>
                </a:lnTo>
                <a:lnTo>
                  <a:pt x="392" y="529"/>
                </a:lnTo>
                <a:lnTo>
                  <a:pt x="449" y="349"/>
                </a:lnTo>
                <a:lnTo>
                  <a:pt x="502" y="243"/>
                </a:lnTo>
                <a:lnTo>
                  <a:pt x="552" y="228"/>
                </a:lnTo>
                <a:lnTo>
                  <a:pt x="535" y="20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6" name="Freeform 119">
            <a:extLst>
              <a:ext uri="{FF2B5EF4-FFF2-40B4-BE49-F238E27FC236}">
                <a16:creationId xmlns:a16="http://schemas.microsoft.com/office/drawing/2014/main" id="{15043B56-BD1F-4C41-4405-6AD82BF0F24E}"/>
              </a:ext>
            </a:extLst>
          </p:cNvPr>
          <p:cNvSpPr>
            <a:spLocks/>
          </p:cNvSpPr>
          <p:nvPr/>
        </p:nvSpPr>
        <p:spPr bwMode="auto">
          <a:xfrm>
            <a:off x="6341624" y="3455471"/>
            <a:ext cx="248040" cy="274566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62" y="119"/>
              </a:cxn>
              <a:cxn ang="0">
                <a:pos x="161" y="240"/>
              </a:cxn>
              <a:cxn ang="0">
                <a:pos x="262" y="365"/>
              </a:cxn>
              <a:cxn ang="0">
                <a:pos x="435" y="655"/>
              </a:cxn>
              <a:cxn ang="0">
                <a:pos x="516" y="710"/>
              </a:cxn>
              <a:cxn ang="0">
                <a:pos x="568" y="704"/>
              </a:cxn>
              <a:cxn ang="0">
                <a:pos x="597" y="519"/>
              </a:cxn>
              <a:cxn ang="0">
                <a:pos x="535" y="455"/>
              </a:cxn>
              <a:cxn ang="0">
                <a:pos x="516" y="415"/>
              </a:cxn>
              <a:cxn ang="0">
                <a:pos x="473" y="372"/>
              </a:cxn>
              <a:cxn ang="0">
                <a:pos x="461" y="315"/>
              </a:cxn>
              <a:cxn ang="0">
                <a:pos x="295" y="214"/>
              </a:cxn>
              <a:cxn ang="0">
                <a:pos x="148" y="62"/>
              </a:cxn>
              <a:cxn ang="0">
                <a:pos x="104" y="20"/>
              </a:cxn>
              <a:cxn ang="0">
                <a:pos x="23" y="0"/>
              </a:cxn>
              <a:cxn ang="0">
                <a:pos x="0" y="9"/>
              </a:cxn>
            </a:cxnLst>
            <a:rect l="0" t="0" r="r" b="b"/>
            <a:pathLst>
              <a:path w="597" h="710">
                <a:moveTo>
                  <a:pt x="0" y="9"/>
                </a:moveTo>
                <a:lnTo>
                  <a:pt x="62" y="119"/>
                </a:lnTo>
                <a:lnTo>
                  <a:pt x="161" y="240"/>
                </a:lnTo>
                <a:lnTo>
                  <a:pt x="262" y="365"/>
                </a:lnTo>
                <a:lnTo>
                  <a:pt x="435" y="655"/>
                </a:lnTo>
                <a:lnTo>
                  <a:pt x="516" y="710"/>
                </a:lnTo>
                <a:lnTo>
                  <a:pt x="568" y="704"/>
                </a:lnTo>
                <a:lnTo>
                  <a:pt x="597" y="519"/>
                </a:lnTo>
                <a:lnTo>
                  <a:pt x="535" y="455"/>
                </a:lnTo>
                <a:lnTo>
                  <a:pt x="516" y="415"/>
                </a:lnTo>
                <a:lnTo>
                  <a:pt x="473" y="372"/>
                </a:lnTo>
                <a:lnTo>
                  <a:pt x="461" y="315"/>
                </a:lnTo>
                <a:lnTo>
                  <a:pt x="295" y="214"/>
                </a:lnTo>
                <a:lnTo>
                  <a:pt x="148" y="62"/>
                </a:lnTo>
                <a:lnTo>
                  <a:pt x="104" y="20"/>
                </a:lnTo>
                <a:lnTo>
                  <a:pt x="23" y="0"/>
                </a:lnTo>
                <a:lnTo>
                  <a:pt x="0" y="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7" name="Freeform 120">
            <a:extLst>
              <a:ext uri="{FF2B5EF4-FFF2-40B4-BE49-F238E27FC236}">
                <a16:creationId xmlns:a16="http://schemas.microsoft.com/office/drawing/2014/main" id="{E034A76C-882E-728C-005B-EC163681E974}"/>
              </a:ext>
            </a:extLst>
          </p:cNvPr>
          <p:cNvSpPr>
            <a:spLocks/>
          </p:cNvSpPr>
          <p:nvPr/>
        </p:nvSpPr>
        <p:spPr bwMode="auto">
          <a:xfrm>
            <a:off x="6566359" y="3742446"/>
            <a:ext cx="309633" cy="82214"/>
          </a:xfrm>
          <a:custGeom>
            <a:avLst/>
            <a:gdLst/>
            <a:ahLst/>
            <a:cxnLst>
              <a:cxn ang="0">
                <a:pos x="50" y="0"/>
              </a:cxn>
              <a:cxn ang="0">
                <a:pos x="0" y="33"/>
              </a:cxn>
              <a:cxn ang="0">
                <a:pos x="166" y="101"/>
              </a:cxn>
              <a:cxn ang="0">
                <a:pos x="465" y="167"/>
              </a:cxn>
              <a:cxn ang="0">
                <a:pos x="552" y="180"/>
              </a:cxn>
              <a:cxn ang="0">
                <a:pos x="649" y="213"/>
              </a:cxn>
              <a:cxn ang="0">
                <a:pos x="739" y="196"/>
              </a:cxn>
              <a:cxn ang="0">
                <a:pos x="743" y="156"/>
              </a:cxn>
              <a:cxn ang="0">
                <a:pos x="582" y="143"/>
              </a:cxn>
              <a:cxn ang="0">
                <a:pos x="387" y="59"/>
              </a:cxn>
              <a:cxn ang="0">
                <a:pos x="333" y="25"/>
              </a:cxn>
              <a:cxn ang="0">
                <a:pos x="296" y="46"/>
              </a:cxn>
              <a:cxn ang="0">
                <a:pos x="195" y="44"/>
              </a:cxn>
              <a:cxn ang="0">
                <a:pos x="164" y="2"/>
              </a:cxn>
              <a:cxn ang="0">
                <a:pos x="50" y="0"/>
              </a:cxn>
            </a:cxnLst>
            <a:rect l="0" t="0" r="r" b="b"/>
            <a:pathLst>
              <a:path w="743" h="213">
                <a:moveTo>
                  <a:pt x="50" y="0"/>
                </a:moveTo>
                <a:lnTo>
                  <a:pt x="0" y="33"/>
                </a:lnTo>
                <a:lnTo>
                  <a:pt x="166" y="101"/>
                </a:lnTo>
                <a:lnTo>
                  <a:pt x="465" y="167"/>
                </a:lnTo>
                <a:lnTo>
                  <a:pt x="552" y="180"/>
                </a:lnTo>
                <a:lnTo>
                  <a:pt x="649" y="213"/>
                </a:lnTo>
                <a:lnTo>
                  <a:pt x="739" y="196"/>
                </a:lnTo>
                <a:lnTo>
                  <a:pt x="743" y="156"/>
                </a:lnTo>
                <a:lnTo>
                  <a:pt x="582" y="143"/>
                </a:lnTo>
                <a:lnTo>
                  <a:pt x="387" y="59"/>
                </a:lnTo>
                <a:lnTo>
                  <a:pt x="333" y="25"/>
                </a:lnTo>
                <a:lnTo>
                  <a:pt x="296" y="46"/>
                </a:lnTo>
                <a:lnTo>
                  <a:pt x="195" y="44"/>
                </a:lnTo>
                <a:lnTo>
                  <a:pt x="164" y="2"/>
                </a:lnTo>
                <a:lnTo>
                  <a:pt x="5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8" name="Freeform 121">
            <a:extLst>
              <a:ext uri="{FF2B5EF4-FFF2-40B4-BE49-F238E27FC236}">
                <a16:creationId xmlns:a16="http://schemas.microsoft.com/office/drawing/2014/main" id="{A7F2252A-8A00-E180-6050-2554D185C46D}"/>
              </a:ext>
            </a:extLst>
          </p:cNvPr>
          <p:cNvSpPr>
            <a:spLocks/>
          </p:cNvSpPr>
          <p:nvPr/>
        </p:nvSpPr>
        <p:spPr bwMode="auto">
          <a:xfrm>
            <a:off x="6900961" y="3795186"/>
            <a:ext cx="103211" cy="21718"/>
          </a:xfrm>
          <a:custGeom>
            <a:avLst/>
            <a:gdLst/>
            <a:ahLst/>
            <a:cxnLst>
              <a:cxn ang="0">
                <a:pos x="0" y="24"/>
              </a:cxn>
              <a:cxn ang="0">
                <a:pos x="3" y="55"/>
              </a:cxn>
              <a:cxn ang="0">
                <a:pos x="219" y="38"/>
              </a:cxn>
              <a:cxn ang="0">
                <a:pos x="247" y="0"/>
              </a:cxn>
              <a:cxn ang="0">
                <a:pos x="0" y="24"/>
              </a:cxn>
            </a:cxnLst>
            <a:rect l="0" t="0" r="r" b="b"/>
            <a:pathLst>
              <a:path w="247" h="55">
                <a:moveTo>
                  <a:pt x="0" y="24"/>
                </a:moveTo>
                <a:lnTo>
                  <a:pt x="3" y="55"/>
                </a:lnTo>
                <a:lnTo>
                  <a:pt x="219" y="38"/>
                </a:lnTo>
                <a:lnTo>
                  <a:pt x="247" y="0"/>
                </a:lnTo>
                <a:lnTo>
                  <a:pt x="0" y="2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099" name="Freeform 124">
            <a:extLst>
              <a:ext uri="{FF2B5EF4-FFF2-40B4-BE49-F238E27FC236}">
                <a16:creationId xmlns:a16="http://schemas.microsoft.com/office/drawing/2014/main" id="{2D327EC5-3B7C-94C8-841F-626DB16D9A07}"/>
              </a:ext>
            </a:extLst>
          </p:cNvPr>
          <p:cNvSpPr>
            <a:spLocks/>
          </p:cNvSpPr>
          <p:nvPr/>
        </p:nvSpPr>
        <p:spPr bwMode="auto">
          <a:xfrm>
            <a:off x="6884313" y="3545442"/>
            <a:ext cx="148158" cy="183043"/>
          </a:xfrm>
          <a:custGeom>
            <a:avLst/>
            <a:gdLst/>
            <a:ahLst/>
            <a:cxnLst>
              <a:cxn ang="0">
                <a:pos x="328" y="0"/>
              </a:cxn>
              <a:cxn ang="0">
                <a:pos x="254" y="54"/>
              </a:cxn>
              <a:cxn ang="0">
                <a:pos x="88" y="35"/>
              </a:cxn>
              <a:cxn ang="0">
                <a:pos x="41" y="86"/>
              </a:cxn>
              <a:cxn ang="0">
                <a:pos x="0" y="268"/>
              </a:cxn>
              <a:cxn ang="0">
                <a:pos x="0" y="327"/>
              </a:cxn>
              <a:cxn ang="0">
                <a:pos x="12" y="460"/>
              </a:cxn>
              <a:cxn ang="0">
                <a:pos x="57" y="471"/>
              </a:cxn>
              <a:cxn ang="0">
                <a:pos x="76" y="297"/>
              </a:cxn>
              <a:cxn ang="0">
                <a:pos x="109" y="286"/>
              </a:cxn>
              <a:cxn ang="0">
                <a:pos x="136" y="429"/>
              </a:cxn>
              <a:cxn ang="0">
                <a:pos x="217" y="398"/>
              </a:cxn>
              <a:cxn ang="0">
                <a:pos x="166" y="249"/>
              </a:cxn>
              <a:cxn ang="0">
                <a:pos x="221" y="168"/>
              </a:cxn>
              <a:cxn ang="0">
                <a:pos x="214" y="149"/>
              </a:cxn>
              <a:cxn ang="0">
                <a:pos x="103" y="180"/>
              </a:cxn>
              <a:cxn ang="0">
                <a:pos x="74" y="104"/>
              </a:cxn>
              <a:cxn ang="0">
                <a:pos x="136" y="82"/>
              </a:cxn>
              <a:cxn ang="0">
                <a:pos x="302" y="92"/>
              </a:cxn>
              <a:cxn ang="0">
                <a:pos x="357" y="18"/>
              </a:cxn>
              <a:cxn ang="0">
                <a:pos x="328" y="0"/>
              </a:cxn>
            </a:cxnLst>
            <a:rect l="0" t="0" r="r" b="b"/>
            <a:pathLst>
              <a:path w="357" h="471">
                <a:moveTo>
                  <a:pt x="328" y="0"/>
                </a:moveTo>
                <a:lnTo>
                  <a:pt x="254" y="54"/>
                </a:lnTo>
                <a:lnTo>
                  <a:pt x="88" y="35"/>
                </a:lnTo>
                <a:lnTo>
                  <a:pt x="41" y="86"/>
                </a:lnTo>
                <a:lnTo>
                  <a:pt x="0" y="268"/>
                </a:lnTo>
                <a:lnTo>
                  <a:pt x="0" y="327"/>
                </a:lnTo>
                <a:lnTo>
                  <a:pt x="12" y="460"/>
                </a:lnTo>
                <a:lnTo>
                  <a:pt x="57" y="471"/>
                </a:lnTo>
                <a:lnTo>
                  <a:pt x="76" y="297"/>
                </a:lnTo>
                <a:lnTo>
                  <a:pt x="109" y="286"/>
                </a:lnTo>
                <a:lnTo>
                  <a:pt x="136" y="429"/>
                </a:lnTo>
                <a:lnTo>
                  <a:pt x="217" y="398"/>
                </a:lnTo>
                <a:lnTo>
                  <a:pt x="166" y="249"/>
                </a:lnTo>
                <a:lnTo>
                  <a:pt x="221" y="168"/>
                </a:lnTo>
                <a:lnTo>
                  <a:pt x="214" y="149"/>
                </a:lnTo>
                <a:lnTo>
                  <a:pt x="103" y="180"/>
                </a:lnTo>
                <a:lnTo>
                  <a:pt x="74" y="104"/>
                </a:lnTo>
                <a:lnTo>
                  <a:pt x="136" y="82"/>
                </a:lnTo>
                <a:lnTo>
                  <a:pt x="302" y="92"/>
                </a:lnTo>
                <a:lnTo>
                  <a:pt x="357" y="18"/>
                </a:lnTo>
                <a:lnTo>
                  <a:pt x="328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0" name="Freeform 125">
            <a:extLst>
              <a:ext uri="{FF2B5EF4-FFF2-40B4-BE49-F238E27FC236}">
                <a16:creationId xmlns:a16="http://schemas.microsoft.com/office/drawing/2014/main" id="{D769041F-8AAC-6FAB-0D57-7C68074F64C2}"/>
              </a:ext>
            </a:extLst>
          </p:cNvPr>
          <p:cNvSpPr>
            <a:spLocks/>
          </p:cNvSpPr>
          <p:nvPr/>
        </p:nvSpPr>
        <p:spPr bwMode="auto">
          <a:xfrm>
            <a:off x="7047453" y="3658679"/>
            <a:ext cx="31630" cy="2326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" y="0"/>
              </a:cxn>
              <a:cxn ang="0">
                <a:pos x="79" y="48"/>
              </a:cxn>
              <a:cxn ang="0">
                <a:pos x="22" y="59"/>
              </a:cxn>
              <a:cxn ang="0">
                <a:pos x="0" y="0"/>
              </a:cxn>
            </a:cxnLst>
            <a:rect l="0" t="0" r="r" b="b"/>
            <a:pathLst>
              <a:path w="79" h="59">
                <a:moveTo>
                  <a:pt x="0" y="0"/>
                </a:moveTo>
                <a:lnTo>
                  <a:pt x="48" y="0"/>
                </a:lnTo>
                <a:lnTo>
                  <a:pt x="79" y="48"/>
                </a:lnTo>
                <a:lnTo>
                  <a:pt x="22" y="59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1" name="Freeform 126">
            <a:extLst>
              <a:ext uri="{FF2B5EF4-FFF2-40B4-BE49-F238E27FC236}">
                <a16:creationId xmlns:a16="http://schemas.microsoft.com/office/drawing/2014/main" id="{B0569E91-B379-797D-08B4-E67EFE9676FE}"/>
              </a:ext>
            </a:extLst>
          </p:cNvPr>
          <p:cNvSpPr>
            <a:spLocks/>
          </p:cNvSpPr>
          <p:nvPr/>
        </p:nvSpPr>
        <p:spPr bwMode="auto">
          <a:xfrm>
            <a:off x="7095730" y="3647823"/>
            <a:ext cx="61595" cy="3102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" y="46"/>
              </a:cxn>
              <a:cxn ang="0">
                <a:pos x="88" y="44"/>
              </a:cxn>
              <a:cxn ang="0">
                <a:pos x="134" y="79"/>
              </a:cxn>
              <a:cxn ang="0">
                <a:pos x="151" y="57"/>
              </a:cxn>
              <a:cxn ang="0">
                <a:pos x="105" y="4"/>
              </a:cxn>
              <a:cxn ang="0">
                <a:pos x="0" y="0"/>
              </a:cxn>
            </a:cxnLst>
            <a:rect l="0" t="0" r="r" b="b"/>
            <a:pathLst>
              <a:path w="151" h="79">
                <a:moveTo>
                  <a:pt x="0" y="0"/>
                </a:moveTo>
                <a:lnTo>
                  <a:pt x="13" y="46"/>
                </a:lnTo>
                <a:lnTo>
                  <a:pt x="88" y="44"/>
                </a:lnTo>
                <a:lnTo>
                  <a:pt x="134" y="79"/>
                </a:lnTo>
                <a:lnTo>
                  <a:pt x="151" y="57"/>
                </a:lnTo>
                <a:lnTo>
                  <a:pt x="105" y="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2" name="Freeform 127">
            <a:extLst>
              <a:ext uri="{FF2B5EF4-FFF2-40B4-BE49-F238E27FC236}">
                <a16:creationId xmlns:a16="http://schemas.microsoft.com/office/drawing/2014/main" id="{64490DC4-30F8-197C-ABD3-C2AEF4D3A370}"/>
              </a:ext>
            </a:extLst>
          </p:cNvPr>
          <p:cNvSpPr>
            <a:spLocks/>
          </p:cNvSpPr>
          <p:nvPr/>
        </p:nvSpPr>
        <p:spPr bwMode="auto">
          <a:xfrm>
            <a:off x="7157323" y="3591978"/>
            <a:ext cx="226398" cy="251297"/>
          </a:xfrm>
          <a:custGeom>
            <a:avLst/>
            <a:gdLst/>
            <a:ahLst/>
            <a:cxnLst>
              <a:cxn ang="0">
                <a:pos x="497" y="149"/>
              </a:cxn>
              <a:cxn ang="0">
                <a:pos x="381" y="78"/>
              </a:cxn>
              <a:cxn ang="0">
                <a:pos x="256" y="192"/>
              </a:cxn>
              <a:cxn ang="0">
                <a:pos x="182" y="108"/>
              </a:cxn>
              <a:cxn ang="0">
                <a:pos x="162" y="11"/>
              </a:cxn>
              <a:cxn ang="0">
                <a:pos x="57" y="0"/>
              </a:cxn>
              <a:cxn ang="0">
                <a:pos x="0" y="44"/>
              </a:cxn>
              <a:cxn ang="0">
                <a:pos x="115" y="130"/>
              </a:cxn>
              <a:cxn ang="0">
                <a:pos x="70" y="154"/>
              </a:cxn>
              <a:cxn ang="0">
                <a:pos x="94" y="249"/>
              </a:cxn>
              <a:cxn ang="0">
                <a:pos x="155" y="235"/>
              </a:cxn>
              <a:cxn ang="0">
                <a:pos x="341" y="334"/>
              </a:cxn>
              <a:cxn ang="0">
                <a:pos x="407" y="450"/>
              </a:cxn>
              <a:cxn ang="0">
                <a:pos x="364" y="530"/>
              </a:cxn>
              <a:cxn ang="0">
                <a:pos x="357" y="559"/>
              </a:cxn>
              <a:cxn ang="0">
                <a:pos x="438" y="574"/>
              </a:cxn>
              <a:cxn ang="0">
                <a:pos x="527" y="646"/>
              </a:cxn>
              <a:cxn ang="0">
                <a:pos x="548" y="176"/>
              </a:cxn>
              <a:cxn ang="0">
                <a:pos x="497" y="149"/>
              </a:cxn>
            </a:cxnLst>
            <a:rect l="0" t="0" r="r" b="b"/>
            <a:pathLst>
              <a:path w="548" h="646">
                <a:moveTo>
                  <a:pt x="497" y="149"/>
                </a:moveTo>
                <a:lnTo>
                  <a:pt x="381" y="78"/>
                </a:lnTo>
                <a:lnTo>
                  <a:pt x="256" y="192"/>
                </a:lnTo>
                <a:lnTo>
                  <a:pt x="182" y="108"/>
                </a:lnTo>
                <a:lnTo>
                  <a:pt x="162" y="11"/>
                </a:lnTo>
                <a:lnTo>
                  <a:pt x="57" y="0"/>
                </a:lnTo>
                <a:lnTo>
                  <a:pt x="0" y="44"/>
                </a:lnTo>
                <a:lnTo>
                  <a:pt x="115" y="130"/>
                </a:lnTo>
                <a:lnTo>
                  <a:pt x="70" y="154"/>
                </a:lnTo>
                <a:lnTo>
                  <a:pt x="94" y="249"/>
                </a:lnTo>
                <a:lnTo>
                  <a:pt x="155" y="235"/>
                </a:lnTo>
                <a:lnTo>
                  <a:pt x="341" y="334"/>
                </a:lnTo>
                <a:lnTo>
                  <a:pt x="407" y="450"/>
                </a:lnTo>
                <a:lnTo>
                  <a:pt x="364" y="530"/>
                </a:lnTo>
                <a:lnTo>
                  <a:pt x="357" y="559"/>
                </a:lnTo>
                <a:lnTo>
                  <a:pt x="438" y="574"/>
                </a:lnTo>
                <a:lnTo>
                  <a:pt x="527" y="646"/>
                </a:lnTo>
                <a:lnTo>
                  <a:pt x="548" y="176"/>
                </a:lnTo>
                <a:lnTo>
                  <a:pt x="497" y="14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3" name="Freeform 129">
            <a:extLst>
              <a:ext uri="{FF2B5EF4-FFF2-40B4-BE49-F238E27FC236}">
                <a16:creationId xmlns:a16="http://schemas.microsoft.com/office/drawing/2014/main" id="{CEED8604-9DD6-367E-5F41-E97E61326BCE}"/>
              </a:ext>
            </a:extLst>
          </p:cNvPr>
          <p:cNvSpPr>
            <a:spLocks/>
          </p:cNvSpPr>
          <p:nvPr/>
        </p:nvSpPr>
        <p:spPr bwMode="auto">
          <a:xfrm>
            <a:off x="6601316" y="3076975"/>
            <a:ext cx="56599" cy="49639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27" y="35"/>
              </a:cxn>
              <a:cxn ang="0">
                <a:pos x="0" y="90"/>
              </a:cxn>
              <a:cxn ang="0">
                <a:pos x="27" y="125"/>
              </a:cxn>
              <a:cxn ang="0">
                <a:pos x="79" y="131"/>
              </a:cxn>
              <a:cxn ang="0">
                <a:pos x="136" y="48"/>
              </a:cxn>
              <a:cxn ang="0">
                <a:pos x="97" y="0"/>
              </a:cxn>
            </a:cxnLst>
            <a:rect l="0" t="0" r="r" b="b"/>
            <a:pathLst>
              <a:path w="136" h="131">
                <a:moveTo>
                  <a:pt x="97" y="0"/>
                </a:moveTo>
                <a:lnTo>
                  <a:pt x="27" y="35"/>
                </a:lnTo>
                <a:lnTo>
                  <a:pt x="0" y="90"/>
                </a:lnTo>
                <a:lnTo>
                  <a:pt x="27" y="125"/>
                </a:lnTo>
                <a:lnTo>
                  <a:pt x="79" y="131"/>
                </a:lnTo>
                <a:lnTo>
                  <a:pt x="136" y="48"/>
                </a:lnTo>
                <a:lnTo>
                  <a:pt x="97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4" name="Freeform 130">
            <a:extLst>
              <a:ext uri="{FF2B5EF4-FFF2-40B4-BE49-F238E27FC236}">
                <a16:creationId xmlns:a16="http://schemas.microsoft.com/office/drawing/2014/main" id="{6941451E-1D75-46FA-9E21-5F40919966CC}"/>
              </a:ext>
            </a:extLst>
          </p:cNvPr>
          <p:cNvSpPr>
            <a:spLocks/>
          </p:cNvSpPr>
          <p:nvPr/>
        </p:nvSpPr>
        <p:spPr bwMode="auto">
          <a:xfrm>
            <a:off x="5715700" y="2105913"/>
            <a:ext cx="1176939" cy="960202"/>
          </a:xfrm>
          <a:custGeom>
            <a:avLst/>
            <a:gdLst/>
            <a:ahLst/>
            <a:cxnLst>
              <a:cxn ang="0">
                <a:pos x="2758" y="272"/>
              </a:cxn>
              <a:cxn ang="0">
                <a:pos x="2187" y="23"/>
              </a:cxn>
              <a:cxn ang="0">
                <a:pos x="1965" y="120"/>
              </a:cxn>
              <a:cxn ang="0">
                <a:pos x="1858" y="338"/>
              </a:cxn>
              <a:cxn ang="0">
                <a:pos x="2087" y="544"/>
              </a:cxn>
              <a:cxn ang="0">
                <a:pos x="1874" y="750"/>
              </a:cxn>
              <a:cxn ang="0">
                <a:pos x="1718" y="966"/>
              </a:cxn>
              <a:cxn ang="0">
                <a:pos x="1374" y="1017"/>
              </a:cxn>
              <a:cxn ang="0">
                <a:pos x="1012" y="946"/>
              </a:cxn>
              <a:cxn ang="0">
                <a:pos x="508" y="626"/>
              </a:cxn>
              <a:cxn ang="0">
                <a:pos x="484" y="632"/>
              </a:cxn>
              <a:cxn ang="0">
                <a:pos x="331" y="926"/>
              </a:cxn>
              <a:cxn ang="0">
                <a:pos x="279" y="1145"/>
              </a:cxn>
              <a:cxn ang="0">
                <a:pos x="215" y="1215"/>
              </a:cxn>
              <a:cxn ang="0">
                <a:pos x="16" y="1362"/>
              </a:cxn>
              <a:cxn ang="0">
                <a:pos x="100" y="1487"/>
              </a:cxn>
              <a:cxn ang="0">
                <a:pos x="89" y="1515"/>
              </a:cxn>
              <a:cxn ang="0">
                <a:pos x="189" y="1574"/>
              </a:cxn>
              <a:cxn ang="0">
                <a:pos x="310" y="1666"/>
              </a:cxn>
              <a:cxn ang="0">
                <a:pos x="418" y="1918"/>
              </a:cxn>
              <a:cxn ang="0">
                <a:pos x="553" y="1953"/>
              </a:cxn>
              <a:cxn ang="0">
                <a:pos x="989" y="2077"/>
              </a:cxn>
              <a:cxn ang="0">
                <a:pos x="1164" y="2043"/>
              </a:cxn>
              <a:cxn ang="0">
                <a:pos x="1346" y="1946"/>
              </a:cxn>
              <a:cxn ang="0">
                <a:pos x="1425" y="2002"/>
              </a:cxn>
              <a:cxn ang="0">
                <a:pos x="1514" y="2169"/>
              </a:cxn>
              <a:cxn ang="0">
                <a:pos x="1652" y="2432"/>
              </a:cxn>
              <a:cxn ang="0">
                <a:pos x="1701" y="2446"/>
              </a:cxn>
              <a:cxn ang="0">
                <a:pos x="1795" y="2352"/>
              </a:cxn>
              <a:cxn ang="0">
                <a:pos x="2079" y="2434"/>
              </a:cxn>
              <a:cxn ang="0">
                <a:pos x="2178" y="2476"/>
              </a:cxn>
              <a:cxn ang="0">
                <a:pos x="2239" y="2412"/>
              </a:cxn>
              <a:cxn ang="0">
                <a:pos x="2364" y="2325"/>
              </a:cxn>
              <a:cxn ang="0">
                <a:pos x="2507" y="2282"/>
              </a:cxn>
              <a:cxn ang="0">
                <a:pos x="2605" y="1764"/>
              </a:cxn>
              <a:cxn ang="0">
                <a:pos x="2433" y="1477"/>
              </a:cxn>
              <a:cxn ang="0">
                <a:pos x="2505" y="1248"/>
              </a:cxn>
              <a:cxn ang="0">
                <a:pos x="2336" y="1291"/>
              </a:cxn>
              <a:cxn ang="0">
                <a:pos x="2358" y="1016"/>
              </a:cxn>
              <a:cxn ang="0">
                <a:pos x="2423" y="1135"/>
              </a:cxn>
              <a:cxn ang="0">
                <a:pos x="2531" y="1058"/>
              </a:cxn>
              <a:cxn ang="0">
                <a:pos x="2697" y="903"/>
              </a:cxn>
              <a:cxn ang="0">
                <a:pos x="2750" y="773"/>
              </a:cxn>
              <a:cxn ang="0">
                <a:pos x="2720" y="610"/>
              </a:cxn>
            </a:cxnLst>
            <a:rect l="0" t="0" r="r" b="b"/>
            <a:pathLst>
              <a:path w="2828" h="2476">
                <a:moveTo>
                  <a:pt x="2800" y="567"/>
                </a:moveTo>
                <a:lnTo>
                  <a:pt x="2828" y="547"/>
                </a:lnTo>
                <a:lnTo>
                  <a:pt x="2758" y="272"/>
                </a:lnTo>
                <a:lnTo>
                  <a:pt x="2648" y="364"/>
                </a:lnTo>
                <a:lnTo>
                  <a:pt x="2409" y="251"/>
                </a:lnTo>
                <a:lnTo>
                  <a:pt x="2187" y="23"/>
                </a:lnTo>
                <a:lnTo>
                  <a:pt x="2003" y="0"/>
                </a:lnTo>
                <a:lnTo>
                  <a:pt x="1914" y="101"/>
                </a:lnTo>
                <a:lnTo>
                  <a:pt x="1965" y="120"/>
                </a:lnTo>
                <a:lnTo>
                  <a:pt x="1973" y="211"/>
                </a:lnTo>
                <a:lnTo>
                  <a:pt x="1953" y="333"/>
                </a:lnTo>
                <a:lnTo>
                  <a:pt x="1858" y="338"/>
                </a:lnTo>
                <a:lnTo>
                  <a:pt x="1871" y="501"/>
                </a:lnTo>
                <a:lnTo>
                  <a:pt x="2014" y="490"/>
                </a:lnTo>
                <a:lnTo>
                  <a:pt x="2087" y="544"/>
                </a:lnTo>
                <a:lnTo>
                  <a:pt x="1953" y="648"/>
                </a:lnTo>
                <a:lnTo>
                  <a:pt x="1947" y="687"/>
                </a:lnTo>
                <a:lnTo>
                  <a:pt x="1874" y="750"/>
                </a:lnTo>
                <a:lnTo>
                  <a:pt x="1785" y="758"/>
                </a:lnTo>
                <a:lnTo>
                  <a:pt x="1807" y="860"/>
                </a:lnTo>
                <a:lnTo>
                  <a:pt x="1718" y="966"/>
                </a:lnTo>
                <a:lnTo>
                  <a:pt x="1650" y="969"/>
                </a:lnTo>
                <a:lnTo>
                  <a:pt x="1532" y="1053"/>
                </a:lnTo>
                <a:lnTo>
                  <a:pt x="1374" y="1017"/>
                </a:lnTo>
                <a:lnTo>
                  <a:pt x="1272" y="1013"/>
                </a:lnTo>
                <a:lnTo>
                  <a:pt x="1058" y="1045"/>
                </a:lnTo>
                <a:lnTo>
                  <a:pt x="1012" y="946"/>
                </a:lnTo>
                <a:lnTo>
                  <a:pt x="716" y="865"/>
                </a:lnTo>
                <a:lnTo>
                  <a:pt x="640" y="684"/>
                </a:lnTo>
                <a:lnTo>
                  <a:pt x="508" y="626"/>
                </a:lnTo>
                <a:lnTo>
                  <a:pt x="491" y="618"/>
                </a:lnTo>
                <a:lnTo>
                  <a:pt x="489" y="621"/>
                </a:lnTo>
                <a:lnTo>
                  <a:pt x="484" y="632"/>
                </a:lnTo>
                <a:lnTo>
                  <a:pt x="435" y="745"/>
                </a:lnTo>
                <a:lnTo>
                  <a:pt x="297" y="783"/>
                </a:lnTo>
                <a:lnTo>
                  <a:pt x="331" y="926"/>
                </a:lnTo>
                <a:lnTo>
                  <a:pt x="227" y="980"/>
                </a:lnTo>
                <a:lnTo>
                  <a:pt x="281" y="1056"/>
                </a:lnTo>
                <a:lnTo>
                  <a:pt x="279" y="1145"/>
                </a:lnTo>
                <a:lnTo>
                  <a:pt x="271" y="1145"/>
                </a:lnTo>
                <a:lnTo>
                  <a:pt x="288" y="1170"/>
                </a:lnTo>
                <a:lnTo>
                  <a:pt x="215" y="1215"/>
                </a:lnTo>
                <a:lnTo>
                  <a:pt x="116" y="1278"/>
                </a:lnTo>
                <a:lnTo>
                  <a:pt x="86" y="1297"/>
                </a:lnTo>
                <a:lnTo>
                  <a:pt x="16" y="1362"/>
                </a:lnTo>
                <a:lnTo>
                  <a:pt x="0" y="1379"/>
                </a:lnTo>
                <a:lnTo>
                  <a:pt x="9" y="1388"/>
                </a:lnTo>
                <a:lnTo>
                  <a:pt x="100" y="1487"/>
                </a:lnTo>
                <a:lnTo>
                  <a:pt x="101" y="1487"/>
                </a:lnTo>
                <a:lnTo>
                  <a:pt x="91" y="1511"/>
                </a:lnTo>
                <a:lnTo>
                  <a:pt x="89" y="1515"/>
                </a:lnTo>
                <a:lnTo>
                  <a:pt x="76" y="1547"/>
                </a:lnTo>
                <a:lnTo>
                  <a:pt x="81" y="1545"/>
                </a:lnTo>
                <a:lnTo>
                  <a:pt x="189" y="1574"/>
                </a:lnTo>
                <a:lnTo>
                  <a:pt x="222" y="1616"/>
                </a:lnTo>
                <a:lnTo>
                  <a:pt x="267" y="1613"/>
                </a:lnTo>
                <a:lnTo>
                  <a:pt x="310" y="1666"/>
                </a:lnTo>
                <a:lnTo>
                  <a:pt x="420" y="1808"/>
                </a:lnTo>
                <a:lnTo>
                  <a:pt x="379" y="1844"/>
                </a:lnTo>
                <a:lnTo>
                  <a:pt x="418" y="1918"/>
                </a:lnTo>
                <a:lnTo>
                  <a:pt x="514" y="1963"/>
                </a:lnTo>
                <a:lnTo>
                  <a:pt x="526" y="1960"/>
                </a:lnTo>
                <a:lnTo>
                  <a:pt x="553" y="1953"/>
                </a:lnTo>
                <a:lnTo>
                  <a:pt x="918" y="2078"/>
                </a:lnTo>
                <a:lnTo>
                  <a:pt x="951" y="2077"/>
                </a:lnTo>
                <a:lnTo>
                  <a:pt x="989" y="2077"/>
                </a:lnTo>
                <a:lnTo>
                  <a:pt x="1084" y="2075"/>
                </a:lnTo>
                <a:lnTo>
                  <a:pt x="1159" y="2045"/>
                </a:lnTo>
                <a:lnTo>
                  <a:pt x="1164" y="2043"/>
                </a:lnTo>
                <a:lnTo>
                  <a:pt x="1185" y="2035"/>
                </a:lnTo>
                <a:lnTo>
                  <a:pt x="1262" y="1976"/>
                </a:lnTo>
                <a:lnTo>
                  <a:pt x="1346" y="1946"/>
                </a:lnTo>
                <a:lnTo>
                  <a:pt x="1395" y="2022"/>
                </a:lnTo>
                <a:lnTo>
                  <a:pt x="1413" y="2022"/>
                </a:lnTo>
                <a:lnTo>
                  <a:pt x="1425" y="2002"/>
                </a:lnTo>
                <a:lnTo>
                  <a:pt x="1417" y="2022"/>
                </a:lnTo>
                <a:lnTo>
                  <a:pt x="1445" y="2022"/>
                </a:lnTo>
                <a:lnTo>
                  <a:pt x="1514" y="2169"/>
                </a:lnTo>
                <a:lnTo>
                  <a:pt x="1508" y="2194"/>
                </a:lnTo>
                <a:lnTo>
                  <a:pt x="1484" y="2284"/>
                </a:lnTo>
                <a:lnTo>
                  <a:pt x="1652" y="2432"/>
                </a:lnTo>
                <a:lnTo>
                  <a:pt x="1692" y="2444"/>
                </a:lnTo>
                <a:lnTo>
                  <a:pt x="1696" y="2445"/>
                </a:lnTo>
                <a:lnTo>
                  <a:pt x="1701" y="2446"/>
                </a:lnTo>
                <a:lnTo>
                  <a:pt x="1736" y="2411"/>
                </a:lnTo>
                <a:lnTo>
                  <a:pt x="1752" y="2395"/>
                </a:lnTo>
                <a:lnTo>
                  <a:pt x="1795" y="2352"/>
                </a:lnTo>
                <a:lnTo>
                  <a:pt x="1847" y="2344"/>
                </a:lnTo>
                <a:lnTo>
                  <a:pt x="1978" y="2322"/>
                </a:lnTo>
                <a:lnTo>
                  <a:pt x="2079" y="2434"/>
                </a:lnTo>
                <a:lnTo>
                  <a:pt x="2087" y="2426"/>
                </a:lnTo>
                <a:lnTo>
                  <a:pt x="2146" y="2421"/>
                </a:lnTo>
                <a:lnTo>
                  <a:pt x="2178" y="2476"/>
                </a:lnTo>
                <a:lnTo>
                  <a:pt x="2212" y="2465"/>
                </a:lnTo>
                <a:lnTo>
                  <a:pt x="2213" y="2441"/>
                </a:lnTo>
                <a:lnTo>
                  <a:pt x="2239" y="2412"/>
                </a:lnTo>
                <a:lnTo>
                  <a:pt x="2345" y="2371"/>
                </a:lnTo>
                <a:lnTo>
                  <a:pt x="2341" y="2342"/>
                </a:lnTo>
                <a:lnTo>
                  <a:pt x="2364" y="2325"/>
                </a:lnTo>
                <a:lnTo>
                  <a:pt x="2380" y="2325"/>
                </a:lnTo>
                <a:lnTo>
                  <a:pt x="2392" y="2347"/>
                </a:lnTo>
                <a:lnTo>
                  <a:pt x="2507" y="2282"/>
                </a:lnTo>
                <a:lnTo>
                  <a:pt x="2640" y="2051"/>
                </a:lnTo>
                <a:lnTo>
                  <a:pt x="2690" y="1788"/>
                </a:lnTo>
                <a:lnTo>
                  <a:pt x="2605" y="1764"/>
                </a:lnTo>
                <a:lnTo>
                  <a:pt x="2610" y="1693"/>
                </a:lnTo>
                <a:lnTo>
                  <a:pt x="2633" y="1677"/>
                </a:lnTo>
                <a:lnTo>
                  <a:pt x="2433" y="1477"/>
                </a:lnTo>
                <a:lnTo>
                  <a:pt x="2417" y="1365"/>
                </a:lnTo>
                <a:lnTo>
                  <a:pt x="2519" y="1284"/>
                </a:lnTo>
                <a:lnTo>
                  <a:pt x="2505" y="1248"/>
                </a:lnTo>
                <a:lnTo>
                  <a:pt x="2408" y="1240"/>
                </a:lnTo>
                <a:lnTo>
                  <a:pt x="2363" y="1293"/>
                </a:lnTo>
                <a:lnTo>
                  <a:pt x="2336" y="1291"/>
                </a:lnTo>
                <a:lnTo>
                  <a:pt x="2221" y="1171"/>
                </a:lnTo>
                <a:lnTo>
                  <a:pt x="2257" y="1130"/>
                </a:lnTo>
                <a:lnTo>
                  <a:pt x="2358" y="1016"/>
                </a:lnTo>
                <a:lnTo>
                  <a:pt x="2419" y="1028"/>
                </a:lnTo>
                <a:lnTo>
                  <a:pt x="2422" y="1118"/>
                </a:lnTo>
                <a:lnTo>
                  <a:pt x="2423" y="1135"/>
                </a:lnTo>
                <a:lnTo>
                  <a:pt x="2452" y="1137"/>
                </a:lnTo>
                <a:lnTo>
                  <a:pt x="2475" y="1114"/>
                </a:lnTo>
                <a:lnTo>
                  <a:pt x="2531" y="1058"/>
                </a:lnTo>
                <a:lnTo>
                  <a:pt x="2544" y="1061"/>
                </a:lnTo>
                <a:lnTo>
                  <a:pt x="2631" y="910"/>
                </a:lnTo>
                <a:lnTo>
                  <a:pt x="2697" y="903"/>
                </a:lnTo>
                <a:lnTo>
                  <a:pt x="2690" y="854"/>
                </a:lnTo>
                <a:lnTo>
                  <a:pt x="2748" y="776"/>
                </a:lnTo>
                <a:lnTo>
                  <a:pt x="2750" y="773"/>
                </a:lnTo>
                <a:lnTo>
                  <a:pt x="2753" y="768"/>
                </a:lnTo>
                <a:lnTo>
                  <a:pt x="2784" y="720"/>
                </a:lnTo>
                <a:lnTo>
                  <a:pt x="2720" y="610"/>
                </a:lnTo>
                <a:lnTo>
                  <a:pt x="2767" y="565"/>
                </a:lnTo>
                <a:lnTo>
                  <a:pt x="2800" y="567"/>
                </a:lnTo>
                <a:close/>
              </a:path>
            </a:pathLst>
          </a:custGeom>
          <a:solidFill>
            <a:srgbClr val="F7D117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5" name="Freeform 131">
            <a:extLst>
              <a:ext uri="{FF2B5EF4-FFF2-40B4-BE49-F238E27FC236}">
                <a16:creationId xmlns:a16="http://schemas.microsoft.com/office/drawing/2014/main" id="{85734F68-016C-7C4F-16C2-125A116C69F5}"/>
              </a:ext>
            </a:extLst>
          </p:cNvPr>
          <p:cNvSpPr>
            <a:spLocks/>
          </p:cNvSpPr>
          <p:nvPr/>
        </p:nvSpPr>
        <p:spPr bwMode="auto">
          <a:xfrm>
            <a:off x="6689545" y="3008721"/>
            <a:ext cx="21641" cy="1706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0" y="17"/>
              </a:cxn>
              <a:cxn ang="0">
                <a:pos x="4" y="46"/>
              </a:cxn>
              <a:cxn ang="0">
                <a:pos x="24" y="38"/>
              </a:cxn>
              <a:cxn ang="0">
                <a:pos x="51" y="22"/>
              </a:cxn>
              <a:cxn ang="0">
                <a:pos x="39" y="0"/>
              </a:cxn>
              <a:cxn ang="0">
                <a:pos x="23" y="0"/>
              </a:cxn>
            </a:cxnLst>
            <a:rect l="0" t="0" r="r" b="b"/>
            <a:pathLst>
              <a:path w="51" h="46">
                <a:moveTo>
                  <a:pt x="23" y="0"/>
                </a:moveTo>
                <a:lnTo>
                  <a:pt x="0" y="17"/>
                </a:lnTo>
                <a:lnTo>
                  <a:pt x="4" y="46"/>
                </a:lnTo>
                <a:lnTo>
                  <a:pt x="24" y="38"/>
                </a:lnTo>
                <a:lnTo>
                  <a:pt x="51" y="22"/>
                </a:lnTo>
                <a:lnTo>
                  <a:pt x="39" y="0"/>
                </a:lnTo>
                <a:lnTo>
                  <a:pt x="23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6" name="Freeform 132">
            <a:extLst>
              <a:ext uri="{FF2B5EF4-FFF2-40B4-BE49-F238E27FC236}">
                <a16:creationId xmlns:a16="http://schemas.microsoft.com/office/drawing/2014/main" id="{3BDEA897-BC34-F66D-2062-B686C3C1FC21}"/>
              </a:ext>
            </a:extLst>
          </p:cNvPr>
          <p:cNvSpPr>
            <a:spLocks/>
          </p:cNvSpPr>
          <p:nvPr/>
        </p:nvSpPr>
        <p:spPr bwMode="auto">
          <a:xfrm>
            <a:off x="6123550" y="2900137"/>
            <a:ext cx="78241" cy="38780"/>
          </a:xfrm>
          <a:custGeom>
            <a:avLst/>
            <a:gdLst/>
            <a:ahLst/>
            <a:cxnLst>
              <a:cxn ang="0">
                <a:pos x="8" y="32"/>
              </a:cxn>
              <a:cxn ang="0">
                <a:pos x="0" y="79"/>
              </a:cxn>
              <a:cxn ang="0">
                <a:pos x="64" y="101"/>
              </a:cxn>
              <a:cxn ang="0">
                <a:pos x="189" y="81"/>
              </a:cxn>
              <a:cxn ang="0">
                <a:pos x="178" y="0"/>
              </a:cxn>
              <a:cxn ang="0">
                <a:pos x="103" y="30"/>
              </a:cxn>
              <a:cxn ang="0">
                <a:pos x="8" y="32"/>
              </a:cxn>
            </a:cxnLst>
            <a:rect l="0" t="0" r="r" b="b"/>
            <a:pathLst>
              <a:path w="189" h="101">
                <a:moveTo>
                  <a:pt x="8" y="32"/>
                </a:moveTo>
                <a:lnTo>
                  <a:pt x="0" y="79"/>
                </a:lnTo>
                <a:lnTo>
                  <a:pt x="64" y="101"/>
                </a:lnTo>
                <a:lnTo>
                  <a:pt x="189" y="81"/>
                </a:lnTo>
                <a:lnTo>
                  <a:pt x="178" y="0"/>
                </a:lnTo>
                <a:lnTo>
                  <a:pt x="103" y="30"/>
                </a:lnTo>
                <a:lnTo>
                  <a:pt x="8" y="3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7" name="Freeform 133">
            <a:extLst>
              <a:ext uri="{FF2B5EF4-FFF2-40B4-BE49-F238E27FC236}">
                <a16:creationId xmlns:a16="http://schemas.microsoft.com/office/drawing/2014/main" id="{ACD73BD4-CBB2-B808-7ACC-99E91BDABCB1}"/>
              </a:ext>
            </a:extLst>
          </p:cNvPr>
          <p:cNvSpPr>
            <a:spLocks/>
          </p:cNvSpPr>
          <p:nvPr/>
        </p:nvSpPr>
        <p:spPr bwMode="auto">
          <a:xfrm>
            <a:off x="6774442" y="3453920"/>
            <a:ext cx="29964" cy="32575"/>
          </a:xfrm>
          <a:custGeom>
            <a:avLst/>
            <a:gdLst/>
            <a:ahLst/>
            <a:cxnLst>
              <a:cxn ang="0">
                <a:pos x="72" y="23"/>
              </a:cxn>
              <a:cxn ang="0">
                <a:pos x="59" y="0"/>
              </a:cxn>
              <a:cxn ang="0">
                <a:pos x="56" y="6"/>
              </a:cxn>
              <a:cxn ang="0">
                <a:pos x="0" y="50"/>
              </a:cxn>
              <a:cxn ang="0">
                <a:pos x="35" y="82"/>
              </a:cxn>
              <a:cxn ang="0">
                <a:pos x="72" y="23"/>
              </a:cxn>
            </a:cxnLst>
            <a:rect l="0" t="0" r="r" b="b"/>
            <a:pathLst>
              <a:path w="72" h="82">
                <a:moveTo>
                  <a:pt x="72" y="23"/>
                </a:moveTo>
                <a:lnTo>
                  <a:pt x="59" y="0"/>
                </a:lnTo>
                <a:lnTo>
                  <a:pt x="56" y="6"/>
                </a:lnTo>
                <a:lnTo>
                  <a:pt x="0" y="50"/>
                </a:lnTo>
                <a:lnTo>
                  <a:pt x="35" y="82"/>
                </a:lnTo>
                <a:lnTo>
                  <a:pt x="72" y="2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8" name="Freeform 134">
            <a:extLst>
              <a:ext uri="{FF2B5EF4-FFF2-40B4-BE49-F238E27FC236}">
                <a16:creationId xmlns:a16="http://schemas.microsoft.com/office/drawing/2014/main" id="{D0FEC383-49D8-EC9C-7A5A-00D73724E13B}"/>
              </a:ext>
            </a:extLst>
          </p:cNvPr>
          <p:cNvSpPr>
            <a:spLocks/>
          </p:cNvSpPr>
          <p:nvPr/>
        </p:nvSpPr>
        <p:spPr bwMode="auto">
          <a:xfrm>
            <a:off x="6113560" y="2952877"/>
            <a:ext cx="124854" cy="130302"/>
          </a:xfrm>
          <a:custGeom>
            <a:avLst/>
            <a:gdLst/>
            <a:ahLst/>
            <a:cxnLst>
              <a:cxn ang="0">
                <a:pos x="225" y="150"/>
              </a:cxn>
              <a:cxn ang="0">
                <a:pos x="194" y="129"/>
              </a:cxn>
              <a:cxn ang="0">
                <a:pos x="243" y="104"/>
              </a:cxn>
              <a:cxn ang="0">
                <a:pos x="234" y="68"/>
              </a:cxn>
              <a:cxn ang="0">
                <a:pos x="92" y="61"/>
              </a:cxn>
              <a:cxn ang="0">
                <a:pos x="87" y="0"/>
              </a:cxn>
              <a:cxn ang="0">
                <a:pos x="0" y="3"/>
              </a:cxn>
              <a:cxn ang="0">
                <a:pos x="92" y="288"/>
              </a:cxn>
              <a:cxn ang="0">
                <a:pos x="217" y="250"/>
              </a:cxn>
              <a:cxn ang="0">
                <a:pos x="241" y="286"/>
              </a:cxn>
              <a:cxn ang="0">
                <a:pos x="273" y="333"/>
              </a:cxn>
              <a:cxn ang="0">
                <a:pos x="275" y="335"/>
              </a:cxn>
              <a:cxn ang="0">
                <a:pos x="289" y="281"/>
              </a:cxn>
              <a:cxn ang="0">
                <a:pos x="298" y="246"/>
              </a:cxn>
              <a:cxn ang="0">
                <a:pos x="225" y="150"/>
              </a:cxn>
            </a:cxnLst>
            <a:rect l="0" t="0" r="r" b="b"/>
            <a:pathLst>
              <a:path w="298" h="335">
                <a:moveTo>
                  <a:pt x="225" y="150"/>
                </a:moveTo>
                <a:lnTo>
                  <a:pt x="194" y="129"/>
                </a:lnTo>
                <a:lnTo>
                  <a:pt x="243" y="104"/>
                </a:lnTo>
                <a:lnTo>
                  <a:pt x="234" y="68"/>
                </a:lnTo>
                <a:lnTo>
                  <a:pt x="92" y="61"/>
                </a:lnTo>
                <a:lnTo>
                  <a:pt x="87" y="0"/>
                </a:lnTo>
                <a:lnTo>
                  <a:pt x="0" y="3"/>
                </a:lnTo>
                <a:lnTo>
                  <a:pt x="92" y="288"/>
                </a:lnTo>
                <a:lnTo>
                  <a:pt x="217" y="250"/>
                </a:lnTo>
                <a:lnTo>
                  <a:pt x="241" y="286"/>
                </a:lnTo>
                <a:lnTo>
                  <a:pt x="273" y="333"/>
                </a:lnTo>
                <a:lnTo>
                  <a:pt x="275" y="335"/>
                </a:lnTo>
                <a:lnTo>
                  <a:pt x="289" y="281"/>
                </a:lnTo>
                <a:lnTo>
                  <a:pt x="298" y="246"/>
                </a:lnTo>
                <a:lnTo>
                  <a:pt x="225" y="15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09" name="Freeform 14">
            <a:extLst>
              <a:ext uri="{FF2B5EF4-FFF2-40B4-BE49-F238E27FC236}">
                <a16:creationId xmlns:a16="http://schemas.microsoft.com/office/drawing/2014/main" id="{55F0A764-D22B-1C5E-7CBE-2F11597D8FA8}"/>
              </a:ext>
            </a:extLst>
          </p:cNvPr>
          <p:cNvSpPr>
            <a:spLocks/>
          </p:cNvSpPr>
          <p:nvPr/>
        </p:nvSpPr>
        <p:spPr bwMode="auto">
          <a:xfrm>
            <a:off x="4398926" y="2403746"/>
            <a:ext cx="143163" cy="68253"/>
          </a:xfrm>
          <a:custGeom>
            <a:avLst/>
            <a:gdLst/>
            <a:ahLst/>
            <a:cxnLst>
              <a:cxn ang="0">
                <a:pos x="262" y="40"/>
              </a:cxn>
              <a:cxn ang="0">
                <a:pos x="235" y="53"/>
              </a:cxn>
              <a:cxn ang="0">
                <a:pos x="218" y="47"/>
              </a:cxn>
              <a:cxn ang="0">
                <a:pos x="222" y="29"/>
              </a:cxn>
              <a:cxn ang="0">
                <a:pos x="161" y="5"/>
              </a:cxn>
              <a:cxn ang="0">
                <a:pos x="149" y="0"/>
              </a:cxn>
              <a:cxn ang="0">
                <a:pos x="0" y="53"/>
              </a:cxn>
              <a:cxn ang="0">
                <a:pos x="42" y="106"/>
              </a:cxn>
              <a:cxn ang="0">
                <a:pos x="101" y="147"/>
              </a:cxn>
              <a:cxn ang="0">
                <a:pos x="109" y="170"/>
              </a:cxn>
              <a:cxn ang="0">
                <a:pos x="110" y="170"/>
              </a:cxn>
              <a:cxn ang="0">
                <a:pos x="115" y="171"/>
              </a:cxn>
              <a:cxn ang="0">
                <a:pos x="130" y="175"/>
              </a:cxn>
              <a:cxn ang="0">
                <a:pos x="145" y="145"/>
              </a:cxn>
              <a:cxn ang="0">
                <a:pos x="177" y="136"/>
              </a:cxn>
              <a:cxn ang="0">
                <a:pos x="247" y="154"/>
              </a:cxn>
              <a:cxn ang="0">
                <a:pos x="259" y="158"/>
              </a:cxn>
              <a:cxn ang="0">
                <a:pos x="260" y="159"/>
              </a:cxn>
              <a:cxn ang="0">
                <a:pos x="343" y="93"/>
              </a:cxn>
              <a:cxn ang="0">
                <a:pos x="343" y="70"/>
              </a:cxn>
              <a:cxn ang="0">
                <a:pos x="262" y="40"/>
              </a:cxn>
            </a:cxnLst>
            <a:rect l="0" t="0" r="r" b="b"/>
            <a:pathLst>
              <a:path w="343" h="175">
                <a:moveTo>
                  <a:pt x="262" y="40"/>
                </a:moveTo>
                <a:lnTo>
                  <a:pt x="235" y="53"/>
                </a:lnTo>
                <a:lnTo>
                  <a:pt x="218" y="47"/>
                </a:lnTo>
                <a:lnTo>
                  <a:pt x="222" y="29"/>
                </a:lnTo>
                <a:lnTo>
                  <a:pt x="161" y="5"/>
                </a:lnTo>
                <a:lnTo>
                  <a:pt x="149" y="0"/>
                </a:lnTo>
                <a:lnTo>
                  <a:pt x="0" y="53"/>
                </a:lnTo>
                <a:lnTo>
                  <a:pt x="42" y="106"/>
                </a:lnTo>
                <a:lnTo>
                  <a:pt x="101" y="147"/>
                </a:lnTo>
                <a:lnTo>
                  <a:pt x="109" y="170"/>
                </a:lnTo>
                <a:lnTo>
                  <a:pt x="110" y="170"/>
                </a:lnTo>
                <a:lnTo>
                  <a:pt x="115" y="171"/>
                </a:lnTo>
                <a:lnTo>
                  <a:pt x="130" y="175"/>
                </a:lnTo>
                <a:lnTo>
                  <a:pt x="145" y="145"/>
                </a:lnTo>
                <a:lnTo>
                  <a:pt x="177" y="136"/>
                </a:lnTo>
                <a:lnTo>
                  <a:pt x="247" y="154"/>
                </a:lnTo>
                <a:lnTo>
                  <a:pt x="259" y="158"/>
                </a:lnTo>
                <a:lnTo>
                  <a:pt x="260" y="159"/>
                </a:lnTo>
                <a:lnTo>
                  <a:pt x="343" y="93"/>
                </a:lnTo>
                <a:lnTo>
                  <a:pt x="343" y="70"/>
                </a:lnTo>
                <a:lnTo>
                  <a:pt x="262" y="40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0" name="Freeform 29">
            <a:extLst>
              <a:ext uri="{FF2B5EF4-FFF2-40B4-BE49-F238E27FC236}">
                <a16:creationId xmlns:a16="http://schemas.microsoft.com/office/drawing/2014/main" id="{A6F90C4D-8C13-CF16-FF1D-10D420376E0D}"/>
              </a:ext>
            </a:extLst>
          </p:cNvPr>
          <p:cNvSpPr>
            <a:spLocks/>
          </p:cNvSpPr>
          <p:nvPr/>
        </p:nvSpPr>
        <p:spPr bwMode="auto">
          <a:xfrm>
            <a:off x="4701901" y="2464243"/>
            <a:ext cx="74911" cy="82214"/>
          </a:xfrm>
          <a:custGeom>
            <a:avLst/>
            <a:gdLst/>
            <a:ahLst/>
            <a:cxnLst>
              <a:cxn ang="0">
                <a:pos x="126" y="28"/>
              </a:cxn>
              <a:cxn ang="0">
                <a:pos x="5" y="0"/>
              </a:cxn>
              <a:cxn ang="0">
                <a:pos x="0" y="17"/>
              </a:cxn>
              <a:cxn ang="0">
                <a:pos x="25" y="33"/>
              </a:cxn>
              <a:cxn ang="0">
                <a:pos x="94" y="118"/>
              </a:cxn>
              <a:cxn ang="0">
                <a:pos x="94" y="123"/>
              </a:cxn>
              <a:cxn ang="0">
                <a:pos x="99" y="212"/>
              </a:cxn>
              <a:cxn ang="0">
                <a:pos x="130" y="189"/>
              </a:cxn>
              <a:cxn ang="0">
                <a:pos x="134" y="164"/>
              </a:cxn>
              <a:cxn ang="0">
                <a:pos x="138" y="142"/>
              </a:cxn>
              <a:cxn ang="0">
                <a:pos x="155" y="145"/>
              </a:cxn>
              <a:cxn ang="0">
                <a:pos x="179" y="116"/>
              </a:cxn>
              <a:cxn ang="0">
                <a:pos x="126" y="28"/>
              </a:cxn>
            </a:cxnLst>
            <a:rect l="0" t="0" r="r" b="b"/>
            <a:pathLst>
              <a:path w="179" h="212">
                <a:moveTo>
                  <a:pt x="126" y="28"/>
                </a:moveTo>
                <a:lnTo>
                  <a:pt x="5" y="0"/>
                </a:lnTo>
                <a:lnTo>
                  <a:pt x="0" y="17"/>
                </a:lnTo>
                <a:lnTo>
                  <a:pt x="25" y="33"/>
                </a:lnTo>
                <a:lnTo>
                  <a:pt x="94" y="118"/>
                </a:lnTo>
                <a:lnTo>
                  <a:pt x="94" y="123"/>
                </a:lnTo>
                <a:lnTo>
                  <a:pt x="99" y="212"/>
                </a:lnTo>
                <a:lnTo>
                  <a:pt x="130" y="189"/>
                </a:lnTo>
                <a:lnTo>
                  <a:pt x="134" y="164"/>
                </a:lnTo>
                <a:lnTo>
                  <a:pt x="138" y="142"/>
                </a:lnTo>
                <a:lnTo>
                  <a:pt x="155" y="145"/>
                </a:lnTo>
                <a:lnTo>
                  <a:pt x="179" y="116"/>
                </a:lnTo>
                <a:lnTo>
                  <a:pt x="126" y="2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1" name="Freeform 28">
            <a:extLst>
              <a:ext uri="{FF2B5EF4-FFF2-40B4-BE49-F238E27FC236}">
                <a16:creationId xmlns:a16="http://schemas.microsoft.com/office/drawing/2014/main" id="{71C2C01F-8365-1DCE-0882-5ACA9AFC35B1}"/>
              </a:ext>
            </a:extLst>
          </p:cNvPr>
          <p:cNvSpPr>
            <a:spLocks/>
          </p:cNvSpPr>
          <p:nvPr/>
        </p:nvSpPr>
        <p:spPr bwMode="auto">
          <a:xfrm>
            <a:off x="4547084" y="2622469"/>
            <a:ext cx="21641" cy="24819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17" y="16"/>
              </a:cxn>
              <a:cxn ang="0">
                <a:pos x="0" y="30"/>
              </a:cxn>
              <a:cxn ang="0">
                <a:pos x="38" y="61"/>
              </a:cxn>
              <a:cxn ang="0">
                <a:pos x="43" y="48"/>
              </a:cxn>
              <a:cxn ang="0">
                <a:pos x="52" y="19"/>
              </a:cxn>
              <a:cxn ang="0">
                <a:pos x="53" y="19"/>
              </a:cxn>
              <a:cxn ang="0">
                <a:pos x="36" y="0"/>
              </a:cxn>
            </a:cxnLst>
            <a:rect l="0" t="0" r="r" b="b"/>
            <a:pathLst>
              <a:path w="53" h="61">
                <a:moveTo>
                  <a:pt x="36" y="0"/>
                </a:moveTo>
                <a:lnTo>
                  <a:pt x="17" y="16"/>
                </a:lnTo>
                <a:lnTo>
                  <a:pt x="0" y="30"/>
                </a:lnTo>
                <a:lnTo>
                  <a:pt x="38" y="61"/>
                </a:lnTo>
                <a:lnTo>
                  <a:pt x="43" y="48"/>
                </a:lnTo>
                <a:lnTo>
                  <a:pt x="52" y="19"/>
                </a:lnTo>
                <a:lnTo>
                  <a:pt x="53" y="19"/>
                </a:lnTo>
                <a:lnTo>
                  <a:pt x="36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2" name="Freeform 52">
            <a:extLst>
              <a:ext uri="{FF2B5EF4-FFF2-40B4-BE49-F238E27FC236}">
                <a16:creationId xmlns:a16="http://schemas.microsoft.com/office/drawing/2014/main" id="{8D1F7993-2D23-C31F-34CD-F89D50FCB7BA}"/>
              </a:ext>
            </a:extLst>
          </p:cNvPr>
          <p:cNvSpPr>
            <a:spLocks/>
          </p:cNvSpPr>
          <p:nvPr/>
        </p:nvSpPr>
        <p:spPr bwMode="auto">
          <a:xfrm>
            <a:off x="4485491" y="2558869"/>
            <a:ext cx="83235" cy="76009"/>
          </a:xfrm>
          <a:custGeom>
            <a:avLst/>
            <a:gdLst/>
            <a:ahLst/>
            <a:cxnLst>
              <a:cxn ang="0">
                <a:pos x="172" y="36"/>
              </a:cxn>
              <a:cxn ang="0">
                <a:pos x="164" y="21"/>
              </a:cxn>
              <a:cxn ang="0">
                <a:pos x="164" y="19"/>
              </a:cxn>
              <a:cxn ang="0">
                <a:pos x="116" y="15"/>
              </a:cxn>
              <a:cxn ang="0">
                <a:pos x="102" y="5"/>
              </a:cxn>
              <a:cxn ang="0">
                <a:pos x="49" y="2"/>
              </a:cxn>
              <a:cxn ang="0">
                <a:pos x="21" y="0"/>
              </a:cxn>
              <a:cxn ang="0">
                <a:pos x="0" y="10"/>
              </a:cxn>
              <a:cxn ang="0">
                <a:pos x="21" y="35"/>
              </a:cxn>
              <a:cxn ang="0">
                <a:pos x="80" y="117"/>
              </a:cxn>
              <a:cxn ang="0">
                <a:pos x="104" y="133"/>
              </a:cxn>
              <a:cxn ang="0">
                <a:pos x="131" y="151"/>
              </a:cxn>
              <a:cxn ang="0">
                <a:pos x="123" y="175"/>
              </a:cxn>
              <a:cxn ang="0">
                <a:pos x="128" y="178"/>
              </a:cxn>
              <a:cxn ang="0">
                <a:pos x="129" y="179"/>
              </a:cxn>
              <a:cxn ang="0">
                <a:pos x="148" y="193"/>
              </a:cxn>
              <a:cxn ang="0">
                <a:pos x="184" y="162"/>
              </a:cxn>
              <a:cxn ang="0">
                <a:pos x="201" y="96"/>
              </a:cxn>
              <a:cxn ang="0">
                <a:pos x="172" y="36"/>
              </a:cxn>
            </a:cxnLst>
            <a:rect l="0" t="0" r="r" b="b"/>
            <a:pathLst>
              <a:path w="201" h="193">
                <a:moveTo>
                  <a:pt x="172" y="36"/>
                </a:moveTo>
                <a:lnTo>
                  <a:pt x="164" y="21"/>
                </a:lnTo>
                <a:lnTo>
                  <a:pt x="164" y="19"/>
                </a:lnTo>
                <a:lnTo>
                  <a:pt x="116" y="15"/>
                </a:lnTo>
                <a:lnTo>
                  <a:pt x="102" y="5"/>
                </a:lnTo>
                <a:lnTo>
                  <a:pt x="49" y="2"/>
                </a:lnTo>
                <a:lnTo>
                  <a:pt x="21" y="0"/>
                </a:lnTo>
                <a:lnTo>
                  <a:pt x="0" y="10"/>
                </a:lnTo>
                <a:lnTo>
                  <a:pt x="21" y="35"/>
                </a:lnTo>
                <a:lnTo>
                  <a:pt x="80" y="117"/>
                </a:lnTo>
                <a:lnTo>
                  <a:pt x="104" y="133"/>
                </a:lnTo>
                <a:lnTo>
                  <a:pt x="131" y="151"/>
                </a:lnTo>
                <a:lnTo>
                  <a:pt x="123" y="175"/>
                </a:lnTo>
                <a:lnTo>
                  <a:pt x="128" y="178"/>
                </a:lnTo>
                <a:lnTo>
                  <a:pt x="129" y="179"/>
                </a:lnTo>
                <a:lnTo>
                  <a:pt x="148" y="193"/>
                </a:lnTo>
                <a:lnTo>
                  <a:pt x="184" y="162"/>
                </a:lnTo>
                <a:lnTo>
                  <a:pt x="201" y="96"/>
                </a:lnTo>
                <a:lnTo>
                  <a:pt x="172" y="36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3" name="Freeform 10">
            <a:extLst>
              <a:ext uri="{FF2B5EF4-FFF2-40B4-BE49-F238E27FC236}">
                <a16:creationId xmlns:a16="http://schemas.microsoft.com/office/drawing/2014/main" id="{9C6AD43C-DB98-A45C-746F-24A60796F932}"/>
              </a:ext>
            </a:extLst>
          </p:cNvPr>
          <p:cNvSpPr>
            <a:spLocks/>
          </p:cNvSpPr>
          <p:nvPr/>
        </p:nvSpPr>
        <p:spPr bwMode="auto">
          <a:xfrm>
            <a:off x="4615336" y="2256381"/>
            <a:ext cx="183116" cy="130302"/>
          </a:xfrm>
          <a:custGeom>
            <a:avLst/>
            <a:gdLst/>
            <a:ahLst/>
            <a:cxnLst>
              <a:cxn ang="0">
                <a:pos x="442" y="176"/>
              </a:cxn>
              <a:cxn ang="0">
                <a:pos x="427" y="158"/>
              </a:cxn>
              <a:cxn ang="0">
                <a:pos x="337" y="7"/>
              </a:cxn>
              <a:cxn ang="0">
                <a:pos x="207" y="0"/>
              </a:cxn>
              <a:cxn ang="0">
                <a:pos x="206" y="1"/>
              </a:cxn>
              <a:cxn ang="0">
                <a:pos x="205" y="2"/>
              </a:cxn>
              <a:cxn ang="0">
                <a:pos x="166" y="28"/>
              </a:cxn>
              <a:cxn ang="0">
                <a:pos x="165" y="30"/>
              </a:cxn>
              <a:cxn ang="0">
                <a:pos x="165" y="34"/>
              </a:cxn>
              <a:cxn ang="0">
                <a:pos x="162" y="60"/>
              </a:cxn>
              <a:cxn ang="0">
                <a:pos x="70" y="161"/>
              </a:cxn>
              <a:cxn ang="0">
                <a:pos x="14" y="161"/>
              </a:cxn>
              <a:cxn ang="0">
                <a:pos x="16" y="164"/>
              </a:cxn>
              <a:cxn ang="0">
                <a:pos x="16" y="164"/>
              </a:cxn>
              <a:cxn ang="0">
                <a:pos x="44" y="234"/>
              </a:cxn>
              <a:cxn ang="0">
                <a:pos x="0" y="272"/>
              </a:cxn>
              <a:cxn ang="0">
                <a:pos x="31" y="334"/>
              </a:cxn>
              <a:cxn ang="0">
                <a:pos x="106" y="299"/>
              </a:cxn>
              <a:cxn ang="0">
                <a:pos x="170" y="301"/>
              </a:cxn>
              <a:cxn ang="0">
                <a:pos x="241" y="329"/>
              </a:cxn>
              <a:cxn ang="0">
                <a:pos x="318" y="310"/>
              </a:cxn>
              <a:cxn ang="0">
                <a:pos x="393" y="281"/>
              </a:cxn>
              <a:cxn ang="0">
                <a:pos x="415" y="272"/>
              </a:cxn>
              <a:cxn ang="0">
                <a:pos x="405" y="199"/>
              </a:cxn>
              <a:cxn ang="0">
                <a:pos x="431" y="198"/>
              </a:cxn>
              <a:cxn ang="0">
                <a:pos x="442" y="176"/>
              </a:cxn>
            </a:cxnLst>
            <a:rect l="0" t="0" r="r" b="b"/>
            <a:pathLst>
              <a:path w="442" h="334">
                <a:moveTo>
                  <a:pt x="442" y="176"/>
                </a:moveTo>
                <a:lnTo>
                  <a:pt x="427" y="158"/>
                </a:lnTo>
                <a:lnTo>
                  <a:pt x="337" y="7"/>
                </a:lnTo>
                <a:lnTo>
                  <a:pt x="207" y="0"/>
                </a:lnTo>
                <a:lnTo>
                  <a:pt x="206" y="1"/>
                </a:lnTo>
                <a:lnTo>
                  <a:pt x="205" y="2"/>
                </a:lnTo>
                <a:lnTo>
                  <a:pt x="166" y="28"/>
                </a:lnTo>
                <a:lnTo>
                  <a:pt x="165" y="30"/>
                </a:lnTo>
                <a:lnTo>
                  <a:pt x="165" y="34"/>
                </a:lnTo>
                <a:lnTo>
                  <a:pt x="162" y="60"/>
                </a:lnTo>
                <a:lnTo>
                  <a:pt x="70" y="161"/>
                </a:lnTo>
                <a:lnTo>
                  <a:pt x="14" y="161"/>
                </a:lnTo>
                <a:lnTo>
                  <a:pt x="16" y="164"/>
                </a:lnTo>
                <a:lnTo>
                  <a:pt x="16" y="164"/>
                </a:lnTo>
                <a:lnTo>
                  <a:pt x="44" y="234"/>
                </a:lnTo>
                <a:lnTo>
                  <a:pt x="0" y="272"/>
                </a:lnTo>
                <a:lnTo>
                  <a:pt x="31" y="334"/>
                </a:lnTo>
                <a:lnTo>
                  <a:pt x="106" y="299"/>
                </a:lnTo>
                <a:lnTo>
                  <a:pt x="170" y="301"/>
                </a:lnTo>
                <a:lnTo>
                  <a:pt x="241" y="329"/>
                </a:lnTo>
                <a:lnTo>
                  <a:pt x="318" y="310"/>
                </a:lnTo>
                <a:lnTo>
                  <a:pt x="393" y="281"/>
                </a:lnTo>
                <a:lnTo>
                  <a:pt x="415" y="272"/>
                </a:lnTo>
                <a:lnTo>
                  <a:pt x="405" y="199"/>
                </a:lnTo>
                <a:lnTo>
                  <a:pt x="431" y="198"/>
                </a:lnTo>
                <a:lnTo>
                  <a:pt x="442" y="17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4" name="Freeform 11">
            <a:extLst>
              <a:ext uri="{FF2B5EF4-FFF2-40B4-BE49-F238E27FC236}">
                <a16:creationId xmlns:a16="http://schemas.microsoft.com/office/drawing/2014/main" id="{80544DD2-E15F-18F5-7592-8C546F40F099}"/>
              </a:ext>
            </a:extLst>
          </p:cNvPr>
          <p:cNvSpPr>
            <a:spLocks/>
          </p:cNvSpPr>
          <p:nvPr/>
        </p:nvSpPr>
        <p:spPr bwMode="auto">
          <a:xfrm>
            <a:off x="4612007" y="2355659"/>
            <a:ext cx="357910" cy="215620"/>
          </a:xfrm>
          <a:custGeom>
            <a:avLst/>
            <a:gdLst/>
            <a:ahLst/>
            <a:cxnLst>
              <a:cxn ang="0">
                <a:pos x="849" y="162"/>
              </a:cxn>
              <a:cxn ang="0">
                <a:pos x="628" y="118"/>
              </a:cxn>
              <a:cxn ang="0">
                <a:pos x="531" y="0"/>
              </a:cxn>
              <a:cxn ang="0">
                <a:pos x="432" y="15"/>
              </a:cxn>
              <a:cxn ang="0">
                <a:pos x="423" y="18"/>
              </a:cxn>
              <a:cxn ang="0">
                <a:pos x="401" y="27"/>
              </a:cxn>
              <a:cxn ang="0">
                <a:pos x="326" y="56"/>
              </a:cxn>
              <a:cxn ang="0">
                <a:pos x="249" y="75"/>
              </a:cxn>
              <a:cxn ang="0">
                <a:pos x="178" y="47"/>
              </a:cxn>
              <a:cxn ang="0">
                <a:pos x="114" y="45"/>
              </a:cxn>
              <a:cxn ang="0">
                <a:pos x="39" y="80"/>
              </a:cxn>
              <a:cxn ang="0">
                <a:pos x="46" y="92"/>
              </a:cxn>
              <a:cxn ang="0">
                <a:pos x="76" y="150"/>
              </a:cxn>
              <a:cxn ang="0">
                <a:pos x="16" y="220"/>
              </a:cxn>
              <a:cxn ang="0">
                <a:pos x="26" y="247"/>
              </a:cxn>
              <a:cxn ang="0">
                <a:pos x="1" y="241"/>
              </a:cxn>
              <a:cxn ang="0">
                <a:pos x="0" y="295"/>
              </a:cxn>
              <a:cxn ang="0">
                <a:pos x="0" y="295"/>
              </a:cxn>
              <a:cxn ang="0">
                <a:pos x="0" y="296"/>
              </a:cxn>
              <a:cxn ang="0">
                <a:pos x="28" y="320"/>
              </a:cxn>
              <a:cxn ang="0">
                <a:pos x="84" y="309"/>
              </a:cxn>
              <a:cxn ang="0">
                <a:pos x="148" y="338"/>
              </a:cxn>
              <a:cxn ang="0">
                <a:pos x="211" y="312"/>
              </a:cxn>
              <a:cxn ang="0">
                <a:pos x="215" y="300"/>
              </a:cxn>
              <a:cxn ang="0">
                <a:pos x="216" y="296"/>
              </a:cxn>
              <a:cxn ang="0">
                <a:pos x="221" y="279"/>
              </a:cxn>
              <a:cxn ang="0">
                <a:pos x="342" y="307"/>
              </a:cxn>
              <a:cxn ang="0">
                <a:pos x="395" y="395"/>
              </a:cxn>
              <a:cxn ang="0">
                <a:pos x="371" y="424"/>
              </a:cxn>
              <a:cxn ang="0">
                <a:pos x="354" y="421"/>
              </a:cxn>
              <a:cxn ang="0">
                <a:pos x="350" y="443"/>
              </a:cxn>
              <a:cxn ang="0">
                <a:pos x="346" y="468"/>
              </a:cxn>
              <a:cxn ang="0">
                <a:pos x="315" y="491"/>
              </a:cxn>
              <a:cxn ang="0">
                <a:pos x="315" y="497"/>
              </a:cxn>
              <a:cxn ang="0">
                <a:pos x="347" y="502"/>
              </a:cxn>
              <a:cxn ang="0">
                <a:pos x="368" y="490"/>
              </a:cxn>
              <a:cxn ang="0">
                <a:pos x="384" y="495"/>
              </a:cxn>
              <a:cxn ang="0">
                <a:pos x="388" y="483"/>
              </a:cxn>
              <a:cxn ang="0">
                <a:pos x="393" y="468"/>
              </a:cxn>
              <a:cxn ang="0">
                <a:pos x="446" y="388"/>
              </a:cxn>
              <a:cxn ang="0">
                <a:pos x="563" y="430"/>
              </a:cxn>
              <a:cxn ang="0">
                <a:pos x="521" y="489"/>
              </a:cxn>
              <a:cxn ang="0">
                <a:pos x="589" y="556"/>
              </a:cxn>
              <a:cxn ang="0">
                <a:pos x="674" y="507"/>
              </a:cxn>
              <a:cxn ang="0">
                <a:pos x="700" y="505"/>
              </a:cxn>
              <a:cxn ang="0">
                <a:pos x="709" y="476"/>
              </a:cxn>
              <a:cxn ang="0">
                <a:pos x="657" y="481"/>
              </a:cxn>
              <a:cxn ang="0">
                <a:pos x="618" y="431"/>
              </a:cxn>
              <a:cxn ang="0">
                <a:pos x="711" y="363"/>
              </a:cxn>
              <a:cxn ang="0">
                <a:pos x="760" y="348"/>
              </a:cxn>
              <a:cxn ang="0">
                <a:pos x="780" y="342"/>
              </a:cxn>
              <a:cxn ang="0">
                <a:pos x="784" y="305"/>
              </a:cxn>
              <a:cxn ang="0">
                <a:pos x="860" y="288"/>
              </a:cxn>
              <a:cxn ang="0">
                <a:pos x="849" y="162"/>
              </a:cxn>
            </a:cxnLst>
            <a:rect l="0" t="0" r="r" b="b"/>
            <a:pathLst>
              <a:path w="860" h="556">
                <a:moveTo>
                  <a:pt x="849" y="162"/>
                </a:moveTo>
                <a:lnTo>
                  <a:pt x="628" y="118"/>
                </a:lnTo>
                <a:lnTo>
                  <a:pt x="531" y="0"/>
                </a:lnTo>
                <a:lnTo>
                  <a:pt x="432" y="15"/>
                </a:lnTo>
                <a:lnTo>
                  <a:pt x="423" y="18"/>
                </a:lnTo>
                <a:lnTo>
                  <a:pt x="401" y="27"/>
                </a:lnTo>
                <a:lnTo>
                  <a:pt x="326" y="56"/>
                </a:lnTo>
                <a:lnTo>
                  <a:pt x="249" y="75"/>
                </a:lnTo>
                <a:lnTo>
                  <a:pt x="178" y="47"/>
                </a:lnTo>
                <a:lnTo>
                  <a:pt x="114" y="45"/>
                </a:lnTo>
                <a:lnTo>
                  <a:pt x="39" y="80"/>
                </a:lnTo>
                <a:lnTo>
                  <a:pt x="46" y="92"/>
                </a:lnTo>
                <a:lnTo>
                  <a:pt x="76" y="150"/>
                </a:lnTo>
                <a:lnTo>
                  <a:pt x="16" y="220"/>
                </a:lnTo>
                <a:lnTo>
                  <a:pt x="26" y="247"/>
                </a:lnTo>
                <a:lnTo>
                  <a:pt x="1" y="241"/>
                </a:lnTo>
                <a:lnTo>
                  <a:pt x="0" y="295"/>
                </a:lnTo>
                <a:lnTo>
                  <a:pt x="0" y="295"/>
                </a:lnTo>
                <a:lnTo>
                  <a:pt x="0" y="296"/>
                </a:lnTo>
                <a:lnTo>
                  <a:pt x="28" y="320"/>
                </a:lnTo>
                <a:lnTo>
                  <a:pt x="84" y="309"/>
                </a:lnTo>
                <a:lnTo>
                  <a:pt x="148" y="338"/>
                </a:lnTo>
                <a:lnTo>
                  <a:pt x="211" y="312"/>
                </a:lnTo>
                <a:lnTo>
                  <a:pt x="215" y="300"/>
                </a:lnTo>
                <a:lnTo>
                  <a:pt x="216" y="296"/>
                </a:lnTo>
                <a:lnTo>
                  <a:pt x="221" y="279"/>
                </a:lnTo>
                <a:lnTo>
                  <a:pt x="342" y="307"/>
                </a:lnTo>
                <a:lnTo>
                  <a:pt x="395" y="395"/>
                </a:lnTo>
                <a:lnTo>
                  <a:pt x="371" y="424"/>
                </a:lnTo>
                <a:lnTo>
                  <a:pt x="354" y="421"/>
                </a:lnTo>
                <a:lnTo>
                  <a:pt x="350" y="443"/>
                </a:lnTo>
                <a:lnTo>
                  <a:pt x="346" y="468"/>
                </a:lnTo>
                <a:lnTo>
                  <a:pt x="315" y="491"/>
                </a:lnTo>
                <a:lnTo>
                  <a:pt x="315" y="497"/>
                </a:lnTo>
                <a:lnTo>
                  <a:pt x="347" y="502"/>
                </a:lnTo>
                <a:lnTo>
                  <a:pt x="368" y="490"/>
                </a:lnTo>
                <a:lnTo>
                  <a:pt x="384" y="495"/>
                </a:lnTo>
                <a:lnTo>
                  <a:pt x="388" y="483"/>
                </a:lnTo>
                <a:lnTo>
                  <a:pt x="393" y="468"/>
                </a:lnTo>
                <a:lnTo>
                  <a:pt x="446" y="388"/>
                </a:lnTo>
                <a:lnTo>
                  <a:pt x="563" y="430"/>
                </a:lnTo>
                <a:lnTo>
                  <a:pt x="521" y="489"/>
                </a:lnTo>
                <a:lnTo>
                  <a:pt x="589" y="556"/>
                </a:lnTo>
                <a:lnTo>
                  <a:pt x="674" y="507"/>
                </a:lnTo>
                <a:lnTo>
                  <a:pt x="700" y="505"/>
                </a:lnTo>
                <a:lnTo>
                  <a:pt x="709" y="476"/>
                </a:lnTo>
                <a:lnTo>
                  <a:pt x="657" y="481"/>
                </a:lnTo>
                <a:lnTo>
                  <a:pt x="618" y="431"/>
                </a:lnTo>
                <a:lnTo>
                  <a:pt x="711" y="363"/>
                </a:lnTo>
                <a:lnTo>
                  <a:pt x="760" y="348"/>
                </a:lnTo>
                <a:lnTo>
                  <a:pt x="780" y="342"/>
                </a:lnTo>
                <a:lnTo>
                  <a:pt x="784" y="305"/>
                </a:lnTo>
                <a:lnTo>
                  <a:pt x="860" y="288"/>
                </a:lnTo>
                <a:lnTo>
                  <a:pt x="849" y="16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5" name="Freeform 12">
            <a:extLst>
              <a:ext uri="{FF2B5EF4-FFF2-40B4-BE49-F238E27FC236}">
                <a16:creationId xmlns:a16="http://schemas.microsoft.com/office/drawing/2014/main" id="{4A754B78-C66B-A7D3-D092-5DA120F6AC68}"/>
              </a:ext>
            </a:extLst>
          </p:cNvPr>
          <p:cNvSpPr>
            <a:spLocks/>
          </p:cNvSpPr>
          <p:nvPr/>
        </p:nvSpPr>
        <p:spPr bwMode="auto">
          <a:xfrm>
            <a:off x="4487156" y="2470449"/>
            <a:ext cx="136504" cy="76009"/>
          </a:xfrm>
          <a:custGeom>
            <a:avLst/>
            <a:gdLst/>
            <a:ahLst/>
            <a:cxnLst>
              <a:cxn ang="0">
                <a:pos x="328" y="25"/>
              </a:cxn>
              <a:cxn ang="0">
                <a:pos x="300" y="1"/>
              </a:cxn>
              <a:cxn ang="0">
                <a:pos x="300" y="0"/>
              </a:cxn>
              <a:cxn ang="0">
                <a:pos x="252" y="4"/>
              </a:cxn>
              <a:cxn ang="0">
                <a:pos x="233" y="6"/>
              </a:cxn>
              <a:cxn ang="0">
                <a:pos x="212" y="19"/>
              </a:cxn>
              <a:cxn ang="0">
                <a:pos x="144" y="36"/>
              </a:cxn>
              <a:cxn ang="0">
                <a:pos x="144" y="59"/>
              </a:cxn>
              <a:cxn ang="0">
                <a:pos x="88" y="58"/>
              </a:cxn>
              <a:cxn ang="0">
                <a:pos x="48" y="31"/>
              </a:cxn>
              <a:cxn ang="0">
                <a:pos x="38" y="69"/>
              </a:cxn>
              <a:cxn ang="0">
                <a:pos x="20" y="100"/>
              </a:cxn>
              <a:cxn ang="0">
                <a:pos x="0" y="115"/>
              </a:cxn>
              <a:cxn ang="0">
                <a:pos x="38" y="157"/>
              </a:cxn>
              <a:cxn ang="0">
                <a:pos x="39" y="158"/>
              </a:cxn>
              <a:cxn ang="0">
                <a:pos x="40" y="158"/>
              </a:cxn>
              <a:cxn ang="0">
                <a:pos x="110" y="195"/>
              </a:cxn>
              <a:cxn ang="0">
                <a:pos x="113" y="196"/>
              </a:cxn>
              <a:cxn ang="0">
                <a:pos x="147" y="166"/>
              </a:cxn>
              <a:cxn ang="0">
                <a:pos x="166" y="159"/>
              </a:cxn>
              <a:cxn ang="0">
                <a:pos x="203" y="159"/>
              </a:cxn>
              <a:cxn ang="0">
                <a:pos x="219" y="159"/>
              </a:cxn>
              <a:cxn ang="0">
                <a:pos x="226" y="158"/>
              </a:cxn>
              <a:cxn ang="0">
                <a:pos x="246" y="157"/>
              </a:cxn>
              <a:cxn ang="0">
                <a:pos x="260" y="136"/>
              </a:cxn>
              <a:cxn ang="0">
                <a:pos x="275" y="91"/>
              </a:cxn>
              <a:cxn ang="0">
                <a:pos x="321" y="51"/>
              </a:cxn>
              <a:cxn ang="0">
                <a:pos x="325" y="35"/>
              </a:cxn>
              <a:cxn ang="0">
                <a:pos x="328" y="26"/>
              </a:cxn>
              <a:cxn ang="0">
                <a:pos x="328" y="25"/>
              </a:cxn>
            </a:cxnLst>
            <a:rect l="0" t="0" r="r" b="b"/>
            <a:pathLst>
              <a:path w="328" h="196">
                <a:moveTo>
                  <a:pt x="328" y="25"/>
                </a:moveTo>
                <a:lnTo>
                  <a:pt x="300" y="1"/>
                </a:lnTo>
                <a:lnTo>
                  <a:pt x="300" y="0"/>
                </a:lnTo>
                <a:lnTo>
                  <a:pt x="252" y="4"/>
                </a:lnTo>
                <a:lnTo>
                  <a:pt x="233" y="6"/>
                </a:lnTo>
                <a:lnTo>
                  <a:pt x="212" y="19"/>
                </a:lnTo>
                <a:lnTo>
                  <a:pt x="144" y="36"/>
                </a:lnTo>
                <a:lnTo>
                  <a:pt x="144" y="59"/>
                </a:lnTo>
                <a:lnTo>
                  <a:pt x="88" y="58"/>
                </a:lnTo>
                <a:lnTo>
                  <a:pt x="48" y="31"/>
                </a:lnTo>
                <a:lnTo>
                  <a:pt x="38" y="69"/>
                </a:lnTo>
                <a:lnTo>
                  <a:pt x="20" y="100"/>
                </a:lnTo>
                <a:lnTo>
                  <a:pt x="0" y="115"/>
                </a:lnTo>
                <a:lnTo>
                  <a:pt x="38" y="157"/>
                </a:lnTo>
                <a:lnTo>
                  <a:pt x="39" y="158"/>
                </a:lnTo>
                <a:lnTo>
                  <a:pt x="40" y="158"/>
                </a:lnTo>
                <a:lnTo>
                  <a:pt x="110" y="195"/>
                </a:lnTo>
                <a:lnTo>
                  <a:pt x="113" y="196"/>
                </a:lnTo>
                <a:lnTo>
                  <a:pt x="147" y="166"/>
                </a:lnTo>
                <a:lnTo>
                  <a:pt x="166" y="159"/>
                </a:lnTo>
                <a:lnTo>
                  <a:pt x="203" y="159"/>
                </a:lnTo>
                <a:lnTo>
                  <a:pt x="219" y="159"/>
                </a:lnTo>
                <a:lnTo>
                  <a:pt x="226" y="158"/>
                </a:lnTo>
                <a:lnTo>
                  <a:pt x="246" y="157"/>
                </a:lnTo>
                <a:lnTo>
                  <a:pt x="260" y="136"/>
                </a:lnTo>
                <a:lnTo>
                  <a:pt x="275" y="91"/>
                </a:lnTo>
                <a:lnTo>
                  <a:pt x="321" y="51"/>
                </a:lnTo>
                <a:lnTo>
                  <a:pt x="325" y="35"/>
                </a:lnTo>
                <a:lnTo>
                  <a:pt x="328" y="26"/>
                </a:lnTo>
                <a:lnTo>
                  <a:pt x="328" y="25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6" name="Freeform 18">
            <a:extLst>
              <a:ext uri="{FF2B5EF4-FFF2-40B4-BE49-F238E27FC236}">
                <a16:creationId xmlns:a16="http://schemas.microsoft.com/office/drawing/2014/main" id="{253FC30E-DA9A-6578-1914-CBB5BD89622E}"/>
              </a:ext>
            </a:extLst>
          </p:cNvPr>
          <p:cNvSpPr>
            <a:spLocks/>
          </p:cNvSpPr>
          <p:nvPr/>
        </p:nvSpPr>
        <p:spPr bwMode="auto">
          <a:xfrm>
            <a:off x="4507132" y="2437875"/>
            <a:ext cx="104876" cy="55843"/>
          </a:xfrm>
          <a:custGeom>
            <a:avLst/>
            <a:gdLst/>
            <a:ahLst/>
            <a:cxnLst>
              <a:cxn ang="0">
                <a:pos x="250" y="28"/>
              </a:cxn>
              <a:cxn ang="0">
                <a:pos x="247" y="29"/>
              </a:cxn>
              <a:cxn ang="0">
                <a:pos x="143" y="32"/>
              </a:cxn>
              <a:cxn ang="0">
                <a:pos x="113" y="0"/>
              </a:cxn>
              <a:cxn ang="0">
                <a:pos x="83" y="7"/>
              </a:cxn>
              <a:cxn ang="0">
                <a:pos x="83" y="6"/>
              </a:cxn>
              <a:cxn ang="0">
                <a:pos x="0" y="72"/>
              </a:cxn>
              <a:cxn ang="0">
                <a:pos x="1" y="105"/>
              </a:cxn>
              <a:cxn ang="0">
                <a:pos x="1" y="109"/>
              </a:cxn>
              <a:cxn ang="0">
                <a:pos x="0" y="114"/>
              </a:cxn>
              <a:cxn ang="0">
                <a:pos x="40" y="141"/>
              </a:cxn>
              <a:cxn ang="0">
                <a:pos x="96" y="142"/>
              </a:cxn>
              <a:cxn ang="0">
                <a:pos x="96" y="119"/>
              </a:cxn>
              <a:cxn ang="0">
                <a:pos x="164" y="102"/>
              </a:cxn>
              <a:cxn ang="0">
                <a:pos x="185" y="89"/>
              </a:cxn>
              <a:cxn ang="0">
                <a:pos x="187" y="88"/>
              </a:cxn>
              <a:cxn ang="0">
                <a:pos x="204" y="86"/>
              </a:cxn>
              <a:cxn ang="0">
                <a:pos x="252" y="83"/>
              </a:cxn>
              <a:cxn ang="0">
                <a:pos x="253" y="29"/>
              </a:cxn>
              <a:cxn ang="0">
                <a:pos x="250" y="28"/>
              </a:cxn>
            </a:cxnLst>
            <a:rect l="0" t="0" r="r" b="b"/>
            <a:pathLst>
              <a:path w="253" h="142">
                <a:moveTo>
                  <a:pt x="250" y="28"/>
                </a:moveTo>
                <a:lnTo>
                  <a:pt x="247" y="29"/>
                </a:lnTo>
                <a:lnTo>
                  <a:pt x="143" y="32"/>
                </a:lnTo>
                <a:lnTo>
                  <a:pt x="113" y="0"/>
                </a:lnTo>
                <a:lnTo>
                  <a:pt x="83" y="7"/>
                </a:lnTo>
                <a:lnTo>
                  <a:pt x="83" y="6"/>
                </a:lnTo>
                <a:lnTo>
                  <a:pt x="0" y="72"/>
                </a:lnTo>
                <a:lnTo>
                  <a:pt x="1" y="105"/>
                </a:lnTo>
                <a:lnTo>
                  <a:pt x="1" y="109"/>
                </a:lnTo>
                <a:lnTo>
                  <a:pt x="0" y="114"/>
                </a:lnTo>
                <a:lnTo>
                  <a:pt x="40" y="141"/>
                </a:lnTo>
                <a:lnTo>
                  <a:pt x="96" y="142"/>
                </a:lnTo>
                <a:lnTo>
                  <a:pt x="96" y="119"/>
                </a:lnTo>
                <a:lnTo>
                  <a:pt x="164" y="102"/>
                </a:lnTo>
                <a:lnTo>
                  <a:pt x="185" y="89"/>
                </a:lnTo>
                <a:lnTo>
                  <a:pt x="187" y="88"/>
                </a:lnTo>
                <a:lnTo>
                  <a:pt x="204" y="86"/>
                </a:lnTo>
                <a:lnTo>
                  <a:pt x="252" y="83"/>
                </a:lnTo>
                <a:lnTo>
                  <a:pt x="253" y="29"/>
                </a:lnTo>
                <a:lnTo>
                  <a:pt x="250" y="28"/>
                </a:lnTo>
                <a:close/>
              </a:path>
            </a:pathLst>
          </a:custGeom>
          <a:solidFill>
            <a:srgbClr val="00B05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7" name="Freeform 19">
            <a:extLst>
              <a:ext uri="{FF2B5EF4-FFF2-40B4-BE49-F238E27FC236}">
                <a16:creationId xmlns:a16="http://schemas.microsoft.com/office/drawing/2014/main" id="{CA68EF7F-F2E7-40EB-6EC3-7F2F43BEC245}"/>
              </a:ext>
            </a:extLst>
          </p:cNvPr>
          <p:cNvSpPr>
            <a:spLocks/>
          </p:cNvSpPr>
          <p:nvPr/>
        </p:nvSpPr>
        <p:spPr bwMode="auto">
          <a:xfrm>
            <a:off x="4533766" y="2530947"/>
            <a:ext cx="104876" cy="108586"/>
          </a:xfrm>
          <a:custGeom>
            <a:avLst/>
            <a:gdLst/>
            <a:ahLst/>
            <a:cxnLst>
              <a:cxn ang="0">
                <a:pos x="247" y="170"/>
              </a:cxn>
              <a:cxn ang="0">
                <a:pos x="247" y="169"/>
              </a:cxn>
              <a:cxn ang="0">
                <a:pos x="240" y="135"/>
              </a:cxn>
              <a:cxn ang="0">
                <a:pos x="215" y="115"/>
              </a:cxn>
              <a:cxn ang="0">
                <a:pos x="184" y="106"/>
              </a:cxn>
              <a:cxn ang="0">
                <a:pos x="180" y="77"/>
              </a:cxn>
              <a:cxn ang="0">
                <a:pos x="146" y="37"/>
              </a:cxn>
              <a:cxn ang="0">
                <a:pos x="113" y="0"/>
              </a:cxn>
              <a:cxn ang="0">
                <a:pos x="106" y="1"/>
              </a:cxn>
              <a:cxn ang="0">
                <a:pos x="90" y="1"/>
              </a:cxn>
              <a:cxn ang="0">
                <a:pos x="53" y="1"/>
              </a:cxn>
              <a:cxn ang="0">
                <a:pos x="34" y="8"/>
              </a:cxn>
              <a:cxn ang="0">
                <a:pos x="0" y="38"/>
              </a:cxn>
              <a:cxn ang="0">
                <a:pos x="2" y="39"/>
              </a:cxn>
              <a:cxn ang="0">
                <a:pos x="60" y="70"/>
              </a:cxn>
              <a:cxn ang="0">
                <a:pos x="47" y="92"/>
              </a:cxn>
              <a:cxn ang="0">
                <a:pos x="47" y="94"/>
              </a:cxn>
              <a:cxn ang="0">
                <a:pos x="55" y="109"/>
              </a:cxn>
              <a:cxn ang="0">
                <a:pos x="84" y="169"/>
              </a:cxn>
              <a:cxn ang="0">
                <a:pos x="67" y="235"/>
              </a:cxn>
              <a:cxn ang="0">
                <a:pos x="67" y="236"/>
              </a:cxn>
              <a:cxn ang="0">
                <a:pos x="84" y="255"/>
              </a:cxn>
              <a:cxn ang="0">
                <a:pos x="111" y="254"/>
              </a:cxn>
              <a:cxn ang="0">
                <a:pos x="129" y="252"/>
              </a:cxn>
              <a:cxn ang="0">
                <a:pos x="148" y="278"/>
              </a:cxn>
              <a:cxn ang="0">
                <a:pos x="154" y="276"/>
              </a:cxn>
              <a:cxn ang="0">
                <a:pos x="158" y="275"/>
              </a:cxn>
              <a:cxn ang="0">
                <a:pos x="238" y="253"/>
              </a:cxn>
              <a:cxn ang="0">
                <a:pos x="239" y="235"/>
              </a:cxn>
              <a:cxn ang="0">
                <a:pos x="251" y="190"/>
              </a:cxn>
              <a:cxn ang="0">
                <a:pos x="247" y="170"/>
              </a:cxn>
            </a:cxnLst>
            <a:rect l="0" t="0" r="r" b="b"/>
            <a:pathLst>
              <a:path w="251" h="278">
                <a:moveTo>
                  <a:pt x="247" y="170"/>
                </a:moveTo>
                <a:lnTo>
                  <a:pt x="247" y="169"/>
                </a:lnTo>
                <a:lnTo>
                  <a:pt x="240" y="135"/>
                </a:lnTo>
                <a:lnTo>
                  <a:pt x="215" y="115"/>
                </a:lnTo>
                <a:lnTo>
                  <a:pt x="184" y="106"/>
                </a:lnTo>
                <a:lnTo>
                  <a:pt x="180" y="77"/>
                </a:lnTo>
                <a:lnTo>
                  <a:pt x="146" y="37"/>
                </a:lnTo>
                <a:lnTo>
                  <a:pt x="113" y="0"/>
                </a:lnTo>
                <a:lnTo>
                  <a:pt x="106" y="1"/>
                </a:lnTo>
                <a:lnTo>
                  <a:pt x="90" y="1"/>
                </a:lnTo>
                <a:lnTo>
                  <a:pt x="53" y="1"/>
                </a:lnTo>
                <a:lnTo>
                  <a:pt x="34" y="8"/>
                </a:lnTo>
                <a:lnTo>
                  <a:pt x="0" y="38"/>
                </a:lnTo>
                <a:lnTo>
                  <a:pt x="2" y="39"/>
                </a:lnTo>
                <a:lnTo>
                  <a:pt x="60" y="70"/>
                </a:lnTo>
                <a:lnTo>
                  <a:pt x="47" y="92"/>
                </a:lnTo>
                <a:lnTo>
                  <a:pt x="47" y="94"/>
                </a:lnTo>
                <a:lnTo>
                  <a:pt x="55" y="109"/>
                </a:lnTo>
                <a:lnTo>
                  <a:pt x="84" y="169"/>
                </a:lnTo>
                <a:lnTo>
                  <a:pt x="67" y="235"/>
                </a:lnTo>
                <a:lnTo>
                  <a:pt x="67" y="236"/>
                </a:lnTo>
                <a:lnTo>
                  <a:pt x="84" y="255"/>
                </a:lnTo>
                <a:lnTo>
                  <a:pt x="111" y="254"/>
                </a:lnTo>
                <a:lnTo>
                  <a:pt x="129" y="252"/>
                </a:lnTo>
                <a:lnTo>
                  <a:pt x="148" y="278"/>
                </a:lnTo>
                <a:lnTo>
                  <a:pt x="154" y="276"/>
                </a:lnTo>
                <a:lnTo>
                  <a:pt x="158" y="275"/>
                </a:lnTo>
                <a:lnTo>
                  <a:pt x="238" y="253"/>
                </a:lnTo>
                <a:lnTo>
                  <a:pt x="239" y="235"/>
                </a:lnTo>
                <a:lnTo>
                  <a:pt x="251" y="190"/>
                </a:lnTo>
                <a:lnTo>
                  <a:pt x="247" y="17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8" name="Freeform 22">
            <a:extLst>
              <a:ext uri="{FF2B5EF4-FFF2-40B4-BE49-F238E27FC236}">
                <a16:creationId xmlns:a16="http://schemas.microsoft.com/office/drawing/2014/main" id="{1A01E05D-0CD2-125C-8D40-2347D842CE5A}"/>
              </a:ext>
            </a:extLst>
          </p:cNvPr>
          <p:cNvSpPr>
            <a:spLocks/>
          </p:cNvSpPr>
          <p:nvPr/>
        </p:nvSpPr>
        <p:spPr bwMode="auto">
          <a:xfrm>
            <a:off x="4580378" y="2470448"/>
            <a:ext cx="191440" cy="128751"/>
          </a:xfrm>
          <a:custGeom>
            <a:avLst/>
            <a:gdLst/>
            <a:ahLst/>
            <a:cxnLst>
              <a:cxn ang="0">
                <a:pos x="442" y="194"/>
              </a:cxn>
              <a:cxn ang="0">
                <a:pos x="421" y="206"/>
              </a:cxn>
              <a:cxn ang="0">
                <a:pos x="389" y="201"/>
              </a:cxn>
              <a:cxn ang="0">
                <a:pos x="389" y="195"/>
              </a:cxn>
              <a:cxn ang="0">
                <a:pos x="384" y="106"/>
              </a:cxn>
              <a:cxn ang="0">
                <a:pos x="384" y="101"/>
              </a:cxn>
              <a:cxn ang="0">
                <a:pos x="315" y="16"/>
              </a:cxn>
              <a:cxn ang="0">
                <a:pos x="290" y="0"/>
              </a:cxn>
              <a:cxn ang="0">
                <a:pos x="289" y="4"/>
              </a:cxn>
              <a:cxn ang="0">
                <a:pos x="285" y="16"/>
              </a:cxn>
              <a:cxn ang="0">
                <a:pos x="222" y="42"/>
              </a:cxn>
              <a:cxn ang="0">
                <a:pos x="158" y="13"/>
              </a:cxn>
              <a:cxn ang="0">
                <a:pos x="102" y="24"/>
              </a:cxn>
              <a:cxn ang="0">
                <a:pos x="102" y="25"/>
              </a:cxn>
              <a:cxn ang="0">
                <a:pos x="99" y="34"/>
              </a:cxn>
              <a:cxn ang="0">
                <a:pos x="95" y="50"/>
              </a:cxn>
              <a:cxn ang="0">
                <a:pos x="49" y="90"/>
              </a:cxn>
              <a:cxn ang="0">
                <a:pos x="34" y="135"/>
              </a:cxn>
              <a:cxn ang="0">
                <a:pos x="20" y="156"/>
              </a:cxn>
              <a:cxn ang="0">
                <a:pos x="0" y="157"/>
              </a:cxn>
              <a:cxn ang="0">
                <a:pos x="33" y="194"/>
              </a:cxn>
              <a:cxn ang="0">
                <a:pos x="67" y="234"/>
              </a:cxn>
              <a:cxn ang="0">
                <a:pos x="71" y="263"/>
              </a:cxn>
              <a:cxn ang="0">
                <a:pos x="102" y="272"/>
              </a:cxn>
              <a:cxn ang="0">
                <a:pos x="127" y="292"/>
              </a:cxn>
              <a:cxn ang="0">
                <a:pos x="134" y="326"/>
              </a:cxn>
              <a:cxn ang="0">
                <a:pos x="166" y="323"/>
              </a:cxn>
              <a:cxn ang="0">
                <a:pos x="175" y="324"/>
              </a:cxn>
              <a:cxn ang="0">
                <a:pos x="252" y="332"/>
              </a:cxn>
              <a:cxn ang="0">
                <a:pos x="278" y="324"/>
              </a:cxn>
              <a:cxn ang="0">
                <a:pos x="292" y="313"/>
              </a:cxn>
              <a:cxn ang="0">
                <a:pos x="322" y="291"/>
              </a:cxn>
              <a:cxn ang="0">
                <a:pos x="364" y="285"/>
              </a:cxn>
              <a:cxn ang="0">
                <a:pos x="421" y="295"/>
              </a:cxn>
              <a:cxn ang="0">
                <a:pos x="458" y="199"/>
              </a:cxn>
              <a:cxn ang="0">
                <a:pos x="442" y="194"/>
              </a:cxn>
            </a:cxnLst>
            <a:rect l="0" t="0" r="r" b="b"/>
            <a:pathLst>
              <a:path w="458" h="332">
                <a:moveTo>
                  <a:pt x="442" y="194"/>
                </a:moveTo>
                <a:lnTo>
                  <a:pt x="421" y="206"/>
                </a:lnTo>
                <a:lnTo>
                  <a:pt x="389" y="201"/>
                </a:lnTo>
                <a:lnTo>
                  <a:pt x="389" y="195"/>
                </a:lnTo>
                <a:lnTo>
                  <a:pt x="384" y="106"/>
                </a:lnTo>
                <a:lnTo>
                  <a:pt x="384" y="101"/>
                </a:lnTo>
                <a:lnTo>
                  <a:pt x="315" y="16"/>
                </a:lnTo>
                <a:lnTo>
                  <a:pt x="290" y="0"/>
                </a:lnTo>
                <a:lnTo>
                  <a:pt x="289" y="4"/>
                </a:lnTo>
                <a:lnTo>
                  <a:pt x="285" y="16"/>
                </a:lnTo>
                <a:lnTo>
                  <a:pt x="222" y="42"/>
                </a:lnTo>
                <a:lnTo>
                  <a:pt x="158" y="13"/>
                </a:lnTo>
                <a:lnTo>
                  <a:pt x="102" y="24"/>
                </a:lnTo>
                <a:lnTo>
                  <a:pt x="102" y="25"/>
                </a:lnTo>
                <a:lnTo>
                  <a:pt x="99" y="34"/>
                </a:lnTo>
                <a:lnTo>
                  <a:pt x="95" y="50"/>
                </a:lnTo>
                <a:lnTo>
                  <a:pt x="49" y="90"/>
                </a:lnTo>
                <a:lnTo>
                  <a:pt x="34" y="135"/>
                </a:lnTo>
                <a:lnTo>
                  <a:pt x="20" y="156"/>
                </a:lnTo>
                <a:lnTo>
                  <a:pt x="0" y="157"/>
                </a:lnTo>
                <a:lnTo>
                  <a:pt x="33" y="194"/>
                </a:lnTo>
                <a:lnTo>
                  <a:pt x="67" y="234"/>
                </a:lnTo>
                <a:lnTo>
                  <a:pt x="71" y="263"/>
                </a:lnTo>
                <a:lnTo>
                  <a:pt x="102" y="272"/>
                </a:lnTo>
                <a:lnTo>
                  <a:pt x="127" y="292"/>
                </a:lnTo>
                <a:lnTo>
                  <a:pt x="134" y="326"/>
                </a:lnTo>
                <a:lnTo>
                  <a:pt x="166" y="323"/>
                </a:lnTo>
                <a:lnTo>
                  <a:pt x="175" y="324"/>
                </a:lnTo>
                <a:lnTo>
                  <a:pt x="252" y="332"/>
                </a:lnTo>
                <a:lnTo>
                  <a:pt x="278" y="324"/>
                </a:lnTo>
                <a:lnTo>
                  <a:pt x="292" y="313"/>
                </a:lnTo>
                <a:lnTo>
                  <a:pt x="322" y="291"/>
                </a:lnTo>
                <a:lnTo>
                  <a:pt x="364" y="285"/>
                </a:lnTo>
                <a:lnTo>
                  <a:pt x="421" y="295"/>
                </a:lnTo>
                <a:lnTo>
                  <a:pt x="458" y="199"/>
                </a:lnTo>
                <a:lnTo>
                  <a:pt x="442" y="194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19" name="Freeform 24">
            <a:extLst>
              <a:ext uri="{FF2B5EF4-FFF2-40B4-BE49-F238E27FC236}">
                <a16:creationId xmlns:a16="http://schemas.microsoft.com/office/drawing/2014/main" id="{7A692751-98E3-73A6-9B13-79C0E565FF69}"/>
              </a:ext>
            </a:extLst>
          </p:cNvPr>
          <p:cNvSpPr>
            <a:spLocks/>
          </p:cNvSpPr>
          <p:nvPr/>
        </p:nvSpPr>
        <p:spPr bwMode="auto">
          <a:xfrm>
            <a:off x="4442209" y="2298264"/>
            <a:ext cx="201428" cy="153570"/>
          </a:xfrm>
          <a:custGeom>
            <a:avLst/>
            <a:gdLst/>
            <a:ahLst/>
            <a:cxnLst>
              <a:cxn ang="0">
                <a:pos x="484" y="299"/>
              </a:cxn>
              <a:cxn ang="0">
                <a:pos x="454" y="241"/>
              </a:cxn>
              <a:cxn ang="0">
                <a:pos x="447" y="229"/>
              </a:cxn>
              <a:cxn ang="0">
                <a:pos x="416" y="167"/>
              </a:cxn>
              <a:cxn ang="0">
                <a:pos x="460" y="129"/>
              </a:cxn>
              <a:cxn ang="0">
                <a:pos x="432" y="59"/>
              </a:cxn>
              <a:cxn ang="0">
                <a:pos x="430" y="56"/>
              </a:cxn>
              <a:cxn ang="0">
                <a:pos x="424" y="42"/>
              </a:cxn>
              <a:cxn ang="0">
                <a:pos x="397" y="9"/>
              </a:cxn>
              <a:cxn ang="0">
                <a:pos x="390" y="29"/>
              </a:cxn>
              <a:cxn ang="0">
                <a:pos x="269" y="29"/>
              </a:cxn>
              <a:cxn ang="0">
                <a:pos x="254" y="11"/>
              </a:cxn>
              <a:cxn ang="0">
                <a:pos x="217" y="42"/>
              </a:cxn>
              <a:cxn ang="0">
                <a:pos x="193" y="0"/>
              </a:cxn>
              <a:cxn ang="0">
                <a:pos x="0" y="75"/>
              </a:cxn>
              <a:cxn ang="0">
                <a:pos x="2" y="164"/>
              </a:cxn>
              <a:cxn ang="0">
                <a:pos x="44" y="273"/>
              </a:cxn>
              <a:cxn ang="0">
                <a:pos x="45" y="274"/>
              </a:cxn>
              <a:cxn ang="0">
                <a:pos x="57" y="279"/>
              </a:cxn>
              <a:cxn ang="0">
                <a:pos x="118" y="303"/>
              </a:cxn>
              <a:cxn ang="0">
                <a:pos x="114" y="321"/>
              </a:cxn>
              <a:cxn ang="0">
                <a:pos x="131" y="327"/>
              </a:cxn>
              <a:cxn ang="0">
                <a:pos x="158" y="314"/>
              </a:cxn>
              <a:cxn ang="0">
                <a:pos x="239" y="344"/>
              </a:cxn>
              <a:cxn ang="0">
                <a:pos x="239" y="368"/>
              </a:cxn>
              <a:cxn ang="0">
                <a:pos x="269" y="361"/>
              </a:cxn>
              <a:cxn ang="0">
                <a:pos x="299" y="393"/>
              </a:cxn>
              <a:cxn ang="0">
                <a:pos x="403" y="390"/>
              </a:cxn>
              <a:cxn ang="0">
                <a:pos x="406" y="389"/>
              </a:cxn>
              <a:cxn ang="0">
                <a:pos x="409" y="390"/>
              </a:cxn>
              <a:cxn ang="0">
                <a:pos x="434" y="396"/>
              </a:cxn>
              <a:cxn ang="0">
                <a:pos x="424" y="369"/>
              </a:cxn>
              <a:cxn ang="0">
                <a:pos x="484" y="299"/>
              </a:cxn>
            </a:cxnLst>
            <a:rect l="0" t="0" r="r" b="b"/>
            <a:pathLst>
              <a:path w="484" h="396">
                <a:moveTo>
                  <a:pt x="484" y="299"/>
                </a:moveTo>
                <a:lnTo>
                  <a:pt x="454" y="241"/>
                </a:lnTo>
                <a:lnTo>
                  <a:pt x="447" y="229"/>
                </a:lnTo>
                <a:lnTo>
                  <a:pt x="416" y="167"/>
                </a:lnTo>
                <a:lnTo>
                  <a:pt x="460" y="129"/>
                </a:lnTo>
                <a:lnTo>
                  <a:pt x="432" y="59"/>
                </a:lnTo>
                <a:lnTo>
                  <a:pt x="430" y="56"/>
                </a:lnTo>
                <a:lnTo>
                  <a:pt x="424" y="42"/>
                </a:lnTo>
                <a:lnTo>
                  <a:pt x="397" y="9"/>
                </a:lnTo>
                <a:lnTo>
                  <a:pt x="390" y="29"/>
                </a:lnTo>
                <a:lnTo>
                  <a:pt x="269" y="29"/>
                </a:lnTo>
                <a:lnTo>
                  <a:pt x="254" y="11"/>
                </a:lnTo>
                <a:lnTo>
                  <a:pt x="217" y="42"/>
                </a:lnTo>
                <a:lnTo>
                  <a:pt x="193" y="0"/>
                </a:lnTo>
                <a:lnTo>
                  <a:pt x="0" y="75"/>
                </a:lnTo>
                <a:lnTo>
                  <a:pt x="2" y="164"/>
                </a:lnTo>
                <a:lnTo>
                  <a:pt x="44" y="273"/>
                </a:lnTo>
                <a:lnTo>
                  <a:pt x="45" y="274"/>
                </a:lnTo>
                <a:lnTo>
                  <a:pt x="57" y="279"/>
                </a:lnTo>
                <a:lnTo>
                  <a:pt x="118" y="303"/>
                </a:lnTo>
                <a:lnTo>
                  <a:pt x="114" y="321"/>
                </a:lnTo>
                <a:lnTo>
                  <a:pt x="131" y="327"/>
                </a:lnTo>
                <a:lnTo>
                  <a:pt x="158" y="314"/>
                </a:lnTo>
                <a:lnTo>
                  <a:pt x="239" y="344"/>
                </a:lnTo>
                <a:lnTo>
                  <a:pt x="239" y="368"/>
                </a:lnTo>
                <a:lnTo>
                  <a:pt x="269" y="361"/>
                </a:lnTo>
                <a:lnTo>
                  <a:pt x="299" y="393"/>
                </a:lnTo>
                <a:lnTo>
                  <a:pt x="403" y="390"/>
                </a:lnTo>
                <a:lnTo>
                  <a:pt x="406" y="389"/>
                </a:lnTo>
                <a:lnTo>
                  <a:pt x="409" y="390"/>
                </a:lnTo>
                <a:lnTo>
                  <a:pt x="434" y="396"/>
                </a:lnTo>
                <a:lnTo>
                  <a:pt x="424" y="369"/>
                </a:lnTo>
                <a:lnTo>
                  <a:pt x="484" y="299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0" name="Freeform 30">
            <a:extLst>
              <a:ext uri="{FF2B5EF4-FFF2-40B4-BE49-F238E27FC236}">
                <a16:creationId xmlns:a16="http://schemas.microsoft.com/office/drawing/2014/main" id="{327B8E1C-21FA-1BA5-57CA-A7DA1ED4ACA3}"/>
              </a:ext>
            </a:extLst>
          </p:cNvPr>
          <p:cNvSpPr>
            <a:spLocks/>
          </p:cNvSpPr>
          <p:nvPr/>
        </p:nvSpPr>
        <p:spPr bwMode="auto">
          <a:xfrm>
            <a:off x="4595360" y="2628673"/>
            <a:ext cx="53271" cy="41883"/>
          </a:xfrm>
          <a:custGeom>
            <a:avLst/>
            <a:gdLst/>
            <a:ahLst/>
            <a:cxnLst>
              <a:cxn ang="0">
                <a:pos x="112" y="38"/>
              </a:cxn>
              <a:cxn ang="0">
                <a:pos x="88" y="4"/>
              </a:cxn>
              <a:cxn ang="0">
                <a:pos x="88" y="1"/>
              </a:cxn>
              <a:cxn ang="0">
                <a:pos x="89" y="0"/>
              </a:cxn>
              <a:cxn ang="0">
                <a:pos x="9" y="22"/>
              </a:cxn>
              <a:cxn ang="0">
                <a:pos x="5" y="23"/>
              </a:cxn>
              <a:cxn ang="0">
                <a:pos x="4" y="27"/>
              </a:cxn>
              <a:cxn ang="0">
                <a:pos x="0" y="73"/>
              </a:cxn>
              <a:cxn ang="0">
                <a:pos x="37" y="107"/>
              </a:cxn>
              <a:cxn ang="0">
                <a:pos x="39" y="104"/>
              </a:cxn>
              <a:cxn ang="0">
                <a:pos x="42" y="103"/>
              </a:cxn>
              <a:cxn ang="0">
                <a:pos x="99" y="76"/>
              </a:cxn>
              <a:cxn ang="0">
                <a:pos x="125" y="56"/>
              </a:cxn>
              <a:cxn ang="0">
                <a:pos x="112" y="38"/>
              </a:cxn>
            </a:cxnLst>
            <a:rect l="0" t="0" r="r" b="b"/>
            <a:pathLst>
              <a:path w="125" h="107">
                <a:moveTo>
                  <a:pt x="112" y="38"/>
                </a:moveTo>
                <a:lnTo>
                  <a:pt x="88" y="4"/>
                </a:lnTo>
                <a:lnTo>
                  <a:pt x="88" y="1"/>
                </a:lnTo>
                <a:lnTo>
                  <a:pt x="89" y="0"/>
                </a:lnTo>
                <a:lnTo>
                  <a:pt x="9" y="22"/>
                </a:lnTo>
                <a:lnTo>
                  <a:pt x="5" y="23"/>
                </a:lnTo>
                <a:lnTo>
                  <a:pt x="4" y="27"/>
                </a:lnTo>
                <a:lnTo>
                  <a:pt x="0" y="73"/>
                </a:lnTo>
                <a:lnTo>
                  <a:pt x="37" y="107"/>
                </a:lnTo>
                <a:lnTo>
                  <a:pt x="39" y="104"/>
                </a:lnTo>
                <a:lnTo>
                  <a:pt x="42" y="103"/>
                </a:lnTo>
                <a:lnTo>
                  <a:pt x="99" y="76"/>
                </a:lnTo>
                <a:lnTo>
                  <a:pt x="125" y="56"/>
                </a:lnTo>
                <a:lnTo>
                  <a:pt x="112" y="3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1" name="Freeform 32">
            <a:extLst>
              <a:ext uri="{FF2B5EF4-FFF2-40B4-BE49-F238E27FC236}">
                <a16:creationId xmlns:a16="http://schemas.microsoft.com/office/drawing/2014/main" id="{9B4F55CF-A2A5-BBF2-438E-F5DAB790B770}"/>
              </a:ext>
            </a:extLst>
          </p:cNvPr>
          <p:cNvSpPr>
            <a:spLocks/>
          </p:cNvSpPr>
          <p:nvPr/>
        </p:nvSpPr>
        <p:spPr bwMode="auto">
          <a:xfrm>
            <a:off x="4565397" y="2251727"/>
            <a:ext cx="118193" cy="68253"/>
          </a:xfrm>
          <a:custGeom>
            <a:avLst/>
            <a:gdLst/>
            <a:ahLst/>
            <a:cxnLst>
              <a:cxn ang="0">
                <a:pos x="178" y="6"/>
              </a:cxn>
              <a:cxn ang="0">
                <a:pos x="82" y="0"/>
              </a:cxn>
              <a:cxn ang="0">
                <a:pos x="0" y="31"/>
              </a:cxn>
              <a:cxn ang="0">
                <a:pos x="2" y="37"/>
              </a:cxn>
              <a:cxn ang="0">
                <a:pos x="15" y="77"/>
              </a:cxn>
              <a:cxn ang="0">
                <a:pos x="66" y="100"/>
              </a:cxn>
              <a:cxn ang="0">
                <a:pos x="89" y="117"/>
              </a:cxn>
              <a:cxn ang="0">
                <a:pos x="100" y="126"/>
              </a:cxn>
              <a:cxn ang="0">
                <a:pos x="101" y="127"/>
              </a:cxn>
              <a:cxn ang="0">
                <a:pos x="128" y="160"/>
              </a:cxn>
              <a:cxn ang="0">
                <a:pos x="134" y="174"/>
              </a:cxn>
              <a:cxn ang="0">
                <a:pos x="190" y="174"/>
              </a:cxn>
              <a:cxn ang="0">
                <a:pos x="282" y="73"/>
              </a:cxn>
              <a:cxn ang="0">
                <a:pos x="285" y="47"/>
              </a:cxn>
              <a:cxn ang="0">
                <a:pos x="285" y="42"/>
              </a:cxn>
              <a:cxn ang="0">
                <a:pos x="178" y="6"/>
              </a:cxn>
            </a:cxnLst>
            <a:rect l="0" t="0" r="r" b="b"/>
            <a:pathLst>
              <a:path w="285" h="174">
                <a:moveTo>
                  <a:pt x="178" y="6"/>
                </a:moveTo>
                <a:lnTo>
                  <a:pt x="82" y="0"/>
                </a:lnTo>
                <a:lnTo>
                  <a:pt x="0" y="31"/>
                </a:lnTo>
                <a:lnTo>
                  <a:pt x="2" y="37"/>
                </a:lnTo>
                <a:lnTo>
                  <a:pt x="15" y="77"/>
                </a:lnTo>
                <a:lnTo>
                  <a:pt x="66" y="100"/>
                </a:lnTo>
                <a:lnTo>
                  <a:pt x="89" y="117"/>
                </a:lnTo>
                <a:lnTo>
                  <a:pt x="100" y="126"/>
                </a:lnTo>
                <a:lnTo>
                  <a:pt x="101" y="127"/>
                </a:lnTo>
                <a:lnTo>
                  <a:pt x="128" y="160"/>
                </a:lnTo>
                <a:lnTo>
                  <a:pt x="134" y="174"/>
                </a:lnTo>
                <a:lnTo>
                  <a:pt x="190" y="174"/>
                </a:lnTo>
                <a:lnTo>
                  <a:pt x="282" y="73"/>
                </a:lnTo>
                <a:lnTo>
                  <a:pt x="285" y="47"/>
                </a:lnTo>
                <a:lnTo>
                  <a:pt x="285" y="42"/>
                </a:lnTo>
                <a:lnTo>
                  <a:pt x="178" y="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2" name="Freeform 33">
            <a:extLst>
              <a:ext uri="{FF2B5EF4-FFF2-40B4-BE49-F238E27FC236}">
                <a16:creationId xmlns:a16="http://schemas.microsoft.com/office/drawing/2014/main" id="{4F95C6EE-FBCD-1D03-C1D6-9838E15939F7}"/>
              </a:ext>
            </a:extLst>
          </p:cNvPr>
          <p:cNvSpPr>
            <a:spLocks/>
          </p:cNvSpPr>
          <p:nvPr/>
        </p:nvSpPr>
        <p:spPr bwMode="auto">
          <a:xfrm>
            <a:off x="4558738" y="2208295"/>
            <a:ext cx="141500" cy="60497"/>
          </a:xfrm>
          <a:custGeom>
            <a:avLst/>
            <a:gdLst/>
            <a:ahLst/>
            <a:cxnLst>
              <a:cxn ang="0">
                <a:pos x="325" y="8"/>
              </a:cxn>
              <a:cxn ang="0">
                <a:pos x="319" y="8"/>
              </a:cxn>
              <a:cxn ang="0">
                <a:pos x="149" y="0"/>
              </a:cxn>
              <a:cxn ang="0">
                <a:pos x="149" y="22"/>
              </a:cxn>
              <a:cxn ang="0">
                <a:pos x="149" y="56"/>
              </a:cxn>
              <a:cxn ang="0">
                <a:pos x="125" y="70"/>
              </a:cxn>
              <a:cxn ang="0">
                <a:pos x="82" y="28"/>
              </a:cxn>
              <a:cxn ang="0">
                <a:pos x="38" y="28"/>
              </a:cxn>
              <a:cxn ang="0">
                <a:pos x="0" y="100"/>
              </a:cxn>
              <a:cxn ang="0">
                <a:pos x="13" y="144"/>
              </a:cxn>
              <a:cxn ang="0">
                <a:pos x="95" y="113"/>
              </a:cxn>
              <a:cxn ang="0">
                <a:pos x="191" y="119"/>
              </a:cxn>
              <a:cxn ang="0">
                <a:pos x="298" y="155"/>
              </a:cxn>
              <a:cxn ang="0">
                <a:pos x="298" y="156"/>
              </a:cxn>
              <a:cxn ang="0">
                <a:pos x="299" y="154"/>
              </a:cxn>
              <a:cxn ang="0">
                <a:pos x="338" y="128"/>
              </a:cxn>
              <a:cxn ang="0">
                <a:pos x="339" y="127"/>
              </a:cxn>
              <a:cxn ang="0">
                <a:pos x="325" y="8"/>
              </a:cxn>
            </a:cxnLst>
            <a:rect l="0" t="0" r="r" b="b"/>
            <a:pathLst>
              <a:path w="339" h="156">
                <a:moveTo>
                  <a:pt x="325" y="8"/>
                </a:moveTo>
                <a:lnTo>
                  <a:pt x="319" y="8"/>
                </a:lnTo>
                <a:lnTo>
                  <a:pt x="149" y="0"/>
                </a:lnTo>
                <a:lnTo>
                  <a:pt x="149" y="22"/>
                </a:lnTo>
                <a:lnTo>
                  <a:pt x="149" y="56"/>
                </a:lnTo>
                <a:lnTo>
                  <a:pt x="125" y="70"/>
                </a:lnTo>
                <a:lnTo>
                  <a:pt x="82" y="28"/>
                </a:lnTo>
                <a:lnTo>
                  <a:pt x="38" y="28"/>
                </a:lnTo>
                <a:lnTo>
                  <a:pt x="0" y="100"/>
                </a:lnTo>
                <a:lnTo>
                  <a:pt x="13" y="144"/>
                </a:lnTo>
                <a:lnTo>
                  <a:pt x="95" y="113"/>
                </a:lnTo>
                <a:lnTo>
                  <a:pt x="191" y="119"/>
                </a:lnTo>
                <a:lnTo>
                  <a:pt x="298" y="155"/>
                </a:lnTo>
                <a:lnTo>
                  <a:pt x="298" y="156"/>
                </a:lnTo>
                <a:lnTo>
                  <a:pt x="299" y="154"/>
                </a:lnTo>
                <a:lnTo>
                  <a:pt x="338" y="128"/>
                </a:lnTo>
                <a:lnTo>
                  <a:pt x="339" y="127"/>
                </a:lnTo>
                <a:lnTo>
                  <a:pt x="325" y="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3" name="Freeform 42">
            <a:extLst>
              <a:ext uri="{FF2B5EF4-FFF2-40B4-BE49-F238E27FC236}">
                <a16:creationId xmlns:a16="http://schemas.microsoft.com/office/drawing/2014/main" id="{210A9C2E-5545-69AE-24F2-B847E0A7827E}"/>
              </a:ext>
            </a:extLst>
          </p:cNvPr>
          <p:cNvSpPr>
            <a:spLocks/>
          </p:cNvSpPr>
          <p:nvPr/>
        </p:nvSpPr>
        <p:spPr bwMode="auto">
          <a:xfrm>
            <a:off x="4585371" y="2651941"/>
            <a:ext cx="133176" cy="130302"/>
          </a:xfrm>
          <a:custGeom>
            <a:avLst/>
            <a:gdLst/>
            <a:ahLst/>
            <a:cxnLst>
              <a:cxn ang="0">
                <a:pos x="125" y="19"/>
              </a:cxn>
              <a:cxn ang="0">
                <a:pos x="68" y="46"/>
              </a:cxn>
              <a:cxn ang="0">
                <a:pos x="65" y="47"/>
              </a:cxn>
              <a:cxn ang="0">
                <a:pos x="63" y="50"/>
              </a:cxn>
              <a:cxn ang="0">
                <a:pos x="57" y="57"/>
              </a:cxn>
              <a:cxn ang="0">
                <a:pos x="0" y="130"/>
              </a:cxn>
              <a:cxn ang="0">
                <a:pos x="4" y="135"/>
              </a:cxn>
              <a:cxn ang="0">
                <a:pos x="53" y="193"/>
              </a:cxn>
              <a:cxn ang="0">
                <a:pos x="100" y="298"/>
              </a:cxn>
              <a:cxn ang="0">
                <a:pos x="149" y="338"/>
              </a:cxn>
              <a:cxn ang="0">
                <a:pos x="181" y="320"/>
              </a:cxn>
              <a:cxn ang="0">
                <a:pos x="199" y="309"/>
              </a:cxn>
              <a:cxn ang="0">
                <a:pos x="195" y="270"/>
              </a:cxn>
              <a:cxn ang="0">
                <a:pos x="194" y="252"/>
              </a:cxn>
              <a:cxn ang="0">
                <a:pos x="247" y="227"/>
              </a:cxn>
              <a:cxn ang="0">
                <a:pos x="166" y="153"/>
              </a:cxn>
              <a:cxn ang="0">
                <a:pos x="136" y="97"/>
              </a:cxn>
              <a:cxn ang="0">
                <a:pos x="143" y="85"/>
              </a:cxn>
              <a:cxn ang="0">
                <a:pos x="178" y="104"/>
              </a:cxn>
              <a:cxn ang="0">
                <a:pos x="210" y="86"/>
              </a:cxn>
              <a:cxn ang="0">
                <a:pos x="182" y="70"/>
              </a:cxn>
              <a:cxn ang="0">
                <a:pos x="221" y="45"/>
              </a:cxn>
              <a:cxn ang="0">
                <a:pos x="294" y="61"/>
              </a:cxn>
              <a:cxn ang="0">
                <a:pos x="319" y="3"/>
              </a:cxn>
              <a:cxn ang="0">
                <a:pos x="150" y="0"/>
              </a:cxn>
              <a:cxn ang="0">
                <a:pos x="125" y="19"/>
              </a:cxn>
            </a:cxnLst>
            <a:rect l="0" t="0" r="r" b="b"/>
            <a:pathLst>
              <a:path w="319" h="338">
                <a:moveTo>
                  <a:pt x="125" y="19"/>
                </a:moveTo>
                <a:lnTo>
                  <a:pt x="68" y="46"/>
                </a:lnTo>
                <a:lnTo>
                  <a:pt x="65" y="47"/>
                </a:lnTo>
                <a:lnTo>
                  <a:pt x="63" y="50"/>
                </a:lnTo>
                <a:lnTo>
                  <a:pt x="57" y="57"/>
                </a:lnTo>
                <a:lnTo>
                  <a:pt x="0" y="130"/>
                </a:lnTo>
                <a:lnTo>
                  <a:pt x="4" y="135"/>
                </a:lnTo>
                <a:lnTo>
                  <a:pt x="53" y="193"/>
                </a:lnTo>
                <a:lnTo>
                  <a:pt x="100" y="298"/>
                </a:lnTo>
                <a:lnTo>
                  <a:pt x="149" y="338"/>
                </a:lnTo>
                <a:lnTo>
                  <a:pt x="181" y="320"/>
                </a:lnTo>
                <a:lnTo>
                  <a:pt x="199" y="309"/>
                </a:lnTo>
                <a:lnTo>
                  <a:pt x="195" y="270"/>
                </a:lnTo>
                <a:lnTo>
                  <a:pt x="194" y="252"/>
                </a:lnTo>
                <a:lnTo>
                  <a:pt x="247" y="227"/>
                </a:lnTo>
                <a:lnTo>
                  <a:pt x="166" y="153"/>
                </a:lnTo>
                <a:lnTo>
                  <a:pt x="136" y="97"/>
                </a:lnTo>
                <a:lnTo>
                  <a:pt x="143" y="85"/>
                </a:lnTo>
                <a:lnTo>
                  <a:pt x="178" y="104"/>
                </a:lnTo>
                <a:lnTo>
                  <a:pt x="210" y="86"/>
                </a:lnTo>
                <a:lnTo>
                  <a:pt x="182" y="70"/>
                </a:lnTo>
                <a:lnTo>
                  <a:pt x="221" y="45"/>
                </a:lnTo>
                <a:lnTo>
                  <a:pt x="294" y="61"/>
                </a:lnTo>
                <a:lnTo>
                  <a:pt x="319" y="3"/>
                </a:lnTo>
                <a:lnTo>
                  <a:pt x="150" y="0"/>
                </a:lnTo>
                <a:lnTo>
                  <a:pt x="125" y="19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4" name="Freeform 43">
            <a:extLst>
              <a:ext uri="{FF2B5EF4-FFF2-40B4-BE49-F238E27FC236}">
                <a16:creationId xmlns:a16="http://schemas.microsoft.com/office/drawing/2014/main" id="{B491B528-885B-E8EC-B674-2EFB1D3FA8D9}"/>
              </a:ext>
            </a:extLst>
          </p:cNvPr>
          <p:cNvSpPr>
            <a:spLocks/>
          </p:cNvSpPr>
          <p:nvPr/>
        </p:nvSpPr>
        <p:spPr bwMode="auto">
          <a:xfrm>
            <a:off x="4668607" y="2797756"/>
            <a:ext cx="63258" cy="18615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11" y="29"/>
              </a:cxn>
              <a:cxn ang="0">
                <a:pos x="90" y="49"/>
              </a:cxn>
              <a:cxn ang="0">
                <a:pos x="152" y="39"/>
              </a:cxn>
              <a:cxn ang="0">
                <a:pos x="146" y="20"/>
              </a:cxn>
              <a:cxn ang="0">
                <a:pos x="84" y="14"/>
              </a:cxn>
              <a:cxn ang="0">
                <a:pos x="39" y="0"/>
              </a:cxn>
              <a:cxn ang="0">
                <a:pos x="0" y="4"/>
              </a:cxn>
            </a:cxnLst>
            <a:rect l="0" t="0" r="r" b="b"/>
            <a:pathLst>
              <a:path w="152" h="49">
                <a:moveTo>
                  <a:pt x="0" y="4"/>
                </a:moveTo>
                <a:lnTo>
                  <a:pt x="11" y="29"/>
                </a:lnTo>
                <a:lnTo>
                  <a:pt x="90" y="49"/>
                </a:lnTo>
                <a:lnTo>
                  <a:pt x="152" y="39"/>
                </a:lnTo>
                <a:lnTo>
                  <a:pt x="146" y="20"/>
                </a:lnTo>
                <a:lnTo>
                  <a:pt x="84" y="14"/>
                </a:lnTo>
                <a:lnTo>
                  <a:pt x="39" y="0"/>
                </a:lnTo>
                <a:lnTo>
                  <a:pt x="0" y="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5" name="Freeform 47">
            <a:extLst>
              <a:ext uri="{FF2B5EF4-FFF2-40B4-BE49-F238E27FC236}">
                <a16:creationId xmlns:a16="http://schemas.microsoft.com/office/drawing/2014/main" id="{20F9763D-13CC-7EEC-E2AB-6521955C784C}"/>
              </a:ext>
            </a:extLst>
          </p:cNvPr>
          <p:cNvSpPr>
            <a:spLocks/>
          </p:cNvSpPr>
          <p:nvPr/>
        </p:nvSpPr>
        <p:spPr bwMode="auto">
          <a:xfrm>
            <a:off x="4570390" y="2154002"/>
            <a:ext cx="124854" cy="57395"/>
          </a:xfrm>
          <a:custGeom>
            <a:avLst/>
            <a:gdLst/>
            <a:ahLst/>
            <a:cxnLst>
              <a:cxn ang="0">
                <a:pos x="298" y="146"/>
              </a:cxn>
              <a:cxn ang="0">
                <a:pos x="281" y="2"/>
              </a:cxn>
              <a:cxn ang="0">
                <a:pos x="280" y="3"/>
              </a:cxn>
              <a:cxn ang="0">
                <a:pos x="268" y="2"/>
              </a:cxn>
              <a:cxn ang="0">
                <a:pos x="258" y="2"/>
              </a:cxn>
              <a:cxn ang="0">
                <a:pos x="130" y="0"/>
              </a:cxn>
              <a:cxn ang="0">
                <a:pos x="0" y="111"/>
              </a:cxn>
              <a:cxn ang="0">
                <a:pos x="15" y="139"/>
              </a:cxn>
              <a:cxn ang="0">
                <a:pos x="76" y="90"/>
              </a:cxn>
              <a:cxn ang="0">
                <a:pos x="121" y="105"/>
              </a:cxn>
              <a:cxn ang="0">
                <a:pos x="122" y="124"/>
              </a:cxn>
              <a:cxn ang="0">
                <a:pos x="122" y="138"/>
              </a:cxn>
              <a:cxn ang="0">
                <a:pos x="122" y="139"/>
              </a:cxn>
              <a:cxn ang="0">
                <a:pos x="122" y="139"/>
              </a:cxn>
              <a:cxn ang="0">
                <a:pos x="292" y="147"/>
              </a:cxn>
              <a:cxn ang="0">
                <a:pos x="298" y="147"/>
              </a:cxn>
              <a:cxn ang="0">
                <a:pos x="298" y="146"/>
              </a:cxn>
            </a:cxnLst>
            <a:rect l="0" t="0" r="r" b="b"/>
            <a:pathLst>
              <a:path w="298" h="147">
                <a:moveTo>
                  <a:pt x="298" y="146"/>
                </a:moveTo>
                <a:lnTo>
                  <a:pt x="281" y="2"/>
                </a:lnTo>
                <a:lnTo>
                  <a:pt x="280" y="3"/>
                </a:lnTo>
                <a:lnTo>
                  <a:pt x="268" y="2"/>
                </a:lnTo>
                <a:lnTo>
                  <a:pt x="258" y="2"/>
                </a:lnTo>
                <a:lnTo>
                  <a:pt x="130" y="0"/>
                </a:lnTo>
                <a:lnTo>
                  <a:pt x="0" y="111"/>
                </a:lnTo>
                <a:lnTo>
                  <a:pt x="15" y="139"/>
                </a:lnTo>
                <a:lnTo>
                  <a:pt x="76" y="90"/>
                </a:lnTo>
                <a:lnTo>
                  <a:pt x="121" y="105"/>
                </a:lnTo>
                <a:lnTo>
                  <a:pt x="122" y="124"/>
                </a:lnTo>
                <a:lnTo>
                  <a:pt x="122" y="138"/>
                </a:lnTo>
                <a:lnTo>
                  <a:pt x="122" y="139"/>
                </a:lnTo>
                <a:lnTo>
                  <a:pt x="122" y="139"/>
                </a:lnTo>
                <a:lnTo>
                  <a:pt x="292" y="147"/>
                </a:lnTo>
                <a:lnTo>
                  <a:pt x="298" y="147"/>
                </a:lnTo>
                <a:lnTo>
                  <a:pt x="298" y="14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6" name="Freeform 50">
            <a:extLst>
              <a:ext uri="{FF2B5EF4-FFF2-40B4-BE49-F238E27FC236}">
                <a16:creationId xmlns:a16="http://schemas.microsoft.com/office/drawing/2014/main" id="{DF564317-D2D1-C127-36FE-63FC3742A722}"/>
              </a:ext>
            </a:extLst>
          </p:cNvPr>
          <p:cNvSpPr>
            <a:spLocks/>
          </p:cNvSpPr>
          <p:nvPr/>
        </p:nvSpPr>
        <p:spPr bwMode="auto">
          <a:xfrm>
            <a:off x="4631984" y="2580584"/>
            <a:ext cx="123187" cy="71355"/>
          </a:xfrm>
          <a:custGeom>
            <a:avLst/>
            <a:gdLst/>
            <a:ahLst/>
            <a:cxnLst>
              <a:cxn ang="0">
                <a:pos x="240" y="0"/>
              </a:cxn>
              <a:cxn ang="0">
                <a:pos x="198" y="6"/>
              </a:cxn>
              <a:cxn ang="0">
                <a:pos x="168" y="28"/>
              </a:cxn>
              <a:cxn ang="0">
                <a:pos x="154" y="39"/>
              </a:cxn>
              <a:cxn ang="0">
                <a:pos x="128" y="47"/>
              </a:cxn>
              <a:cxn ang="0">
                <a:pos x="51" y="39"/>
              </a:cxn>
              <a:cxn ang="0">
                <a:pos x="10" y="42"/>
              </a:cxn>
              <a:cxn ang="0">
                <a:pos x="14" y="62"/>
              </a:cxn>
              <a:cxn ang="0">
                <a:pos x="2" y="107"/>
              </a:cxn>
              <a:cxn ang="0">
                <a:pos x="1" y="125"/>
              </a:cxn>
              <a:cxn ang="0">
                <a:pos x="0" y="126"/>
              </a:cxn>
              <a:cxn ang="0">
                <a:pos x="0" y="129"/>
              </a:cxn>
              <a:cxn ang="0">
                <a:pos x="24" y="163"/>
              </a:cxn>
              <a:cxn ang="0">
                <a:pos x="29" y="169"/>
              </a:cxn>
              <a:cxn ang="0">
                <a:pos x="37" y="181"/>
              </a:cxn>
              <a:cxn ang="0">
                <a:pos x="36" y="182"/>
              </a:cxn>
              <a:cxn ang="0">
                <a:pos x="205" y="185"/>
              </a:cxn>
              <a:cxn ang="0">
                <a:pos x="206" y="183"/>
              </a:cxn>
              <a:cxn ang="0">
                <a:pos x="214" y="166"/>
              </a:cxn>
              <a:cxn ang="0">
                <a:pos x="210" y="146"/>
              </a:cxn>
              <a:cxn ang="0">
                <a:pos x="265" y="133"/>
              </a:cxn>
              <a:cxn ang="0">
                <a:pos x="257" y="125"/>
              </a:cxn>
              <a:cxn ang="0">
                <a:pos x="289" y="29"/>
              </a:cxn>
              <a:cxn ang="0">
                <a:pos x="293" y="17"/>
              </a:cxn>
              <a:cxn ang="0">
                <a:pos x="297" y="10"/>
              </a:cxn>
              <a:cxn ang="0">
                <a:pos x="240" y="0"/>
              </a:cxn>
            </a:cxnLst>
            <a:rect l="0" t="0" r="r" b="b"/>
            <a:pathLst>
              <a:path w="297" h="185">
                <a:moveTo>
                  <a:pt x="240" y="0"/>
                </a:moveTo>
                <a:lnTo>
                  <a:pt x="198" y="6"/>
                </a:lnTo>
                <a:lnTo>
                  <a:pt x="168" y="28"/>
                </a:lnTo>
                <a:lnTo>
                  <a:pt x="154" y="39"/>
                </a:lnTo>
                <a:lnTo>
                  <a:pt x="128" y="47"/>
                </a:lnTo>
                <a:lnTo>
                  <a:pt x="51" y="39"/>
                </a:lnTo>
                <a:lnTo>
                  <a:pt x="10" y="42"/>
                </a:lnTo>
                <a:lnTo>
                  <a:pt x="14" y="62"/>
                </a:lnTo>
                <a:lnTo>
                  <a:pt x="2" y="107"/>
                </a:lnTo>
                <a:lnTo>
                  <a:pt x="1" y="125"/>
                </a:lnTo>
                <a:lnTo>
                  <a:pt x="0" y="126"/>
                </a:lnTo>
                <a:lnTo>
                  <a:pt x="0" y="129"/>
                </a:lnTo>
                <a:lnTo>
                  <a:pt x="24" y="163"/>
                </a:lnTo>
                <a:lnTo>
                  <a:pt x="29" y="169"/>
                </a:lnTo>
                <a:lnTo>
                  <a:pt x="37" y="181"/>
                </a:lnTo>
                <a:lnTo>
                  <a:pt x="36" y="182"/>
                </a:lnTo>
                <a:lnTo>
                  <a:pt x="205" y="185"/>
                </a:lnTo>
                <a:lnTo>
                  <a:pt x="206" y="183"/>
                </a:lnTo>
                <a:lnTo>
                  <a:pt x="214" y="166"/>
                </a:lnTo>
                <a:lnTo>
                  <a:pt x="210" y="146"/>
                </a:lnTo>
                <a:lnTo>
                  <a:pt x="265" y="133"/>
                </a:lnTo>
                <a:lnTo>
                  <a:pt x="257" y="125"/>
                </a:lnTo>
                <a:lnTo>
                  <a:pt x="289" y="29"/>
                </a:lnTo>
                <a:lnTo>
                  <a:pt x="293" y="17"/>
                </a:lnTo>
                <a:lnTo>
                  <a:pt x="297" y="10"/>
                </a:lnTo>
                <a:lnTo>
                  <a:pt x="24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7" name="Freeform 34">
            <a:extLst>
              <a:ext uri="{FF2B5EF4-FFF2-40B4-BE49-F238E27FC236}">
                <a16:creationId xmlns:a16="http://schemas.microsoft.com/office/drawing/2014/main" id="{4B14E992-71E2-A70C-A961-BBD18A098E06}"/>
              </a:ext>
            </a:extLst>
          </p:cNvPr>
          <p:cNvSpPr>
            <a:spLocks/>
          </p:cNvSpPr>
          <p:nvPr/>
        </p:nvSpPr>
        <p:spPr bwMode="auto">
          <a:xfrm>
            <a:off x="4443874" y="2530947"/>
            <a:ext cx="114865" cy="96175"/>
          </a:xfrm>
          <a:custGeom>
            <a:avLst/>
            <a:gdLst/>
            <a:ahLst/>
            <a:cxnLst>
              <a:cxn ang="0">
                <a:pos x="149" y="75"/>
              </a:cxn>
              <a:cxn ang="0">
                <a:pos x="202" y="78"/>
              </a:cxn>
              <a:cxn ang="0">
                <a:pos x="216" y="88"/>
              </a:cxn>
              <a:cxn ang="0">
                <a:pos x="264" y="92"/>
              </a:cxn>
              <a:cxn ang="0">
                <a:pos x="277" y="70"/>
              </a:cxn>
              <a:cxn ang="0">
                <a:pos x="219" y="39"/>
              </a:cxn>
              <a:cxn ang="0">
                <a:pos x="217" y="38"/>
              </a:cxn>
              <a:cxn ang="0">
                <a:pos x="214" y="37"/>
              </a:cxn>
              <a:cxn ang="0">
                <a:pos x="144" y="0"/>
              </a:cxn>
              <a:cxn ang="0">
                <a:pos x="143" y="0"/>
              </a:cxn>
              <a:cxn ang="0">
                <a:pos x="122" y="11"/>
              </a:cxn>
              <a:cxn ang="0">
                <a:pos x="0" y="71"/>
              </a:cxn>
              <a:cxn ang="0">
                <a:pos x="2" y="76"/>
              </a:cxn>
              <a:cxn ang="0">
                <a:pos x="16" y="94"/>
              </a:cxn>
              <a:cxn ang="0">
                <a:pos x="76" y="168"/>
              </a:cxn>
              <a:cxn ang="0">
                <a:pos x="117" y="198"/>
              </a:cxn>
              <a:cxn ang="0">
                <a:pos x="222" y="248"/>
              </a:cxn>
              <a:cxn ang="0">
                <a:pos x="223" y="248"/>
              </a:cxn>
              <a:cxn ang="0">
                <a:pos x="231" y="224"/>
              </a:cxn>
              <a:cxn ang="0">
                <a:pos x="204" y="206"/>
              </a:cxn>
              <a:cxn ang="0">
                <a:pos x="180" y="190"/>
              </a:cxn>
              <a:cxn ang="0">
                <a:pos x="121" y="108"/>
              </a:cxn>
              <a:cxn ang="0">
                <a:pos x="100" y="83"/>
              </a:cxn>
              <a:cxn ang="0">
                <a:pos x="121" y="73"/>
              </a:cxn>
              <a:cxn ang="0">
                <a:pos x="149" y="75"/>
              </a:cxn>
            </a:cxnLst>
            <a:rect l="0" t="0" r="r" b="b"/>
            <a:pathLst>
              <a:path w="277" h="248">
                <a:moveTo>
                  <a:pt x="149" y="75"/>
                </a:moveTo>
                <a:lnTo>
                  <a:pt x="202" y="78"/>
                </a:lnTo>
                <a:lnTo>
                  <a:pt x="216" y="88"/>
                </a:lnTo>
                <a:lnTo>
                  <a:pt x="264" y="92"/>
                </a:lnTo>
                <a:lnTo>
                  <a:pt x="277" y="70"/>
                </a:lnTo>
                <a:lnTo>
                  <a:pt x="219" y="39"/>
                </a:lnTo>
                <a:lnTo>
                  <a:pt x="217" y="38"/>
                </a:lnTo>
                <a:lnTo>
                  <a:pt x="214" y="37"/>
                </a:lnTo>
                <a:lnTo>
                  <a:pt x="144" y="0"/>
                </a:lnTo>
                <a:lnTo>
                  <a:pt x="143" y="0"/>
                </a:lnTo>
                <a:lnTo>
                  <a:pt x="122" y="11"/>
                </a:lnTo>
                <a:lnTo>
                  <a:pt x="0" y="71"/>
                </a:lnTo>
                <a:lnTo>
                  <a:pt x="2" y="76"/>
                </a:lnTo>
                <a:lnTo>
                  <a:pt x="16" y="94"/>
                </a:lnTo>
                <a:lnTo>
                  <a:pt x="76" y="168"/>
                </a:lnTo>
                <a:lnTo>
                  <a:pt x="117" y="198"/>
                </a:lnTo>
                <a:lnTo>
                  <a:pt x="222" y="248"/>
                </a:lnTo>
                <a:lnTo>
                  <a:pt x="223" y="248"/>
                </a:lnTo>
                <a:lnTo>
                  <a:pt x="231" y="224"/>
                </a:lnTo>
                <a:lnTo>
                  <a:pt x="204" y="206"/>
                </a:lnTo>
                <a:lnTo>
                  <a:pt x="180" y="190"/>
                </a:lnTo>
                <a:lnTo>
                  <a:pt x="121" y="108"/>
                </a:lnTo>
                <a:lnTo>
                  <a:pt x="100" y="83"/>
                </a:lnTo>
                <a:lnTo>
                  <a:pt x="121" y="73"/>
                </a:lnTo>
                <a:lnTo>
                  <a:pt x="149" y="75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8" name="Freeform 54">
            <a:extLst>
              <a:ext uri="{FF2B5EF4-FFF2-40B4-BE49-F238E27FC236}">
                <a16:creationId xmlns:a16="http://schemas.microsoft.com/office/drawing/2014/main" id="{8148F783-32F1-F090-2A73-CA3CF14982FC}"/>
              </a:ext>
            </a:extLst>
          </p:cNvPr>
          <p:cNvSpPr>
            <a:spLocks/>
          </p:cNvSpPr>
          <p:nvPr/>
        </p:nvSpPr>
        <p:spPr bwMode="auto">
          <a:xfrm>
            <a:off x="4562066" y="2628673"/>
            <a:ext cx="49941" cy="72907"/>
          </a:xfrm>
          <a:custGeom>
            <a:avLst/>
            <a:gdLst/>
            <a:ahLst/>
            <a:cxnLst>
              <a:cxn ang="0">
                <a:pos x="80" y="74"/>
              </a:cxn>
              <a:cxn ang="0">
                <a:pos x="84" y="28"/>
              </a:cxn>
              <a:cxn ang="0">
                <a:pos x="85" y="24"/>
              </a:cxn>
              <a:cxn ang="0">
                <a:pos x="79" y="26"/>
              </a:cxn>
              <a:cxn ang="0">
                <a:pos x="60" y="0"/>
              </a:cxn>
              <a:cxn ang="0">
                <a:pos x="42" y="2"/>
              </a:cxn>
              <a:cxn ang="0">
                <a:pos x="14" y="3"/>
              </a:cxn>
              <a:cxn ang="0">
                <a:pos x="0" y="45"/>
              </a:cxn>
              <a:cxn ang="0">
                <a:pos x="8" y="52"/>
              </a:cxn>
              <a:cxn ang="0">
                <a:pos x="14" y="56"/>
              </a:cxn>
              <a:cxn ang="0">
                <a:pos x="18" y="149"/>
              </a:cxn>
              <a:cxn ang="0">
                <a:pos x="45" y="179"/>
              </a:cxn>
              <a:cxn ang="0">
                <a:pos x="54" y="188"/>
              </a:cxn>
              <a:cxn ang="0">
                <a:pos x="111" y="115"/>
              </a:cxn>
              <a:cxn ang="0">
                <a:pos x="117" y="108"/>
              </a:cxn>
              <a:cxn ang="0">
                <a:pos x="80" y="74"/>
              </a:cxn>
            </a:cxnLst>
            <a:rect l="0" t="0" r="r" b="b"/>
            <a:pathLst>
              <a:path w="117" h="188">
                <a:moveTo>
                  <a:pt x="80" y="74"/>
                </a:moveTo>
                <a:lnTo>
                  <a:pt x="84" y="28"/>
                </a:lnTo>
                <a:lnTo>
                  <a:pt x="85" y="24"/>
                </a:lnTo>
                <a:lnTo>
                  <a:pt x="79" y="26"/>
                </a:lnTo>
                <a:lnTo>
                  <a:pt x="60" y="0"/>
                </a:lnTo>
                <a:lnTo>
                  <a:pt x="42" y="2"/>
                </a:lnTo>
                <a:lnTo>
                  <a:pt x="14" y="3"/>
                </a:lnTo>
                <a:lnTo>
                  <a:pt x="0" y="45"/>
                </a:lnTo>
                <a:lnTo>
                  <a:pt x="8" y="52"/>
                </a:lnTo>
                <a:lnTo>
                  <a:pt x="14" y="56"/>
                </a:lnTo>
                <a:lnTo>
                  <a:pt x="18" y="149"/>
                </a:lnTo>
                <a:lnTo>
                  <a:pt x="45" y="179"/>
                </a:lnTo>
                <a:lnTo>
                  <a:pt x="54" y="188"/>
                </a:lnTo>
                <a:lnTo>
                  <a:pt x="111" y="115"/>
                </a:lnTo>
                <a:lnTo>
                  <a:pt x="117" y="108"/>
                </a:lnTo>
                <a:lnTo>
                  <a:pt x="80" y="7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29" name="Freeform 68">
            <a:extLst>
              <a:ext uri="{FF2B5EF4-FFF2-40B4-BE49-F238E27FC236}">
                <a16:creationId xmlns:a16="http://schemas.microsoft.com/office/drawing/2014/main" id="{334CD715-1B90-3DBD-95D2-85B6178E31C4}"/>
              </a:ext>
            </a:extLst>
          </p:cNvPr>
          <p:cNvSpPr>
            <a:spLocks/>
          </p:cNvSpPr>
          <p:nvPr/>
        </p:nvSpPr>
        <p:spPr bwMode="auto">
          <a:xfrm>
            <a:off x="4653626" y="1189145"/>
            <a:ext cx="2851619" cy="1434874"/>
          </a:xfrm>
          <a:custGeom>
            <a:avLst/>
            <a:gdLst/>
            <a:ahLst/>
            <a:cxnLst>
              <a:cxn ang="0">
                <a:pos x="5753" y="82"/>
              </a:cxn>
              <a:cxn ang="0">
                <a:pos x="5417" y="310"/>
              </a:cxn>
              <a:cxn ang="0">
                <a:pos x="4841" y="289"/>
              </a:cxn>
              <a:cxn ang="0">
                <a:pos x="4149" y="552"/>
              </a:cxn>
              <a:cxn ang="0">
                <a:pos x="3904" y="448"/>
              </a:cxn>
              <a:cxn ang="0">
                <a:pos x="3431" y="565"/>
              </a:cxn>
              <a:cxn ang="0">
                <a:pos x="3182" y="452"/>
              </a:cxn>
              <a:cxn ang="0">
                <a:pos x="2735" y="285"/>
              </a:cxn>
              <a:cxn ang="0">
                <a:pos x="2401" y="583"/>
              </a:cxn>
              <a:cxn ang="0">
                <a:pos x="1989" y="974"/>
              </a:cxn>
              <a:cxn ang="0">
                <a:pos x="1809" y="1124"/>
              </a:cxn>
              <a:cxn ang="0">
                <a:pos x="1980" y="1439"/>
              </a:cxn>
              <a:cxn ang="0">
                <a:pos x="1936" y="1563"/>
              </a:cxn>
              <a:cxn ang="0">
                <a:pos x="1809" y="1493"/>
              </a:cxn>
              <a:cxn ang="0">
                <a:pos x="1554" y="1144"/>
              </a:cxn>
              <a:cxn ang="0">
                <a:pos x="1646" y="1572"/>
              </a:cxn>
              <a:cxn ang="0">
                <a:pos x="1053" y="1643"/>
              </a:cxn>
              <a:cxn ang="0">
                <a:pos x="745" y="1818"/>
              </a:cxn>
              <a:cxn ang="0">
                <a:pos x="596" y="1667"/>
              </a:cxn>
              <a:cxn ang="0">
                <a:pos x="500" y="1961"/>
              </a:cxn>
              <a:cxn ang="0">
                <a:pos x="397" y="2037"/>
              </a:cxn>
              <a:cxn ang="0">
                <a:pos x="275" y="1939"/>
              </a:cxn>
              <a:cxn ang="0">
                <a:pos x="495" y="1912"/>
              </a:cxn>
              <a:cxn ang="0">
                <a:pos x="177" y="1667"/>
              </a:cxn>
              <a:cxn ang="0">
                <a:pos x="10" y="1699"/>
              </a:cxn>
              <a:cxn ang="0">
                <a:pos x="51" y="1867"/>
              </a:cxn>
              <a:cxn ang="0">
                <a:pos x="195" y="2198"/>
              </a:cxn>
              <a:cxn ang="0">
                <a:pos x="98" y="2635"/>
              </a:cxn>
              <a:cxn ang="0">
                <a:pos x="243" y="2761"/>
              </a:cxn>
              <a:cxn ang="0">
                <a:pos x="311" y="2953"/>
              </a:cxn>
              <a:cxn ang="0">
                <a:pos x="526" y="3126"/>
              </a:cxn>
              <a:cxn ang="0">
                <a:pos x="678" y="3350"/>
              </a:cxn>
              <a:cxn ang="0">
                <a:pos x="700" y="3406"/>
              </a:cxn>
              <a:cxn ang="0">
                <a:pos x="632" y="3511"/>
              </a:cxn>
              <a:cxn ang="0">
                <a:pos x="967" y="3620"/>
              </a:cxn>
              <a:cxn ang="0">
                <a:pos x="1141" y="3688"/>
              </a:cxn>
              <a:cxn ang="0">
                <a:pos x="1207" y="3647"/>
              </a:cxn>
              <a:cxn ang="0">
                <a:pos x="1215" y="3383"/>
              </a:cxn>
              <a:cxn ang="0">
                <a:pos x="1160" y="3075"/>
              </a:cxn>
              <a:cxn ang="0">
                <a:pos x="1736" y="2982"/>
              </a:cxn>
              <a:cxn ang="0">
                <a:pos x="2141" y="2693"/>
              </a:cxn>
              <a:cxn ang="0">
                <a:pos x="2835" y="2871"/>
              </a:cxn>
              <a:cxn ang="0">
                <a:pos x="3218" y="2815"/>
              </a:cxn>
              <a:cxn ang="0">
                <a:pos x="3496" y="2764"/>
              </a:cxn>
              <a:cxn ang="0">
                <a:pos x="3936" y="2747"/>
              </a:cxn>
              <a:cxn ang="0">
                <a:pos x="4296" y="2677"/>
              </a:cxn>
              <a:cxn ang="0">
                <a:pos x="4503" y="2698"/>
              </a:cxn>
              <a:cxn ang="0">
                <a:pos x="4553" y="2365"/>
              </a:cxn>
              <a:cxn ang="0">
                <a:pos x="5308" y="2637"/>
              </a:cxn>
              <a:cxn ang="0">
                <a:pos x="5270" y="2975"/>
              </a:cxn>
              <a:cxn ang="0">
                <a:pos x="5431" y="3141"/>
              </a:cxn>
              <a:cxn ang="0">
                <a:pos x="5277" y="2119"/>
              </a:cxn>
              <a:cxn ang="0">
                <a:pos x="5636" y="1536"/>
              </a:cxn>
              <a:cxn ang="0">
                <a:pos x="5929" y="1227"/>
              </a:cxn>
              <a:cxn ang="0">
                <a:pos x="5941" y="1569"/>
              </a:cxn>
              <a:cxn ang="0">
                <a:pos x="6281" y="1931"/>
              </a:cxn>
              <a:cxn ang="0">
                <a:pos x="6150" y="1243"/>
              </a:cxn>
              <a:cxn ang="0">
                <a:pos x="6637" y="748"/>
              </a:cxn>
              <a:cxn ang="0">
                <a:pos x="6553" y="357"/>
              </a:cxn>
              <a:cxn ang="0">
                <a:pos x="6705" y="105"/>
              </a:cxn>
            </a:cxnLst>
            <a:rect l="0" t="0" r="r" b="b"/>
            <a:pathLst>
              <a:path w="6852" h="3700">
                <a:moveTo>
                  <a:pt x="6705" y="105"/>
                </a:moveTo>
                <a:lnTo>
                  <a:pt x="6577" y="128"/>
                </a:lnTo>
                <a:lnTo>
                  <a:pt x="6105" y="0"/>
                </a:lnTo>
                <a:lnTo>
                  <a:pt x="5753" y="82"/>
                </a:lnTo>
                <a:lnTo>
                  <a:pt x="5842" y="170"/>
                </a:lnTo>
                <a:lnTo>
                  <a:pt x="5800" y="226"/>
                </a:lnTo>
                <a:lnTo>
                  <a:pt x="5677" y="183"/>
                </a:lnTo>
                <a:lnTo>
                  <a:pt x="5417" y="310"/>
                </a:lnTo>
                <a:lnTo>
                  <a:pt x="5338" y="268"/>
                </a:lnTo>
                <a:lnTo>
                  <a:pt x="5216" y="180"/>
                </a:lnTo>
                <a:lnTo>
                  <a:pt x="4982" y="311"/>
                </a:lnTo>
                <a:lnTo>
                  <a:pt x="4841" y="289"/>
                </a:lnTo>
                <a:lnTo>
                  <a:pt x="4808" y="255"/>
                </a:lnTo>
                <a:lnTo>
                  <a:pt x="4350" y="309"/>
                </a:lnTo>
                <a:lnTo>
                  <a:pt x="4393" y="436"/>
                </a:lnTo>
                <a:lnTo>
                  <a:pt x="4149" y="552"/>
                </a:lnTo>
                <a:lnTo>
                  <a:pt x="4144" y="594"/>
                </a:lnTo>
                <a:lnTo>
                  <a:pt x="4094" y="657"/>
                </a:lnTo>
                <a:lnTo>
                  <a:pt x="3901" y="524"/>
                </a:lnTo>
                <a:lnTo>
                  <a:pt x="3904" y="448"/>
                </a:lnTo>
                <a:lnTo>
                  <a:pt x="3621" y="446"/>
                </a:lnTo>
                <a:lnTo>
                  <a:pt x="3628" y="541"/>
                </a:lnTo>
                <a:lnTo>
                  <a:pt x="3455" y="590"/>
                </a:lnTo>
                <a:lnTo>
                  <a:pt x="3431" y="565"/>
                </a:lnTo>
                <a:lnTo>
                  <a:pt x="3188" y="615"/>
                </a:lnTo>
                <a:lnTo>
                  <a:pt x="3026" y="733"/>
                </a:lnTo>
                <a:lnTo>
                  <a:pt x="2975" y="693"/>
                </a:lnTo>
                <a:lnTo>
                  <a:pt x="3182" y="452"/>
                </a:lnTo>
                <a:lnTo>
                  <a:pt x="3172" y="364"/>
                </a:lnTo>
                <a:lnTo>
                  <a:pt x="3045" y="307"/>
                </a:lnTo>
                <a:lnTo>
                  <a:pt x="2822" y="396"/>
                </a:lnTo>
                <a:lnTo>
                  <a:pt x="2735" y="285"/>
                </a:lnTo>
                <a:lnTo>
                  <a:pt x="2646" y="294"/>
                </a:lnTo>
                <a:lnTo>
                  <a:pt x="2643" y="424"/>
                </a:lnTo>
                <a:lnTo>
                  <a:pt x="2618" y="468"/>
                </a:lnTo>
                <a:lnTo>
                  <a:pt x="2401" y="583"/>
                </a:lnTo>
                <a:lnTo>
                  <a:pt x="2200" y="728"/>
                </a:lnTo>
                <a:lnTo>
                  <a:pt x="2171" y="813"/>
                </a:lnTo>
                <a:lnTo>
                  <a:pt x="2197" y="872"/>
                </a:lnTo>
                <a:lnTo>
                  <a:pt x="1989" y="974"/>
                </a:lnTo>
                <a:lnTo>
                  <a:pt x="2040" y="1083"/>
                </a:lnTo>
                <a:lnTo>
                  <a:pt x="2003" y="1101"/>
                </a:lnTo>
                <a:lnTo>
                  <a:pt x="1868" y="1167"/>
                </a:lnTo>
                <a:lnTo>
                  <a:pt x="1809" y="1124"/>
                </a:lnTo>
                <a:lnTo>
                  <a:pt x="1770" y="1131"/>
                </a:lnTo>
                <a:lnTo>
                  <a:pt x="1833" y="1305"/>
                </a:lnTo>
                <a:lnTo>
                  <a:pt x="1844" y="1424"/>
                </a:lnTo>
                <a:lnTo>
                  <a:pt x="1980" y="1439"/>
                </a:lnTo>
                <a:lnTo>
                  <a:pt x="1981" y="1460"/>
                </a:lnTo>
                <a:lnTo>
                  <a:pt x="1899" y="1481"/>
                </a:lnTo>
                <a:lnTo>
                  <a:pt x="1907" y="1519"/>
                </a:lnTo>
                <a:lnTo>
                  <a:pt x="1936" y="1563"/>
                </a:lnTo>
                <a:lnTo>
                  <a:pt x="1877" y="1704"/>
                </a:lnTo>
                <a:lnTo>
                  <a:pt x="1830" y="1671"/>
                </a:lnTo>
                <a:lnTo>
                  <a:pt x="1865" y="1540"/>
                </a:lnTo>
                <a:lnTo>
                  <a:pt x="1809" y="1493"/>
                </a:lnTo>
                <a:lnTo>
                  <a:pt x="1758" y="1316"/>
                </a:lnTo>
                <a:lnTo>
                  <a:pt x="1705" y="1251"/>
                </a:lnTo>
                <a:lnTo>
                  <a:pt x="1691" y="1142"/>
                </a:lnTo>
                <a:lnTo>
                  <a:pt x="1554" y="1144"/>
                </a:lnTo>
                <a:lnTo>
                  <a:pt x="1520" y="1322"/>
                </a:lnTo>
                <a:lnTo>
                  <a:pt x="1546" y="1455"/>
                </a:lnTo>
                <a:lnTo>
                  <a:pt x="1664" y="1524"/>
                </a:lnTo>
                <a:lnTo>
                  <a:pt x="1646" y="1572"/>
                </a:lnTo>
                <a:lnTo>
                  <a:pt x="1333" y="1484"/>
                </a:lnTo>
                <a:lnTo>
                  <a:pt x="1284" y="1511"/>
                </a:lnTo>
                <a:lnTo>
                  <a:pt x="1123" y="1611"/>
                </a:lnTo>
                <a:lnTo>
                  <a:pt x="1053" y="1643"/>
                </a:lnTo>
                <a:lnTo>
                  <a:pt x="1041" y="1589"/>
                </a:lnTo>
                <a:lnTo>
                  <a:pt x="816" y="1748"/>
                </a:lnTo>
                <a:lnTo>
                  <a:pt x="825" y="1803"/>
                </a:lnTo>
                <a:lnTo>
                  <a:pt x="745" y="1818"/>
                </a:lnTo>
                <a:lnTo>
                  <a:pt x="699" y="1754"/>
                </a:lnTo>
                <a:lnTo>
                  <a:pt x="763" y="1722"/>
                </a:lnTo>
                <a:lnTo>
                  <a:pt x="734" y="1670"/>
                </a:lnTo>
                <a:lnTo>
                  <a:pt x="596" y="1667"/>
                </a:lnTo>
                <a:lnTo>
                  <a:pt x="677" y="1819"/>
                </a:lnTo>
                <a:lnTo>
                  <a:pt x="681" y="1884"/>
                </a:lnTo>
                <a:lnTo>
                  <a:pt x="611" y="1852"/>
                </a:lnTo>
                <a:lnTo>
                  <a:pt x="500" y="1961"/>
                </a:lnTo>
                <a:lnTo>
                  <a:pt x="555" y="2023"/>
                </a:lnTo>
                <a:lnTo>
                  <a:pt x="540" y="2052"/>
                </a:lnTo>
                <a:lnTo>
                  <a:pt x="421" y="2010"/>
                </a:lnTo>
                <a:lnTo>
                  <a:pt x="397" y="2037"/>
                </a:lnTo>
                <a:lnTo>
                  <a:pt x="457" y="2090"/>
                </a:lnTo>
                <a:lnTo>
                  <a:pt x="442" y="2111"/>
                </a:lnTo>
                <a:lnTo>
                  <a:pt x="304" y="2067"/>
                </a:lnTo>
                <a:lnTo>
                  <a:pt x="275" y="1939"/>
                </a:lnTo>
                <a:lnTo>
                  <a:pt x="178" y="1891"/>
                </a:lnTo>
                <a:lnTo>
                  <a:pt x="184" y="1864"/>
                </a:lnTo>
                <a:lnTo>
                  <a:pt x="423" y="1928"/>
                </a:lnTo>
                <a:lnTo>
                  <a:pt x="495" y="1912"/>
                </a:lnTo>
                <a:lnTo>
                  <a:pt x="553" y="1852"/>
                </a:lnTo>
                <a:lnTo>
                  <a:pt x="539" y="1795"/>
                </a:lnTo>
                <a:lnTo>
                  <a:pt x="394" y="1705"/>
                </a:lnTo>
                <a:lnTo>
                  <a:pt x="177" y="1667"/>
                </a:lnTo>
                <a:lnTo>
                  <a:pt x="113" y="1655"/>
                </a:lnTo>
                <a:lnTo>
                  <a:pt x="91" y="1650"/>
                </a:lnTo>
                <a:lnTo>
                  <a:pt x="84" y="1647"/>
                </a:lnTo>
                <a:lnTo>
                  <a:pt x="10" y="1699"/>
                </a:lnTo>
                <a:lnTo>
                  <a:pt x="0" y="1706"/>
                </a:lnTo>
                <a:lnTo>
                  <a:pt x="5" y="1721"/>
                </a:lnTo>
                <a:lnTo>
                  <a:pt x="31" y="1793"/>
                </a:lnTo>
                <a:lnTo>
                  <a:pt x="51" y="1867"/>
                </a:lnTo>
                <a:lnTo>
                  <a:pt x="67" y="1929"/>
                </a:lnTo>
                <a:lnTo>
                  <a:pt x="90" y="2046"/>
                </a:lnTo>
                <a:lnTo>
                  <a:pt x="91" y="2049"/>
                </a:lnTo>
                <a:lnTo>
                  <a:pt x="195" y="2198"/>
                </a:lnTo>
                <a:lnTo>
                  <a:pt x="77" y="2395"/>
                </a:lnTo>
                <a:lnTo>
                  <a:pt x="148" y="2440"/>
                </a:lnTo>
                <a:lnTo>
                  <a:pt x="81" y="2491"/>
                </a:lnTo>
                <a:lnTo>
                  <a:pt x="98" y="2635"/>
                </a:lnTo>
                <a:lnTo>
                  <a:pt x="98" y="2636"/>
                </a:lnTo>
                <a:lnTo>
                  <a:pt x="112" y="2755"/>
                </a:lnTo>
                <a:lnTo>
                  <a:pt x="113" y="2754"/>
                </a:lnTo>
                <a:lnTo>
                  <a:pt x="243" y="2761"/>
                </a:lnTo>
                <a:lnTo>
                  <a:pt x="333" y="2912"/>
                </a:lnTo>
                <a:lnTo>
                  <a:pt x="348" y="2930"/>
                </a:lnTo>
                <a:lnTo>
                  <a:pt x="337" y="2952"/>
                </a:lnTo>
                <a:lnTo>
                  <a:pt x="311" y="2953"/>
                </a:lnTo>
                <a:lnTo>
                  <a:pt x="321" y="3026"/>
                </a:lnTo>
                <a:lnTo>
                  <a:pt x="330" y="3023"/>
                </a:lnTo>
                <a:lnTo>
                  <a:pt x="429" y="3008"/>
                </a:lnTo>
                <a:lnTo>
                  <a:pt x="526" y="3126"/>
                </a:lnTo>
                <a:lnTo>
                  <a:pt x="747" y="3170"/>
                </a:lnTo>
                <a:lnTo>
                  <a:pt x="758" y="3296"/>
                </a:lnTo>
                <a:lnTo>
                  <a:pt x="682" y="3313"/>
                </a:lnTo>
                <a:lnTo>
                  <a:pt x="678" y="3350"/>
                </a:lnTo>
                <a:lnTo>
                  <a:pt x="720" y="3337"/>
                </a:lnTo>
                <a:lnTo>
                  <a:pt x="723" y="3362"/>
                </a:lnTo>
                <a:lnTo>
                  <a:pt x="669" y="3386"/>
                </a:lnTo>
                <a:lnTo>
                  <a:pt x="700" y="3406"/>
                </a:lnTo>
                <a:lnTo>
                  <a:pt x="664" y="3477"/>
                </a:lnTo>
                <a:lnTo>
                  <a:pt x="629" y="3481"/>
                </a:lnTo>
                <a:lnTo>
                  <a:pt x="614" y="3512"/>
                </a:lnTo>
                <a:lnTo>
                  <a:pt x="632" y="3511"/>
                </a:lnTo>
                <a:lnTo>
                  <a:pt x="733" y="3562"/>
                </a:lnTo>
                <a:lnTo>
                  <a:pt x="824" y="3618"/>
                </a:lnTo>
                <a:lnTo>
                  <a:pt x="834" y="3608"/>
                </a:lnTo>
                <a:lnTo>
                  <a:pt x="967" y="3620"/>
                </a:lnTo>
                <a:lnTo>
                  <a:pt x="1060" y="3665"/>
                </a:lnTo>
                <a:lnTo>
                  <a:pt x="1119" y="3669"/>
                </a:lnTo>
                <a:lnTo>
                  <a:pt x="1128" y="3677"/>
                </a:lnTo>
                <a:lnTo>
                  <a:pt x="1141" y="3688"/>
                </a:lnTo>
                <a:lnTo>
                  <a:pt x="1155" y="3700"/>
                </a:lnTo>
                <a:lnTo>
                  <a:pt x="1259" y="3700"/>
                </a:lnTo>
                <a:lnTo>
                  <a:pt x="1252" y="3693"/>
                </a:lnTo>
                <a:lnTo>
                  <a:pt x="1207" y="3647"/>
                </a:lnTo>
                <a:lnTo>
                  <a:pt x="1184" y="3581"/>
                </a:lnTo>
                <a:lnTo>
                  <a:pt x="1127" y="3531"/>
                </a:lnTo>
                <a:lnTo>
                  <a:pt x="1160" y="3441"/>
                </a:lnTo>
                <a:lnTo>
                  <a:pt x="1215" y="3383"/>
                </a:lnTo>
                <a:lnTo>
                  <a:pt x="1096" y="3207"/>
                </a:lnTo>
                <a:lnTo>
                  <a:pt x="1099" y="3132"/>
                </a:lnTo>
                <a:lnTo>
                  <a:pt x="1183" y="3146"/>
                </a:lnTo>
                <a:lnTo>
                  <a:pt x="1160" y="3075"/>
                </a:lnTo>
                <a:lnTo>
                  <a:pt x="1300" y="2996"/>
                </a:lnTo>
                <a:lnTo>
                  <a:pt x="1438" y="3049"/>
                </a:lnTo>
                <a:lnTo>
                  <a:pt x="1708" y="3038"/>
                </a:lnTo>
                <a:lnTo>
                  <a:pt x="1736" y="2982"/>
                </a:lnTo>
                <a:lnTo>
                  <a:pt x="1708" y="2960"/>
                </a:lnTo>
                <a:lnTo>
                  <a:pt x="1673" y="2780"/>
                </a:lnTo>
                <a:lnTo>
                  <a:pt x="2111" y="2619"/>
                </a:lnTo>
                <a:lnTo>
                  <a:pt x="2141" y="2693"/>
                </a:lnTo>
                <a:lnTo>
                  <a:pt x="2267" y="2757"/>
                </a:lnTo>
                <a:lnTo>
                  <a:pt x="2407" y="2647"/>
                </a:lnTo>
                <a:lnTo>
                  <a:pt x="2631" y="2874"/>
                </a:lnTo>
                <a:lnTo>
                  <a:pt x="2835" y="2871"/>
                </a:lnTo>
                <a:lnTo>
                  <a:pt x="2838" y="2924"/>
                </a:lnTo>
                <a:lnTo>
                  <a:pt x="2970" y="2952"/>
                </a:lnTo>
                <a:lnTo>
                  <a:pt x="3041" y="2983"/>
                </a:lnTo>
                <a:lnTo>
                  <a:pt x="3218" y="2815"/>
                </a:lnTo>
                <a:lnTo>
                  <a:pt x="3417" y="2855"/>
                </a:lnTo>
                <a:lnTo>
                  <a:pt x="3526" y="2846"/>
                </a:lnTo>
                <a:lnTo>
                  <a:pt x="3513" y="2782"/>
                </a:lnTo>
                <a:lnTo>
                  <a:pt x="3496" y="2764"/>
                </a:lnTo>
                <a:lnTo>
                  <a:pt x="3506" y="2677"/>
                </a:lnTo>
                <a:lnTo>
                  <a:pt x="3681" y="2729"/>
                </a:lnTo>
                <a:lnTo>
                  <a:pt x="3756" y="2792"/>
                </a:lnTo>
                <a:lnTo>
                  <a:pt x="3936" y="2747"/>
                </a:lnTo>
                <a:lnTo>
                  <a:pt x="4044" y="2799"/>
                </a:lnTo>
                <a:lnTo>
                  <a:pt x="4235" y="2757"/>
                </a:lnTo>
                <a:lnTo>
                  <a:pt x="4274" y="2706"/>
                </a:lnTo>
                <a:lnTo>
                  <a:pt x="4296" y="2677"/>
                </a:lnTo>
                <a:lnTo>
                  <a:pt x="4346" y="2689"/>
                </a:lnTo>
                <a:lnTo>
                  <a:pt x="4406" y="2703"/>
                </a:lnTo>
                <a:lnTo>
                  <a:pt x="4408" y="2703"/>
                </a:lnTo>
                <a:lnTo>
                  <a:pt x="4503" y="2698"/>
                </a:lnTo>
                <a:lnTo>
                  <a:pt x="4523" y="2576"/>
                </a:lnTo>
                <a:lnTo>
                  <a:pt x="4515" y="2485"/>
                </a:lnTo>
                <a:lnTo>
                  <a:pt x="4464" y="2466"/>
                </a:lnTo>
                <a:lnTo>
                  <a:pt x="4553" y="2365"/>
                </a:lnTo>
                <a:lnTo>
                  <a:pt x="4737" y="2388"/>
                </a:lnTo>
                <a:lnTo>
                  <a:pt x="4959" y="2616"/>
                </a:lnTo>
                <a:lnTo>
                  <a:pt x="5198" y="2729"/>
                </a:lnTo>
                <a:lnTo>
                  <a:pt x="5308" y="2637"/>
                </a:lnTo>
                <a:lnTo>
                  <a:pt x="5378" y="2912"/>
                </a:lnTo>
                <a:lnTo>
                  <a:pt x="5350" y="2932"/>
                </a:lnTo>
                <a:lnTo>
                  <a:pt x="5317" y="2930"/>
                </a:lnTo>
                <a:lnTo>
                  <a:pt x="5270" y="2975"/>
                </a:lnTo>
                <a:lnTo>
                  <a:pt x="5334" y="3085"/>
                </a:lnTo>
                <a:lnTo>
                  <a:pt x="5303" y="3133"/>
                </a:lnTo>
                <a:lnTo>
                  <a:pt x="5360" y="3179"/>
                </a:lnTo>
                <a:lnTo>
                  <a:pt x="5431" y="3141"/>
                </a:lnTo>
                <a:lnTo>
                  <a:pt x="5514" y="3083"/>
                </a:lnTo>
                <a:lnTo>
                  <a:pt x="5590" y="2616"/>
                </a:lnTo>
                <a:lnTo>
                  <a:pt x="5433" y="2209"/>
                </a:lnTo>
                <a:lnTo>
                  <a:pt x="5277" y="2119"/>
                </a:lnTo>
                <a:lnTo>
                  <a:pt x="5094" y="2101"/>
                </a:lnTo>
                <a:lnTo>
                  <a:pt x="5236" y="1619"/>
                </a:lnTo>
                <a:lnTo>
                  <a:pt x="5518" y="1499"/>
                </a:lnTo>
                <a:lnTo>
                  <a:pt x="5636" y="1536"/>
                </a:lnTo>
                <a:lnTo>
                  <a:pt x="5743" y="1475"/>
                </a:lnTo>
                <a:lnTo>
                  <a:pt x="5721" y="1226"/>
                </a:lnTo>
                <a:lnTo>
                  <a:pt x="5821" y="1137"/>
                </a:lnTo>
                <a:lnTo>
                  <a:pt x="5929" y="1227"/>
                </a:lnTo>
                <a:lnTo>
                  <a:pt x="5956" y="1103"/>
                </a:lnTo>
                <a:lnTo>
                  <a:pt x="6047" y="1122"/>
                </a:lnTo>
                <a:lnTo>
                  <a:pt x="6018" y="1220"/>
                </a:lnTo>
                <a:lnTo>
                  <a:pt x="5941" y="1569"/>
                </a:lnTo>
                <a:lnTo>
                  <a:pt x="5966" y="1775"/>
                </a:lnTo>
                <a:lnTo>
                  <a:pt x="6246" y="2161"/>
                </a:lnTo>
                <a:lnTo>
                  <a:pt x="6292" y="2146"/>
                </a:lnTo>
                <a:lnTo>
                  <a:pt x="6281" y="1931"/>
                </a:lnTo>
                <a:lnTo>
                  <a:pt x="6305" y="1762"/>
                </a:lnTo>
                <a:lnTo>
                  <a:pt x="6223" y="1506"/>
                </a:lnTo>
                <a:lnTo>
                  <a:pt x="6139" y="1436"/>
                </a:lnTo>
                <a:lnTo>
                  <a:pt x="6150" y="1243"/>
                </a:lnTo>
                <a:lnTo>
                  <a:pt x="6269" y="1146"/>
                </a:lnTo>
                <a:lnTo>
                  <a:pt x="6416" y="1151"/>
                </a:lnTo>
                <a:lnTo>
                  <a:pt x="6502" y="863"/>
                </a:lnTo>
                <a:lnTo>
                  <a:pt x="6637" y="748"/>
                </a:lnTo>
                <a:lnTo>
                  <a:pt x="6651" y="723"/>
                </a:lnTo>
                <a:lnTo>
                  <a:pt x="6490" y="537"/>
                </a:lnTo>
                <a:lnTo>
                  <a:pt x="6491" y="408"/>
                </a:lnTo>
                <a:lnTo>
                  <a:pt x="6553" y="357"/>
                </a:lnTo>
                <a:lnTo>
                  <a:pt x="6655" y="405"/>
                </a:lnTo>
                <a:lnTo>
                  <a:pt x="6840" y="432"/>
                </a:lnTo>
                <a:lnTo>
                  <a:pt x="6852" y="169"/>
                </a:lnTo>
                <a:lnTo>
                  <a:pt x="6705" y="105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0" name="Freeform 69">
            <a:extLst>
              <a:ext uri="{FF2B5EF4-FFF2-40B4-BE49-F238E27FC236}">
                <a16:creationId xmlns:a16="http://schemas.microsoft.com/office/drawing/2014/main" id="{C46390AB-C434-5C69-DC40-E6691B34807E}"/>
              </a:ext>
            </a:extLst>
          </p:cNvPr>
          <p:cNvSpPr>
            <a:spLocks/>
          </p:cNvSpPr>
          <p:nvPr/>
        </p:nvSpPr>
        <p:spPr bwMode="auto">
          <a:xfrm>
            <a:off x="4547083" y="2281199"/>
            <a:ext cx="59928" cy="27921"/>
          </a:xfrm>
          <a:custGeom>
            <a:avLst/>
            <a:gdLst/>
            <a:ahLst/>
            <a:cxnLst>
              <a:cxn ang="0">
                <a:pos x="142" y="49"/>
              </a:cxn>
              <a:cxn ang="0">
                <a:pos x="131" y="40"/>
              </a:cxn>
              <a:cxn ang="0">
                <a:pos x="108" y="23"/>
              </a:cxn>
              <a:cxn ang="0">
                <a:pos x="57" y="0"/>
              </a:cxn>
              <a:cxn ang="0">
                <a:pos x="58" y="1"/>
              </a:cxn>
              <a:cxn ang="0">
                <a:pos x="8" y="44"/>
              </a:cxn>
              <a:cxn ang="0">
                <a:pos x="0" y="52"/>
              </a:cxn>
              <a:cxn ang="0">
                <a:pos x="15" y="70"/>
              </a:cxn>
              <a:cxn ang="0">
                <a:pos x="136" y="70"/>
              </a:cxn>
              <a:cxn ang="0">
                <a:pos x="143" y="50"/>
              </a:cxn>
              <a:cxn ang="0">
                <a:pos x="142" y="49"/>
              </a:cxn>
            </a:cxnLst>
            <a:rect l="0" t="0" r="r" b="b"/>
            <a:pathLst>
              <a:path w="143" h="70">
                <a:moveTo>
                  <a:pt x="142" y="49"/>
                </a:moveTo>
                <a:lnTo>
                  <a:pt x="131" y="40"/>
                </a:lnTo>
                <a:lnTo>
                  <a:pt x="108" y="23"/>
                </a:lnTo>
                <a:lnTo>
                  <a:pt x="57" y="0"/>
                </a:lnTo>
                <a:lnTo>
                  <a:pt x="58" y="1"/>
                </a:lnTo>
                <a:lnTo>
                  <a:pt x="8" y="44"/>
                </a:lnTo>
                <a:lnTo>
                  <a:pt x="0" y="52"/>
                </a:lnTo>
                <a:lnTo>
                  <a:pt x="15" y="70"/>
                </a:lnTo>
                <a:lnTo>
                  <a:pt x="136" y="70"/>
                </a:lnTo>
                <a:lnTo>
                  <a:pt x="143" y="50"/>
                </a:lnTo>
                <a:lnTo>
                  <a:pt x="142" y="4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1" name="Freeform 128">
            <a:extLst>
              <a:ext uri="{FF2B5EF4-FFF2-40B4-BE49-F238E27FC236}">
                <a16:creationId xmlns:a16="http://schemas.microsoft.com/office/drawing/2014/main" id="{E5F88421-D9BB-D973-C8DC-93E463E5523B}"/>
              </a:ext>
            </a:extLst>
          </p:cNvPr>
          <p:cNvSpPr>
            <a:spLocks/>
          </p:cNvSpPr>
          <p:nvPr/>
        </p:nvSpPr>
        <p:spPr bwMode="auto">
          <a:xfrm>
            <a:off x="4996552" y="2588342"/>
            <a:ext cx="143165" cy="57395"/>
          </a:xfrm>
          <a:custGeom>
            <a:avLst/>
            <a:gdLst/>
            <a:ahLst/>
            <a:cxnLst>
              <a:cxn ang="0">
                <a:pos x="331" y="92"/>
              </a:cxn>
              <a:cxn ang="0">
                <a:pos x="317" y="80"/>
              </a:cxn>
              <a:cxn ang="0">
                <a:pos x="304" y="69"/>
              </a:cxn>
              <a:cxn ang="0">
                <a:pos x="295" y="61"/>
              </a:cxn>
              <a:cxn ang="0">
                <a:pos x="236" y="57"/>
              </a:cxn>
              <a:cxn ang="0">
                <a:pos x="143" y="12"/>
              </a:cxn>
              <a:cxn ang="0">
                <a:pos x="10" y="0"/>
              </a:cxn>
              <a:cxn ang="0">
                <a:pos x="0" y="10"/>
              </a:cxn>
              <a:cxn ang="0">
                <a:pos x="39" y="33"/>
              </a:cxn>
              <a:cxn ang="0">
                <a:pos x="42" y="37"/>
              </a:cxn>
              <a:cxn ang="0">
                <a:pos x="92" y="102"/>
              </a:cxn>
              <a:cxn ang="0">
                <a:pos x="88" y="117"/>
              </a:cxn>
              <a:cxn ang="0">
                <a:pos x="160" y="118"/>
              </a:cxn>
              <a:cxn ang="0">
                <a:pos x="169" y="139"/>
              </a:cxn>
              <a:cxn ang="0">
                <a:pos x="175" y="149"/>
              </a:cxn>
              <a:cxn ang="0">
                <a:pos x="278" y="147"/>
              </a:cxn>
              <a:cxn ang="0">
                <a:pos x="329" y="142"/>
              </a:cxn>
              <a:cxn ang="0">
                <a:pos x="338" y="118"/>
              </a:cxn>
              <a:cxn ang="0">
                <a:pos x="341" y="92"/>
              </a:cxn>
              <a:cxn ang="0">
                <a:pos x="331" y="92"/>
              </a:cxn>
            </a:cxnLst>
            <a:rect l="0" t="0" r="r" b="b"/>
            <a:pathLst>
              <a:path w="341" h="149">
                <a:moveTo>
                  <a:pt x="331" y="92"/>
                </a:moveTo>
                <a:lnTo>
                  <a:pt x="317" y="80"/>
                </a:lnTo>
                <a:lnTo>
                  <a:pt x="304" y="69"/>
                </a:lnTo>
                <a:lnTo>
                  <a:pt x="295" y="61"/>
                </a:lnTo>
                <a:lnTo>
                  <a:pt x="236" y="57"/>
                </a:lnTo>
                <a:lnTo>
                  <a:pt x="143" y="12"/>
                </a:lnTo>
                <a:lnTo>
                  <a:pt x="10" y="0"/>
                </a:lnTo>
                <a:lnTo>
                  <a:pt x="0" y="10"/>
                </a:lnTo>
                <a:lnTo>
                  <a:pt x="39" y="33"/>
                </a:lnTo>
                <a:lnTo>
                  <a:pt x="42" y="37"/>
                </a:lnTo>
                <a:lnTo>
                  <a:pt x="92" y="102"/>
                </a:lnTo>
                <a:lnTo>
                  <a:pt x="88" y="117"/>
                </a:lnTo>
                <a:lnTo>
                  <a:pt x="160" y="118"/>
                </a:lnTo>
                <a:lnTo>
                  <a:pt x="169" y="139"/>
                </a:lnTo>
                <a:lnTo>
                  <a:pt x="175" y="149"/>
                </a:lnTo>
                <a:lnTo>
                  <a:pt x="278" y="147"/>
                </a:lnTo>
                <a:lnTo>
                  <a:pt x="329" y="142"/>
                </a:lnTo>
                <a:lnTo>
                  <a:pt x="338" y="118"/>
                </a:lnTo>
                <a:lnTo>
                  <a:pt x="341" y="92"/>
                </a:lnTo>
                <a:lnTo>
                  <a:pt x="331" y="9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2" name="Freeform 135">
            <a:extLst>
              <a:ext uri="{FF2B5EF4-FFF2-40B4-BE49-F238E27FC236}">
                <a16:creationId xmlns:a16="http://schemas.microsoft.com/office/drawing/2014/main" id="{6FA50B46-EF74-F55C-18D8-05662A3AE72D}"/>
              </a:ext>
            </a:extLst>
          </p:cNvPr>
          <p:cNvSpPr>
            <a:spLocks/>
          </p:cNvSpPr>
          <p:nvPr/>
        </p:nvSpPr>
        <p:spPr bwMode="auto">
          <a:xfrm>
            <a:off x="5116410" y="2624020"/>
            <a:ext cx="88229" cy="72907"/>
          </a:xfrm>
          <a:custGeom>
            <a:avLst/>
            <a:gdLst/>
            <a:ahLst/>
            <a:cxnLst>
              <a:cxn ang="0">
                <a:pos x="213" y="79"/>
              </a:cxn>
              <a:cxn ang="0">
                <a:pos x="199" y="50"/>
              </a:cxn>
              <a:cxn ang="0">
                <a:pos x="150" y="0"/>
              </a:cxn>
              <a:cxn ang="0">
                <a:pos x="56" y="0"/>
              </a:cxn>
              <a:cxn ang="0">
                <a:pos x="53" y="26"/>
              </a:cxn>
              <a:cxn ang="0">
                <a:pos x="44" y="50"/>
              </a:cxn>
              <a:cxn ang="0">
                <a:pos x="0" y="54"/>
              </a:cxn>
              <a:cxn ang="0">
                <a:pos x="99" y="189"/>
              </a:cxn>
              <a:cxn ang="0">
                <a:pos x="193" y="190"/>
              </a:cxn>
              <a:cxn ang="0">
                <a:pos x="193" y="189"/>
              </a:cxn>
              <a:cxn ang="0">
                <a:pos x="194" y="183"/>
              </a:cxn>
              <a:cxn ang="0">
                <a:pos x="213" y="79"/>
              </a:cxn>
            </a:cxnLst>
            <a:rect l="0" t="0" r="r" b="b"/>
            <a:pathLst>
              <a:path w="213" h="190">
                <a:moveTo>
                  <a:pt x="213" y="79"/>
                </a:moveTo>
                <a:lnTo>
                  <a:pt x="199" y="50"/>
                </a:lnTo>
                <a:lnTo>
                  <a:pt x="150" y="0"/>
                </a:lnTo>
                <a:lnTo>
                  <a:pt x="56" y="0"/>
                </a:lnTo>
                <a:lnTo>
                  <a:pt x="53" y="26"/>
                </a:lnTo>
                <a:lnTo>
                  <a:pt x="44" y="50"/>
                </a:lnTo>
                <a:lnTo>
                  <a:pt x="0" y="54"/>
                </a:lnTo>
                <a:lnTo>
                  <a:pt x="99" y="189"/>
                </a:lnTo>
                <a:lnTo>
                  <a:pt x="193" y="190"/>
                </a:lnTo>
                <a:lnTo>
                  <a:pt x="193" y="189"/>
                </a:lnTo>
                <a:lnTo>
                  <a:pt x="194" y="183"/>
                </a:lnTo>
                <a:lnTo>
                  <a:pt x="213" y="7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3" name="Freeform 136">
            <a:extLst>
              <a:ext uri="{FF2B5EF4-FFF2-40B4-BE49-F238E27FC236}">
                <a16:creationId xmlns:a16="http://schemas.microsoft.com/office/drawing/2014/main" id="{98F2EFBE-DE6E-43C0-8BAC-B3B3DEAFF076}"/>
              </a:ext>
            </a:extLst>
          </p:cNvPr>
          <p:cNvSpPr>
            <a:spLocks/>
          </p:cNvSpPr>
          <p:nvPr/>
        </p:nvSpPr>
        <p:spPr bwMode="auto">
          <a:xfrm>
            <a:off x="5069797" y="2645736"/>
            <a:ext cx="86564" cy="51190"/>
          </a:xfrm>
          <a:custGeom>
            <a:avLst/>
            <a:gdLst/>
            <a:ahLst/>
            <a:cxnLst>
              <a:cxn ang="0">
                <a:pos x="110" y="0"/>
              </a:cxn>
              <a:cxn ang="0">
                <a:pos x="103" y="1"/>
              </a:cxn>
              <a:cxn ang="0">
                <a:pos x="73" y="1"/>
              </a:cxn>
              <a:cxn ang="0">
                <a:pos x="0" y="3"/>
              </a:cxn>
              <a:cxn ang="0">
                <a:pos x="4" y="11"/>
              </a:cxn>
              <a:cxn ang="0">
                <a:pos x="90" y="98"/>
              </a:cxn>
              <a:cxn ang="0">
                <a:pos x="90" y="98"/>
              </a:cxn>
              <a:cxn ang="0">
                <a:pos x="80" y="107"/>
              </a:cxn>
              <a:cxn ang="0">
                <a:pos x="130" y="134"/>
              </a:cxn>
              <a:cxn ang="0">
                <a:pos x="199" y="135"/>
              </a:cxn>
              <a:cxn ang="0">
                <a:pos x="209" y="135"/>
              </a:cxn>
              <a:cxn ang="0">
                <a:pos x="110" y="0"/>
              </a:cxn>
            </a:cxnLst>
            <a:rect l="0" t="0" r="r" b="b"/>
            <a:pathLst>
              <a:path w="209" h="135">
                <a:moveTo>
                  <a:pt x="110" y="0"/>
                </a:moveTo>
                <a:lnTo>
                  <a:pt x="103" y="1"/>
                </a:lnTo>
                <a:lnTo>
                  <a:pt x="73" y="1"/>
                </a:lnTo>
                <a:lnTo>
                  <a:pt x="0" y="3"/>
                </a:lnTo>
                <a:lnTo>
                  <a:pt x="4" y="11"/>
                </a:lnTo>
                <a:lnTo>
                  <a:pt x="90" y="98"/>
                </a:lnTo>
                <a:lnTo>
                  <a:pt x="90" y="98"/>
                </a:lnTo>
                <a:lnTo>
                  <a:pt x="80" y="107"/>
                </a:lnTo>
                <a:lnTo>
                  <a:pt x="130" y="134"/>
                </a:lnTo>
                <a:lnTo>
                  <a:pt x="199" y="135"/>
                </a:lnTo>
                <a:lnTo>
                  <a:pt x="209" y="135"/>
                </a:lnTo>
                <a:lnTo>
                  <a:pt x="11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4" name="Freeform 8">
            <a:extLst>
              <a:ext uri="{FF2B5EF4-FFF2-40B4-BE49-F238E27FC236}">
                <a16:creationId xmlns:a16="http://schemas.microsoft.com/office/drawing/2014/main" id="{2C0DCC8A-BFE3-0C11-F60B-7AEB891D3059}"/>
              </a:ext>
            </a:extLst>
          </p:cNvPr>
          <p:cNvSpPr>
            <a:spLocks/>
          </p:cNvSpPr>
          <p:nvPr/>
        </p:nvSpPr>
        <p:spPr bwMode="auto">
          <a:xfrm>
            <a:off x="3083820" y="1303933"/>
            <a:ext cx="897269" cy="825248"/>
          </a:xfrm>
          <a:custGeom>
            <a:avLst/>
            <a:gdLst/>
            <a:ahLst/>
            <a:cxnLst>
              <a:cxn ang="0">
                <a:pos x="1992" y="270"/>
              </a:cxn>
              <a:cxn ang="0">
                <a:pos x="1851" y="234"/>
              </a:cxn>
              <a:cxn ang="0">
                <a:pos x="1780" y="177"/>
              </a:cxn>
              <a:cxn ang="0">
                <a:pos x="1671" y="61"/>
              </a:cxn>
              <a:cxn ang="0">
                <a:pos x="1252" y="78"/>
              </a:cxn>
              <a:cxn ang="0">
                <a:pos x="1060" y="86"/>
              </a:cxn>
              <a:cxn ang="0">
                <a:pos x="992" y="155"/>
              </a:cxn>
              <a:cxn ang="0">
                <a:pos x="846" y="140"/>
              </a:cxn>
              <a:cxn ang="0">
                <a:pos x="724" y="72"/>
              </a:cxn>
              <a:cxn ang="0">
                <a:pos x="413" y="126"/>
              </a:cxn>
              <a:cxn ang="0">
                <a:pos x="246" y="209"/>
              </a:cxn>
              <a:cxn ang="0">
                <a:pos x="41" y="263"/>
              </a:cxn>
              <a:cxn ang="0">
                <a:pos x="51" y="371"/>
              </a:cxn>
              <a:cxn ang="0">
                <a:pos x="58" y="551"/>
              </a:cxn>
              <a:cxn ang="0">
                <a:pos x="365" y="634"/>
              </a:cxn>
              <a:cxn ang="0">
                <a:pos x="452" y="1089"/>
              </a:cxn>
              <a:cxn ang="0">
                <a:pos x="601" y="1160"/>
              </a:cxn>
              <a:cxn ang="0">
                <a:pos x="481" y="1172"/>
              </a:cxn>
              <a:cxn ang="0">
                <a:pos x="532" y="1298"/>
              </a:cxn>
              <a:cxn ang="0">
                <a:pos x="460" y="1391"/>
              </a:cxn>
              <a:cxn ang="0">
                <a:pos x="445" y="1731"/>
              </a:cxn>
              <a:cxn ang="0">
                <a:pos x="518" y="2037"/>
              </a:cxn>
              <a:cxn ang="0">
                <a:pos x="817" y="1932"/>
              </a:cxn>
              <a:cxn ang="0">
                <a:pos x="1146" y="1673"/>
              </a:cxn>
              <a:cxn ang="0">
                <a:pos x="1595" y="1442"/>
              </a:cxn>
              <a:cxn ang="0">
                <a:pos x="1534" y="1323"/>
              </a:cxn>
              <a:cxn ang="0">
                <a:pos x="1700" y="1258"/>
              </a:cxn>
              <a:cxn ang="0">
                <a:pos x="1790" y="1313"/>
              </a:cxn>
              <a:cxn ang="0">
                <a:pos x="1758" y="1110"/>
              </a:cxn>
              <a:cxn ang="0">
                <a:pos x="1873" y="850"/>
              </a:cxn>
              <a:cxn ang="0">
                <a:pos x="1851" y="738"/>
              </a:cxn>
              <a:cxn ang="0">
                <a:pos x="1877" y="602"/>
              </a:cxn>
              <a:cxn ang="0">
                <a:pos x="1970" y="407"/>
              </a:cxn>
              <a:cxn ang="0">
                <a:pos x="2159" y="292"/>
              </a:cxn>
            </a:cxnLst>
            <a:rect l="0" t="0" r="r" b="b"/>
            <a:pathLst>
              <a:path w="2159" h="2128">
                <a:moveTo>
                  <a:pt x="2101" y="267"/>
                </a:moveTo>
                <a:lnTo>
                  <a:pt x="1992" y="270"/>
                </a:lnTo>
                <a:lnTo>
                  <a:pt x="1809" y="349"/>
                </a:lnTo>
                <a:lnTo>
                  <a:pt x="1851" y="234"/>
                </a:lnTo>
                <a:lnTo>
                  <a:pt x="1780" y="238"/>
                </a:lnTo>
                <a:lnTo>
                  <a:pt x="1780" y="177"/>
                </a:lnTo>
                <a:lnTo>
                  <a:pt x="1783" y="111"/>
                </a:lnTo>
                <a:lnTo>
                  <a:pt x="1671" y="61"/>
                </a:lnTo>
                <a:lnTo>
                  <a:pt x="1299" y="21"/>
                </a:lnTo>
                <a:lnTo>
                  <a:pt x="1252" y="78"/>
                </a:lnTo>
                <a:lnTo>
                  <a:pt x="1104" y="0"/>
                </a:lnTo>
                <a:lnTo>
                  <a:pt x="1060" y="86"/>
                </a:lnTo>
                <a:lnTo>
                  <a:pt x="1049" y="173"/>
                </a:lnTo>
                <a:lnTo>
                  <a:pt x="992" y="155"/>
                </a:lnTo>
                <a:lnTo>
                  <a:pt x="865" y="43"/>
                </a:lnTo>
                <a:lnTo>
                  <a:pt x="846" y="140"/>
                </a:lnTo>
                <a:lnTo>
                  <a:pt x="739" y="122"/>
                </a:lnTo>
                <a:lnTo>
                  <a:pt x="724" y="72"/>
                </a:lnTo>
                <a:lnTo>
                  <a:pt x="510" y="65"/>
                </a:lnTo>
                <a:lnTo>
                  <a:pt x="413" y="126"/>
                </a:lnTo>
                <a:lnTo>
                  <a:pt x="243" y="165"/>
                </a:lnTo>
                <a:lnTo>
                  <a:pt x="246" y="209"/>
                </a:lnTo>
                <a:lnTo>
                  <a:pt x="268" y="248"/>
                </a:lnTo>
                <a:lnTo>
                  <a:pt x="41" y="263"/>
                </a:lnTo>
                <a:lnTo>
                  <a:pt x="0" y="281"/>
                </a:lnTo>
                <a:lnTo>
                  <a:pt x="51" y="371"/>
                </a:lnTo>
                <a:lnTo>
                  <a:pt x="22" y="425"/>
                </a:lnTo>
                <a:lnTo>
                  <a:pt x="58" y="551"/>
                </a:lnTo>
                <a:lnTo>
                  <a:pt x="109" y="573"/>
                </a:lnTo>
                <a:lnTo>
                  <a:pt x="365" y="634"/>
                </a:lnTo>
                <a:lnTo>
                  <a:pt x="499" y="995"/>
                </a:lnTo>
                <a:lnTo>
                  <a:pt x="452" y="1089"/>
                </a:lnTo>
                <a:lnTo>
                  <a:pt x="489" y="1096"/>
                </a:lnTo>
                <a:lnTo>
                  <a:pt x="601" y="1160"/>
                </a:lnTo>
                <a:lnTo>
                  <a:pt x="593" y="1197"/>
                </a:lnTo>
                <a:lnTo>
                  <a:pt x="481" y="1172"/>
                </a:lnTo>
                <a:lnTo>
                  <a:pt x="467" y="1218"/>
                </a:lnTo>
                <a:lnTo>
                  <a:pt x="532" y="1298"/>
                </a:lnTo>
                <a:lnTo>
                  <a:pt x="521" y="1391"/>
                </a:lnTo>
                <a:lnTo>
                  <a:pt x="460" y="1391"/>
                </a:lnTo>
                <a:lnTo>
                  <a:pt x="394" y="1525"/>
                </a:lnTo>
                <a:lnTo>
                  <a:pt x="445" y="1731"/>
                </a:lnTo>
                <a:lnTo>
                  <a:pt x="452" y="1868"/>
                </a:lnTo>
                <a:lnTo>
                  <a:pt x="518" y="2037"/>
                </a:lnTo>
                <a:lnTo>
                  <a:pt x="739" y="2128"/>
                </a:lnTo>
                <a:lnTo>
                  <a:pt x="817" y="1932"/>
                </a:lnTo>
                <a:lnTo>
                  <a:pt x="933" y="1709"/>
                </a:lnTo>
                <a:lnTo>
                  <a:pt x="1146" y="1673"/>
                </a:lnTo>
                <a:lnTo>
                  <a:pt x="1357" y="1475"/>
                </a:lnTo>
                <a:lnTo>
                  <a:pt x="1595" y="1442"/>
                </a:lnTo>
                <a:lnTo>
                  <a:pt x="1732" y="1369"/>
                </a:lnTo>
                <a:lnTo>
                  <a:pt x="1534" y="1323"/>
                </a:lnTo>
                <a:lnTo>
                  <a:pt x="1639" y="1233"/>
                </a:lnTo>
                <a:lnTo>
                  <a:pt x="1700" y="1258"/>
                </a:lnTo>
                <a:lnTo>
                  <a:pt x="1685" y="1298"/>
                </a:lnTo>
                <a:lnTo>
                  <a:pt x="1790" y="1313"/>
                </a:lnTo>
                <a:lnTo>
                  <a:pt x="1797" y="1208"/>
                </a:lnTo>
                <a:lnTo>
                  <a:pt x="1758" y="1110"/>
                </a:lnTo>
                <a:lnTo>
                  <a:pt x="1863" y="1027"/>
                </a:lnTo>
                <a:lnTo>
                  <a:pt x="1873" y="850"/>
                </a:lnTo>
                <a:lnTo>
                  <a:pt x="1822" y="767"/>
                </a:lnTo>
                <a:lnTo>
                  <a:pt x="1851" y="738"/>
                </a:lnTo>
                <a:lnTo>
                  <a:pt x="1906" y="689"/>
                </a:lnTo>
                <a:lnTo>
                  <a:pt x="1877" y="602"/>
                </a:lnTo>
                <a:lnTo>
                  <a:pt x="1895" y="537"/>
                </a:lnTo>
                <a:lnTo>
                  <a:pt x="1970" y="407"/>
                </a:lnTo>
                <a:lnTo>
                  <a:pt x="2112" y="328"/>
                </a:lnTo>
                <a:lnTo>
                  <a:pt x="2159" y="292"/>
                </a:lnTo>
                <a:lnTo>
                  <a:pt x="2101" y="267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5" name="Freeform 139">
            <a:extLst>
              <a:ext uri="{FF2B5EF4-FFF2-40B4-BE49-F238E27FC236}">
                <a16:creationId xmlns:a16="http://schemas.microsoft.com/office/drawing/2014/main" id="{B4D9A5C6-62E9-73D9-1677-FE0EAEA71484}"/>
              </a:ext>
            </a:extLst>
          </p:cNvPr>
          <p:cNvSpPr>
            <a:spLocks/>
          </p:cNvSpPr>
          <p:nvPr/>
        </p:nvSpPr>
        <p:spPr bwMode="auto">
          <a:xfrm>
            <a:off x="1051230" y="1293077"/>
            <a:ext cx="729136" cy="758545"/>
          </a:xfrm>
          <a:custGeom>
            <a:avLst/>
            <a:gdLst/>
            <a:ahLst/>
            <a:cxnLst>
              <a:cxn ang="0">
                <a:pos x="1500" y="1518"/>
              </a:cxn>
              <a:cxn ang="0">
                <a:pos x="1373" y="1494"/>
              </a:cxn>
              <a:cxn ang="0">
                <a:pos x="1311" y="1346"/>
              </a:cxn>
              <a:cxn ang="0">
                <a:pos x="1754" y="411"/>
              </a:cxn>
              <a:cxn ang="0">
                <a:pos x="1684" y="324"/>
              </a:cxn>
              <a:cxn ang="0">
                <a:pos x="1515" y="220"/>
              </a:cxn>
              <a:cxn ang="0">
                <a:pos x="1365" y="101"/>
              </a:cxn>
              <a:cxn ang="0">
                <a:pos x="1235" y="0"/>
              </a:cxn>
              <a:cxn ang="0">
                <a:pos x="1007" y="8"/>
              </a:cxn>
              <a:cxn ang="0">
                <a:pos x="779" y="117"/>
              </a:cxn>
              <a:cxn ang="0">
                <a:pos x="613" y="155"/>
              </a:cxn>
              <a:cxn ang="0">
                <a:pos x="729" y="362"/>
              </a:cxn>
              <a:cxn ang="0">
                <a:pos x="608" y="422"/>
              </a:cxn>
              <a:cxn ang="0">
                <a:pos x="366" y="393"/>
              </a:cxn>
              <a:cxn ang="0">
                <a:pos x="394" y="541"/>
              </a:cxn>
              <a:cxn ang="0">
                <a:pos x="644" y="598"/>
              </a:cxn>
              <a:cxn ang="0">
                <a:pos x="498" y="715"/>
              </a:cxn>
              <a:cxn ang="0">
                <a:pos x="397" y="699"/>
              </a:cxn>
              <a:cxn ang="0">
                <a:pos x="190" y="1072"/>
              </a:cxn>
              <a:cxn ang="0">
                <a:pos x="221" y="1211"/>
              </a:cxn>
              <a:cxn ang="0">
                <a:pos x="472" y="1266"/>
              </a:cxn>
              <a:cxn ang="0">
                <a:pos x="150" y="1480"/>
              </a:cxn>
              <a:cxn ang="0">
                <a:pos x="8" y="1553"/>
              </a:cxn>
              <a:cxn ang="0">
                <a:pos x="428" y="1432"/>
              </a:cxn>
              <a:cxn ang="0">
                <a:pos x="620" y="1282"/>
              </a:cxn>
              <a:cxn ang="0">
                <a:pos x="869" y="1136"/>
              </a:cxn>
              <a:cxn ang="0">
                <a:pos x="745" y="1294"/>
              </a:cxn>
              <a:cxn ang="0">
                <a:pos x="945" y="1185"/>
              </a:cxn>
              <a:cxn ang="0">
                <a:pos x="1105" y="1310"/>
              </a:cxn>
              <a:cxn ang="0">
                <a:pos x="1368" y="1561"/>
              </a:cxn>
              <a:cxn ang="0">
                <a:pos x="1439" y="1949"/>
              </a:cxn>
              <a:cxn ang="0">
                <a:pos x="1529" y="1913"/>
              </a:cxn>
              <a:cxn ang="0">
                <a:pos x="1515" y="1780"/>
              </a:cxn>
            </a:cxnLst>
            <a:rect l="0" t="0" r="r" b="b"/>
            <a:pathLst>
              <a:path w="1754" h="1954">
                <a:moveTo>
                  <a:pt x="1520" y="1633"/>
                </a:moveTo>
                <a:lnTo>
                  <a:pt x="1500" y="1518"/>
                </a:lnTo>
                <a:lnTo>
                  <a:pt x="1487" y="1449"/>
                </a:lnTo>
                <a:lnTo>
                  <a:pt x="1373" y="1494"/>
                </a:lnTo>
                <a:lnTo>
                  <a:pt x="1344" y="1351"/>
                </a:lnTo>
                <a:lnTo>
                  <a:pt x="1311" y="1346"/>
                </a:lnTo>
                <a:lnTo>
                  <a:pt x="1259" y="1330"/>
                </a:lnTo>
                <a:lnTo>
                  <a:pt x="1754" y="411"/>
                </a:lnTo>
                <a:lnTo>
                  <a:pt x="1751" y="409"/>
                </a:lnTo>
                <a:lnTo>
                  <a:pt x="1684" y="324"/>
                </a:lnTo>
                <a:lnTo>
                  <a:pt x="1643" y="324"/>
                </a:lnTo>
                <a:lnTo>
                  <a:pt x="1515" y="220"/>
                </a:lnTo>
                <a:lnTo>
                  <a:pt x="1414" y="186"/>
                </a:lnTo>
                <a:lnTo>
                  <a:pt x="1365" y="101"/>
                </a:lnTo>
                <a:lnTo>
                  <a:pt x="1311" y="81"/>
                </a:lnTo>
                <a:lnTo>
                  <a:pt x="1235" y="0"/>
                </a:lnTo>
                <a:lnTo>
                  <a:pt x="1105" y="0"/>
                </a:lnTo>
                <a:lnTo>
                  <a:pt x="1007" y="8"/>
                </a:lnTo>
                <a:lnTo>
                  <a:pt x="859" y="39"/>
                </a:lnTo>
                <a:lnTo>
                  <a:pt x="779" y="117"/>
                </a:lnTo>
                <a:lnTo>
                  <a:pt x="667" y="98"/>
                </a:lnTo>
                <a:lnTo>
                  <a:pt x="613" y="155"/>
                </a:lnTo>
                <a:lnTo>
                  <a:pt x="675" y="326"/>
                </a:lnTo>
                <a:lnTo>
                  <a:pt x="729" y="362"/>
                </a:lnTo>
                <a:lnTo>
                  <a:pt x="680" y="458"/>
                </a:lnTo>
                <a:lnTo>
                  <a:pt x="608" y="422"/>
                </a:lnTo>
                <a:lnTo>
                  <a:pt x="620" y="367"/>
                </a:lnTo>
                <a:lnTo>
                  <a:pt x="366" y="393"/>
                </a:lnTo>
                <a:lnTo>
                  <a:pt x="415" y="450"/>
                </a:lnTo>
                <a:lnTo>
                  <a:pt x="394" y="541"/>
                </a:lnTo>
                <a:lnTo>
                  <a:pt x="503" y="596"/>
                </a:lnTo>
                <a:lnTo>
                  <a:pt x="644" y="598"/>
                </a:lnTo>
                <a:lnTo>
                  <a:pt x="550" y="725"/>
                </a:lnTo>
                <a:lnTo>
                  <a:pt x="498" y="715"/>
                </a:lnTo>
                <a:lnTo>
                  <a:pt x="433" y="725"/>
                </a:lnTo>
                <a:lnTo>
                  <a:pt x="397" y="699"/>
                </a:lnTo>
                <a:lnTo>
                  <a:pt x="211" y="839"/>
                </a:lnTo>
                <a:lnTo>
                  <a:pt x="190" y="1072"/>
                </a:lnTo>
                <a:lnTo>
                  <a:pt x="293" y="1082"/>
                </a:lnTo>
                <a:lnTo>
                  <a:pt x="221" y="1211"/>
                </a:lnTo>
                <a:lnTo>
                  <a:pt x="387" y="1263"/>
                </a:lnTo>
                <a:lnTo>
                  <a:pt x="472" y="1266"/>
                </a:lnTo>
                <a:lnTo>
                  <a:pt x="363" y="1382"/>
                </a:lnTo>
                <a:lnTo>
                  <a:pt x="150" y="1480"/>
                </a:lnTo>
                <a:lnTo>
                  <a:pt x="0" y="1527"/>
                </a:lnTo>
                <a:lnTo>
                  <a:pt x="8" y="1553"/>
                </a:lnTo>
                <a:lnTo>
                  <a:pt x="161" y="1551"/>
                </a:lnTo>
                <a:lnTo>
                  <a:pt x="428" y="1432"/>
                </a:lnTo>
                <a:lnTo>
                  <a:pt x="636" y="1318"/>
                </a:lnTo>
                <a:lnTo>
                  <a:pt x="620" y="1282"/>
                </a:lnTo>
                <a:lnTo>
                  <a:pt x="857" y="1113"/>
                </a:lnTo>
                <a:lnTo>
                  <a:pt x="869" y="1136"/>
                </a:lnTo>
                <a:lnTo>
                  <a:pt x="737" y="1268"/>
                </a:lnTo>
                <a:lnTo>
                  <a:pt x="745" y="1294"/>
                </a:lnTo>
                <a:lnTo>
                  <a:pt x="955" y="1258"/>
                </a:lnTo>
                <a:lnTo>
                  <a:pt x="945" y="1185"/>
                </a:lnTo>
                <a:lnTo>
                  <a:pt x="965" y="1162"/>
                </a:lnTo>
                <a:lnTo>
                  <a:pt x="1105" y="1310"/>
                </a:lnTo>
                <a:lnTo>
                  <a:pt x="1280" y="1411"/>
                </a:lnTo>
                <a:lnTo>
                  <a:pt x="1368" y="1561"/>
                </a:lnTo>
                <a:lnTo>
                  <a:pt x="1422" y="1847"/>
                </a:lnTo>
                <a:lnTo>
                  <a:pt x="1439" y="1949"/>
                </a:lnTo>
                <a:lnTo>
                  <a:pt x="1477" y="1954"/>
                </a:lnTo>
                <a:lnTo>
                  <a:pt x="1529" y="1913"/>
                </a:lnTo>
                <a:lnTo>
                  <a:pt x="1541" y="1854"/>
                </a:lnTo>
                <a:lnTo>
                  <a:pt x="1515" y="1780"/>
                </a:lnTo>
                <a:lnTo>
                  <a:pt x="1520" y="163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6" name="Freeform 140">
            <a:extLst>
              <a:ext uri="{FF2B5EF4-FFF2-40B4-BE49-F238E27FC236}">
                <a16:creationId xmlns:a16="http://schemas.microsoft.com/office/drawing/2014/main" id="{20E1FBC7-1234-2726-3159-46104AB144AB}"/>
              </a:ext>
            </a:extLst>
          </p:cNvPr>
          <p:cNvSpPr>
            <a:spLocks/>
          </p:cNvSpPr>
          <p:nvPr/>
        </p:nvSpPr>
        <p:spPr bwMode="auto">
          <a:xfrm>
            <a:off x="1590591" y="2262586"/>
            <a:ext cx="1228544" cy="750789"/>
          </a:xfrm>
          <a:custGeom>
            <a:avLst/>
            <a:gdLst/>
            <a:ahLst/>
            <a:cxnLst>
              <a:cxn ang="0">
                <a:pos x="2944" y="512"/>
              </a:cxn>
              <a:cxn ang="0">
                <a:pos x="2766" y="638"/>
              </a:cxn>
              <a:cxn ang="0">
                <a:pos x="2584" y="619"/>
              </a:cxn>
              <a:cxn ang="0">
                <a:pos x="2484" y="721"/>
              </a:cxn>
              <a:cxn ang="0">
                <a:pos x="2388" y="738"/>
              </a:cxn>
              <a:cxn ang="0">
                <a:pos x="2328" y="777"/>
              </a:cxn>
              <a:cxn ang="0">
                <a:pos x="2116" y="840"/>
              </a:cxn>
              <a:cxn ang="0">
                <a:pos x="2108" y="801"/>
              </a:cxn>
              <a:cxn ang="0">
                <a:pos x="2163" y="731"/>
              </a:cxn>
              <a:cxn ang="0">
                <a:pos x="2155" y="728"/>
              </a:cxn>
              <a:cxn ang="0">
                <a:pos x="2148" y="661"/>
              </a:cxn>
              <a:cxn ang="0">
                <a:pos x="2097" y="673"/>
              </a:cxn>
              <a:cxn ang="0">
                <a:pos x="2154" y="596"/>
              </a:cxn>
              <a:cxn ang="0">
                <a:pos x="2076" y="531"/>
              </a:cxn>
              <a:cxn ang="0">
                <a:pos x="1975" y="633"/>
              </a:cxn>
              <a:cxn ang="0">
                <a:pos x="1971" y="739"/>
              </a:cxn>
              <a:cxn ang="0">
                <a:pos x="1885" y="800"/>
              </a:cxn>
              <a:cxn ang="0">
                <a:pos x="1943" y="572"/>
              </a:cxn>
              <a:cxn ang="0">
                <a:pos x="2074" y="504"/>
              </a:cxn>
              <a:cxn ang="0">
                <a:pos x="2124" y="475"/>
              </a:cxn>
              <a:cxn ang="0">
                <a:pos x="2089" y="458"/>
              </a:cxn>
              <a:cxn ang="0">
                <a:pos x="2015" y="463"/>
              </a:cxn>
              <a:cxn ang="0">
                <a:pos x="1982" y="426"/>
              </a:cxn>
              <a:cxn ang="0">
                <a:pos x="1976" y="399"/>
              </a:cxn>
              <a:cxn ang="0">
                <a:pos x="1848" y="435"/>
              </a:cxn>
              <a:cxn ang="0">
                <a:pos x="1797" y="420"/>
              </a:cxn>
              <a:cxn ang="0">
                <a:pos x="1765" y="397"/>
              </a:cxn>
              <a:cxn ang="0">
                <a:pos x="1909" y="342"/>
              </a:cxn>
              <a:cxn ang="0">
                <a:pos x="368" y="0"/>
              </a:cxn>
              <a:cxn ang="0">
                <a:pos x="228" y="34"/>
              </a:cxn>
              <a:cxn ang="0">
                <a:pos x="236" y="52"/>
              </a:cxn>
              <a:cxn ang="0">
                <a:pos x="2" y="658"/>
              </a:cxn>
              <a:cxn ang="0">
                <a:pos x="31" y="969"/>
              </a:cxn>
              <a:cxn ang="0">
                <a:pos x="182" y="1222"/>
              </a:cxn>
              <a:cxn ang="0">
                <a:pos x="188" y="1293"/>
              </a:cxn>
              <a:cxn ang="0">
                <a:pos x="467" y="1403"/>
              </a:cxn>
              <a:cxn ang="0">
                <a:pos x="620" y="1393"/>
              </a:cxn>
              <a:cxn ang="0">
                <a:pos x="814" y="1579"/>
              </a:cxn>
              <a:cxn ang="0">
                <a:pos x="895" y="1553"/>
              </a:cxn>
              <a:cxn ang="0">
                <a:pos x="1008" y="1773"/>
              </a:cxn>
              <a:cxn ang="0">
                <a:pos x="1113" y="1837"/>
              </a:cxn>
              <a:cxn ang="0">
                <a:pos x="1114" y="1831"/>
              </a:cxn>
              <a:cxn ang="0">
                <a:pos x="1331" y="1589"/>
              </a:cxn>
              <a:cxn ang="0">
                <a:pos x="1523" y="1649"/>
              </a:cxn>
              <a:cxn ang="0">
                <a:pos x="1650" y="1572"/>
              </a:cxn>
              <a:cxn ang="0">
                <a:pos x="1868" y="1603"/>
              </a:cxn>
              <a:cxn ang="0">
                <a:pos x="1887" y="1756"/>
              </a:cxn>
              <a:cxn ang="0">
                <a:pos x="1959" y="1934"/>
              </a:cxn>
              <a:cxn ang="0">
                <a:pos x="2021" y="1851"/>
              </a:cxn>
              <a:cxn ang="0">
                <a:pos x="2047" y="1473"/>
              </a:cxn>
              <a:cxn ang="0">
                <a:pos x="2372" y="1194"/>
              </a:cxn>
              <a:cxn ang="0">
                <a:pos x="2745" y="878"/>
              </a:cxn>
              <a:cxn ang="0">
                <a:pos x="2920" y="698"/>
              </a:cxn>
              <a:cxn ang="0">
                <a:pos x="2927" y="598"/>
              </a:cxn>
            </a:cxnLst>
            <a:rect l="0" t="0" r="r" b="b"/>
            <a:pathLst>
              <a:path w="2952" h="1934">
                <a:moveTo>
                  <a:pt x="2927" y="598"/>
                </a:moveTo>
                <a:lnTo>
                  <a:pt x="2944" y="512"/>
                </a:lnTo>
                <a:lnTo>
                  <a:pt x="2887" y="497"/>
                </a:lnTo>
                <a:lnTo>
                  <a:pt x="2766" y="638"/>
                </a:lnTo>
                <a:lnTo>
                  <a:pt x="2611" y="622"/>
                </a:lnTo>
                <a:lnTo>
                  <a:pt x="2584" y="619"/>
                </a:lnTo>
                <a:lnTo>
                  <a:pt x="2495" y="689"/>
                </a:lnTo>
                <a:lnTo>
                  <a:pt x="2484" y="721"/>
                </a:lnTo>
                <a:lnTo>
                  <a:pt x="2413" y="744"/>
                </a:lnTo>
                <a:lnTo>
                  <a:pt x="2388" y="738"/>
                </a:lnTo>
                <a:lnTo>
                  <a:pt x="2313" y="765"/>
                </a:lnTo>
                <a:lnTo>
                  <a:pt x="2328" y="777"/>
                </a:lnTo>
                <a:lnTo>
                  <a:pt x="2259" y="814"/>
                </a:lnTo>
                <a:lnTo>
                  <a:pt x="2116" y="840"/>
                </a:lnTo>
                <a:lnTo>
                  <a:pt x="2083" y="817"/>
                </a:lnTo>
                <a:lnTo>
                  <a:pt x="2108" y="801"/>
                </a:lnTo>
                <a:lnTo>
                  <a:pt x="2106" y="795"/>
                </a:lnTo>
                <a:lnTo>
                  <a:pt x="2163" y="731"/>
                </a:lnTo>
                <a:lnTo>
                  <a:pt x="2163" y="730"/>
                </a:lnTo>
                <a:lnTo>
                  <a:pt x="2155" y="728"/>
                </a:lnTo>
                <a:lnTo>
                  <a:pt x="2170" y="677"/>
                </a:lnTo>
                <a:lnTo>
                  <a:pt x="2148" y="661"/>
                </a:lnTo>
                <a:lnTo>
                  <a:pt x="2113" y="683"/>
                </a:lnTo>
                <a:lnTo>
                  <a:pt x="2097" y="673"/>
                </a:lnTo>
                <a:lnTo>
                  <a:pt x="2139" y="645"/>
                </a:lnTo>
                <a:lnTo>
                  <a:pt x="2154" y="596"/>
                </a:lnTo>
                <a:lnTo>
                  <a:pt x="2134" y="546"/>
                </a:lnTo>
                <a:lnTo>
                  <a:pt x="2076" y="531"/>
                </a:lnTo>
                <a:lnTo>
                  <a:pt x="2055" y="561"/>
                </a:lnTo>
                <a:lnTo>
                  <a:pt x="1975" y="633"/>
                </a:lnTo>
                <a:lnTo>
                  <a:pt x="1978" y="699"/>
                </a:lnTo>
                <a:lnTo>
                  <a:pt x="1971" y="739"/>
                </a:lnTo>
                <a:lnTo>
                  <a:pt x="1911" y="800"/>
                </a:lnTo>
                <a:lnTo>
                  <a:pt x="1885" y="800"/>
                </a:lnTo>
                <a:lnTo>
                  <a:pt x="1880" y="721"/>
                </a:lnTo>
                <a:lnTo>
                  <a:pt x="1943" y="572"/>
                </a:lnTo>
                <a:lnTo>
                  <a:pt x="2008" y="500"/>
                </a:lnTo>
                <a:lnTo>
                  <a:pt x="2074" y="504"/>
                </a:lnTo>
                <a:lnTo>
                  <a:pt x="2142" y="500"/>
                </a:lnTo>
                <a:lnTo>
                  <a:pt x="2124" y="475"/>
                </a:lnTo>
                <a:lnTo>
                  <a:pt x="2101" y="474"/>
                </a:lnTo>
                <a:lnTo>
                  <a:pt x="2089" y="458"/>
                </a:lnTo>
                <a:lnTo>
                  <a:pt x="2058" y="446"/>
                </a:lnTo>
                <a:lnTo>
                  <a:pt x="2015" y="463"/>
                </a:lnTo>
                <a:lnTo>
                  <a:pt x="1985" y="450"/>
                </a:lnTo>
                <a:lnTo>
                  <a:pt x="1982" y="426"/>
                </a:lnTo>
                <a:lnTo>
                  <a:pt x="1963" y="420"/>
                </a:lnTo>
                <a:lnTo>
                  <a:pt x="1976" y="399"/>
                </a:lnTo>
                <a:lnTo>
                  <a:pt x="1893" y="427"/>
                </a:lnTo>
                <a:lnTo>
                  <a:pt x="1848" y="435"/>
                </a:lnTo>
                <a:lnTo>
                  <a:pt x="1839" y="408"/>
                </a:lnTo>
                <a:lnTo>
                  <a:pt x="1797" y="420"/>
                </a:lnTo>
                <a:lnTo>
                  <a:pt x="1770" y="415"/>
                </a:lnTo>
                <a:lnTo>
                  <a:pt x="1765" y="397"/>
                </a:lnTo>
                <a:lnTo>
                  <a:pt x="1883" y="355"/>
                </a:lnTo>
                <a:lnTo>
                  <a:pt x="1909" y="342"/>
                </a:lnTo>
                <a:lnTo>
                  <a:pt x="1678" y="207"/>
                </a:lnTo>
                <a:lnTo>
                  <a:pt x="368" y="0"/>
                </a:lnTo>
                <a:lnTo>
                  <a:pt x="313" y="55"/>
                </a:lnTo>
                <a:lnTo>
                  <a:pt x="228" y="34"/>
                </a:lnTo>
                <a:lnTo>
                  <a:pt x="228" y="34"/>
                </a:lnTo>
                <a:lnTo>
                  <a:pt x="236" y="52"/>
                </a:lnTo>
                <a:lnTo>
                  <a:pt x="208" y="216"/>
                </a:lnTo>
                <a:lnTo>
                  <a:pt x="2" y="658"/>
                </a:lnTo>
                <a:lnTo>
                  <a:pt x="0" y="803"/>
                </a:lnTo>
                <a:lnTo>
                  <a:pt x="31" y="969"/>
                </a:lnTo>
                <a:lnTo>
                  <a:pt x="47" y="1108"/>
                </a:lnTo>
                <a:lnTo>
                  <a:pt x="182" y="1222"/>
                </a:lnTo>
                <a:lnTo>
                  <a:pt x="184" y="1253"/>
                </a:lnTo>
                <a:lnTo>
                  <a:pt x="188" y="1293"/>
                </a:lnTo>
                <a:lnTo>
                  <a:pt x="301" y="1289"/>
                </a:lnTo>
                <a:lnTo>
                  <a:pt x="467" y="1403"/>
                </a:lnTo>
                <a:lnTo>
                  <a:pt x="607" y="1424"/>
                </a:lnTo>
                <a:lnTo>
                  <a:pt x="620" y="1393"/>
                </a:lnTo>
                <a:lnTo>
                  <a:pt x="708" y="1393"/>
                </a:lnTo>
                <a:lnTo>
                  <a:pt x="814" y="1579"/>
                </a:lnTo>
                <a:lnTo>
                  <a:pt x="864" y="1592"/>
                </a:lnTo>
                <a:lnTo>
                  <a:pt x="895" y="1553"/>
                </a:lnTo>
                <a:lnTo>
                  <a:pt x="965" y="1577"/>
                </a:lnTo>
                <a:lnTo>
                  <a:pt x="1008" y="1773"/>
                </a:lnTo>
                <a:lnTo>
                  <a:pt x="1011" y="1789"/>
                </a:lnTo>
                <a:lnTo>
                  <a:pt x="1113" y="1837"/>
                </a:lnTo>
                <a:lnTo>
                  <a:pt x="1113" y="1836"/>
                </a:lnTo>
                <a:lnTo>
                  <a:pt x="1114" y="1831"/>
                </a:lnTo>
                <a:lnTo>
                  <a:pt x="1139" y="1693"/>
                </a:lnTo>
                <a:lnTo>
                  <a:pt x="1331" y="1589"/>
                </a:lnTo>
                <a:lnTo>
                  <a:pt x="1412" y="1605"/>
                </a:lnTo>
                <a:lnTo>
                  <a:pt x="1523" y="1649"/>
                </a:lnTo>
                <a:lnTo>
                  <a:pt x="1552" y="1582"/>
                </a:lnTo>
                <a:lnTo>
                  <a:pt x="1650" y="1572"/>
                </a:lnTo>
                <a:lnTo>
                  <a:pt x="1795" y="1626"/>
                </a:lnTo>
                <a:lnTo>
                  <a:pt x="1868" y="1603"/>
                </a:lnTo>
                <a:lnTo>
                  <a:pt x="1907" y="1688"/>
                </a:lnTo>
                <a:lnTo>
                  <a:pt x="1887" y="1756"/>
                </a:lnTo>
                <a:lnTo>
                  <a:pt x="1894" y="1808"/>
                </a:lnTo>
                <a:lnTo>
                  <a:pt x="1959" y="1934"/>
                </a:lnTo>
                <a:lnTo>
                  <a:pt x="2013" y="1913"/>
                </a:lnTo>
                <a:lnTo>
                  <a:pt x="2021" y="1851"/>
                </a:lnTo>
                <a:lnTo>
                  <a:pt x="1992" y="1657"/>
                </a:lnTo>
                <a:lnTo>
                  <a:pt x="2047" y="1473"/>
                </a:lnTo>
                <a:lnTo>
                  <a:pt x="2374" y="1294"/>
                </a:lnTo>
                <a:lnTo>
                  <a:pt x="2372" y="1194"/>
                </a:lnTo>
                <a:lnTo>
                  <a:pt x="2553" y="950"/>
                </a:lnTo>
                <a:lnTo>
                  <a:pt x="2745" y="878"/>
                </a:lnTo>
                <a:lnTo>
                  <a:pt x="2752" y="772"/>
                </a:lnTo>
                <a:lnTo>
                  <a:pt x="2920" y="698"/>
                </a:lnTo>
                <a:lnTo>
                  <a:pt x="2952" y="684"/>
                </a:lnTo>
                <a:lnTo>
                  <a:pt x="2927" y="59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7" name="Freeform 163">
            <a:extLst>
              <a:ext uri="{FF2B5EF4-FFF2-40B4-BE49-F238E27FC236}">
                <a16:creationId xmlns:a16="http://schemas.microsoft.com/office/drawing/2014/main" id="{6C743497-8DF6-7253-EB41-8D33E58618C5}"/>
              </a:ext>
            </a:extLst>
          </p:cNvPr>
          <p:cNvSpPr>
            <a:spLocks/>
          </p:cNvSpPr>
          <p:nvPr/>
        </p:nvSpPr>
        <p:spPr bwMode="auto">
          <a:xfrm>
            <a:off x="2104981" y="1358228"/>
            <a:ext cx="203093" cy="139609"/>
          </a:xfrm>
          <a:custGeom>
            <a:avLst/>
            <a:gdLst/>
            <a:ahLst/>
            <a:cxnLst>
              <a:cxn ang="0">
                <a:pos x="488" y="183"/>
              </a:cxn>
              <a:cxn ang="0">
                <a:pos x="415" y="90"/>
              </a:cxn>
              <a:cxn ang="0">
                <a:pos x="166" y="0"/>
              </a:cxn>
              <a:cxn ang="0">
                <a:pos x="140" y="90"/>
              </a:cxn>
              <a:cxn ang="0">
                <a:pos x="0" y="222"/>
              </a:cxn>
              <a:cxn ang="0">
                <a:pos x="42" y="356"/>
              </a:cxn>
              <a:cxn ang="0">
                <a:pos x="488" y="183"/>
              </a:cxn>
            </a:cxnLst>
            <a:rect l="0" t="0" r="r" b="b"/>
            <a:pathLst>
              <a:path w="488" h="356">
                <a:moveTo>
                  <a:pt x="488" y="183"/>
                </a:moveTo>
                <a:lnTo>
                  <a:pt x="415" y="90"/>
                </a:lnTo>
                <a:lnTo>
                  <a:pt x="166" y="0"/>
                </a:lnTo>
                <a:lnTo>
                  <a:pt x="140" y="90"/>
                </a:lnTo>
                <a:lnTo>
                  <a:pt x="0" y="222"/>
                </a:lnTo>
                <a:lnTo>
                  <a:pt x="42" y="356"/>
                </a:lnTo>
                <a:lnTo>
                  <a:pt x="488" y="18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8" name="Freeform 164">
            <a:extLst>
              <a:ext uri="{FF2B5EF4-FFF2-40B4-BE49-F238E27FC236}">
                <a16:creationId xmlns:a16="http://schemas.microsoft.com/office/drawing/2014/main" id="{12CEB486-C63B-787C-0DE9-DF538920919E}"/>
              </a:ext>
            </a:extLst>
          </p:cNvPr>
          <p:cNvSpPr>
            <a:spLocks/>
          </p:cNvSpPr>
          <p:nvPr/>
        </p:nvSpPr>
        <p:spPr bwMode="auto">
          <a:xfrm>
            <a:off x="2193209" y="1452851"/>
            <a:ext cx="294651" cy="218721"/>
          </a:xfrm>
          <a:custGeom>
            <a:avLst/>
            <a:gdLst/>
            <a:ahLst/>
            <a:cxnLst>
              <a:cxn ang="0">
                <a:pos x="708" y="95"/>
              </a:cxn>
              <a:cxn ang="0">
                <a:pos x="695" y="48"/>
              </a:cxn>
              <a:cxn ang="0">
                <a:pos x="558" y="79"/>
              </a:cxn>
              <a:cxn ang="0">
                <a:pos x="439" y="113"/>
              </a:cxn>
              <a:cxn ang="0">
                <a:pos x="295" y="0"/>
              </a:cxn>
              <a:cxn ang="0">
                <a:pos x="31" y="110"/>
              </a:cxn>
              <a:cxn ang="0">
                <a:pos x="21" y="215"/>
              </a:cxn>
              <a:cxn ang="0">
                <a:pos x="223" y="274"/>
              </a:cxn>
              <a:cxn ang="0">
                <a:pos x="225" y="310"/>
              </a:cxn>
              <a:cxn ang="0">
                <a:pos x="0" y="289"/>
              </a:cxn>
              <a:cxn ang="0">
                <a:pos x="28" y="362"/>
              </a:cxn>
              <a:cxn ang="0">
                <a:pos x="157" y="494"/>
              </a:cxn>
              <a:cxn ang="0">
                <a:pos x="407" y="489"/>
              </a:cxn>
              <a:cxn ang="0">
                <a:pos x="547" y="561"/>
              </a:cxn>
              <a:cxn ang="0">
                <a:pos x="689" y="448"/>
              </a:cxn>
              <a:cxn ang="0">
                <a:pos x="599" y="344"/>
              </a:cxn>
              <a:cxn ang="0">
                <a:pos x="617" y="196"/>
              </a:cxn>
              <a:cxn ang="0">
                <a:pos x="708" y="95"/>
              </a:cxn>
            </a:cxnLst>
            <a:rect l="0" t="0" r="r" b="b"/>
            <a:pathLst>
              <a:path w="708" h="561">
                <a:moveTo>
                  <a:pt x="708" y="95"/>
                </a:moveTo>
                <a:lnTo>
                  <a:pt x="695" y="48"/>
                </a:lnTo>
                <a:lnTo>
                  <a:pt x="558" y="79"/>
                </a:lnTo>
                <a:lnTo>
                  <a:pt x="439" y="113"/>
                </a:lnTo>
                <a:lnTo>
                  <a:pt x="295" y="0"/>
                </a:lnTo>
                <a:lnTo>
                  <a:pt x="31" y="110"/>
                </a:lnTo>
                <a:lnTo>
                  <a:pt x="21" y="215"/>
                </a:lnTo>
                <a:lnTo>
                  <a:pt x="223" y="274"/>
                </a:lnTo>
                <a:lnTo>
                  <a:pt x="225" y="310"/>
                </a:lnTo>
                <a:lnTo>
                  <a:pt x="0" y="289"/>
                </a:lnTo>
                <a:lnTo>
                  <a:pt x="28" y="362"/>
                </a:lnTo>
                <a:lnTo>
                  <a:pt x="157" y="494"/>
                </a:lnTo>
                <a:lnTo>
                  <a:pt x="407" y="489"/>
                </a:lnTo>
                <a:lnTo>
                  <a:pt x="547" y="561"/>
                </a:lnTo>
                <a:lnTo>
                  <a:pt x="689" y="448"/>
                </a:lnTo>
                <a:lnTo>
                  <a:pt x="599" y="344"/>
                </a:lnTo>
                <a:lnTo>
                  <a:pt x="617" y="196"/>
                </a:lnTo>
                <a:lnTo>
                  <a:pt x="708" y="95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39" name="Freeform 165">
            <a:extLst>
              <a:ext uri="{FF2B5EF4-FFF2-40B4-BE49-F238E27FC236}">
                <a16:creationId xmlns:a16="http://schemas.microsoft.com/office/drawing/2014/main" id="{57C5AD1C-422F-7E97-4147-9B001DCEF7B1}"/>
              </a:ext>
            </a:extLst>
          </p:cNvPr>
          <p:cNvSpPr>
            <a:spLocks/>
          </p:cNvSpPr>
          <p:nvPr/>
        </p:nvSpPr>
        <p:spPr bwMode="auto">
          <a:xfrm>
            <a:off x="2737564" y="1209312"/>
            <a:ext cx="554343" cy="277667"/>
          </a:xfrm>
          <a:custGeom>
            <a:avLst/>
            <a:gdLst/>
            <a:ahLst/>
            <a:cxnLst>
              <a:cxn ang="0">
                <a:pos x="132" y="399"/>
              </a:cxn>
              <a:cxn ang="0">
                <a:pos x="252" y="406"/>
              </a:cxn>
              <a:cxn ang="0">
                <a:pos x="112" y="528"/>
              </a:cxn>
              <a:cxn ang="0">
                <a:pos x="143" y="587"/>
              </a:cxn>
              <a:cxn ang="0">
                <a:pos x="441" y="715"/>
              </a:cxn>
              <a:cxn ang="0">
                <a:pos x="542" y="673"/>
              </a:cxn>
              <a:cxn ang="0">
                <a:pos x="542" y="590"/>
              </a:cxn>
              <a:cxn ang="0">
                <a:pos x="835" y="401"/>
              </a:cxn>
              <a:cxn ang="0">
                <a:pos x="1331" y="241"/>
              </a:cxn>
              <a:cxn ang="0">
                <a:pos x="1287" y="199"/>
              </a:cxn>
              <a:cxn ang="0">
                <a:pos x="890" y="49"/>
              </a:cxn>
              <a:cxn ang="0">
                <a:pos x="594" y="60"/>
              </a:cxn>
              <a:cxn ang="0">
                <a:pos x="498" y="0"/>
              </a:cxn>
              <a:cxn ang="0">
                <a:pos x="257" y="36"/>
              </a:cxn>
              <a:cxn ang="0">
                <a:pos x="88" y="39"/>
              </a:cxn>
              <a:cxn ang="0">
                <a:pos x="0" y="148"/>
              </a:cxn>
              <a:cxn ang="0">
                <a:pos x="75" y="342"/>
              </a:cxn>
              <a:cxn ang="0">
                <a:pos x="132" y="399"/>
              </a:cxn>
            </a:cxnLst>
            <a:rect l="0" t="0" r="r" b="b"/>
            <a:pathLst>
              <a:path w="1331" h="715">
                <a:moveTo>
                  <a:pt x="132" y="399"/>
                </a:moveTo>
                <a:lnTo>
                  <a:pt x="252" y="406"/>
                </a:lnTo>
                <a:lnTo>
                  <a:pt x="112" y="528"/>
                </a:lnTo>
                <a:lnTo>
                  <a:pt x="143" y="587"/>
                </a:lnTo>
                <a:lnTo>
                  <a:pt x="441" y="715"/>
                </a:lnTo>
                <a:lnTo>
                  <a:pt x="542" y="673"/>
                </a:lnTo>
                <a:lnTo>
                  <a:pt x="542" y="590"/>
                </a:lnTo>
                <a:lnTo>
                  <a:pt x="835" y="401"/>
                </a:lnTo>
                <a:lnTo>
                  <a:pt x="1331" y="241"/>
                </a:lnTo>
                <a:lnTo>
                  <a:pt x="1287" y="199"/>
                </a:lnTo>
                <a:lnTo>
                  <a:pt x="890" y="49"/>
                </a:lnTo>
                <a:lnTo>
                  <a:pt x="594" y="60"/>
                </a:lnTo>
                <a:lnTo>
                  <a:pt x="498" y="0"/>
                </a:lnTo>
                <a:lnTo>
                  <a:pt x="257" y="36"/>
                </a:lnTo>
                <a:lnTo>
                  <a:pt x="88" y="39"/>
                </a:lnTo>
                <a:lnTo>
                  <a:pt x="0" y="148"/>
                </a:lnTo>
                <a:lnTo>
                  <a:pt x="75" y="342"/>
                </a:lnTo>
                <a:lnTo>
                  <a:pt x="132" y="39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0" name="Freeform 166">
            <a:extLst>
              <a:ext uri="{FF2B5EF4-FFF2-40B4-BE49-F238E27FC236}">
                <a16:creationId xmlns:a16="http://schemas.microsoft.com/office/drawing/2014/main" id="{46D9990C-FDBD-F844-9B38-6C595DD708DB}"/>
              </a:ext>
            </a:extLst>
          </p:cNvPr>
          <p:cNvSpPr>
            <a:spLocks/>
          </p:cNvSpPr>
          <p:nvPr/>
        </p:nvSpPr>
        <p:spPr bwMode="auto">
          <a:xfrm>
            <a:off x="2684293" y="1547476"/>
            <a:ext cx="426162" cy="482427"/>
          </a:xfrm>
          <a:custGeom>
            <a:avLst/>
            <a:gdLst/>
            <a:ahLst/>
            <a:cxnLst>
              <a:cxn ang="0">
                <a:pos x="597" y="253"/>
              </a:cxn>
              <a:cxn ang="0">
                <a:pos x="537" y="96"/>
              </a:cxn>
              <a:cxn ang="0">
                <a:pos x="359" y="44"/>
              </a:cxn>
              <a:cxn ang="0">
                <a:pos x="273" y="62"/>
              </a:cxn>
              <a:cxn ang="0">
                <a:pos x="275" y="18"/>
              </a:cxn>
              <a:cxn ang="0">
                <a:pos x="226" y="0"/>
              </a:cxn>
              <a:cxn ang="0">
                <a:pos x="34" y="111"/>
              </a:cxn>
              <a:cxn ang="0">
                <a:pos x="0" y="246"/>
              </a:cxn>
              <a:cxn ang="0">
                <a:pos x="31" y="324"/>
              </a:cxn>
              <a:cxn ang="0">
                <a:pos x="119" y="331"/>
              </a:cxn>
              <a:cxn ang="0">
                <a:pos x="285" y="427"/>
              </a:cxn>
              <a:cxn ang="0">
                <a:pos x="330" y="411"/>
              </a:cxn>
              <a:cxn ang="0">
                <a:pos x="397" y="448"/>
              </a:cxn>
              <a:cxn ang="0">
                <a:pos x="433" y="437"/>
              </a:cxn>
              <a:cxn ang="0">
                <a:pos x="584" y="678"/>
              </a:cxn>
              <a:cxn ang="0">
                <a:pos x="568" y="758"/>
              </a:cxn>
              <a:cxn ang="0">
                <a:pos x="465" y="825"/>
              </a:cxn>
              <a:cxn ang="0">
                <a:pos x="465" y="877"/>
              </a:cxn>
              <a:cxn ang="0">
                <a:pos x="306" y="872"/>
              </a:cxn>
              <a:cxn ang="0">
                <a:pos x="273" y="955"/>
              </a:cxn>
              <a:cxn ang="0">
                <a:pos x="433" y="980"/>
              </a:cxn>
              <a:cxn ang="0">
                <a:pos x="610" y="1206"/>
              </a:cxn>
              <a:cxn ang="0">
                <a:pos x="732" y="1242"/>
              </a:cxn>
              <a:cxn ang="0">
                <a:pos x="810" y="1113"/>
              </a:cxn>
              <a:cxn ang="0">
                <a:pos x="729" y="867"/>
              </a:cxn>
              <a:cxn ang="0">
                <a:pos x="786" y="851"/>
              </a:cxn>
              <a:cxn ang="0">
                <a:pos x="888" y="1012"/>
              </a:cxn>
              <a:cxn ang="0">
                <a:pos x="958" y="922"/>
              </a:cxn>
              <a:cxn ang="0">
                <a:pos x="1026" y="865"/>
              </a:cxn>
              <a:cxn ang="0">
                <a:pos x="815" y="616"/>
              </a:cxn>
              <a:cxn ang="0">
                <a:pos x="885" y="510"/>
              </a:cxn>
              <a:cxn ang="0">
                <a:pos x="597" y="253"/>
              </a:cxn>
            </a:cxnLst>
            <a:rect l="0" t="0" r="r" b="b"/>
            <a:pathLst>
              <a:path w="1026" h="1242">
                <a:moveTo>
                  <a:pt x="597" y="253"/>
                </a:moveTo>
                <a:lnTo>
                  <a:pt x="537" y="96"/>
                </a:lnTo>
                <a:lnTo>
                  <a:pt x="359" y="44"/>
                </a:lnTo>
                <a:lnTo>
                  <a:pt x="273" y="62"/>
                </a:lnTo>
                <a:lnTo>
                  <a:pt x="275" y="18"/>
                </a:lnTo>
                <a:lnTo>
                  <a:pt x="226" y="0"/>
                </a:lnTo>
                <a:lnTo>
                  <a:pt x="34" y="111"/>
                </a:lnTo>
                <a:lnTo>
                  <a:pt x="0" y="246"/>
                </a:lnTo>
                <a:lnTo>
                  <a:pt x="31" y="324"/>
                </a:lnTo>
                <a:lnTo>
                  <a:pt x="119" y="331"/>
                </a:lnTo>
                <a:lnTo>
                  <a:pt x="285" y="427"/>
                </a:lnTo>
                <a:lnTo>
                  <a:pt x="330" y="411"/>
                </a:lnTo>
                <a:lnTo>
                  <a:pt x="397" y="448"/>
                </a:lnTo>
                <a:lnTo>
                  <a:pt x="433" y="437"/>
                </a:lnTo>
                <a:lnTo>
                  <a:pt x="584" y="678"/>
                </a:lnTo>
                <a:lnTo>
                  <a:pt x="568" y="758"/>
                </a:lnTo>
                <a:lnTo>
                  <a:pt x="465" y="825"/>
                </a:lnTo>
                <a:lnTo>
                  <a:pt x="465" y="877"/>
                </a:lnTo>
                <a:lnTo>
                  <a:pt x="306" y="872"/>
                </a:lnTo>
                <a:lnTo>
                  <a:pt x="273" y="955"/>
                </a:lnTo>
                <a:lnTo>
                  <a:pt x="433" y="980"/>
                </a:lnTo>
                <a:lnTo>
                  <a:pt x="610" y="1206"/>
                </a:lnTo>
                <a:lnTo>
                  <a:pt x="732" y="1242"/>
                </a:lnTo>
                <a:lnTo>
                  <a:pt x="810" y="1113"/>
                </a:lnTo>
                <a:lnTo>
                  <a:pt x="729" y="867"/>
                </a:lnTo>
                <a:lnTo>
                  <a:pt x="786" y="851"/>
                </a:lnTo>
                <a:lnTo>
                  <a:pt x="888" y="1012"/>
                </a:lnTo>
                <a:lnTo>
                  <a:pt x="958" y="922"/>
                </a:lnTo>
                <a:lnTo>
                  <a:pt x="1026" y="865"/>
                </a:lnTo>
                <a:lnTo>
                  <a:pt x="815" y="616"/>
                </a:lnTo>
                <a:lnTo>
                  <a:pt x="885" y="510"/>
                </a:lnTo>
                <a:lnTo>
                  <a:pt x="597" y="25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1" name="Freeform 167">
            <a:extLst>
              <a:ext uri="{FF2B5EF4-FFF2-40B4-BE49-F238E27FC236}">
                <a16:creationId xmlns:a16="http://schemas.microsoft.com/office/drawing/2014/main" id="{864A9EA0-B332-146A-FA5C-C9DF3678B75D}"/>
              </a:ext>
            </a:extLst>
          </p:cNvPr>
          <p:cNvSpPr>
            <a:spLocks/>
          </p:cNvSpPr>
          <p:nvPr/>
        </p:nvSpPr>
        <p:spPr bwMode="auto">
          <a:xfrm>
            <a:off x="2657658" y="1386149"/>
            <a:ext cx="258028" cy="156672"/>
          </a:xfrm>
          <a:custGeom>
            <a:avLst/>
            <a:gdLst/>
            <a:ahLst/>
            <a:cxnLst>
              <a:cxn ang="0">
                <a:pos x="46" y="111"/>
              </a:cxn>
              <a:cxn ang="0">
                <a:pos x="114" y="140"/>
              </a:cxn>
              <a:cxn ang="0">
                <a:pos x="112" y="276"/>
              </a:cxn>
              <a:cxn ang="0">
                <a:pos x="169" y="312"/>
              </a:cxn>
              <a:cxn ang="0">
                <a:pos x="495" y="401"/>
              </a:cxn>
              <a:cxn ang="0">
                <a:pos x="563" y="403"/>
              </a:cxn>
              <a:cxn ang="0">
                <a:pos x="618" y="357"/>
              </a:cxn>
              <a:cxn ang="0">
                <a:pos x="576" y="284"/>
              </a:cxn>
              <a:cxn ang="0">
                <a:pos x="218" y="224"/>
              </a:cxn>
              <a:cxn ang="0">
                <a:pos x="241" y="114"/>
              </a:cxn>
              <a:cxn ang="0">
                <a:pos x="57" y="0"/>
              </a:cxn>
              <a:cxn ang="0">
                <a:pos x="0" y="31"/>
              </a:cxn>
              <a:cxn ang="0">
                <a:pos x="46" y="111"/>
              </a:cxn>
            </a:cxnLst>
            <a:rect l="0" t="0" r="r" b="b"/>
            <a:pathLst>
              <a:path w="618" h="403">
                <a:moveTo>
                  <a:pt x="46" y="111"/>
                </a:moveTo>
                <a:lnTo>
                  <a:pt x="114" y="140"/>
                </a:lnTo>
                <a:lnTo>
                  <a:pt x="112" y="276"/>
                </a:lnTo>
                <a:lnTo>
                  <a:pt x="169" y="312"/>
                </a:lnTo>
                <a:lnTo>
                  <a:pt x="495" y="401"/>
                </a:lnTo>
                <a:lnTo>
                  <a:pt x="563" y="403"/>
                </a:lnTo>
                <a:lnTo>
                  <a:pt x="618" y="357"/>
                </a:lnTo>
                <a:lnTo>
                  <a:pt x="576" y="284"/>
                </a:lnTo>
                <a:lnTo>
                  <a:pt x="218" y="224"/>
                </a:lnTo>
                <a:lnTo>
                  <a:pt x="241" y="114"/>
                </a:lnTo>
                <a:lnTo>
                  <a:pt x="57" y="0"/>
                </a:lnTo>
                <a:lnTo>
                  <a:pt x="0" y="31"/>
                </a:lnTo>
                <a:lnTo>
                  <a:pt x="46" y="11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2" name="Freeform 168">
            <a:extLst>
              <a:ext uri="{FF2B5EF4-FFF2-40B4-BE49-F238E27FC236}">
                <a16:creationId xmlns:a16="http://schemas.microsoft.com/office/drawing/2014/main" id="{C74A029B-06AB-75A6-2E0C-74945F9FA1E0}"/>
              </a:ext>
            </a:extLst>
          </p:cNvPr>
          <p:cNvSpPr>
            <a:spLocks/>
          </p:cNvSpPr>
          <p:nvPr/>
        </p:nvSpPr>
        <p:spPr bwMode="auto">
          <a:xfrm>
            <a:off x="2601058" y="1499388"/>
            <a:ext cx="119858" cy="79111"/>
          </a:xfrm>
          <a:custGeom>
            <a:avLst/>
            <a:gdLst/>
            <a:ahLst/>
            <a:cxnLst>
              <a:cxn ang="0">
                <a:pos x="287" y="68"/>
              </a:cxn>
              <a:cxn ang="0">
                <a:pos x="106" y="0"/>
              </a:cxn>
              <a:cxn ang="0">
                <a:pos x="0" y="111"/>
              </a:cxn>
              <a:cxn ang="0">
                <a:pos x="80" y="202"/>
              </a:cxn>
              <a:cxn ang="0">
                <a:pos x="266" y="111"/>
              </a:cxn>
              <a:cxn ang="0">
                <a:pos x="287" y="68"/>
              </a:cxn>
            </a:cxnLst>
            <a:rect l="0" t="0" r="r" b="b"/>
            <a:pathLst>
              <a:path w="287" h="202">
                <a:moveTo>
                  <a:pt x="287" y="68"/>
                </a:moveTo>
                <a:lnTo>
                  <a:pt x="106" y="0"/>
                </a:lnTo>
                <a:lnTo>
                  <a:pt x="0" y="111"/>
                </a:lnTo>
                <a:lnTo>
                  <a:pt x="80" y="202"/>
                </a:lnTo>
                <a:lnTo>
                  <a:pt x="266" y="111"/>
                </a:lnTo>
                <a:lnTo>
                  <a:pt x="287" y="6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3" name="Freeform 169">
            <a:extLst>
              <a:ext uri="{FF2B5EF4-FFF2-40B4-BE49-F238E27FC236}">
                <a16:creationId xmlns:a16="http://schemas.microsoft.com/office/drawing/2014/main" id="{1147D4CA-443E-60B5-FA88-E3878AC28479}"/>
              </a:ext>
            </a:extLst>
          </p:cNvPr>
          <p:cNvSpPr>
            <a:spLocks/>
          </p:cNvSpPr>
          <p:nvPr/>
        </p:nvSpPr>
        <p:spPr bwMode="auto">
          <a:xfrm>
            <a:off x="2496184" y="1488530"/>
            <a:ext cx="109869" cy="102379"/>
          </a:xfrm>
          <a:custGeom>
            <a:avLst/>
            <a:gdLst/>
            <a:ahLst/>
            <a:cxnLst>
              <a:cxn ang="0">
                <a:pos x="83" y="264"/>
              </a:cxn>
              <a:cxn ang="0">
                <a:pos x="185" y="230"/>
              </a:cxn>
              <a:cxn ang="0">
                <a:pos x="262" y="31"/>
              </a:cxn>
              <a:cxn ang="0">
                <a:pos x="107" y="0"/>
              </a:cxn>
              <a:cxn ang="0">
                <a:pos x="0" y="99"/>
              </a:cxn>
              <a:cxn ang="0">
                <a:pos x="83" y="264"/>
              </a:cxn>
            </a:cxnLst>
            <a:rect l="0" t="0" r="r" b="b"/>
            <a:pathLst>
              <a:path w="262" h="264">
                <a:moveTo>
                  <a:pt x="83" y="264"/>
                </a:moveTo>
                <a:lnTo>
                  <a:pt x="185" y="230"/>
                </a:lnTo>
                <a:lnTo>
                  <a:pt x="262" y="31"/>
                </a:lnTo>
                <a:lnTo>
                  <a:pt x="107" y="0"/>
                </a:lnTo>
                <a:lnTo>
                  <a:pt x="0" y="99"/>
                </a:lnTo>
                <a:lnTo>
                  <a:pt x="83" y="26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4" name="Freeform 170">
            <a:extLst>
              <a:ext uri="{FF2B5EF4-FFF2-40B4-BE49-F238E27FC236}">
                <a16:creationId xmlns:a16="http://schemas.microsoft.com/office/drawing/2014/main" id="{F1FA61FC-1002-DAA1-14CD-59F9813B5EB5}"/>
              </a:ext>
            </a:extLst>
          </p:cNvPr>
          <p:cNvSpPr>
            <a:spLocks/>
          </p:cNvSpPr>
          <p:nvPr/>
        </p:nvSpPr>
        <p:spPr bwMode="auto">
          <a:xfrm>
            <a:off x="2557777" y="1375292"/>
            <a:ext cx="84899" cy="86867"/>
          </a:xfrm>
          <a:custGeom>
            <a:avLst/>
            <a:gdLst/>
            <a:ahLst/>
            <a:cxnLst>
              <a:cxn ang="0">
                <a:pos x="58" y="194"/>
              </a:cxn>
              <a:cxn ang="0">
                <a:pos x="143" y="222"/>
              </a:cxn>
              <a:cxn ang="0">
                <a:pos x="203" y="55"/>
              </a:cxn>
              <a:cxn ang="0">
                <a:pos x="126" y="13"/>
              </a:cxn>
              <a:cxn ang="0">
                <a:pos x="24" y="0"/>
              </a:cxn>
              <a:cxn ang="0">
                <a:pos x="0" y="96"/>
              </a:cxn>
              <a:cxn ang="0">
                <a:pos x="69" y="119"/>
              </a:cxn>
              <a:cxn ang="0">
                <a:pos x="58" y="194"/>
              </a:cxn>
            </a:cxnLst>
            <a:rect l="0" t="0" r="r" b="b"/>
            <a:pathLst>
              <a:path w="203" h="222">
                <a:moveTo>
                  <a:pt x="58" y="194"/>
                </a:moveTo>
                <a:lnTo>
                  <a:pt x="143" y="222"/>
                </a:lnTo>
                <a:lnTo>
                  <a:pt x="203" y="55"/>
                </a:lnTo>
                <a:lnTo>
                  <a:pt x="126" y="13"/>
                </a:lnTo>
                <a:lnTo>
                  <a:pt x="24" y="0"/>
                </a:lnTo>
                <a:lnTo>
                  <a:pt x="0" y="96"/>
                </a:lnTo>
                <a:lnTo>
                  <a:pt x="69" y="119"/>
                </a:lnTo>
                <a:lnTo>
                  <a:pt x="58" y="19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5" name="Freeform 171">
            <a:extLst>
              <a:ext uri="{FF2B5EF4-FFF2-40B4-BE49-F238E27FC236}">
                <a16:creationId xmlns:a16="http://schemas.microsoft.com/office/drawing/2014/main" id="{6FD2B8AC-BA8E-B16B-2A05-6DA789192D1B}"/>
              </a:ext>
            </a:extLst>
          </p:cNvPr>
          <p:cNvSpPr>
            <a:spLocks/>
          </p:cNvSpPr>
          <p:nvPr/>
        </p:nvSpPr>
        <p:spPr bwMode="auto">
          <a:xfrm>
            <a:off x="2306408" y="1322549"/>
            <a:ext cx="209751" cy="100829"/>
          </a:xfrm>
          <a:custGeom>
            <a:avLst/>
            <a:gdLst/>
            <a:ahLst/>
            <a:cxnLst>
              <a:cxn ang="0">
                <a:pos x="0" y="83"/>
              </a:cxn>
              <a:cxn ang="0">
                <a:pos x="158" y="153"/>
              </a:cxn>
              <a:cxn ang="0">
                <a:pos x="153" y="176"/>
              </a:cxn>
              <a:cxn ang="0">
                <a:pos x="84" y="194"/>
              </a:cxn>
              <a:cxn ang="0">
                <a:pos x="174" y="249"/>
              </a:cxn>
              <a:cxn ang="0">
                <a:pos x="317" y="223"/>
              </a:cxn>
              <a:cxn ang="0">
                <a:pos x="426" y="259"/>
              </a:cxn>
              <a:cxn ang="0">
                <a:pos x="506" y="166"/>
              </a:cxn>
              <a:cxn ang="0">
                <a:pos x="423" y="114"/>
              </a:cxn>
              <a:cxn ang="0">
                <a:pos x="426" y="16"/>
              </a:cxn>
              <a:cxn ang="0">
                <a:pos x="353" y="42"/>
              </a:cxn>
              <a:cxn ang="0">
                <a:pos x="340" y="161"/>
              </a:cxn>
              <a:cxn ang="0">
                <a:pos x="265" y="142"/>
              </a:cxn>
              <a:cxn ang="0">
                <a:pos x="249" y="42"/>
              </a:cxn>
              <a:cxn ang="0">
                <a:pos x="115" y="0"/>
              </a:cxn>
              <a:cxn ang="0">
                <a:pos x="0" y="83"/>
              </a:cxn>
            </a:cxnLst>
            <a:rect l="0" t="0" r="r" b="b"/>
            <a:pathLst>
              <a:path w="506" h="259">
                <a:moveTo>
                  <a:pt x="0" y="83"/>
                </a:moveTo>
                <a:lnTo>
                  <a:pt x="158" y="153"/>
                </a:lnTo>
                <a:lnTo>
                  <a:pt x="153" y="176"/>
                </a:lnTo>
                <a:lnTo>
                  <a:pt x="84" y="194"/>
                </a:lnTo>
                <a:lnTo>
                  <a:pt x="174" y="249"/>
                </a:lnTo>
                <a:lnTo>
                  <a:pt x="317" y="223"/>
                </a:lnTo>
                <a:lnTo>
                  <a:pt x="426" y="259"/>
                </a:lnTo>
                <a:lnTo>
                  <a:pt x="506" y="166"/>
                </a:lnTo>
                <a:lnTo>
                  <a:pt x="423" y="114"/>
                </a:lnTo>
                <a:lnTo>
                  <a:pt x="426" y="16"/>
                </a:lnTo>
                <a:lnTo>
                  <a:pt x="353" y="42"/>
                </a:lnTo>
                <a:lnTo>
                  <a:pt x="340" y="161"/>
                </a:lnTo>
                <a:lnTo>
                  <a:pt x="265" y="142"/>
                </a:lnTo>
                <a:lnTo>
                  <a:pt x="249" y="42"/>
                </a:lnTo>
                <a:lnTo>
                  <a:pt x="115" y="0"/>
                </a:lnTo>
                <a:lnTo>
                  <a:pt x="0" y="8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6" name="Freeform 172">
            <a:extLst>
              <a:ext uri="{FF2B5EF4-FFF2-40B4-BE49-F238E27FC236}">
                <a16:creationId xmlns:a16="http://schemas.microsoft.com/office/drawing/2014/main" id="{E56BB6EA-5CBD-227A-BCF2-C8028A3A2767}"/>
              </a:ext>
            </a:extLst>
          </p:cNvPr>
          <p:cNvSpPr>
            <a:spLocks/>
          </p:cNvSpPr>
          <p:nvPr/>
        </p:nvSpPr>
        <p:spPr bwMode="auto">
          <a:xfrm>
            <a:off x="2243148" y="1260502"/>
            <a:ext cx="139834" cy="57395"/>
          </a:xfrm>
          <a:custGeom>
            <a:avLst/>
            <a:gdLst/>
            <a:ahLst/>
            <a:cxnLst>
              <a:cxn ang="0">
                <a:pos x="335" y="63"/>
              </a:cxn>
              <a:cxn ang="0">
                <a:pos x="330" y="19"/>
              </a:cxn>
              <a:cxn ang="0">
                <a:pos x="247" y="0"/>
              </a:cxn>
              <a:cxn ang="0">
                <a:pos x="16" y="52"/>
              </a:cxn>
              <a:cxn ang="0">
                <a:pos x="0" y="99"/>
              </a:cxn>
              <a:cxn ang="0">
                <a:pos x="117" y="148"/>
              </a:cxn>
              <a:cxn ang="0">
                <a:pos x="335" y="63"/>
              </a:cxn>
            </a:cxnLst>
            <a:rect l="0" t="0" r="r" b="b"/>
            <a:pathLst>
              <a:path w="335" h="148">
                <a:moveTo>
                  <a:pt x="335" y="63"/>
                </a:moveTo>
                <a:lnTo>
                  <a:pt x="330" y="19"/>
                </a:lnTo>
                <a:lnTo>
                  <a:pt x="247" y="0"/>
                </a:lnTo>
                <a:lnTo>
                  <a:pt x="16" y="52"/>
                </a:lnTo>
                <a:lnTo>
                  <a:pt x="0" y="99"/>
                </a:lnTo>
                <a:lnTo>
                  <a:pt x="117" y="148"/>
                </a:lnTo>
                <a:lnTo>
                  <a:pt x="335" y="6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7" name="Freeform 173">
            <a:extLst>
              <a:ext uri="{FF2B5EF4-FFF2-40B4-BE49-F238E27FC236}">
                <a16:creationId xmlns:a16="http://schemas.microsoft.com/office/drawing/2014/main" id="{26FCB7F0-7B65-4688-BB73-907DA39CF880}"/>
              </a:ext>
            </a:extLst>
          </p:cNvPr>
          <p:cNvSpPr>
            <a:spLocks/>
          </p:cNvSpPr>
          <p:nvPr/>
        </p:nvSpPr>
        <p:spPr bwMode="auto">
          <a:xfrm>
            <a:off x="2574423" y="1251193"/>
            <a:ext cx="84899" cy="82214"/>
          </a:xfrm>
          <a:custGeom>
            <a:avLst/>
            <a:gdLst/>
            <a:ahLst/>
            <a:cxnLst>
              <a:cxn ang="0">
                <a:pos x="189" y="212"/>
              </a:cxn>
              <a:cxn ang="0">
                <a:pos x="205" y="102"/>
              </a:cxn>
              <a:cxn ang="0">
                <a:pos x="54" y="0"/>
              </a:cxn>
              <a:cxn ang="0">
                <a:pos x="0" y="11"/>
              </a:cxn>
              <a:cxn ang="0">
                <a:pos x="5" y="90"/>
              </a:cxn>
              <a:cxn ang="0">
                <a:pos x="189" y="212"/>
              </a:cxn>
            </a:cxnLst>
            <a:rect l="0" t="0" r="r" b="b"/>
            <a:pathLst>
              <a:path w="205" h="212">
                <a:moveTo>
                  <a:pt x="189" y="212"/>
                </a:moveTo>
                <a:lnTo>
                  <a:pt x="205" y="102"/>
                </a:lnTo>
                <a:lnTo>
                  <a:pt x="54" y="0"/>
                </a:lnTo>
                <a:lnTo>
                  <a:pt x="0" y="11"/>
                </a:lnTo>
                <a:lnTo>
                  <a:pt x="5" y="90"/>
                </a:lnTo>
                <a:lnTo>
                  <a:pt x="189" y="21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8" name="Freeform 174">
            <a:extLst>
              <a:ext uri="{FF2B5EF4-FFF2-40B4-BE49-F238E27FC236}">
                <a16:creationId xmlns:a16="http://schemas.microsoft.com/office/drawing/2014/main" id="{DD2C3409-FE56-CAD0-EEFA-AD4A6894FD7C}"/>
              </a:ext>
            </a:extLst>
          </p:cNvPr>
          <p:cNvSpPr>
            <a:spLocks/>
          </p:cNvSpPr>
          <p:nvPr/>
        </p:nvSpPr>
        <p:spPr bwMode="auto">
          <a:xfrm>
            <a:off x="2432924" y="1244989"/>
            <a:ext cx="69918" cy="55843"/>
          </a:xfrm>
          <a:custGeom>
            <a:avLst/>
            <a:gdLst/>
            <a:ahLst/>
            <a:cxnLst>
              <a:cxn ang="0">
                <a:pos x="85" y="145"/>
              </a:cxn>
              <a:cxn ang="0">
                <a:pos x="168" y="36"/>
              </a:cxn>
              <a:cxn ang="0">
                <a:pos x="110" y="0"/>
              </a:cxn>
              <a:cxn ang="0">
                <a:pos x="0" y="7"/>
              </a:cxn>
              <a:cxn ang="0">
                <a:pos x="2" y="103"/>
              </a:cxn>
              <a:cxn ang="0">
                <a:pos x="85" y="145"/>
              </a:cxn>
            </a:cxnLst>
            <a:rect l="0" t="0" r="r" b="b"/>
            <a:pathLst>
              <a:path w="168" h="145">
                <a:moveTo>
                  <a:pt x="85" y="145"/>
                </a:moveTo>
                <a:lnTo>
                  <a:pt x="168" y="36"/>
                </a:lnTo>
                <a:lnTo>
                  <a:pt x="110" y="0"/>
                </a:lnTo>
                <a:lnTo>
                  <a:pt x="0" y="7"/>
                </a:lnTo>
                <a:lnTo>
                  <a:pt x="2" y="103"/>
                </a:lnTo>
                <a:lnTo>
                  <a:pt x="85" y="145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49" name="Freeform 175">
            <a:extLst>
              <a:ext uri="{FF2B5EF4-FFF2-40B4-BE49-F238E27FC236}">
                <a16:creationId xmlns:a16="http://schemas.microsoft.com/office/drawing/2014/main" id="{18953417-3567-5BA0-0676-C11FCE9D246F}"/>
              </a:ext>
            </a:extLst>
          </p:cNvPr>
          <p:cNvSpPr>
            <a:spLocks/>
          </p:cNvSpPr>
          <p:nvPr/>
        </p:nvSpPr>
        <p:spPr bwMode="auto">
          <a:xfrm>
            <a:off x="2632688" y="1863925"/>
            <a:ext cx="109869" cy="72907"/>
          </a:xfrm>
          <a:custGeom>
            <a:avLst/>
            <a:gdLst/>
            <a:ahLst/>
            <a:cxnLst>
              <a:cxn ang="0">
                <a:pos x="82" y="3"/>
              </a:cxn>
              <a:cxn ang="0">
                <a:pos x="0" y="109"/>
              </a:cxn>
              <a:cxn ang="0">
                <a:pos x="36" y="181"/>
              </a:cxn>
              <a:cxn ang="0">
                <a:pos x="155" y="127"/>
              </a:cxn>
              <a:cxn ang="0">
                <a:pos x="212" y="189"/>
              </a:cxn>
              <a:cxn ang="0">
                <a:pos x="264" y="171"/>
              </a:cxn>
              <a:cxn ang="0">
                <a:pos x="148" y="0"/>
              </a:cxn>
              <a:cxn ang="0">
                <a:pos x="82" y="3"/>
              </a:cxn>
            </a:cxnLst>
            <a:rect l="0" t="0" r="r" b="b"/>
            <a:pathLst>
              <a:path w="264" h="189">
                <a:moveTo>
                  <a:pt x="82" y="3"/>
                </a:moveTo>
                <a:lnTo>
                  <a:pt x="0" y="109"/>
                </a:lnTo>
                <a:lnTo>
                  <a:pt x="36" y="181"/>
                </a:lnTo>
                <a:lnTo>
                  <a:pt x="155" y="127"/>
                </a:lnTo>
                <a:lnTo>
                  <a:pt x="212" y="189"/>
                </a:lnTo>
                <a:lnTo>
                  <a:pt x="264" y="171"/>
                </a:lnTo>
                <a:lnTo>
                  <a:pt x="148" y="0"/>
                </a:lnTo>
                <a:lnTo>
                  <a:pt x="82" y="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0" name="Freeform 176">
            <a:extLst>
              <a:ext uri="{FF2B5EF4-FFF2-40B4-BE49-F238E27FC236}">
                <a16:creationId xmlns:a16="http://schemas.microsoft.com/office/drawing/2014/main" id="{774D62D2-9DD5-B35F-7CC1-CB05458A93A3}"/>
              </a:ext>
            </a:extLst>
          </p:cNvPr>
          <p:cNvSpPr>
            <a:spLocks/>
          </p:cNvSpPr>
          <p:nvPr/>
        </p:nvSpPr>
        <p:spPr bwMode="auto">
          <a:xfrm>
            <a:off x="2997257" y="2368069"/>
            <a:ext cx="131511" cy="125648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226"/>
              </a:cxn>
              <a:cxn ang="0">
                <a:pos x="195" y="278"/>
              </a:cxn>
              <a:cxn ang="0">
                <a:pos x="280" y="324"/>
              </a:cxn>
              <a:cxn ang="0">
                <a:pos x="314" y="267"/>
              </a:cxn>
              <a:cxn ang="0">
                <a:pos x="257" y="148"/>
              </a:cxn>
              <a:cxn ang="0">
                <a:pos x="178" y="102"/>
              </a:cxn>
              <a:cxn ang="0">
                <a:pos x="254" y="29"/>
              </a:cxn>
              <a:cxn ang="0">
                <a:pos x="216" y="0"/>
              </a:cxn>
            </a:cxnLst>
            <a:rect l="0" t="0" r="r" b="b"/>
            <a:pathLst>
              <a:path w="314" h="324">
                <a:moveTo>
                  <a:pt x="216" y="0"/>
                </a:moveTo>
                <a:lnTo>
                  <a:pt x="0" y="226"/>
                </a:lnTo>
                <a:lnTo>
                  <a:pt x="195" y="278"/>
                </a:lnTo>
                <a:lnTo>
                  <a:pt x="280" y="324"/>
                </a:lnTo>
                <a:lnTo>
                  <a:pt x="314" y="267"/>
                </a:lnTo>
                <a:lnTo>
                  <a:pt x="257" y="148"/>
                </a:lnTo>
                <a:lnTo>
                  <a:pt x="178" y="102"/>
                </a:lnTo>
                <a:lnTo>
                  <a:pt x="254" y="29"/>
                </a:lnTo>
                <a:lnTo>
                  <a:pt x="216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1" name="Freeform 177">
            <a:extLst>
              <a:ext uri="{FF2B5EF4-FFF2-40B4-BE49-F238E27FC236}">
                <a16:creationId xmlns:a16="http://schemas.microsoft.com/office/drawing/2014/main" id="{0B016DA3-6F56-2FBB-C01E-D59194EC7F97}"/>
              </a:ext>
            </a:extLst>
          </p:cNvPr>
          <p:cNvSpPr>
            <a:spLocks/>
          </p:cNvSpPr>
          <p:nvPr/>
        </p:nvSpPr>
        <p:spPr bwMode="auto">
          <a:xfrm>
            <a:off x="1575608" y="1452852"/>
            <a:ext cx="1524858" cy="1121530"/>
          </a:xfrm>
          <a:custGeom>
            <a:avLst/>
            <a:gdLst/>
            <a:ahLst/>
            <a:cxnLst>
              <a:cxn ang="0">
                <a:pos x="3434" y="1624"/>
              </a:cxn>
              <a:cxn ang="0">
                <a:pos x="3154" y="1693"/>
              </a:cxn>
              <a:cxn ang="0">
                <a:pos x="3059" y="1390"/>
              </a:cxn>
              <a:cxn ang="0">
                <a:pos x="2866" y="1357"/>
              </a:cxn>
              <a:cxn ang="0">
                <a:pos x="2828" y="1494"/>
              </a:cxn>
              <a:cxn ang="0">
                <a:pos x="2794" y="1766"/>
              </a:cxn>
              <a:cxn ang="0">
                <a:pos x="2579" y="2170"/>
              </a:cxn>
              <a:cxn ang="0">
                <a:pos x="2429" y="2141"/>
              </a:cxn>
              <a:cxn ang="0">
                <a:pos x="2156" y="1696"/>
              </a:cxn>
              <a:cxn ang="0">
                <a:pos x="2023" y="1517"/>
              </a:cxn>
              <a:cxn ang="0">
                <a:pos x="2413" y="1137"/>
              </a:cxn>
              <a:cxn ang="0">
                <a:pos x="2703" y="995"/>
              </a:cxn>
              <a:cxn ang="0">
                <a:pos x="2871" y="819"/>
              </a:cxn>
              <a:cxn ang="0">
                <a:pos x="2792" y="661"/>
              </a:cxn>
              <a:cxn ang="0">
                <a:pos x="2643" y="699"/>
              </a:cxn>
              <a:cxn ang="0">
                <a:pos x="2496" y="575"/>
              </a:cxn>
              <a:cxn ang="0">
                <a:pos x="2475" y="352"/>
              </a:cxn>
              <a:cxn ang="0">
                <a:pos x="2415" y="590"/>
              </a:cxn>
              <a:cxn ang="0">
                <a:pos x="2277" y="793"/>
              </a:cxn>
              <a:cxn ang="0">
                <a:pos x="2215" y="663"/>
              </a:cxn>
              <a:cxn ang="0">
                <a:pos x="1928" y="570"/>
              </a:cxn>
              <a:cxn ang="0">
                <a:pos x="1735" y="668"/>
              </a:cxn>
              <a:cxn ang="0">
                <a:pos x="1548" y="485"/>
              </a:cxn>
              <a:cxn ang="0">
                <a:pos x="1190" y="252"/>
              </a:cxn>
              <a:cxn ang="0">
                <a:pos x="1130" y="221"/>
              </a:cxn>
              <a:cxn ang="0">
                <a:pos x="1073" y="91"/>
              </a:cxn>
              <a:cxn ang="0">
                <a:pos x="993" y="85"/>
              </a:cxn>
              <a:cxn ang="0">
                <a:pos x="501" y="6"/>
              </a:cxn>
              <a:cxn ang="0">
                <a:pos x="52" y="935"/>
              </a:cxn>
              <a:cxn ang="0">
                <a:pos x="228" y="1038"/>
              </a:cxn>
              <a:cxn ang="0">
                <a:pos x="256" y="1369"/>
              </a:cxn>
              <a:cxn ang="0">
                <a:pos x="218" y="1543"/>
              </a:cxn>
              <a:cxn ang="0">
                <a:pos x="225" y="1898"/>
              </a:cxn>
              <a:cxn ang="0">
                <a:pos x="264" y="2123"/>
              </a:cxn>
              <a:cxn ang="0">
                <a:pos x="1714" y="2296"/>
              </a:cxn>
              <a:cxn ang="0">
                <a:pos x="2027" y="2380"/>
              </a:cxn>
              <a:cxn ang="0">
                <a:pos x="2177" y="2478"/>
              </a:cxn>
              <a:cxn ang="0">
                <a:pos x="2178" y="2589"/>
              </a:cxn>
              <a:cxn ang="0">
                <a:pos x="2293" y="2619"/>
              </a:cxn>
              <a:cxn ang="0">
                <a:pos x="2324" y="2731"/>
              </a:cxn>
              <a:cxn ang="0">
                <a:pos x="2266" y="2740"/>
              </a:cxn>
              <a:cxn ang="0">
                <a:pos x="2199" y="2820"/>
              </a:cxn>
              <a:cxn ang="0">
                <a:pos x="2149" y="2888"/>
              </a:cxn>
              <a:cxn ang="0">
                <a:pos x="2349" y="2854"/>
              </a:cxn>
              <a:cxn ang="0">
                <a:pos x="2405" y="2822"/>
              </a:cxn>
              <a:cxn ang="0">
                <a:pos x="2405" y="2778"/>
              </a:cxn>
              <a:cxn ang="0">
                <a:pos x="2473" y="2771"/>
              </a:cxn>
              <a:cxn ang="0">
                <a:pos x="2620" y="2708"/>
              </a:cxn>
              <a:cxn ang="0">
                <a:pos x="2923" y="2586"/>
              </a:cxn>
              <a:cxn ang="0">
                <a:pos x="2988" y="2773"/>
              </a:cxn>
              <a:cxn ang="0">
                <a:pos x="3012" y="2825"/>
              </a:cxn>
              <a:cxn ang="0">
                <a:pos x="3344" y="2641"/>
              </a:cxn>
              <a:cxn ang="0">
                <a:pos x="3149" y="2555"/>
              </a:cxn>
              <a:cxn ang="0">
                <a:pos x="3004" y="2477"/>
              </a:cxn>
              <a:cxn ang="0">
                <a:pos x="3377" y="2431"/>
              </a:cxn>
              <a:cxn ang="0">
                <a:pos x="3666" y="2191"/>
              </a:cxn>
            </a:cxnLst>
            <a:rect l="0" t="0" r="r" b="b"/>
            <a:pathLst>
              <a:path w="3666" h="2890">
                <a:moveTo>
                  <a:pt x="3624" y="2110"/>
                </a:moveTo>
                <a:lnTo>
                  <a:pt x="3486" y="1970"/>
                </a:lnTo>
                <a:lnTo>
                  <a:pt x="3434" y="1624"/>
                </a:lnTo>
                <a:lnTo>
                  <a:pt x="3409" y="1603"/>
                </a:lnTo>
                <a:lnTo>
                  <a:pt x="3235" y="1769"/>
                </a:lnTo>
                <a:lnTo>
                  <a:pt x="3154" y="1693"/>
                </a:lnTo>
                <a:lnTo>
                  <a:pt x="3196" y="1531"/>
                </a:lnTo>
                <a:lnTo>
                  <a:pt x="3126" y="1502"/>
                </a:lnTo>
                <a:lnTo>
                  <a:pt x="3059" y="1390"/>
                </a:lnTo>
                <a:lnTo>
                  <a:pt x="2973" y="1388"/>
                </a:lnTo>
                <a:lnTo>
                  <a:pt x="2918" y="1354"/>
                </a:lnTo>
                <a:lnTo>
                  <a:pt x="2866" y="1357"/>
                </a:lnTo>
                <a:lnTo>
                  <a:pt x="2854" y="1411"/>
                </a:lnTo>
                <a:lnTo>
                  <a:pt x="2880" y="1432"/>
                </a:lnTo>
                <a:lnTo>
                  <a:pt x="2828" y="1494"/>
                </a:lnTo>
                <a:lnTo>
                  <a:pt x="2823" y="1559"/>
                </a:lnTo>
                <a:lnTo>
                  <a:pt x="2740" y="1676"/>
                </a:lnTo>
                <a:lnTo>
                  <a:pt x="2794" y="1766"/>
                </a:lnTo>
                <a:lnTo>
                  <a:pt x="2755" y="1900"/>
                </a:lnTo>
                <a:lnTo>
                  <a:pt x="2594" y="1978"/>
                </a:lnTo>
                <a:lnTo>
                  <a:pt x="2579" y="2170"/>
                </a:lnTo>
                <a:lnTo>
                  <a:pt x="2503" y="2234"/>
                </a:lnTo>
                <a:lnTo>
                  <a:pt x="2465" y="2224"/>
                </a:lnTo>
                <a:lnTo>
                  <a:pt x="2429" y="2141"/>
                </a:lnTo>
                <a:lnTo>
                  <a:pt x="2475" y="1934"/>
                </a:lnTo>
                <a:lnTo>
                  <a:pt x="2260" y="1826"/>
                </a:lnTo>
                <a:lnTo>
                  <a:pt x="2156" y="1696"/>
                </a:lnTo>
                <a:lnTo>
                  <a:pt x="2085" y="1696"/>
                </a:lnTo>
                <a:lnTo>
                  <a:pt x="2080" y="1567"/>
                </a:lnTo>
                <a:lnTo>
                  <a:pt x="2023" y="1517"/>
                </a:lnTo>
                <a:lnTo>
                  <a:pt x="2073" y="1380"/>
                </a:lnTo>
                <a:lnTo>
                  <a:pt x="2285" y="1233"/>
                </a:lnTo>
                <a:lnTo>
                  <a:pt x="2413" y="1137"/>
                </a:lnTo>
                <a:lnTo>
                  <a:pt x="2451" y="1152"/>
                </a:lnTo>
                <a:lnTo>
                  <a:pt x="2626" y="976"/>
                </a:lnTo>
                <a:lnTo>
                  <a:pt x="2703" y="995"/>
                </a:lnTo>
                <a:lnTo>
                  <a:pt x="2755" y="984"/>
                </a:lnTo>
                <a:lnTo>
                  <a:pt x="2877" y="919"/>
                </a:lnTo>
                <a:lnTo>
                  <a:pt x="2871" y="819"/>
                </a:lnTo>
                <a:lnTo>
                  <a:pt x="2921" y="735"/>
                </a:lnTo>
                <a:lnTo>
                  <a:pt x="2882" y="689"/>
                </a:lnTo>
                <a:lnTo>
                  <a:pt x="2792" y="661"/>
                </a:lnTo>
                <a:lnTo>
                  <a:pt x="2648" y="840"/>
                </a:lnTo>
                <a:lnTo>
                  <a:pt x="2612" y="819"/>
                </a:lnTo>
                <a:lnTo>
                  <a:pt x="2643" y="699"/>
                </a:lnTo>
                <a:lnTo>
                  <a:pt x="2563" y="627"/>
                </a:lnTo>
                <a:lnTo>
                  <a:pt x="2506" y="614"/>
                </a:lnTo>
                <a:lnTo>
                  <a:pt x="2496" y="575"/>
                </a:lnTo>
                <a:lnTo>
                  <a:pt x="2558" y="562"/>
                </a:lnTo>
                <a:lnTo>
                  <a:pt x="2529" y="371"/>
                </a:lnTo>
                <a:lnTo>
                  <a:pt x="2475" y="352"/>
                </a:lnTo>
                <a:lnTo>
                  <a:pt x="2384" y="394"/>
                </a:lnTo>
                <a:lnTo>
                  <a:pt x="2334" y="521"/>
                </a:lnTo>
                <a:lnTo>
                  <a:pt x="2415" y="590"/>
                </a:lnTo>
                <a:lnTo>
                  <a:pt x="2400" y="681"/>
                </a:lnTo>
                <a:lnTo>
                  <a:pt x="2308" y="718"/>
                </a:lnTo>
                <a:lnTo>
                  <a:pt x="2277" y="793"/>
                </a:lnTo>
                <a:lnTo>
                  <a:pt x="2244" y="777"/>
                </a:lnTo>
                <a:lnTo>
                  <a:pt x="2270" y="707"/>
                </a:lnTo>
                <a:lnTo>
                  <a:pt x="2215" y="663"/>
                </a:lnTo>
                <a:lnTo>
                  <a:pt x="2166" y="699"/>
                </a:lnTo>
                <a:lnTo>
                  <a:pt x="1951" y="624"/>
                </a:lnTo>
                <a:lnTo>
                  <a:pt x="1928" y="570"/>
                </a:lnTo>
                <a:lnTo>
                  <a:pt x="1781" y="562"/>
                </a:lnTo>
                <a:lnTo>
                  <a:pt x="1769" y="676"/>
                </a:lnTo>
                <a:lnTo>
                  <a:pt x="1735" y="668"/>
                </a:lnTo>
                <a:lnTo>
                  <a:pt x="1712" y="590"/>
                </a:lnTo>
                <a:lnTo>
                  <a:pt x="1470" y="518"/>
                </a:lnTo>
                <a:lnTo>
                  <a:pt x="1548" y="485"/>
                </a:lnTo>
                <a:lnTo>
                  <a:pt x="1273" y="242"/>
                </a:lnTo>
                <a:lnTo>
                  <a:pt x="1216" y="264"/>
                </a:lnTo>
                <a:lnTo>
                  <a:pt x="1190" y="252"/>
                </a:lnTo>
                <a:lnTo>
                  <a:pt x="1214" y="190"/>
                </a:lnTo>
                <a:lnTo>
                  <a:pt x="1180" y="171"/>
                </a:lnTo>
                <a:lnTo>
                  <a:pt x="1130" y="221"/>
                </a:lnTo>
                <a:lnTo>
                  <a:pt x="1107" y="216"/>
                </a:lnTo>
                <a:lnTo>
                  <a:pt x="1118" y="94"/>
                </a:lnTo>
                <a:lnTo>
                  <a:pt x="1073" y="91"/>
                </a:lnTo>
                <a:lnTo>
                  <a:pt x="1047" y="130"/>
                </a:lnTo>
                <a:lnTo>
                  <a:pt x="1009" y="132"/>
                </a:lnTo>
                <a:lnTo>
                  <a:pt x="993" y="85"/>
                </a:lnTo>
                <a:lnTo>
                  <a:pt x="755" y="104"/>
                </a:lnTo>
                <a:lnTo>
                  <a:pt x="658" y="163"/>
                </a:lnTo>
                <a:lnTo>
                  <a:pt x="501" y="6"/>
                </a:lnTo>
                <a:lnTo>
                  <a:pt x="495" y="0"/>
                </a:lnTo>
                <a:lnTo>
                  <a:pt x="0" y="919"/>
                </a:lnTo>
                <a:lnTo>
                  <a:pt x="52" y="935"/>
                </a:lnTo>
                <a:lnTo>
                  <a:pt x="85" y="940"/>
                </a:lnTo>
                <a:lnTo>
                  <a:pt x="114" y="1083"/>
                </a:lnTo>
                <a:lnTo>
                  <a:pt x="228" y="1038"/>
                </a:lnTo>
                <a:lnTo>
                  <a:pt x="241" y="1107"/>
                </a:lnTo>
                <a:lnTo>
                  <a:pt x="261" y="1222"/>
                </a:lnTo>
                <a:lnTo>
                  <a:pt x="256" y="1369"/>
                </a:lnTo>
                <a:lnTo>
                  <a:pt x="282" y="1443"/>
                </a:lnTo>
                <a:lnTo>
                  <a:pt x="270" y="1502"/>
                </a:lnTo>
                <a:lnTo>
                  <a:pt x="218" y="1543"/>
                </a:lnTo>
                <a:lnTo>
                  <a:pt x="180" y="1538"/>
                </a:lnTo>
                <a:lnTo>
                  <a:pt x="194" y="1624"/>
                </a:lnTo>
                <a:lnTo>
                  <a:pt x="225" y="1898"/>
                </a:lnTo>
                <a:lnTo>
                  <a:pt x="150" y="1916"/>
                </a:lnTo>
                <a:lnTo>
                  <a:pt x="215" y="2012"/>
                </a:lnTo>
                <a:lnTo>
                  <a:pt x="264" y="2123"/>
                </a:lnTo>
                <a:lnTo>
                  <a:pt x="349" y="2144"/>
                </a:lnTo>
                <a:lnTo>
                  <a:pt x="404" y="2089"/>
                </a:lnTo>
                <a:lnTo>
                  <a:pt x="1714" y="2296"/>
                </a:lnTo>
                <a:lnTo>
                  <a:pt x="1945" y="2431"/>
                </a:lnTo>
                <a:lnTo>
                  <a:pt x="1971" y="2415"/>
                </a:lnTo>
                <a:lnTo>
                  <a:pt x="2027" y="2380"/>
                </a:lnTo>
                <a:lnTo>
                  <a:pt x="2111" y="2396"/>
                </a:lnTo>
                <a:lnTo>
                  <a:pt x="2141" y="2449"/>
                </a:lnTo>
                <a:lnTo>
                  <a:pt x="2177" y="2478"/>
                </a:lnTo>
                <a:lnTo>
                  <a:pt x="2172" y="2564"/>
                </a:lnTo>
                <a:lnTo>
                  <a:pt x="2160" y="2564"/>
                </a:lnTo>
                <a:lnTo>
                  <a:pt x="2178" y="2589"/>
                </a:lnTo>
                <a:lnTo>
                  <a:pt x="2199" y="2587"/>
                </a:lnTo>
                <a:lnTo>
                  <a:pt x="2257" y="2589"/>
                </a:lnTo>
                <a:lnTo>
                  <a:pt x="2293" y="2619"/>
                </a:lnTo>
                <a:lnTo>
                  <a:pt x="2329" y="2623"/>
                </a:lnTo>
                <a:lnTo>
                  <a:pt x="2362" y="2719"/>
                </a:lnTo>
                <a:lnTo>
                  <a:pt x="2324" y="2731"/>
                </a:lnTo>
                <a:lnTo>
                  <a:pt x="2290" y="2674"/>
                </a:lnTo>
                <a:lnTo>
                  <a:pt x="2277" y="2672"/>
                </a:lnTo>
                <a:lnTo>
                  <a:pt x="2266" y="2740"/>
                </a:lnTo>
                <a:lnTo>
                  <a:pt x="2218" y="2824"/>
                </a:lnTo>
                <a:lnTo>
                  <a:pt x="2199" y="2819"/>
                </a:lnTo>
                <a:lnTo>
                  <a:pt x="2199" y="2820"/>
                </a:lnTo>
                <a:lnTo>
                  <a:pt x="2142" y="2884"/>
                </a:lnTo>
                <a:lnTo>
                  <a:pt x="2144" y="2890"/>
                </a:lnTo>
                <a:lnTo>
                  <a:pt x="2149" y="2888"/>
                </a:lnTo>
                <a:lnTo>
                  <a:pt x="2224" y="2871"/>
                </a:lnTo>
                <a:lnTo>
                  <a:pt x="2285" y="2860"/>
                </a:lnTo>
                <a:lnTo>
                  <a:pt x="2349" y="2854"/>
                </a:lnTo>
                <a:lnTo>
                  <a:pt x="2349" y="2854"/>
                </a:lnTo>
                <a:lnTo>
                  <a:pt x="2424" y="2827"/>
                </a:lnTo>
                <a:lnTo>
                  <a:pt x="2405" y="2822"/>
                </a:lnTo>
                <a:lnTo>
                  <a:pt x="2352" y="2833"/>
                </a:lnTo>
                <a:lnTo>
                  <a:pt x="2337" y="2821"/>
                </a:lnTo>
                <a:lnTo>
                  <a:pt x="2405" y="2778"/>
                </a:lnTo>
                <a:lnTo>
                  <a:pt x="2445" y="2785"/>
                </a:lnTo>
                <a:lnTo>
                  <a:pt x="2471" y="2786"/>
                </a:lnTo>
                <a:lnTo>
                  <a:pt x="2473" y="2771"/>
                </a:lnTo>
                <a:lnTo>
                  <a:pt x="2538" y="2758"/>
                </a:lnTo>
                <a:lnTo>
                  <a:pt x="2531" y="2778"/>
                </a:lnTo>
                <a:lnTo>
                  <a:pt x="2620" y="2708"/>
                </a:lnTo>
                <a:lnTo>
                  <a:pt x="2647" y="2711"/>
                </a:lnTo>
                <a:lnTo>
                  <a:pt x="2802" y="2727"/>
                </a:lnTo>
                <a:lnTo>
                  <a:pt x="2923" y="2586"/>
                </a:lnTo>
                <a:lnTo>
                  <a:pt x="2980" y="2601"/>
                </a:lnTo>
                <a:lnTo>
                  <a:pt x="2963" y="2687"/>
                </a:lnTo>
                <a:lnTo>
                  <a:pt x="2988" y="2773"/>
                </a:lnTo>
                <a:lnTo>
                  <a:pt x="3054" y="2744"/>
                </a:lnTo>
                <a:lnTo>
                  <a:pt x="3066" y="2770"/>
                </a:lnTo>
                <a:lnTo>
                  <a:pt x="3012" y="2825"/>
                </a:lnTo>
                <a:lnTo>
                  <a:pt x="3054" y="2887"/>
                </a:lnTo>
                <a:lnTo>
                  <a:pt x="3370" y="2711"/>
                </a:lnTo>
                <a:lnTo>
                  <a:pt x="3344" y="2641"/>
                </a:lnTo>
                <a:lnTo>
                  <a:pt x="3261" y="2706"/>
                </a:lnTo>
                <a:lnTo>
                  <a:pt x="3147" y="2641"/>
                </a:lnTo>
                <a:lnTo>
                  <a:pt x="3149" y="2555"/>
                </a:lnTo>
                <a:lnTo>
                  <a:pt x="3189" y="2534"/>
                </a:lnTo>
                <a:lnTo>
                  <a:pt x="3191" y="2462"/>
                </a:lnTo>
                <a:lnTo>
                  <a:pt x="3004" y="2477"/>
                </a:lnTo>
                <a:lnTo>
                  <a:pt x="2999" y="2455"/>
                </a:lnTo>
                <a:lnTo>
                  <a:pt x="3163" y="2374"/>
                </a:lnTo>
                <a:lnTo>
                  <a:pt x="3377" y="2431"/>
                </a:lnTo>
                <a:lnTo>
                  <a:pt x="3486" y="2346"/>
                </a:lnTo>
                <a:lnTo>
                  <a:pt x="3650" y="2299"/>
                </a:lnTo>
                <a:lnTo>
                  <a:pt x="3666" y="2191"/>
                </a:lnTo>
                <a:lnTo>
                  <a:pt x="3624" y="211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2" name="Freeform 178">
            <a:extLst>
              <a:ext uri="{FF2B5EF4-FFF2-40B4-BE49-F238E27FC236}">
                <a16:creationId xmlns:a16="http://schemas.microsoft.com/office/drawing/2014/main" id="{91A400CA-7D0C-2B21-78A3-BA9470094A7B}"/>
              </a:ext>
            </a:extLst>
          </p:cNvPr>
          <p:cNvSpPr>
            <a:spLocks/>
          </p:cNvSpPr>
          <p:nvPr/>
        </p:nvSpPr>
        <p:spPr bwMode="auto">
          <a:xfrm>
            <a:off x="2489524" y="2464245"/>
            <a:ext cx="34958" cy="15512"/>
          </a:xfrm>
          <a:custGeom>
            <a:avLst/>
            <a:gdLst/>
            <a:ahLst/>
            <a:cxnLst>
              <a:cxn ang="0">
                <a:pos x="86" y="16"/>
              </a:cxn>
              <a:cxn ang="0">
                <a:pos x="75" y="38"/>
              </a:cxn>
              <a:cxn ang="0">
                <a:pos x="0" y="0"/>
              </a:cxn>
              <a:cxn ang="0">
                <a:pos x="86" y="16"/>
              </a:cxn>
            </a:cxnLst>
            <a:rect l="0" t="0" r="r" b="b"/>
            <a:pathLst>
              <a:path w="86" h="38">
                <a:moveTo>
                  <a:pt x="86" y="16"/>
                </a:moveTo>
                <a:lnTo>
                  <a:pt x="75" y="38"/>
                </a:lnTo>
                <a:lnTo>
                  <a:pt x="0" y="0"/>
                </a:lnTo>
                <a:lnTo>
                  <a:pt x="86" y="16"/>
                </a:lnTo>
                <a:close/>
              </a:path>
            </a:pathLst>
          </a:custGeom>
          <a:solidFill>
            <a:srgbClr val="004D9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3" name="Freeform 179">
            <a:extLst>
              <a:ext uri="{FF2B5EF4-FFF2-40B4-BE49-F238E27FC236}">
                <a16:creationId xmlns:a16="http://schemas.microsoft.com/office/drawing/2014/main" id="{3A21A67A-C9A8-4F03-FE6C-44ED825076E4}"/>
              </a:ext>
            </a:extLst>
          </p:cNvPr>
          <p:cNvSpPr>
            <a:spLocks/>
          </p:cNvSpPr>
          <p:nvPr/>
        </p:nvSpPr>
        <p:spPr bwMode="auto">
          <a:xfrm>
            <a:off x="2489524" y="2464245"/>
            <a:ext cx="34958" cy="15512"/>
          </a:xfrm>
          <a:custGeom>
            <a:avLst/>
            <a:gdLst/>
            <a:ahLst/>
            <a:cxnLst>
              <a:cxn ang="0">
                <a:pos x="86" y="16"/>
              </a:cxn>
              <a:cxn ang="0">
                <a:pos x="0" y="0"/>
              </a:cxn>
              <a:cxn ang="0">
                <a:pos x="75" y="38"/>
              </a:cxn>
              <a:cxn ang="0">
                <a:pos x="86" y="16"/>
              </a:cxn>
            </a:cxnLst>
            <a:rect l="0" t="0" r="r" b="b"/>
            <a:pathLst>
              <a:path w="86" h="38">
                <a:moveTo>
                  <a:pt x="86" y="16"/>
                </a:moveTo>
                <a:lnTo>
                  <a:pt x="0" y="0"/>
                </a:lnTo>
                <a:lnTo>
                  <a:pt x="75" y="38"/>
                </a:lnTo>
                <a:lnTo>
                  <a:pt x="86" y="16"/>
                </a:lnTo>
                <a:close/>
              </a:path>
            </a:pathLst>
          </a:custGeom>
          <a:solidFill>
            <a:srgbClr val="004D9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4" name="Freeform 138">
            <a:extLst>
              <a:ext uri="{FF2B5EF4-FFF2-40B4-BE49-F238E27FC236}">
                <a16:creationId xmlns:a16="http://schemas.microsoft.com/office/drawing/2014/main" id="{AB1EFF64-9D05-A1BF-DCE6-BFFDEFAF4B3B}"/>
              </a:ext>
            </a:extLst>
          </p:cNvPr>
          <p:cNvSpPr>
            <a:spLocks/>
          </p:cNvSpPr>
          <p:nvPr/>
        </p:nvSpPr>
        <p:spPr bwMode="auto">
          <a:xfrm>
            <a:off x="2539465" y="3336028"/>
            <a:ext cx="299645" cy="251297"/>
          </a:xfrm>
          <a:custGeom>
            <a:avLst/>
            <a:gdLst/>
            <a:ahLst/>
            <a:cxnLst>
              <a:cxn ang="0">
                <a:pos x="680" y="280"/>
              </a:cxn>
              <a:cxn ang="0">
                <a:pos x="720" y="214"/>
              </a:cxn>
              <a:cxn ang="0">
                <a:pos x="628" y="131"/>
              </a:cxn>
              <a:cxn ang="0">
                <a:pos x="604" y="109"/>
              </a:cxn>
              <a:cxn ang="0">
                <a:pos x="594" y="70"/>
              </a:cxn>
              <a:cxn ang="0">
                <a:pos x="493" y="92"/>
              </a:cxn>
              <a:cxn ang="0">
                <a:pos x="456" y="99"/>
              </a:cxn>
              <a:cxn ang="0">
                <a:pos x="290" y="75"/>
              </a:cxn>
              <a:cxn ang="0">
                <a:pos x="259" y="23"/>
              </a:cxn>
              <a:cxn ang="0">
                <a:pos x="140" y="16"/>
              </a:cxn>
              <a:cxn ang="0">
                <a:pos x="107" y="0"/>
              </a:cxn>
              <a:cxn ang="0">
                <a:pos x="31" y="52"/>
              </a:cxn>
              <a:cxn ang="0">
                <a:pos x="0" y="135"/>
              </a:cxn>
              <a:cxn ang="0">
                <a:pos x="41" y="257"/>
              </a:cxn>
              <a:cxn ang="0">
                <a:pos x="181" y="288"/>
              </a:cxn>
              <a:cxn ang="0">
                <a:pos x="189" y="327"/>
              </a:cxn>
              <a:cxn ang="0">
                <a:pos x="285" y="330"/>
              </a:cxn>
              <a:cxn ang="0">
                <a:pos x="283" y="469"/>
              </a:cxn>
              <a:cxn ang="0">
                <a:pos x="290" y="502"/>
              </a:cxn>
              <a:cxn ang="0">
                <a:pos x="304" y="584"/>
              </a:cxn>
              <a:cxn ang="0">
                <a:pos x="311" y="624"/>
              </a:cxn>
              <a:cxn ang="0">
                <a:pos x="361" y="640"/>
              </a:cxn>
              <a:cxn ang="0">
                <a:pos x="386" y="647"/>
              </a:cxn>
              <a:cxn ang="0">
                <a:pos x="521" y="559"/>
              </a:cxn>
              <a:cxn ang="0">
                <a:pos x="471" y="539"/>
              </a:cxn>
              <a:cxn ang="0">
                <a:pos x="445" y="449"/>
              </a:cxn>
              <a:cxn ang="0">
                <a:pos x="570" y="449"/>
              </a:cxn>
              <a:cxn ang="0">
                <a:pos x="658" y="387"/>
              </a:cxn>
              <a:cxn ang="0">
                <a:pos x="654" y="379"/>
              </a:cxn>
              <a:cxn ang="0">
                <a:pos x="648" y="368"/>
              </a:cxn>
              <a:cxn ang="0">
                <a:pos x="627" y="335"/>
              </a:cxn>
              <a:cxn ang="0">
                <a:pos x="637" y="285"/>
              </a:cxn>
              <a:cxn ang="0">
                <a:pos x="680" y="280"/>
              </a:cxn>
            </a:cxnLst>
            <a:rect l="0" t="0" r="r" b="b"/>
            <a:pathLst>
              <a:path w="720" h="647">
                <a:moveTo>
                  <a:pt x="680" y="280"/>
                </a:moveTo>
                <a:lnTo>
                  <a:pt x="720" y="214"/>
                </a:lnTo>
                <a:lnTo>
                  <a:pt x="628" y="131"/>
                </a:lnTo>
                <a:lnTo>
                  <a:pt x="604" y="109"/>
                </a:lnTo>
                <a:lnTo>
                  <a:pt x="594" y="70"/>
                </a:lnTo>
                <a:lnTo>
                  <a:pt x="493" y="92"/>
                </a:lnTo>
                <a:lnTo>
                  <a:pt x="456" y="99"/>
                </a:lnTo>
                <a:lnTo>
                  <a:pt x="290" y="75"/>
                </a:lnTo>
                <a:lnTo>
                  <a:pt x="259" y="23"/>
                </a:lnTo>
                <a:lnTo>
                  <a:pt x="140" y="16"/>
                </a:lnTo>
                <a:lnTo>
                  <a:pt x="107" y="0"/>
                </a:lnTo>
                <a:lnTo>
                  <a:pt x="31" y="52"/>
                </a:lnTo>
                <a:lnTo>
                  <a:pt x="0" y="135"/>
                </a:lnTo>
                <a:lnTo>
                  <a:pt x="41" y="257"/>
                </a:lnTo>
                <a:lnTo>
                  <a:pt x="181" y="288"/>
                </a:lnTo>
                <a:lnTo>
                  <a:pt x="189" y="327"/>
                </a:lnTo>
                <a:lnTo>
                  <a:pt x="285" y="330"/>
                </a:lnTo>
                <a:lnTo>
                  <a:pt x="283" y="469"/>
                </a:lnTo>
                <a:lnTo>
                  <a:pt x="290" y="502"/>
                </a:lnTo>
                <a:lnTo>
                  <a:pt x="304" y="584"/>
                </a:lnTo>
                <a:lnTo>
                  <a:pt x="311" y="624"/>
                </a:lnTo>
                <a:lnTo>
                  <a:pt x="361" y="640"/>
                </a:lnTo>
                <a:lnTo>
                  <a:pt x="386" y="647"/>
                </a:lnTo>
                <a:lnTo>
                  <a:pt x="521" y="559"/>
                </a:lnTo>
                <a:lnTo>
                  <a:pt x="471" y="539"/>
                </a:lnTo>
                <a:lnTo>
                  <a:pt x="445" y="449"/>
                </a:lnTo>
                <a:lnTo>
                  <a:pt x="570" y="449"/>
                </a:lnTo>
                <a:lnTo>
                  <a:pt x="658" y="387"/>
                </a:lnTo>
                <a:lnTo>
                  <a:pt x="654" y="379"/>
                </a:lnTo>
                <a:lnTo>
                  <a:pt x="648" y="368"/>
                </a:lnTo>
                <a:lnTo>
                  <a:pt x="627" y="335"/>
                </a:lnTo>
                <a:lnTo>
                  <a:pt x="637" y="285"/>
                </a:lnTo>
                <a:lnTo>
                  <a:pt x="680" y="280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5" name="Freeform 141">
            <a:extLst>
              <a:ext uri="{FF2B5EF4-FFF2-40B4-BE49-F238E27FC236}">
                <a16:creationId xmlns:a16="http://schemas.microsoft.com/office/drawing/2014/main" id="{A0E6F47D-437B-ECB0-6B8F-A4F8A0E969C5}"/>
              </a:ext>
            </a:extLst>
          </p:cNvPr>
          <p:cNvSpPr>
            <a:spLocks/>
          </p:cNvSpPr>
          <p:nvPr/>
        </p:nvSpPr>
        <p:spPr bwMode="auto">
          <a:xfrm>
            <a:off x="2945649" y="4297781"/>
            <a:ext cx="129846" cy="107034"/>
          </a:xfrm>
          <a:custGeom>
            <a:avLst/>
            <a:gdLst/>
            <a:ahLst/>
            <a:cxnLst>
              <a:cxn ang="0">
                <a:pos x="45" y="13"/>
              </a:cxn>
              <a:cxn ang="0">
                <a:pos x="20" y="0"/>
              </a:cxn>
              <a:cxn ang="0">
                <a:pos x="11" y="8"/>
              </a:cxn>
              <a:cxn ang="0">
                <a:pos x="0" y="90"/>
              </a:cxn>
              <a:cxn ang="0">
                <a:pos x="30" y="244"/>
              </a:cxn>
              <a:cxn ang="0">
                <a:pos x="32" y="243"/>
              </a:cxn>
              <a:cxn ang="0">
                <a:pos x="35" y="243"/>
              </a:cxn>
              <a:cxn ang="0">
                <a:pos x="168" y="280"/>
              </a:cxn>
              <a:cxn ang="0">
                <a:pos x="249" y="245"/>
              </a:cxn>
              <a:cxn ang="0">
                <a:pos x="314" y="138"/>
              </a:cxn>
              <a:cxn ang="0">
                <a:pos x="45" y="13"/>
              </a:cxn>
            </a:cxnLst>
            <a:rect l="0" t="0" r="r" b="b"/>
            <a:pathLst>
              <a:path w="314" h="280">
                <a:moveTo>
                  <a:pt x="45" y="13"/>
                </a:moveTo>
                <a:lnTo>
                  <a:pt x="20" y="0"/>
                </a:lnTo>
                <a:lnTo>
                  <a:pt x="11" y="8"/>
                </a:lnTo>
                <a:lnTo>
                  <a:pt x="0" y="90"/>
                </a:lnTo>
                <a:lnTo>
                  <a:pt x="30" y="244"/>
                </a:lnTo>
                <a:lnTo>
                  <a:pt x="32" y="243"/>
                </a:lnTo>
                <a:lnTo>
                  <a:pt x="35" y="243"/>
                </a:lnTo>
                <a:lnTo>
                  <a:pt x="168" y="280"/>
                </a:lnTo>
                <a:lnTo>
                  <a:pt x="249" y="245"/>
                </a:lnTo>
                <a:lnTo>
                  <a:pt x="314" y="138"/>
                </a:lnTo>
                <a:lnTo>
                  <a:pt x="45" y="13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6" name="Freeform 142">
            <a:extLst>
              <a:ext uri="{FF2B5EF4-FFF2-40B4-BE49-F238E27FC236}">
                <a16:creationId xmlns:a16="http://schemas.microsoft.com/office/drawing/2014/main" id="{78137CDC-EC35-4A00-1216-06197B26EA3E}"/>
              </a:ext>
            </a:extLst>
          </p:cNvPr>
          <p:cNvSpPr>
            <a:spLocks/>
          </p:cNvSpPr>
          <p:nvPr/>
        </p:nvSpPr>
        <p:spPr bwMode="auto">
          <a:xfrm>
            <a:off x="2875734" y="3466330"/>
            <a:ext cx="96553" cy="88419"/>
          </a:xfrm>
          <a:custGeom>
            <a:avLst/>
            <a:gdLst/>
            <a:ahLst/>
            <a:cxnLst>
              <a:cxn ang="0">
                <a:pos x="236" y="26"/>
              </a:cxn>
              <a:cxn ang="0">
                <a:pos x="232" y="23"/>
              </a:cxn>
              <a:cxn ang="0">
                <a:pos x="56" y="0"/>
              </a:cxn>
              <a:cxn ang="0">
                <a:pos x="35" y="64"/>
              </a:cxn>
              <a:cxn ang="0">
                <a:pos x="0" y="119"/>
              </a:cxn>
              <a:cxn ang="0">
                <a:pos x="52" y="155"/>
              </a:cxn>
              <a:cxn ang="0">
                <a:pos x="82" y="224"/>
              </a:cxn>
              <a:cxn ang="0">
                <a:pos x="83" y="226"/>
              </a:cxn>
              <a:cxn ang="0">
                <a:pos x="123" y="211"/>
              </a:cxn>
              <a:cxn ang="0">
                <a:pos x="192" y="227"/>
              </a:cxn>
              <a:cxn ang="0">
                <a:pos x="217" y="229"/>
              </a:cxn>
              <a:cxn ang="0">
                <a:pos x="223" y="174"/>
              </a:cxn>
              <a:cxn ang="0">
                <a:pos x="226" y="145"/>
              </a:cxn>
              <a:cxn ang="0">
                <a:pos x="201" y="69"/>
              </a:cxn>
              <a:cxn ang="0">
                <a:pos x="236" y="26"/>
              </a:cxn>
            </a:cxnLst>
            <a:rect l="0" t="0" r="r" b="b"/>
            <a:pathLst>
              <a:path w="236" h="229">
                <a:moveTo>
                  <a:pt x="236" y="26"/>
                </a:moveTo>
                <a:lnTo>
                  <a:pt x="232" y="23"/>
                </a:lnTo>
                <a:lnTo>
                  <a:pt x="56" y="0"/>
                </a:lnTo>
                <a:lnTo>
                  <a:pt x="35" y="64"/>
                </a:lnTo>
                <a:lnTo>
                  <a:pt x="0" y="119"/>
                </a:lnTo>
                <a:lnTo>
                  <a:pt x="52" y="155"/>
                </a:lnTo>
                <a:lnTo>
                  <a:pt x="82" y="224"/>
                </a:lnTo>
                <a:lnTo>
                  <a:pt x="83" y="226"/>
                </a:lnTo>
                <a:lnTo>
                  <a:pt x="123" y="211"/>
                </a:lnTo>
                <a:lnTo>
                  <a:pt x="192" y="227"/>
                </a:lnTo>
                <a:lnTo>
                  <a:pt x="217" y="229"/>
                </a:lnTo>
                <a:lnTo>
                  <a:pt x="223" y="174"/>
                </a:lnTo>
                <a:lnTo>
                  <a:pt x="226" y="145"/>
                </a:lnTo>
                <a:lnTo>
                  <a:pt x="201" y="69"/>
                </a:lnTo>
                <a:lnTo>
                  <a:pt x="236" y="26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7" name="Freeform 143">
            <a:extLst>
              <a:ext uri="{FF2B5EF4-FFF2-40B4-BE49-F238E27FC236}">
                <a16:creationId xmlns:a16="http://schemas.microsoft.com/office/drawing/2014/main" id="{25F502D4-D5F3-193F-8E5E-22340735D57E}"/>
              </a:ext>
            </a:extLst>
          </p:cNvPr>
          <p:cNvSpPr>
            <a:spLocks/>
          </p:cNvSpPr>
          <p:nvPr/>
        </p:nvSpPr>
        <p:spPr bwMode="auto">
          <a:xfrm>
            <a:off x="2685958" y="3179355"/>
            <a:ext cx="41618" cy="17063"/>
          </a:xfrm>
          <a:custGeom>
            <a:avLst/>
            <a:gdLst/>
            <a:ahLst/>
            <a:cxnLst>
              <a:cxn ang="0">
                <a:pos x="0" y="42"/>
              </a:cxn>
              <a:cxn ang="0">
                <a:pos x="101" y="38"/>
              </a:cxn>
              <a:cxn ang="0">
                <a:pos x="90" y="5"/>
              </a:cxn>
              <a:cxn ang="0">
                <a:pos x="2" y="0"/>
              </a:cxn>
              <a:cxn ang="0">
                <a:pos x="0" y="42"/>
              </a:cxn>
            </a:cxnLst>
            <a:rect l="0" t="0" r="r" b="b"/>
            <a:pathLst>
              <a:path w="101" h="42">
                <a:moveTo>
                  <a:pt x="0" y="42"/>
                </a:moveTo>
                <a:lnTo>
                  <a:pt x="101" y="38"/>
                </a:lnTo>
                <a:lnTo>
                  <a:pt x="90" y="5"/>
                </a:lnTo>
                <a:lnTo>
                  <a:pt x="2" y="0"/>
                </a:lnTo>
                <a:lnTo>
                  <a:pt x="0" y="42"/>
                </a:lnTo>
                <a:close/>
              </a:path>
            </a:pathLst>
          </a:custGeom>
          <a:solidFill>
            <a:srgbClr val="C00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8" name="Freeform 144">
            <a:extLst>
              <a:ext uri="{FF2B5EF4-FFF2-40B4-BE49-F238E27FC236}">
                <a16:creationId xmlns:a16="http://schemas.microsoft.com/office/drawing/2014/main" id="{DF816AC9-F94F-D4DD-9CA6-BE6066AFBFC4}"/>
              </a:ext>
            </a:extLst>
          </p:cNvPr>
          <p:cNvSpPr>
            <a:spLocks/>
          </p:cNvSpPr>
          <p:nvPr/>
        </p:nvSpPr>
        <p:spPr bwMode="auto">
          <a:xfrm>
            <a:off x="2348027" y="3616798"/>
            <a:ext cx="306304" cy="407969"/>
          </a:xfrm>
          <a:custGeom>
            <a:avLst/>
            <a:gdLst/>
            <a:ahLst/>
            <a:cxnLst>
              <a:cxn ang="0">
                <a:pos x="716" y="717"/>
              </a:cxn>
              <a:cxn ang="0">
                <a:pos x="681" y="616"/>
              </a:cxn>
              <a:cxn ang="0">
                <a:pos x="669" y="615"/>
              </a:cxn>
              <a:cxn ang="0">
                <a:pos x="615" y="610"/>
              </a:cxn>
              <a:cxn ang="0">
                <a:pos x="607" y="572"/>
              </a:cxn>
              <a:cxn ang="0">
                <a:pos x="605" y="533"/>
              </a:cxn>
              <a:cxn ang="0">
                <a:pos x="524" y="564"/>
              </a:cxn>
              <a:cxn ang="0">
                <a:pos x="472" y="530"/>
              </a:cxn>
              <a:cxn ang="0">
                <a:pos x="427" y="411"/>
              </a:cxn>
              <a:cxn ang="0">
                <a:pos x="451" y="324"/>
              </a:cxn>
              <a:cxn ang="0">
                <a:pos x="513" y="251"/>
              </a:cxn>
              <a:cxn ang="0">
                <a:pos x="621" y="231"/>
              </a:cxn>
              <a:cxn ang="0">
                <a:pos x="631" y="230"/>
              </a:cxn>
              <a:cxn ang="0">
                <a:pos x="631" y="224"/>
              </a:cxn>
              <a:cxn ang="0">
                <a:pos x="594" y="186"/>
              </a:cxn>
              <a:cxn ang="0">
                <a:pos x="591" y="129"/>
              </a:cxn>
              <a:cxn ang="0">
                <a:pos x="451" y="111"/>
              </a:cxn>
              <a:cxn ang="0">
                <a:pos x="331" y="0"/>
              </a:cxn>
              <a:cxn ang="0">
                <a:pos x="312" y="49"/>
              </a:cxn>
              <a:cxn ang="0">
                <a:pos x="301" y="80"/>
              </a:cxn>
              <a:cxn ang="0">
                <a:pos x="199" y="160"/>
              </a:cxn>
              <a:cxn ang="0">
                <a:pos x="130" y="269"/>
              </a:cxn>
              <a:cxn ang="0">
                <a:pos x="34" y="190"/>
              </a:cxn>
              <a:cxn ang="0">
                <a:pos x="0" y="232"/>
              </a:cxn>
              <a:cxn ang="0">
                <a:pos x="28" y="349"/>
              </a:cxn>
              <a:cxn ang="0">
                <a:pos x="88" y="388"/>
              </a:cxn>
              <a:cxn ang="0">
                <a:pos x="182" y="538"/>
              </a:cxn>
              <a:cxn ang="0">
                <a:pos x="308" y="782"/>
              </a:cxn>
              <a:cxn ang="0">
                <a:pos x="379" y="903"/>
              </a:cxn>
              <a:cxn ang="0">
                <a:pos x="624" y="1033"/>
              </a:cxn>
              <a:cxn ang="0">
                <a:pos x="660" y="1052"/>
              </a:cxn>
              <a:cxn ang="0">
                <a:pos x="687" y="1021"/>
              </a:cxn>
              <a:cxn ang="0">
                <a:pos x="695" y="1013"/>
              </a:cxn>
              <a:cxn ang="0">
                <a:pos x="736" y="965"/>
              </a:cxn>
              <a:cxn ang="0">
                <a:pos x="716" y="717"/>
              </a:cxn>
            </a:cxnLst>
            <a:rect l="0" t="0" r="r" b="b"/>
            <a:pathLst>
              <a:path w="736" h="1052">
                <a:moveTo>
                  <a:pt x="716" y="717"/>
                </a:moveTo>
                <a:lnTo>
                  <a:pt x="681" y="616"/>
                </a:lnTo>
                <a:lnTo>
                  <a:pt x="669" y="615"/>
                </a:lnTo>
                <a:lnTo>
                  <a:pt x="615" y="610"/>
                </a:lnTo>
                <a:lnTo>
                  <a:pt x="607" y="572"/>
                </a:lnTo>
                <a:lnTo>
                  <a:pt x="605" y="533"/>
                </a:lnTo>
                <a:lnTo>
                  <a:pt x="524" y="564"/>
                </a:lnTo>
                <a:lnTo>
                  <a:pt x="472" y="530"/>
                </a:lnTo>
                <a:lnTo>
                  <a:pt x="427" y="411"/>
                </a:lnTo>
                <a:lnTo>
                  <a:pt x="451" y="324"/>
                </a:lnTo>
                <a:lnTo>
                  <a:pt x="513" y="251"/>
                </a:lnTo>
                <a:lnTo>
                  <a:pt x="621" y="231"/>
                </a:lnTo>
                <a:lnTo>
                  <a:pt x="631" y="230"/>
                </a:lnTo>
                <a:lnTo>
                  <a:pt x="631" y="224"/>
                </a:lnTo>
                <a:lnTo>
                  <a:pt x="594" y="186"/>
                </a:lnTo>
                <a:lnTo>
                  <a:pt x="591" y="129"/>
                </a:lnTo>
                <a:lnTo>
                  <a:pt x="451" y="111"/>
                </a:lnTo>
                <a:lnTo>
                  <a:pt x="331" y="0"/>
                </a:lnTo>
                <a:lnTo>
                  <a:pt x="312" y="49"/>
                </a:lnTo>
                <a:lnTo>
                  <a:pt x="301" y="80"/>
                </a:lnTo>
                <a:lnTo>
                  <a:pt x="199" y="160"/>
                </a:lnTo>
                <a:lnTo>
                  <a:pt x="130" y="269"/>
                </a:lnTo>
                <a:lnTo>
                  <a:pt x="34" y="190"/>
                </a:lnTo>
                <a:lnTo>
                  <a:pt x="0" y="232"/>
                </a:lnTo>
                <a:lnTo>
                  <a:pt x="28" y="349"/>
                </a:lnTo>
                <a:lnTo>
                  <a:pt x="88" y="388"/>
                </a:lnTo>
                <a:lnTo>
                  <a:pt x="182" y="538"/>
                </a:lnTo>
                <a:lnTo>
                  <a:pt x="308" y="782"/>
                </a:lnTo>
                <a:lnTo>
                  <a:pt x="379" y="903"/>
                </a:lnTo>
                <a:lnTo>
                  <a:pt x="624" y="1033"/>
                </a:lnTo>
                <a:lnTo>
                  <a:pt x="660" y="1052"/>
                </a:lnTo>
                <a:lnTo>
                  <a:pt x="687" y="1021"/>
                </a:lnTo>
                <a:lnTo>
                  <a:pt x="695" y="1013"/>
                </a:lnTo>
                <a:lnTo>
                  <a:pt x="736" y="965"/>
                </a:lnTo>
                <a:lnTo>
                  <a:pt x="716" y="717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59" name="Freeform 145">
            <a:extLst>
              <a:ext uri="{FF2B5EF4-FFF2-40B4-BE49-F238E27FC236}">
                <a16:creationId xmlns:a16="http://schemas.microsoft.com/office/drawing/2014/main" id="{7F10DF23-CBDB-A4DB-BBC8-0FE0B4C3FBEF}"/>
              </a:ext>
            </a:extLst>
          </p:cNvPr>
          <p:cNvSpPr>
            <a:spLocks/>
          </p:cNvSpPr>
          <p:nvPr/>
        </p:nvSpPr>
        <p:spPr bwMode="auto">
          <a:xfrm>
            <a:off x="2807482" y="4040280"/>
            <a:ext cx="199763" cy="184594"/>
          </a:xfrm>
          <a:custGeom>
            <a:avLst/>
            <a:gdLst/>
            <a:ahLst/>
            <a:cxnLst>
              <a:cxn ang="0">
                <a:pos x="458" y="352"/>
              </a:cxn>
              <a:cxn ang="0">
                <a:pos x="469" y="302"/>
              </a:cxn>
              <a:cxn ang="0">
                <a:pos x="476" y="274"/>
              </a:cxn>
              <a:cxn ang="0">
                <a:pos x="467" y="259"/>
              </a:cxn>
              <a:cxn ang="0">
                <a:pos x="414" y="269"/>
              </a:cxn>
              <a:cxn ang="0">
                <a:pos x="375" y="173"/>
              </a:cxn>
              <a:cxn ang="0">
                <a:pos x="326" y="183"/>
              </a:cxn>
              <a:cxn ang="0">
                <a:pos x="256" y="163"/>
              </a:cxn>
              <a:cxn ang="0">
                <a:pos x="244" y="87"/>
              </a:cxn>
              <a:cxn ang="0">
                <a:pos x="238" y="44"/>
              </a:cxn>
              <a:cxn ang="0">
                <a:pos x="238" y="41"/>
              </a:cxn>
              <a:cxn ang="0">
                <a:pos x="155" y="0"/>
              </a:cxn>
              <a:cxn ang="0">
                <a:pos x="28" y="28"/>
              </a:cxn>
              <a:cxn ang="0">
                <a:pos x="4" y="144"/>
              </a:cxn>
              <a:cxn ang="0">
                <a:pos x="2" y="152"/>
              </a:cxn>
              <a:cxn ang="0">
                <a:pos x="0" y="154"/>
              </a:cxn>
              <a:cxn ang="0">
                <a:pos x="5" y="161"/>
              </a:cxn>
              <a:cxn ang="0">
                <a:pos x="129" y="298"/>
              </a:cxn>
              <a:cxn ang="0">
                <a:pos x="183" y="290"/>
              </a:cxn>
              <a:cxn ang="0">
                <a:pos x="300" y="355"/>
              </a:cxn>
              <a:cxn ang="0">
                <a:pos x="271" y="476"/>
              </a:cxn>
              <a:cxn ang="0">
                <a:pos x="440" y="469"/>
              </a:cxn>
              <a:cxn ang="0">
                <a:pos x="479" y="367"/>
              </a:cxn>
              <a:cxn ang="0">
                <a:pos x="458" y="352"/>
              </a:cxn>
            </a:cxnLst>
            <a:rect l="0" t="0" r="r" b="b"/>
            <a:pathLst>
              <a:path w="479" h="476">
                <a:moveTo>
                  <a:pt x="458" y="352"/>
                </a:moveTo>
                <a:lnTo>
                  <a:pt x="469" y="302"/>
                </a:lnTo>
                <a:lnTo>
                  <a:pt x="476" y="274"/>
                </a:lnTo>
                <a:lnTo>
                  <a:pt x="467" y="259"/>
                </a:lnTo>
                <a:lnTo>
                  <a:pt x="414" y="269"/>
                </a:lnTo>
                <a:lnTo>
                  <a:pt x="375" y="173"/>
                </a:lnTo>
                <a:lnTo>
                  <a:pt x="326" y="183"/>
                </a:lnTo>
                <a:lnTo>
                  <a:pt x="256" y="163"/>
                </a:lnTo>
                <a:lnTo>
                  <a:pt x="244" y="87"/>
                </a:lnTo>
                <a:lnTo>
                  <a:pt x="238" y="44"/>
                </a:lnTo>
                <a:lnTo>
                  <a:pt x="238" y="41"/>
                </a:lnTo>
                <a:lnTo>
                  <a:pt x="155" y="0"/>
                </a:lnTo>
                <a:lnTo>
                  <a:pt x="28" y="28"/>
                </a:lnTo>
                <a:lnTo>
                  <a:pt x="4" y="144"/>
                </a:lnTo>
                <a:lnTo>
                  <a:pt x="2" y="152"/>
                </a:lnTo>
                <a:lnTo>
                  <a:pt x="0" y="154"/>
                </a:lnTo>
                <a:lnTo>
                  <a:pt x="5" y="161"/>
                </a:lnTo>
                <a:lnTo>
                  <a:pt x="129" y="298"/>
                </a:lnTo>
                <a:lnTo>
                  <a:pt x="183" y="290"/>
                </a:lnTo>
                <a:lnTo>
                  <a:pt x="300" y="355"/>
                </a:lnTo>
                <a:lnTo>
                  <a:pt x="271" y="476"/>
                </a:lnTo>
                <a:lnTo>
                  <a:pt x="440" y="469"/>
                </a:lnTo>
                <a:lnTo>
                  <a:pt x="479" y="367"/>
                </a:lnTo>
                <a:lnTo>
                  <a:pt x="458" y="352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0" name="Freeform 146">
            <a:extLst>
              <a:ext uri="{FF2B5EF4-FFF2-40B4-BE49-F238E27FC236}">
                <a16:creationId xmlns:a16="http://schemas.microsoft.com/office/drawing/2014/main" id="{0773D088-31E2-1D89-3392-F13CC5D5AEBE}"/>
              </a:ext>
            </a:extLst>
          </p:cNvPr>
          <p:cNvSpPr>
            <a:spLocks/>
          </p:cNvSpPr>
          <p:nvPr/>
        </p:nvSpPr>
        <p:spPr bwMode="auto">
          <a:xfrm>
            <a:off x="2309738" y="3376360"/>
            <a:ext cx="138169" cy="58946"/>
          </a:xfrm>
          <a:custGeom>
            <a:avLst/>
            <a:gdLst/>
            <a:ahLst/>
            <a:cxnLst>
              <a:cxn ang="0">
                <a:pos x="324" y="71"/>
              </a:cxn>
              <a:cxn ang="0">
                <a:pos x="321" y="69"/>
              </a:cxn>
              <a:cxn ang="0">
                <a:pos x="213" y="0"/>
              </a:cxn>
              <a:cxn ang="0">
                <a:pos x="116" y="62"/>
              </a:cxn>
              <a:cxn ang="0">
                <a:pos x="42" y="25"/>
              </a:cxn>
              <a:cxn ang="0">
                <a:pos x="38" y="23"/>
              </a:cxn>
              <a:cxn ang="0">
                <a:pos x="34" y="17"/>
              </a:cxn>
              <a:cxn ang="0">
                <a:pos x="21" y="23"/>
              </a:cxn>
              <a:cxn ang="0">
                <a:pos x="0" y="96"/>
              </a:cxn>
              <a:cxn ang="0">
                <a:pos x="4" y="99"/>
              </a:cxn>
              <a:cxn ang="0">
                <a:pos x="73" y="153"/>
              </a:cxn>
              <a:cxn ang="0">
                <a:pos x="156" y="140"/>
              </a:cxn>
              <a:cxn ang="0">
                <a:pos x="158" y="95"/>
              </a:cxn>
              <a:cxn ang="0">
                <a:pos x="225" y="49"/>
              </a:cxn>
              <a:cxn ang="0">
                <a:pos x="277" y="147"/>
              </a:cxn>
              <a:cxn ang="0">
                <a:pos x="279" y="152"/>
              </a:cxn>
              <a:cxn ang="0">
                <a:pos x="316" y="112"/>
              </a:cxn>
              <a:cxn ang="0">
                <a:pos x="329" y="75"/>
              </a:cxn>
              <a:cxn ang="0">
                <a:pos x="324" y="71"/>
              </a:cxn>
            </a:cxnLst>
            <a:rect l="0" t="0" r="r" b="b"/>
            <a:pathLst>
              <a:path w="329" h="153">
                <a:moveTo>
                  <a:pt x="324" y="71"/>
                </a:moveTo>
                <a:lnTo>
                  <a:pt x="321" y="69"/>
                </a:lnTo>
                <a:lnTo>
                  <a:pt x="213" y="0"/>
                </a:lnTo>
                <a:lnTo>
                  <a:pt x="116" y="62"/>
                </a:lnTo>
                <a:lnTo>
                  <a:pt x="42" y="25"/>
                </a:lnTo>
                <a:lnTo>
                  <a:pt x="38" y="23"/>
                </a:lnTo>
                <a:lnTo>
                  <a:pt x="34" y="17"/>
                </a:lnTo>
                <a:lnTo>
                  <a:pt x="21" y="23"/>
                </a:lnTo>
                <a:lnTo>
                  <a:pt x="0" y="96"/>
                </a:lnTo>
                <a:lnTo>
                  <a:pt x="4" y="99"/>
                </a:lnTo>
                <a:lnTo>
                  <a:pt x="73" y="153"/>
                </a:lnTo>
                <a:lnTo>
                  <a:pt x="156" y="140"/>
                </a:lnTo>
                <a:lnTo>
                  <a:pt x="158" y="95"/>
                </a:lnTo>
                <a:lnTo>
                  <a:pt x="225" y="49"/>
                </a:lnTo>
                <a:lnTo>
                  <a:pt x="277" y="147"/>
                </a:lnTo>
                <a:lnTo>
                  <a:pt x="279" y="152"/>
                </a:lnTo>
                <a:lnTo>
                  <a:pt x="316" y="112"/>
                </a:lnTo>
                <a:lnTo>
                  <a:pt x="329" y="75"/>
                </a:lnTo>
                <a:lnTo>
                  <a:pt x="324" y="71"/>
                </a:lnTo>
                <a:close/>
              </a:path>
            </a:pathLst>
          </a:custGeom>
          <a:solidFill>
            <a:schemeClr val="accent6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1" name="Freeform 147">
            <a:extLst>
              <a:ext uri="{FF2B5EF4-FFF2-40B4-BE49-F238E27FC236}">
                <a16:creationId xmlns:a16="http://schemas.microsoft.com/office/drawing/2014/main" id="{CD7D45D8-AD33-D2D5-B8BB-89F4DDB0B48D}"/>
              </a:ext>
            </a:extLst>
          </p:cNvPr>
          <p:cNvSpPr>
            <a:spLocks/>
          </p:cNvSpPr>
          <p:nvPr/>
        </p:nvSpPr>
        <p:spPr bwMode="auto">
          <a:xfrm>
            <a:off x="2219844" y="3253813"/>
            <a:ext cx="98218" cy="102379"/>
          </a:xfrm>
          <a:custGeom>
            <a:avLst/>
            <a:gdLst/>
            <a:ahLst/>
            <a:cxnLst>
              <a:cxn ang="0">
                <a:pos x="235" y="13"/>
              </a:cxn>
              <a:cxn ang="0">
                <a:pos x="237" y="2"/>
              </a:cxn>
              <a:cxn ang="0">
                <a:pos x="233" y="0"/>
              </a:cxn>
              <a:cxn ang="0">
                <a:pos x="145" y="15"/>
              </a:cxn>
              <a:cxn ang="0">
                <a:pos x="84" y="84"/>
              </a:cxn>
              <a:cxn ang="0">
                <a:pos x="83" y="84"/>
              </a:cxn>
              <a:cxn ang="0">
                <a:pos x="83" y="84"/>
              </a:cxn>
              <a:cxn ang="0">
                <a:pos x="0" y="108"/>
              </a:cxn>
              <a:cxn ang="0">
                <a:pos x="0" y="109"/>
              </a:cxn>
              <a:cxn ang="0">
                <a:pos x="7" y="121"/>
              </a:cxn>
              <a:cxn ang="0">
                <a:pos x="74" y="223"/>
              </a:cxn>
              <a:cxn ang="0">
                <a:pos x="77" y="229"/>
              </a:cxn>
              <a:cxn ang="0">
                <a:pos x="209" y="262"/>
              </a:cxn>
              <a:cxn ang="0">
                <a:pos x="200" y="250"/>
              </a:cxn>
              <a:cxn ang="0">
                <a:pos x="202" y="240"/>
              </a:cxn>
              <a:cxn ang="0">
                <a:pos x="235" y="13"/>
              </a:cxn>
            </a:cxnLst>
            <a:rect l="0" t="0" r="r" b="b"/>
            <a:pathLst>
              <a:path w="237" h="262">
                <a:moveTo>
                  <a:pt x="235" y="13"/>
                </a:moveTo>
                <a:lnTo>
                  <a:pt x="237" y="2"/>
                </a:lnTo>
                <a:lnTo>
                  <a:pt x="233" y="0"/>
                </a:lnTo>
                <a:lnTo>
                  <a:pt x="145" y="15"/>
                </a:lnTo>
                <a:lnTo>
                  <a:pt x="84" y="84"/>
                </a:lnTo>
                <a:lnTo>
                  <a:pt x="83" y="84"/>
                </a:lnTo>
                <a:lnTo>
                  <a:pt x="83" y="84"/>
                </a:lnTo>
                <a:lnTo>
                  <a:pt x="0" y="108"/>
                </a:lnTo>
                <a:lnTo>
                  <a:pt x="0" y="109"/>
                </a:lnTo>
                <a:lnTo>
                  <a:pt x="7" y="121"/>
                </a:lnTo>
                <a:lnTo>
                  <a:pt x="74" y="223"/>
                </a:lnTo>
                <a:lnTo>
                  <a:pt x="77" y="229"/>
                </a:lnTo>
                <a:lnTo>
                  <a:pt x="209" y="262"/>
                </a:lnTo>
                <a:lnTo>
                  <a:pt x="200" y="250"/>
                </a:lnTo>
                <a:lnTo>
                  <a:pt x="202" y="240"/>
                </a:lnTo>
                <a:lnTo>
                  <a:pt x="235" y="13"/>
                </a:lnTo>
                <a:close/>
              </a:path>
            </a:pathLst>
          </a:custGeom>
          <a:solidFill>
            <a:schemeClr val="accent6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2" name="Freeform 148">
            <a:extLst>
              <a:ext uri="{FF2B5EF4-FFF2-40B4-BE49-F238E27FC236}">
                <a16:creationId xmlns:a16="http://schemas.microsoft.com/office/drawing/2014/main" id="{2757B09F-7F02-B8DE-24C6-E8062D1BEB2C}"/>
              </a:ext>
            </a:extLst>
          </p:cNvPr>
          <p:cNvSpPr>
            <a:spLocks/>
          </p:cNvSpPr>
          <p:nvPr/>
        </p:nvSpPr>
        <p:spPr bwMode="auto">
          <a:xfrm>
            <a:off x="1668832" y="2763630"/>
            <a:ext cx="590967" cy="493286"/>
          </a:xfrm>
          <a:custGeom>
            <a:avLst/>
            <a:gdLst/>
            <a:ahLst/>
            <a:cxnLst>
              <a:cxn ang="0">
                <a:pos x="1236" y="870"/>
              </a:cxn>
              <a:cxn ang="0">
                <a:pos x="1167" y="1015"/>
              </a:cxn>
              <a:cxn ang="0">
                <a:pos x="1120" y="1022"/>
              </a:cxn>
              <a:cxn ang="0">
                <a:pos x="980" y="1046"/>
              </a:cxn>
              <a:cxn ang="0">
                <a:pos x="920" y="1005"/>
              </a:cxn>
              <a:cxn ang="0">
                <a:pos x="901" y="932"/>
              </a:cxn>
              <a:cxn ang="0">
                <a:pos x="849" y="774"/>
              </a:cxn>
              <a:cxn ang="0">
                <a:pos x="865" y="697"/>
              </a:cxn>
              <a:cxn ang="0">
                <a:pos x="925" y="548"/>
              </a:cxn>
              <a:cxn ang="0">
                <a:pos x="823" y="500"/>
              </a:cxn>
              <a:cxn ang="0">
                <a:pos x="820" y="484"/>
              </a:cxn>
              <a:cxn ang="0">
                <a:pos x="777" y="288"/>
              </a:cxn>
              <a:cxn ang="0">
                <a:pos x="707" y="264"/>
              </a:cxn>
              <a:cxn ang="0">
                <a:pos x="676" y="303"/>
              </a:cxn>
              <a:cxn ang="0">
                <a:pos x="626" y="290"/>
              </a:cxn>
              <a:cxn ang="0">
                <a:pos x="520" y="104"/>
              </a:cxn>
              <a:cxn ang="0">
                <a:pos x="432" y="104"/>
              </a:cxn>
              <a:cxn ang="0">
                <a:pos x="419" y="135"/>
              </a:cxn>
              <a:cxn ang="0">
                <a:pos x="279" y="114"/>
              </a:cxn>
              <a:cxn ang="0">
                <a:pos x="113" y="0"/>
              </a:cxn>
              <a:cxn ang="0">
                <a:pos x="0" y="4"/>
              </a:cxn>
              <a:cxn ang="0">
                <a:pos x="2" y="33"/>
              </a:cxn>
              <a:cxn ang="0">
                <a:pos x="17" y="197"/>
              </a:cxn>
              <a:cxn ang="0">
                <a:pos x="42" y="241"/>
              </a:cxn>
              <a:cxn ang="0">
                <a:pos x="61" y="329"/>
              </a:cxn>
              <a:cxn ang="0">
                <a:pos x="9" y="337"/>
              </a:cxn>
              <a:cxn ang="0">
                <a:pos x="131" y="484"/>
              </a:cxn>
              <a:cxn ang="0">
                <a:pos x="120" y="552"/>
              </a:cxn>
              <a:cxn ang="0">
                <a:pos x="206" y="691"/>
              </a:cxn>
              <a:cxn ang="0">
                <a:pos x="245" y="653"/>
              </a:cxn>
              <a:cxn ang="0">
                <a:pos x="188" y="493"/>
              </a:cxn>
              <a:cxn ang="0">
                <a:pos x="74" y="192"/>
              </a:cxn>
              <a:cxn ang="0">
                <a:pos x="103" y="57"/>
              </a:cxn>
              <a:cxn ang="0">
                <a:pos x="172" y="117"/>
              </a:cxn>
              <a:cxn ang="0">
                <a:pos x="170" y="236"/>
              </a:cxn>
              <a:cxn ang="0">
                <a:pos x="294" y="498"/>
              </a:cxn>
              <a:cxn ang="0">
                <a:pos x="438" y="798"/>
              </a:cxn>
              <a:cxn ang="0">
                <a:pos x="396" y="886"/>
              </a:cxn>
              <a:cxn ang="0">
                <a:pos x="507" y="1010"/>
              </a:cxn>
              <a:cxn ang="0">
                <a:pos x="860" y="1207"/>
              </a:cxn>
              <a:cxn ang="0">
                <a:pos x="980" y="1176"/>
              </a:cxn>
              <a:cxn ang="0">
                <a:pos x="1073" y="1275"/>
              </a:cxn>
              <a:cxn ang="0">
                <a:pos x="1115" y="1176"/>
              </a:cxn>
              <a:cxn ang="0">
                <a:pos x="1179" y="1184"/>
              </a:cxn>
              <a:cxn ang="0">
                <a:pos x="1156" y="1127"/>
              </a:cxn>
              <a:cxn ang="0">
                <a:pos x="1174" y="1077"/>
              </a:cxn>
              <a:cxn ang="0">
                <a:pos x="1253" y="1082"/>
              </a:cxn>
              <a:cxn ang="0">
                <a:pos x="1317" y="1036"/>
              </a:cxn>
              <a:cxn ang="0">
                <a:pos x="1342" y="1065"/>
              </a:cxn>
              <a:cxn ang="0">
                <a:pos x="1348" y="1053"/>
              </a:cxn>
              <a:cxn ang="0">
                <a:pos x="1421" y="855"/>
              </a:cxn>
              <a:cxn ang="0">
                <a:pos x="1236" y="870"/>
              </a:cxn>
            </a:cxnLst>
            <a:rect l="0" t="0" r="r" b="b"/>
            <a:pathLst>
              <a:path w="1421" h="1275">
                <a:moveTo>
                  <a:pt x="1236" y="870"/>
                </a:moveTo>
                <a:lnTo>
                  <a:pt x="1167" y="1015"/>
                </a:lnTo>
                <a:lnTo>
                  <a:pt x="1120" y="1022"/>
                </a:lnTo>
                <a:lnTo>
                  <a:pt x="980" y="1046"/>
                </a:lnTo>
                <a:lnTo>
                  <a:pt x="920" y="1005"/>
                </a:lnTo>
                <a:lnTo>
                  <a:pt x="901" y="932"/>
                </a:lnTo>
                <a:lnTo>
                  <a:pt x="849" y="774"/>
                </a:lnTo>
                <a:lnTo>
                  <a:pt x="865" y="697"/>
                </a:lnTo>
                <a:lnTo>
                  <a:pt x="925" y="548"/>
                </a:lnTo>
                <a:lnTo>
                  <a:pt x="823" y="500"/>
                </a:lnTo>
                <a:lnTo>
                  <a:pt x="820" y="484"/>
                </a:lnTo>
                <a:lnTo>
                  <a:pt x="777" y="288"/>
                </a:lnTo>
                <a:lnTo>
                  <a:pt x="707" y="264"/>
                </a:lnTo>
                <a:lnTo>
                  <a:pt x="676" y="303"/>
                </a:lnTo>
                <a:lnTo>
                  <a:pt x="626" y="290"/>
                </a:lnTo>
                <a:lnTo>
                  <a:pt x="520" y="104"/>
                </a:lnTo>
                <a:lnTo>
                  <a:pt x="432" y="104"/>
                </a:lnTo>
                <a:lnTo>
                  <a:pt x="419" y="135"/>
                </a:lnTo>
                <a:lnTo>
                  <a:pt x="279" y="114"/>
                </a:lnTo>
                <a:lnTo>
                  <a:pt x="113" y="0"/>
                </a:lnTo>
                <a:lnTo>
                  <a:pt x="0" y="4"/>
                </a:lnTo>
                <a:lnTo>
                  <a:pt x="2" y="33"/>
                </a:lnTo>
                <a:lnTo>
                  <a:pt x="17" y="197"/>
                </a:lnTo>
                <a:lnTo>
                  <a:pt x="42" y="241"/>
                </a:lnTo>
                <a:lnTo>
                  <a:pt x="61" y="329"/>
                </a:lnTo>
                <a:lnTo>
                  <a:pt x="9" y="337"/>
                </a:lnTo>
                <a:lnTo>
                  <a:pt x="131" y="484"/>
                </a:lnTo>
                <a:lnTo>
                  <a:pt x="120" y="552"/>
                </a:lnTo>
                <a:lnTo>
                  <a:pt x="206" y="691"/>
                </a:lnTo>
                <a:lnTo>
                  <a:pt x="245" y="653"/>
                </a:lnTo>
                <a:lnTo>
                  <a:pt x="188" y="493"/>
                </a:lnTo>
                <a:lnTo>
                  <a:pt x="74" y="192"/>
                </a:lnTo>
                <a:lnTo>
                  <a:pt x="103" y="57"/>
                </a:lnTo>
                <a:lnTo>
                  <a:pt x="172" y="117"/>
                </a:lnTo>
                <a:lnTo>
                  <a:pt x="170" y="236"/>
                </a:lnTo>
                <a:lnTo>
                  <a:pt x="294" y="498"/>
                </a:lnTo>
                <a:lnTo>
                  <a:pt x="438" y="798"/>
                </a:lnTo>
                <a:lnTo>
                  <a:pt x="396" y="886"/>
                </a:lnTo>
                <a:lnTo>
                  <a:pt x="507" y="1010"/>
                </a:lnTo>
                <a:lnTo>
                  <a:pt x="860" y="1207"/>
                </a:lnTo>
                <a:lnTo>
                  <a:pt x="980" y="1176"/>
                </a:lnTo>
                <a:lnTo>
                  <a:pt x="1073" y="1275"/>
                </a:lnTo>
                <a:lnTo>
                  <a:pt x="1115" y="1176"/>
                </a:lnTo>
                <a:lnTo>
                  <a:pt x="1179" y="1184"/>
                </a:lnTo>
                <a:lnTo>
                  <a:pt x="1156" y="1127"/>
                </a:lnTo>
                <a:lnTo>
                  <a:pt x="1174" y="1077"/>
                </a:lnTo>
                <a:lnTo>
                  <a:pt x="1253" y="1082"/>
                </a:lnTo>
                <a:lnTo>
                  <a:pt x="1317" y="1036"/>
                </a:lnTo>
                <a:lnTo>
                  <a:pt x="1342" y="1065"/>
                </a:lnTo>
                <a:lnTo>
                  <a:pt x="1348" y="1053"/>
                </a:lnTo>
                <a:lnTo>
                  <a:pt x="1421" y="855"/>
                </a:lnTo>
                <a:lnTo>
                  <a:pt x="1236" y="870"/>
                </a:lnTo>
                <a:close/>
              </a:path>
            </a:pathLst>
          </a:custGeom>
          <a:solidFill>
            <a:srgbClr val="C00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3" name="Freeform 149">
            <a:extLst>
              <a:ext uri="{FF2B5EF4-FFF2-40B4-BE49-F238E27FC236}">
                <a16:creationId xmlns:a16="http://schemas.microsoft.com/office/drawing/2014/main" id="{97C33FE4-BBAA-3DD0-74C8-E76D920126CB}"/>
              </a:ext>
            </a:extLst>
          </p:cNvPr>
          <p:cNvSpPr>
            <a:spLocks/>
          </p:cNvSpPr>
          <p:nvPr/>
        </p:nvSpPr>
        <p:spPr bwMode="auto">
          <a:xfrm>
            <a:off x="2311403" y="3058361"/>
            <a:ext cx="229728" cy="86867"/>
          </a:xfrm>
          <a:custGeom>
            <a:avLst/>
            <a:gdLst/>
            <a:ahLst/>
            <a:cxnLst>
              <a:cxn ang="0">
                <a:pos x="553" y="201"/>
              </a:cxn>
              <a:cxn ang="0">
                <a:pos x="382" y="93"/>
              </a:cxn>
              <a:cxn ang="0">
                <a:pos x="244" y="17"/>
              </a:cxn>
              <a:cxn ang="0">
                <a:pos x="171" y="0"/>
              </a:cxn>
              <a:cxn ang="0">
                <a:pos x="50" y="12"/>
              </a:cxn>
              <a:cxn ang="0">
                <a:pos x="0" y="48"/>
              </a:cxn>
              <a:cxn ang="0">
                <a:pos x="34" y="77"/>
              </a:cxn>
              <a:cxn ang="0">
                <a:pos x="140" y="48"/>
              </a:cxn>
              <a:cxn ang="0">
                <a:pos x="296" y="119"/>
              </a:cxn>
              <a:cxn ang="0">
                <a:pos x="330" y="155"/>
              </a:cxn>
              <a:cxn ang="0">
                <a:pos x="373" y="165"/>
              </a:cxn>
              <a:cxn ang="0">
                <a:pos x="379" y="186"/>
              </a:cxn>
              <a:cxn ang="0">
                <a:pos x="353" y="212"/>
              </a:cxn>
              <a:cxn ang="0">
                <a:pos x="534" y="224"/>
              </a:cxn>
              <a:cxn ang="0">
                <a:pos x="553" y="201"/>
              </a:cxn>
            </a:cxnLst>
            <a:rect l="0" t="0" r="r" b="b"/>
            <a:pathLst>
              <a:path w="553" h="224">
                <a:moveTo>
                  <a:pt x="553" y="201"/>
                </a:moveTo>
                <a:lnTo>
                  <a:pt x="382" y="93"/>
                </a:lnTo>
                <a:lnTo>
                  <a:pt x="244" y="17"/>
                </a:lnTo>
                <a:lnTo>
                  <a:pt x="171" y="0"/>
                </a:lnTo>
                <a:lnTo>
                  <a:pt x="50" y="12"/>
                </a:lnTo>
                <a:lnTo>
                  <a:pt x="0" y="48"/>
                </a:lnTo>
                <a:lnTo>
                  <a:pt x="34" y="77"/>
                </a:lnTo>
                <a:lnTo>
                  <a:pt x="140" y="48"/>
                </a:lnTo>
                <a:lnTo>
                  <a:pt x="296" y="119"/>
                </a:lnTo>
                <a:lnTo>
                  <a:pt x="330" y="155"/>
                </a:lnTo>
                <a:lnTo>
                  <a:pt x="373" y="165"/>
                </a:lnTo>
                <a:lnTo>
                  <a:pt x="379" y="186"/>
                </a:lnTo>
                <a:lnTo>
                  <a:pt x="353" y="212"/>
                </a:lnTo>
                <a:lnTo>
                  <a:pt x="534" y="224"/>
                </a:lnTo>
                <a:lnTo>
                  <a:pt x="553" y="201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4" name="Freeform 150">
            <a:extLst>
              <a:ext uri="{FF2B5EF4-FFF2-40B4-BE49-F238E27FC236}">
                <a16:creationId xmlns:a16="http://schemas.microsoft.com/office/drawing/2014/main" id="{16FB9BE7-E929-7807-F637-6DE3BA0841FD}"/>
              </a:ext>
            </a:extLst>
          </p:cNvPr>
          <p:cNvSpPr>
            <a:spLocks/>
          </p:cNvSpPr>
          <p:nvPr/>
        </p:nvSpPr>
        <p:spPr bwMode="auto">
          <a:xfrm>
            <a:off x="2394637" y="3315863"/>
            <a:ext cx="271344" cy="387804"/>
          </a:xfrm>
          <a:custGeom>
            <a:avLst/>
            <a:gdLst/>
            <a:ahLst/>
            <a:cxnLst>
              <a:cxn ang="0">
                <a:pos x="651" y="635"/>
              </a:cxn>
              <a:cxn ang="0">
                <a:pos x="637" y="553"/>
              </a:cxn>
              <a:cxn ang="0">
                <a:pos x="630" y="520"/>
              </a:cxn>
              <a:cxn ang="0">
                <a:pos x="632" y="381"/>
              </a:cxn>
              <a:cxn ang="0">
                <a:pos x="536" y="378"/>
              </a:cxn>
              <a:cxn ang="0">
                <a:pos x="528" y="339"/>
              </a:cxn>
              <a:cxn ang="0">
                <a:pos x="388" y="308"/>
              </a:cxn>
              <a:cxn ang="0">
                <a:pos x="347" y="186"/>
              </a:cxn>
              <a:cxn ang="0">
                <a:pos x="378" y="103"/>
              </a:cxn>
              <a:cxn ang="0">
                <a:pos x="454" y="51"/>
              </a:cxn>
              <a:cxn ang="0">
                <a:pos x="450" y="49"/>
              </a:cxn>
              <a:cxn ang="0">
                <a:pos x="469" y="23"/>
              </a:cxn>
              <a:cxn ang="0">
                <a:pos x="424" y="0"/>
              </a:cxn>
              <a:cxn ang="0">
                <a:pos x="261" y="83"/>
              </a:cxn>
              <a:cxn ang="0">
                <a:pos x="144" y="241"/>
              </a:cxn>
              <a:cxn ang="0">
                <a:pos x="126" y="230"/>
              </a:cxn>
              <a:cxn ang="0">
                <a:pos x="113" y="267"/>
              </a:cxn>
              <a:cxn ang="0">
                <a:pos x="76" y="307"/>
              </a:cxn>
              <a:cxn ang="0">
                <a:pos x="79" y="313"/>
              </a:cxn>
              <a:cxn ang="0">
                <a:pos x="95" y="346"/>
              </a:cxn>
              <a:cxn ang="0">
                <a:pos x="108" y="502"/>
              </a:cxn>
              <a:cxn ang="0">
                <a:pos x="67" y="613"/>
              </a:cxn>
              <a:cxn ang="0">
                <a:pos x="4" y="691"/>
              </a:cxn>
              <a:cxn ang="0">
                <a:pos x="0" y="695"/>
              </a:cxn>
              <a:cxn ang="0">
                <a:pos x="186" y="751"/>
              </a:cxn>
              <a:cxn ang="0">
                <a:pos x="193" y="753"/>
              </a:cxn>
              <a:cxn ang="0">
                <a:pos x="216" y="774"/>
              </a:cxn>
              <a:cxn ang="0">
                <a:pos x="336" y="885"/>
              </a:cxn>
              <a:cxn ang="0">
                <a:pos x="476" y="903"/>
              </a:cxn>
              <a:cxn ang="0">
                <a:pos x="479" y="960"/>
              </a:cxn>
              <a:cxn ang="0">
                <a:pos x="516" y="998"/>
              </a:cxn>
              <a:cxn ang="0">
                <a:pos x="547" y="810"/>
              </a:cxn>
              <a:cxn ang="0">
                <a:pos x="521" y="641"/>
              </a:cxn>
              <a:cxn ang="0">
                <a:pos x="651" y="635"/>
              </a:cxn>
            </a:cxnLst>
            <a:rect l="0" t="0" r="r" b="b"/>
            <a:pathLst>
              <a:path w="651" h="998">
                <a:moveTo>
                  <a:pt x="651" y="635"/>
                </a:moveTo>
                <a:lnTo>
                  <a:pt x="637" y="553"/>
                </a:lnTo>
                <a:lnTo>
                  <a:pt x="630" y="520"/>
                </a:lnTo>
                <a:lnTo>
                  <a:pt x="632" y="381"/>
                </a:lnTo>
                <a:lnTo>
                  <a:pt x="536" y="378"/>
                </a:lnTo>
                <a:lnTo>
                  <a:pt x="528" y="339"/>
                </a:lnTo>
                <a:lnTo>
                  <a:pt x="388" y="308"/>
                </a:lnTo>
                <a:lnTo>
                  <a:pt x="347" y="186"/>
                </a:lnTo>
                <a:lnTo>
                  <a:pt x="378" y="103"/>
                </a:lnTo>
                <a:lnTo>
                  <a:pt x="454" y="51"/>
                </a:lnTo>
                <a:lnTo>
                  <a:pt x="450" y="49"/>
                </a:lnTo>
                <a:lnTo>
                  <a:pt x="469" y="23"/>
                </a:lnTo>
                <a:lnTo>
                  <a:pt x="424" y="0"/>
                </a:lnTo>
                <a:lnTo>
                  <a:pt x="261" y="83"/>
                </a:lnTo>
                <a:lnTo>
                  <a:pt x="144" y="241"/>
                </a:lnTo>
                <a:lnTo>
                  <a:pt x="126" y="230"/>
                </a:lnTo>
                <a:lnTo>
                  <a:pt x="113" y="267"/>
                </a:lnTo>
                <a:lnTo>
                  <a:pt x="76" y="307"/>
                </a:lnTo>
                <a:lnTo>
                  <a:pt x="79" y="313"/>
                </a:lnTo>
                <a:lnTo>
                  <a:pt x="95" y="346"/>
                </a:lnTo>
                <a:lnTo>
                  <a:pt x="108" y="502"/>
                </a:lnTo>
                <a:lnTo>
                  <a:pt x="67" y="613"/>
                </a:lnTo>
                <a:lnTo>
                  <a:pt x="4" y="691"/>
                </a:lnTo>
                <a:lnTo>
                  <a:pt x="0" y="695"/>
                </a:lnTo>
                <a:lnTo>
                  <a:pt x="186" y="751"/>
                </a:lnTo>
                <a:lnTo>
                  <a:pt x="193" y="753"/>
                </a:lnTo>
                <a:lnTo>
                  <a:pt x="216" y="774"/>
                </a:lnTo>
                <a:lnTo>
                  <a:pt x="336" y="885"/>
                </a:lnTo>
                <a:lnTo>
                  <a:pt x="476" y="903"/>
                </a:lnTo>
                <a:lnTo>
                  <a:pt x="479" y="960"/>
                </a:lnTo>
                <a:lnTo>
                  <a:pt x="516" y="998"/>
                </a:lnTo>
                <a:lnTo>
                  <a:pt x="547" y="810"/>
                </a:lnTo>
                <a:lnTo>
                  <a:pt x="521" y="641"/>
                </a:lnTo>
                <a:lnTo>
                  <a:pt x="651" y="635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5" name="Freeform 151">
            <a:extLst>
              <a:ext uri="{FF2B5EF4-FFF2-40B4-BE49-F238E27FC236}">
                <a16:creationId xmlns:a16="http://schemas.microsoft.com/office/drawing/2014/main" id="{B34D9685-D7A7-10DC-8B0F-6EE177A453CF}"/>
              </a:ext>
            </a:extLst>
          </p:cNvPr>
          <p:cNvSpPr>
            <a:spLocks/>
          </p:cNvSpPr>
          <p:nvPr/>
        </p:nvSpPr>
        <p:spPr bwMode="auto">
          <a:xfrm>
            <a:off x="2439583" y="3171599"/>
            <a:ext cx="51606" cy="24819"/>
          </a:xfrm>
          <a:custGeom>
            <a:avLst/>
            <a:gdLst/>
            <a:ahLst/>
            <a:cxnLst>
              <a:cxn ang="0">
                <a:pos x="42" y="66"/>
              </a:cxn>
              <a:cxn ang="0">
                <a:pos x="121" y="43"/>
              </a:cxn>
              <a:cxn ang="0">
                <a:pos x="67" y="0"/>
              </a:cxn>
              <a:cxn ang="0">
                <a:pos x="0" y="14"/>
              </a:cxn>
              <a:cxn ang="0">
                <a:pos x="42" y="66"/>
              </a:cxn>
            </a:cxnLst>
            <a:rect l="0" t="0" r="r" b="b"/>
            <a:pathLst>
              <a:path w="121" h="66">
                <a:moveTo>
                  <a:pt x="42" y="66"/>
                </a:moveTo>
                <a:lnTo>
                  <a:pt x="121" y="43"/>
                </a:lnTo>
                <a:lnTo>
                  <a:pt x="67" y="0"/>
                </a:lnTo>
                <a:lnTo>
                  <a:pt x="0" y="14"/>
                </a:lnTo>
                <a:lnTo>
                  <a:pt x="42" y="66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6" name="Freeform 152">
            <a:extLst>
              <a:ext uri="{FF2B5EF4-FFF2-40B4-BE49-F238E27FC236}">
                <a16:creationId xmlns:a16="http://schemas.microsoft.com/office/drawing/2014/main" id="{5FAFC4A5-BC2B-7796-3F4C-5B9CC5FF38B7}"/>
              </a:ext>
            </a:extLst>
          </p:cNvPr>
          <p:cNvSpPr>
            <a:spLocks/>
          </p:cNvSpPr>
          <p:nvPr/>
        </p:nvSpPr>
        <p:spPr bwMode="auto">
          <a:xfrm>
            <a:off x="2199868" y="3230544"/>
            <a:ext cx="116529" cy="66702"/>
          </a:xfrm>
          <a:custGeom>
            <a:avLst/>
            <a:gdLst/>
            <a:ahLst/>
            <a:cxnLst>
              <a:cxn ang="0">
                <a:pos x="218" y="11"/>
              </a:cxn>
              <a:cxn ang="0">
                <a:pos x="111" y="5"/>
              </a:cxn>
              <a:cxn ang="0">
                <a:pos x="42" y="0"/>
              </a:cxn>
              <a:cxn ang="0">
                <a:pos x="42" y="0"/>
              </a:cxn>
              <a:cxn ang="0">
                <a:pos x="13" y="53"/>
              </a:cxn>
              <a:cxn ang="0">
                <a:pos x="0" y="83"/>
              </a:cxn>
              <a:cxn ang="0">
                <a:pos x="9" y="83"/>
              </a:cxn>
              <a:cxn ang="0">
                <a:pos x="12" y="87"/>
              </a:cxn>
              <a:cxn ang="0">
                <a:pos x="37" y="119"/>
              </a:cxn>
              <a:cxn ang="0">
                <a:pos x="27" y="162"/>
              </a:cxn>
              <a:cxn ang="0">
                <a:pos x="42" y="166"/>
              </a:cxn>
              <a:cxn ang="0">
                <a:pos x="47" y="172"/>
              </a:cxn>
              <a:cxn ang="0">
                <a:pos x="47" y="171"/>
              </a:cxn>
              <a:cxn ang="0">
                <a:pos x="130" y="147"/>
              </a:cxn>
              <a:cxn ang="0">
                <a:pos x="131" y="147"/>
              </a:cxn>
              <a:cxn ang="0">
                <a:pos x="192" y="78"/>
              </a:cxn>
              <a:cxn ang="0">
                <a:pos x="280" y="63"/>
              </a:cxn>
              <a:cxn ang="0">
                <a:pos x="218" y="11"/>
              </a:cxn>
            </a:cxnLst>
            <a:rect l="0" t="0" r="r" b="b"/>
            <a:pathLst>
              <a:path w="280" h="172">
                <a:moveTo>
                  <a:pt x="218" y="11"/>
                </a:moveTo>
                <a:lnTo>
                  <a:pt x="111" y="5"/>
                </a:lnTo>
                <a:lnTo>
                  <a:pt x="42" y="0"/>
                </a:lnTo>
                <a:lnTo>
                  <a:pt x="42" y="0"/>
                </a:lnTo>
                <a:lnTo>
                  <a:pt x="13" y="53"/>
                </a:lnTo>
                <a:lnTo>
                  <a:pt x="0" y="83"/>
                </a:lnTo>
                <a:lnTo>
                  <a:pt x="9" y="83"/>
                </a:lnTo>
                <a:lnTo>
                  <a:pt x="12" y="87"/>
                </a:lnTo>
                <a:lnTo>
                  <a:pt x="37" y="119"/>
                </a:lnTo>
                <a:lnTo>
                  <a:pt x="27" y="162"/>
                </a:lnTo>
                <a:lnTo>
                  <a:pt x="42" y="166"/>
                </a:lnTo>
                <a:lnTo>
                  <a:pt x="47" y="172"/>
                </a:lnTo>
                <a:lnTo>
                  <a:pt x="47" y="171"/>
                </a:lnTo>
                <a:lnTo>
                  <a:pt x="130" y="147"/>
                </a:lnTo>
                <a:lnTo>
                  <a:pt x="131" y="147"/>
                </a:lnTo>
                <a:lnTo>
                  <a:pt x="192" y="78"/>
                </a:lnTo>
                <a:lnTo>
                  <a:pt x="280" y="63"/>
                </a:lnTo>
                <a:lnTo>
                  <a:pt x="218" y="11"/>
                </a:lnTo>
                <a:close/>
              </a:path>
            </a:pathLst>
          </a:custGeom>
          <a:solidFill>
            <a:srgbClr val="C00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7" name="Freeform 153">
            <a:extLst>
              <a:ext uri="{FF2B5EF4-FFF2-40B4-BE49-F238E27FC236}">
                <a16:creationId xmlns:a16="http://schemas.microsoft.com/office/drawing/2014/main" id="{4D1AA641-6232-FE01-CE93-F19E8681240C}"/>
              </a:ext>
            </a:extLst>
          </p:cNvPr>
          <p:cNvSpPr>
            <a:spLocks/>
          </p:cNvSpPr>
          <p:nvPr/>
        </p:nvSpPr>
        <p:spPr bwMode="auto">
          <a:xfrm>
            <a:off x="2527813" y="3140575"/>
            <a:ext cx="138169" cy="54293"/>
          </a:xfrm>
          <a:custGeom>
            <a:avLst/>
            <a:gdLst/>
            <a:ahLst/>
            <a:cxnLst>
              <a:cxn ang="0">
                <a:pos x="137" y="115"/>
              </a:cxn>
              <a:cxn ang="0">
                <a:pos x="161" y="137"/>
              </a:cxn>
              <a:cxn ang="0">
                <a:pos x="218" y="115"/>
              </a:cxn>
              <a:cxn ang="0">
                <a:pos x="312" y="112"/>
              </a:cxn>
              <a:cxn ang="0">
                <a:pos x="332" y="94"/>
              </a:cxn>
              <a:cxn ang="0">
                <a:pos x="218" y="13"/>
              </a:cxn>
              <a:cxn ang="0">
                <a:pos x="77" y="0"/>
              </a:cxn>
              <a:cxn ang="0">
                <a:pos x="67" y="21"/>
              </a:cxn>
              <a:cxn ang="0">
                <a:pos x="120" y="52"/>
              </a:cxn>
              <a:cxn ang="0">
                <a:pos x="109" y="72"/>
              </a:cxn>
              <a:cxn ang="0">
                <a:pos x="0" y="88"/>
              </a:cxn>
              <a:cxn ang="0">
                <a:pos x="29" y="125"/>
              </a:cxn>
              <a:cxn ang="0">
                <a:pos x="137" y="115"/>
              </a:cxn>
            </a:cxnLst>
            <a:rect l="0" t="0" r="r" b="b"/>
            <a:pathLst>
              <a:path w="332" h="137">
                <a:moveTo>
                  <a:pt x="137" y="115"/>
                </a:moveTo>
                <a:lnTo>
                  <a:pt x="161" y="137"/>
                </a:lnTo>
                <a:lnTo>
                  <a:pt x="218" y="115"/>
                </a:lnTo>
                <a:lnTo>
                  <a:pt x="312" y="112"/>
                </a:lnTo>
                <a:lnTo>
                  <a:pt x="332" y="94"/>
                </a:lnTo>
                <a:lnTo>
                  <a:pt x="218" y="13"/>
                </a:lnTo>
                <a:lnTo>
                  <a:pt x="77" y="0"/>
                </a:lnTo>
                <a:lnTo>
                  <a:pt x="67" y="21"/>
                </a:lnTo>
                <a:lnTo>
                  <a:pt x="120" y="52"/>
                </a:lnTo>
                <a:lnTo>
                  <a:pt x="109" y="72"/>
                </a:lnTo>
                <a:lnTo>
                  <a:pt x="0" y="88"/>
                </a:lnTo>
                <a:lnTo>
                  <a:pt x="29" y="125"/>
                </a:lnTo>
                <a:lnTo>
                  <a:pt x="137" y="115"/>
                </a:lnTo>
                <a:close/>
              </a:path>
            </a:pathLst>
          </a:custGeom>
          <a:solidFill>
            <a:srgbClr val="C00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8" name="Freeform 154">
            <a:extLst>
              <a:ext uri="{FF2B5EF4-FFF2-40B4-BE49-F238E27FC236}">
                <a16:creationId xmlns:a16="http://schemas.microsoft.com/office/drawing/2014/main" id="{2D7C122D-7DF3-8B29-449C-A1491F153756}"/>
              </a:ext>
            </a:extLst>
          </p:cNvPr>
          <p:cNvSpPr>
            <a:spLocks/>
          </p:cNvSpPr>
          <p:nvPr/>
        </p:nvSpPr>
        <p:spPr bwMode="auto">
          <a:xfrm>
            <a:off x="2800823" y="3418241"/>
            <a:ext cx="111535" cy="158223"/>
          </a:xfrm>
          <a:custGeom>
            <a:avLst/>
            <a:gdLst/>
            <a:ahLst/>
            <a:cxnLst>
              <a:cxn ang="0">
                <a:pos x="262" y="347"/>
              </a:cxn>
              <a:cxn ang="0">
                <a:pos x="261" y="345"/>
              </a:cxn>
              <a:cxn ang="0">
                <a:pos x="231" y="276"/>
              </a:cxn>
              <a:cxn ang="0">
                <a:pos x="179" y="240"/>
              </a:cxn>
              <a:cxn ang="0">
                <a:pos x="214" y="185"/>
              </a:cxn>
              <a:cxn ang="0">
                <a:pos x="235" y="121"/>
              </a:cxn>
              <a:cxn ang="0">
                <a:pos x="229" y="121"/>
              </a:cxn>
              <a:cxn ang="0">
                <a:pos x="212" y="105"/>
              </a:cxn>
              <a:cxn ang="0">
                <a:pos x="93" y="0"/>
              </a:cxn>
              <a:cxn ang="0">
                <a:pos x="53" y="66"/>
              </a:cxn>
              <a:cxn ang="0">
                <a:pos x="10" y="71"/>
              </a:cxn>
              <a:cxn ang="0">
                <a:pos x="0" y="121"/>
              </a:cxn>
              <a:cxn ang="0">
                <a:pos x="21" y="154"/>
              </a:cxn>
              <a:cxn ang="0">
                <a:pos x="27" y="165"/>
              </a:cxn>
              <a:cxn ang="0">
                <a:pos x="81" y="169"/>
              </a:cxn>
              <a:cxn ang="0">
                <a:pos x="70" y="260"/>
              </a:cxn>
              <a:cxn ang="0">
                <a:pos x="74" y="359"/>
              </a:cxn>
              <a:cxn ang="0">
                <a:pos x="153" y="407"/>
              </a:cxn>
              <a:cxn ang="0">
                <a:pos x="271" y="366"/>
              </a:cxn>
              <a:cxn ang="0">
                <a:pos x="262" y="347"/>
              </a:cxn>
            </a:cxnLst>
            <a:rect l="0" t="0" r="r" b="b"/>
            <a:pathLst>
              <a:path w="271" h="407">
                <a:moveTo>
                  <a:pt x="262" y="347"/>
                </a:moveTo>
                <a:lnTo>
                  <a:pt x="261" y="345"/>
                </a:lnTo>
                <a:lnTo>
                  <a:pt x="231" y="276"/>
                </a:lnTo>
                <a:lnTo>
                  <a:pt x="179" y="240"/>
                </a:lnTo>
                <a:lnTo>
                  <a:pt x="214" y="185"/>
                </a:lnTo>
                <a:lnTo>
                  <a:pt x="235" y="121"/>
                </a:lnTo>
                <a:lnTo>
                  <a:pt x="229" y="121"/>
                </a:lnTo>
                <a:lnTo>
                  <a:pt x="212" y="105"/>
                </a:lnTo>
                <a:lnTo>
                  <a:pt x="93" y="0"/>
                </a:lnTo>
                <a:lnTo>
                  <a:pt x="53" y="66"/>
                </a:lnTo>
                <a:lnTo>
                  <a:pt x="10" y="71"/>
                </a:lnTo>
                <a:lnTo>
                  <a:pt x="0" y="121"/>
                </a:lnTo>
                <a:lnTo>
                  <a:pt x="21" y="154"/>
                </a:lnTo>
                <a:lnTo>
                  <a:pt x="27" y="165"/>
                </a:lnTo>
                <a:lnTo>
                  <a:pt x="81" y="169"/>
                </a:lnTo>
                <a:lnTo>
                  <a:pt x="70" y="260"/>
                </a:lnTo>
                <a:lnTo>
                  <a:pt x="74" y="359"/>
                </a:lnTo>
                <a:lnTo>
                  <a:pt x="153" y="407"/>
                </a:lnTo>
                <a:lnTo>
                  <a:pt x="271" y="366"/>
                </a:lnTo>
                <a:lnTo>
                  <a:pt x="262" y="347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69" name="Freeform 155">
            <a:extLst>
              <a:ext uri="{FF2B5EF4-FFF2-40B4-BE49-F238E27FC236}">
                <a16:creationId xmlns:a16="http://schemas.microsoft.com/office/drawing/2014/main" id="{3C0534D8-3713-E615-0DCA-D8B50E3B5E9D}"/>
              </a:ext>
            </a:extLst>
          </p:cNvPr>
          <p:cNvSpPr>
            <a:spLocks/>
          </p:cNvSpPr>
          <p:nvPr/>
        </p:nvSpPr>
        <p:spPr bwMode="auto">
          <a:xfrm>
            <a:off x="2114970" y="3180904"/>
            <a:ext cx="101546" cy="99278"/>
          </a:xfrm>
          <a:custGeom>
            <a:avLst/>
            <a:gdLst/>
            <a:ahLst/>
            <a:cxnLst>
              <a:cxn ang="0">
                <a:pos x="246" y="127"/>
              </a:cxn>
              <a:cxn ang="0">
                <a:pos x="209" y="116"/>
              </a:cxn>
              <a:cxn ang="0">
                <a:pos x="202" y="114"/>
              </a:cxn>
              <a:cxn ang="0">
                <a:pos x="176" y="112"/>
              </a:cxn>
              <a:cxn ang="0">
                <a:pos x="182" y="7"/>
              </a:cxn>
              <a:cxn ang="0">
                <a:pos x="180" y="5"/>
              </a:cxn>
              <a:cxn ang="0">
                <a:pos x="101" y="0"/>
              </a:cxn>
              <a:cxn ang="0">
                <a:pos x="83" y="50"/>
              </a:cxn>
              <a:cxn ang="0">
                <a:pos x="106" y="107"/>
              </a:cxn>
              <a:cxn ang="0">
                <a:pos x="42" y="99"/>
              </a:cxn>
              <a:cxn ang="0">
                <a:pos x="0" y="198"/>
              </a:cxn>
              <a:cxn ang="0">
                <a:pos x="11" y="209"/>
              </a:cxn>
              <a:cxn ang="0">
                <a:pos x="47" y="246"/>
              </a:cxn>
              <a:cxn ang="0">
                <a:pos x="118" y="259"/>
              </a:cxn>
              <a:cxn ang="0">
                <a:pos x="125" y="221"/>
              </a:cxn>
              <a:cxn ang="0">
                <a:pos x="168" y="210"/>
              </a:cxn>
              <a:cxn ang="0">
                <a:pos x="204" y="210"/>
              </a:cxn>
              <a:cxn ang="0">
                <a:pos x="217" y="180"/>
              </a:cxn>
              <a:cxn ang="0">
                <a:pos x="246" y="127"/>
              </a:cxn>
            </a:cxnLst>
            <a:rect l="0" t="0" r="r" b="b"/>
            <a:pathLst>
              <a:path w="246" h="259">
                <a:moveTo>
                  <a:pt x="246" y="127"/>
                </a:moveTo>
                <a:lnTo>
                  <a:pt x="209" y="116"/>
                </a:lnTo>
                <a:lnTo>
                  <a:pt x="202" y="114"/>
                </a:lnTo>
                <a:lnTo>
                  <a:pt x="176" y="112"/>
                </a:lnTo>
                <a:lnTo>
                  <a:pt x="182" y="7"/>
                </a:lnTo>
                <a:lnTo>
                  <a:pt x="180" y="5"/>
                </a:lnTo>
                <a:lnTo>
                  <a:pt x="101" y="0"/>
                </a:lnTo>
                <a:lnTo>
                  <a:pt x="83" y="50"/>
                </a:lnTo>
                <a:lnTo>
                  <a:pt x="106" y="107"/>
                </a:lnTo>
                <a:lnTo>
                  <a:pt x="42" y="99"/>
                </a:lnTo>
                <a:lnTo>
                  <a:pt x="0" y="198"/>
                </a:lnTo>
                <a:lnTo>
                  <a:pt x="11" y="209"/>
                </a:lnTo>
                <a:lnTo>
                  <a:pt x="47" y="246"/>
                </a:lnTo>
                <a:lnTo>
                  <a:pt x="118" y="259"/>
                </a:lnTo>
                <a:lnTo>
                  <a:pt x="125" y="221"/>
                </a:lnTo>
                <a:lnTo>
                  <a:pt x="168" y="210"/>
                </a:lnTo>
                <a:lnTo>
                  <a:pt x="204" y="210"/>
                </a:lnTo>
                <a:lnTo>
                  <a:pt x="217" y="180"/>
                </a:lnTo>
                <a:lnTo>
                  <a:pt x="246" y="127"/>
                </a:lnTo>
                <a:close/>
              </a:path>
            </a:pathLst>
          </a:custGeom>
          <a:solidFill>
            <a:srgbClr val="C0000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0" name="Freeform 156">
            <a:extLst>
              <a:ext uri="{FF2B5EF4-FFF2-40B4-BE49-F238E27FC236}">
                <a16:creationId xmlns:a16="http://schemas.microsoft.com/office/drawing/2014/main" id="{7B7E0F37-4715-F7DA-99BB-E64D36FC704C}"/>
              </a:ext>
            </a:extLst>
          </p:cNvPr>
          <p:cNvSpPr>
            <a:spLocks/>
          </p:cNvSpPr>
          <p:nvPr/>
        </p:nvSpPr>
        <p:spPr bwMode="auto">
          <a:xfrm>
            <a:off x="2196538" y="3261569"/>
            <a:ext cx="8325" cy="7755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0" y="21"/>
              </a:cxn>
              <a:cxn ang="0">
                <a:pos x="20" y="4"/>
              </a:cxn>
              <a:cxn ang="0">
                <a:pos x="17" y="0"/>
              </a:cxn>
              <a:cxn ang="0">
                <a:pos x="8" y="0"/>
              </a:cxn>
            </a:cxnLst>
            <a:rect l="0" t="0" r="r" b="b"/>
            <a:pathLst>
              <a:path w="20" h="21">
                <a:moveTo>
                  <a:pt x="8" y="0"/>
                </a:moveTo>
                <a:lnTo>
                  <a:pt x="0" y="21"/>
                </a:lnTo>
                <a:lnTo>
                  <a:pt x="20" y="4"/>
                </a:lnTo>
                <a:lnTo>
                  <a:pt x="17" y="0"/>
                </a:lnTo>
                <a:lnTo>
                  <a:pt x="8" y="0"/>
                </a:lnTo>
                <a:close/>
              </a:path>
            </a:pathLst>
          </a:custGeom>
          <a:solidFill>
            <a:srgbClr val="004D90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1" name="Freeform 157">
            <a:extLst>
              <a:ext uri="{FF2B5EF4-FFF2-40B4-BE49-F238E27FC236}">
                <a16:creationId xmlns:a16="http://schemas.microsoft.com/office/drawing/2014/main" id="{D70859F1-26D1-45C3-7385-648CB25F2B80}"/>
              </a:ext>
            </a:extLst>
          </p:cNvPr>
          <p:cNvSpPr>
            <a:spLocks/>
          </p:cNvSpPr>
          <p:nvPr/>
        </p:nvSpPr>
        <p:spPr bwMode="auto">
          <a:xfrm>
            <a:off x="2958968" y="3475636"/>
            <a:ext cx="74911" cy="80663"/>
          </a:xfrm>
          <a:custGeom>
            <a:avLst/>
            <a:gdLst/>
            <a:ahLst/>
            <a:cxnLst>
              <a:cxn ang="0">
                <a:pos x="163" y="93"/>
              </a:cxn>
              <a:cxn ang="0">
                <a:pos x="56" y="15"/>
              </a:cxn>
              <a:cxn ang="0">
                <a:pos x="35" y="0"/>
              </a:cxn>
              <a:cxn ang="0">
                <a:pos x="0" y="43"/>
              </a:cxn>
              <a:cxn ang="0">
                <a:pos x="25" y="119"/>
              </a:cxn>
              <a:cxn ang="0">
                <a:pos x="22" y="148"/>
              </a:cxn>
              <a:cxn ang="0">
                <a:pos x="16" y="203"/>
              </a:cxn>
              <a:cxn ang="0">
                <a:pos x="18" y="203"/>
              </a:cxn>
              <a:cxn ang="0">
                <a:pos x="85" y="209"/>
              </a:cxn>
              <a:cxn ang="0">
                <a:pos x="181" y="105"/>
              </a:cxn>
              <a:cxn ang="0">
                <a:pos x="163" y="93"/>
              </a:cxn>
            </a:cxnLst>
            <a:rect l="0" t="0" r="r" b="b"/>
            <a:pathLst>
              <a:path w="181" h="209">
                <a:moveTo>
                  <a:pt x="163" y="93"/>
                </a:moveTo>
                <a:lnTo>
                  <a:pt x="56" y="15"/>
                </a:lnTo>
                <a:lnTo>
                  <a:pt x="35" y="0"/>
                </a:lnTo>
                <a:lnTo>
                  <a:pt x="0" y="43"/>
                </a:lnTo>
                <a:lnTo>
                  <a:pt x="25" y="119"/>
                </a:lnTo>
                <a:lnTo>
                  <a:pt x="22" y="148"/>
                </a:lnTo>
                <a:lnTo>
                  <a:pt x="16" y="203"/>
                </a:lnTo>
                <a:lnTo>
                  <a:pt x="18" y="203"/>
                </a:lnTo>
                <a:lnTo>
                  <a:pt x="85" y="209"/>
                </a:lnTo>
                <a:lnTo>
                  <a:pt x="181" y="105"/>
                </a:lnTo>
                <a:lnTo>
                  <a:pt x="163" y="93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2" name="Freeform 158">
            <a:extLst>
              <a:ext uri="{FF2B5EF4-FFF2-40B4-BE49-F238E27FC236}">
                <a16:creationId xmlns:a16="http://schemas.microsoft.com/office/drawing/2014/main" id="{4706C324-DA17-FDE2-281B-2DA8A196610F}"/>
              </a:ext>
            </a:extLst>
          </p:cNvPr>
          <p:cNvSpPr>
            <a:spLocks/>
          </p:cNvSpPr>
          <p:nvPr/>
        </p:nvSpPr>
        <p:spPr bwMode="auto">
          <a:xfrm>
            <a:off x="3002249" y="4848464"/>
            <a:ext cx="69918" cy="31024"/>
          </a:xfrm>
          <a:custGeom>
            <a:avLst/>
            <a:gdLst/>
            <a:ahLst/>
            <a:cxnLst>
              <a:cxn ang="0">
                <a:pos x="130" y="0"/>
              </a:cxn>
              <a:cxn ang="0">
                <a:pos x="57" y="8"/>
              </a:cxn>
              <a:cxn ang="0">
                <a:pos x="0" y="55"/>
              </a:cxn>
              <a:cxn ang="0">
                <a:pos x="85" y="82"/>
              </a:cxn>
              <a:cxn ang="0">
                <a:pos x="168" y="29"/>
              </a:cxn>
              <a:cxn ang="0">
                <a:pos x="164" y="0"/>
              </a:cxn>
              <a:cxn ang="0">
                <a:pos x="130" y="0"/>
              </a:cxn>
            </a:cxnLst>
            <a:rect l="0" t="0" r="r" b="b"/>
            <a:pathLst>
              <a:path w="168" h="82">
                <a:moveTo>
                  <a:pt x="130" y="0"/>
                </a:moveTo>
                <a:lnTo>
                  <a:pt x="57" y="8"/>
                </a:lnTo>
                <a:lnTo>
                  <a:pt x="0" y="55"/>
                </a:lnTo>
                <a:lnTo>
                  <a:pt x="85" y="82"/>
                </a:lnTo>
                <a:lnTo>
                  <a:pt x="168" y="29"/>
                </a:lnTo>
                <a:lnTo>
                  <a:pt x="164" y="0"/>
                </a:lnTo>
                <a:lnTo>
                  <a:pt x="130" y="0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3" name="Freeform 159">
            <a:extLst>
              <a:ext uri="{FF2B5EF4-FFF2-40B4-BE49-F238E27FC236}">
                <a16:creationId xmlns:a16="http://schemas.microsoft.com/office/drawing/2014/main" id="{0FABD8BA-D866-458F-972B-270AB5282CC0}"/>
              </a:ext>
            </a:extLst>
          </p:cNvPr>
          <p:cNvSpPr>
            <a:spLocks/>
          </p:cNvSpPr>
          <p:nvPr/>
        </p:nvSpPr>
        <p:spPr bwMode="auto">
          <a:xfrm>
            <a:off x="2164910" y="3261569"/>
            <a:ext cx="49941" cy="31024"/>
          </a:xfrm>
          <a:custGeom>
            <a:avLst/>
            <a:gdLst/>
            <a:ahLst/>
            <a:cxnLst>
              <a:cxn ang="0">
                <a:pos x="95" y="0"/>
              </a:cxn>
              <a:cxn ang="0">
                <a:pos x="50" y="0"/>
              </a:cxn>
              <a:cxn ang="0">
                <a:pos x="7" y="11"/>
              </a:cxn>
              <a:cxn ang="0">
                <a:pos x="0" y="49"/>
              </a:cxn>
              <a:cxn ang="0">
                <a:pos x="33" y="54"/>
              </a:cxn>
              <a:cxn ang="0">
                <a:pos x="113" y="79"/>
              </a:cxn>
              <a:cxn ang="0">
                <a:pos x="123" y="36"/>
              </a:cxn>
              <a:cxn ang="0">
                <a:pos x="95" y="0"/>
              </a:cxn>
            </a:cxnLst>
            <a:rect l="0" t="0" r="r" b="b"/>
            <a:pathLst>
              <a:path w="123" h="79">
                <a:moveTo>
                  <a:pt x="95" y="0"/>
                </a:moveTo>
                <a:lnTo>
                  <a:pt x="50" y="0"/>
                </a:lnTo>
                <a:lnTo>
                  <a:pt x="7" y="11"/>
                </a:lnTo>
                <a:lnTo>
                  <a:pt x="0" y="49"/>
                </a:lnTo>
                <a:lnTo>
                  <a:pt x="33" y="54"/>
                </a:lnTo>
                <a:lnTo>
                  <a:pt x="113" y="79"/>
                </a:lnTo>
                <a:lnTo>
                  <a:pt x="123" y="36"/>
                </a:lnTo>
                <a:lnTo>
                  <a:pt x="95" y="0"/>
                </a:lnTo>
                <a:close/>
              </a:path>
            </a:pathLst>
          </a:custGeom>
          <a:solidFill>
            <a:schemeClr val="accent6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4" name="Freeform 160">
            <a:extLst>
              <a:ext uri="{FF2B5EF4-FFF2-40B4-BE49-F238E27FC236}">
                <a16:creationId xmlns:a16="http://schemas.microsoft.com/office/drawing/2014/main" id="{B2806CBF-035F-941E-7573-DBDBEC7EA9D3}"/>
              </a:ext>
            </a:extLst>
          </p:cNvPr>
          <p:cNvSpPr>
            <a:spLocks/>
          </p:cNvSpPr>
          <p:nvPr/>
        </p:nvSpPr>
        <p:spPr bwMode="auto">
          <a:xfrm>
            <a:off x="2359677" y="3585773"/>
            <a:ext cx="124854" cy="134955"/>
          </a:xfrm>
          <a:custGeom>
            <a:avLst/>
            <a:gdLst/>
            <a:ahLst/>
            <a:cxnLst>
              <a:cxn ang="0">
                <a:pos x="280" y="58"/>
              </a:cxn>
              <a:cxn ang="0">
                <a:pos x="273" y="56"/>
              </a:cxn>
              <a:cxn ang="0">
                <a:pos x="87" y="0"/>
              </a:cxn>
              <a:cxn ang="0">
                <a:pos x="80" y="7"/>
              </a:cxn>
              <a:cxn ang="0">
                <a:pos x="3" y="94"/>
              </a:cxn>
              <a:cxn ang="0">
                <a:pos x="0" y="198"/>
              </a:cxn>
              <a:cxn ang="0">
                <a:pos x="27" y="216"/>
              </a:cxn>
              <a:cxn ang="0">
                <a:pos x="42" y="227"/>
              </a:cxn>
              <a:cxn ang="0">
                <a:pos x="6" y="269"/>
              </a:cxn>
              <a:cxn ang="0">
                <a:pos x="102" y="348"/>
              </a:cxn>
              <a:cxn ang="0">
                <a:pos x="171" y="239"/>
              </a:cxn>
              <a:cxn ang="0">
                <a:pos x="273" y="159"/>
              </a:cxn>
              <a:cxn ang="0">
                <a:pos x="284" y="128"/>
              </a:cxn>
              <a:cxn ang="0">
                <a:pos x="303" y="79"/>
              </a:cxn>
              <a:cxn ang="0">
                <a:pos x="280" y="58"/>
              </a:cxn>
            </a:cxnLst>
            <a:rect l="0" t="0" r="r" b="b"/>
            <a:pathLst>
              <a:path w="303" h="348">
                <a:moveTo>
                  <a:pt x="280" y="58"/>
                </a:moveTo>
                <a:lnTo>
                  <a:pt x="273" y="56"/>
                </a:lnTo>
                <a:lnTo>
                  <a:pt x="87" y="0"/>
                </a:lnTo>
                <a:lnTo>
                  <a:pt x="80" y="7"/>
                </a:lnTo>
                <a:lnTo>
                  <a:pt x="3" y="94"/>
                </a:lnTo>
                <a:lnTo>
                  <a:pt x="0" y="198"/>
                </a:lnTo>
                <a:lnTo>
                  <a:pt x="27" y="216"/>
                </a:lnTo>
                <a:lnTo>
                  <a:pt x="42" y="227"/>
                </a:lnTo>
                <a:lnTo>
                  <a:pt x="6" y="269"/>
                </a:lnTo>
                <a:lnTo>
                  <a:pt x="102" y="348"/>
                </a:lnTo>
                <a:lnTo>
                  <a:pt x="171" y="239"/>
                </a:lnTo>
                <a:lnTo>
                  <a:pt x="273" y="159"/>
                </a:lnTo>
                <a:lnTo>
                  <a:pt x="284" y="128"/>
                </a:lnTo>
                <a:lnTo>
                  <a:pt x="303" y="79"/>
                </a:lnTo>
                <a:lnTo>
                  <a:pt x="280" y="58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5" name="Freeform 161">
            <a:extLst>
              <a:ext uri="{FF2B5EF4-FFF2-40B4-BE49-F238E27FC236}">
                <a16:creationId xmlns:a16="http://schemas.microsoft.com/office/drawing/2014/main" id="{3383A211-9E8A-8FB9-D4AC-083D23F10DF5}"/>
              </a:ext>
            </a:extLst>
          </p:cNvPr>
          <p:cNvSpPr>
            <a:spLocks/>
          </p:cNvSpPr>
          <p:nvPr/>
        </p:nvSpPr>
        <p:spPr bwMode="auto">
          <a:xfrm>
            <a:off x="2249810" y="3343784"/>
            <a:ext cx="74911" cy="69805"/>
          </a:xfrm>
          <a:custGeom>
            <a:avLst/>
            <a:gdLst/>
            <a:ahLst/>
            <a:cxnLst>
              <a:cxn ang="0">
                <a:pos x="136" y="33"/>
              </a:cxn>
              <a:cxn ang="0">
                <a:pos x="4" y="0"/>
              </a:cxn>
              <a:cxn ang="0">
                <a:pos x="8" y="5"/>
              </a:cxn>
              <a:cxn ang="0">
                <a:pos x="0" y="71"/>
              </a:cxn>
              <a:cxn ang="0">
                <a:pos x="62" y="91"/>
              </a:cxn>
              <a:cxn ang="0">
                <a:pos x="145" y="181"/>
              </a:cxn>
              <a:cxn ang="0">
                <a:pos x="146" y="182"/>
              </a:cxn>
              <a:cxn ang="0">
                <a:pos x="167" y="109"/>
              </a:cxn>
              <a:cxn ang="0">
                <a:pos x="180" y="103"/>
              </a:cxn>
              <a:cxn ang="0">
                <a:pos x="136" y="33"/>
              </a:cxn>
            </a:cxnLst>
            <a:rect l="0" t="0" r="r" b="b"/>
            <a:pathLst>
              <a:path w="180" h="182">
                <a:moveTo>
                  <a:pt x="136" y="33"/>
                </a:moveTo>
                <a:lnTo>
                  <a:pt x="4" y="0"/>
                </a:lnTo>
                <a:lnTo>
                  <a:pt x="8" y="5"/>
                </a:lnTo>
                <a:lnTo>
                  <a:pt x="0" y="71"/>
                </a:lnTo>
                <a:lnTo>
                  <a:pt x="62" y="91"/>
                </a:lnTo>
                <a:lnTo>
                  <a:pt x="145" y="181"/>
                </a:lnTo>
                <a:lnTo>
                  <a:pt x="146" y="182"/>
                </a:lnTo>
                <a:lnTo>
                  <a:pt x="167" y="109"/>
                </a:lnTo>
                <a:lnTo>
                  <a:pt x="180" y="103"/>
                </a:lnTo>
                <a:lnTo>
                  <a:pt x="136" y="33"/>
                </a:lnTo>
                <a:close/>
              </a:path>
            </a:pathLst>
          </a:custGeom>
          <a:solidFill>
            <a:schemeClr val="accent6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6" name="Freeform 162">
            <a:extLst>
              <a:ext uri="{FF2B5EF4-FFF2-40B4-BE49-F238E27FC236}">
                <a16:creationId xmlns:a16="http://schemas.microsoft.com/office/drawing/2014/main" id="{B2F3B9BF-EC0E-33D7-7982-A6D1CCAF5E67}"/>
              </a:ext>
            </a:extLst>
          </p:cNvPr>
          <p:cNvSpPr>
            <a:spLocks/>
          </p:cNvSpPr>
          <p:nvPr/>
        </p:nvSpPr>
        <p:spPr bwMode="auto">
          <a:xfrm>
            <a:off x="2621035" y="4009256"/>
            <a:ext cx="304640" cy="983472"/>
          </a:xfrm>
          <a:custGeom>
            <a:avLst/>
            <a:gdLst/>
            <a:ahLst/>
            <a:cxnLst>
              <a:cxn ang="0">
                <a:pos x="634" y="2476"/>
              </a:cxn>
              <a:cxn ang="0">
                <a:pos x="572" y="2280"/>
              </a:cxn>
              <a:cxn ang="0">
                <a:pos x="424" y="2282"/>
              </a:cxn>
              <a:cxn ang="0">
                <a:pos x="354" y="2178"/>
              </a:cxn>
              <a:cxn ang="0">
                <a:pos x="302" y="2114"/>
              </a:cxn>
              <a:cxn ang="0">
                <a:pos x="328" y="2028"/>
              </a:cxn>
              <a:cxn ang="0">
                <a:pos x="302" y="1741"/>
              </a:cxn>
              <a:cxn ang="0">
                <a:pos x="201" y="1443"/>
              </a:cxn>
              <a:cxn ang="0">
                <a:pos x="219" y="1316"/>
              </a:cxn>
              <a:cxn ang="0">
                <a:pos x="183" y="1270"/>
              </a:cxn>
              <a:cxn ang="0">
                <a:pos x="214" y="1034"/>
              </a:cxn>
              <a:cxn ang="0">
                <a:pos x="133" y="865"/>
              </a:cxn>
              <a:cxn ang="0">
                <a:pos x="185" y="579"/>
              </a:cxn>
              <a:cxn ang="0">
                <a:pos x="152" y="434"/>
              </a:cxn>
              <a:cxn ang="0">
                <a:pos x="160" y="420"/>
              </a:cxn>
              <a:cxn ang="0">
                <a:pos x="214" y="325"/>
              </a:cxn>
              <a:cxn ang="0">
                <a:pos x="208" y="314"/>
              </a:cxn>
              <a:cxn ang="0">
                <a:pos x="203" y="305"/>
              </a:cxn>
              <a:cxn ang="0">
                <a:pos x="35" y="0"/>
              </a:cxn>
              <a:cxn ang="0">
                <a:pos x="27" y="8"/>
              </a:cxn>
              <a:cxn ang="0">
                <a:pos x="0" y="39"/>
              </a:cxn>
              <a:cxn ang="0">
                <a:pos x="12" y="45"/>
              </a:cxn>
              <a:cxn ang="0">
                <a:pos x="48" y="333"/>
              </a:cxn>
              <a:cxn ang="0">
                <a:pos x="54" y="796"/>
              </a:cxn>
              <a:cxn ang="0">
                <a:pos x="116" y="962"/>
              </a:cxn>
              <a:cxn ang="0">
                <a:pos x="56" y="1231"/>
              </a:cxn>
              <a:cxn ang="0">
                <a:pos x="116" y="1389"/>
              </a:cxn>
              <a:cxn ang="0">
                <a:pos x="105" y="1441"/>
              </a:cxn>
              <a:cxn ang="0">
                <a:pos x="149" y="1554"/>
              </a:cxn>
              <a:cxn ang="0">
                <a:pos x="199" y="1583"/>
              </a:cxn>
              <a:cxn ang="0">
                <a:pos x="196" y="1699"/>
              </a:cxn>
              <a:cxn ang="0">
                <a:pos x="131" y="1894"/>
              </a:cxn>
              <a:cxn ang="0">
                <a:pos x="201" y="1930"/>
              </a:cxn>
              <a:cxn ang="0">
                <a:pos x="206" y="1979"/>
              </a:cxn>
              <a:cxn ang="0">
                <a:pos x="157" y="2010"/>
              </a:cxn>
              <a:cxn ang="0">
                <a:pos x="216" y="2163"/>
              </a:cxn>
              <a:cxn ang="0">
                <a:pos x="442" y="2466"/>
              </a:cxn>
              <a:cxn ang="0">
                <a:pos x="669" y="2535"/>
              </a:cxn>
              <a:cxn ang="0">
                <a:pos x="732" y="2491"/>
              </a:cxn>
              <a:cxn ang="0">
                <a:pos x="634" y="2476"/>
              </a:cxn>
            </a:cxnLst>
            <a:rect l="0" t="0" r="r" b="b"/>
            <a:pathLst>
              <a:path w="732" h="2535">
                <a:moveTo>
                  <a:pt x="634" y="2476"/>
                </a:moveTo>
                <a:lnTo>
                  <a:pt x="572" y="2280"/>
                </a:lnTo>
                <a:lnTo>
                  <a:pt x="424" y="2282"/>
                </a:lnTo>
                <a:lnTo>
                  <a:pt x="354" y="2178"/>
                </a:lnTo>
                <a:lnTo>
                  <a:pt x="302" y="2114"/>
                </a:lnTo>
                <a:lnTo>
                  <a:pt x="328" y="2028"/>
                </a:lnTo>
                <a:lnTo>
                  <a:pt x="302" y="1741"/>
                </a:lnTo>
                <a:lnTo>
                  <a:pt x="201" y="1443"/>
                </a:lnTo>
                <a:lnTo>
                  <a:pt x="219" y="1316"/>
                </a:lnTo>
                <a:lnTo>
                  <a:pt x="183" y="1270"/>
                </a:lnTo>
                <a:lnTo>
                  <a:pt x="214" y="1034"/>
                </a:lnTo>
                <a:lnTo>
                  <a:pt x="133" y="865"/>
                </a:lnTo>
                <a:lnTo>
                  <a:pt x="185" y="579"/>
                </a:lnTo>
                <a:lnTo>
                  <a:pt x="152" y="434"/>
                </a:lnTo>
                <a:lnTo>
                  <a:pt x="160" y="420"/>
                </a:lnTo>
                <a:lnTo>
                  <a:pt x="214" y="325"/>
                </a:lnTo>
                <a:lnTo>
                  <a:pt x="208" y="314"/>
                </a:lnTo>
                <a:lnTo>
                  <a:pt x="203" y="305"/>
                </a:lnTo>
                <a:lnTo>
                  <a:pt x="35" y="0"/>
                </a:lnTo>
                <a:lnTo>
                  <a:pt x="27" y="8"/>
                </a:lnTo>
                <a:lnTo>
                  <a:pt x="0" y="39"/>
                </a:lnTo>
                <a:lnTo>
                  <a:pt x="12" y="45"/>
                </a:lnTo>
                <a:lnTo>
                  <a:pt x="48" y="333"/>
                </a:lnTo>
                <a:lnTo>
                  <a:pt x="54" y="796"/>
                </a:lnTo>
                <a:lnTo>
                  <a:pt x="116" y="962"/>
                </a:lnTo>
                <a:lnTo>
                  <a:pt x="56" y="1231"/>
                </a:lnTo>
                <a:lnTo>
                  <a:pt x="116" y="1389"/>
                </a:lnTo>
                <a:lnTo>
                  <a:pt x="105" y="1441"/>
                </a:lnTo>
                <a:lnTo>
                  <a:pt x="149" y="1554"/>
                </a:lnTo>
                <a:lnTo>
                  <a:pt x="199" y="1583"/>
                </a:lnTo>
                <a:lnTo>
                  <a:pt x="196" y="1699"/>
                </a:lnTo>
                <a:lnTo>
                  <a:pt x="131" y="1894"/>
                </a:lnTo>
                <a:lnTo>
                  <a:pt x="201" y="1930"/>
                </a:lnTo>
                <a:lnTo>
                  <a:pt x="206" y="1979"/>
                </a:lnTo>
                <a:lnTo>
                  <a:pt x="157" y="2010"/>
                </a:lnTo>
                <a:lnTo>
                  <a:pt x="216" y="2163"/>
                </a:lnTo>
                <a:lnTo>
                  <a:pt x="442" y="2466"/>
                </a:lnTo>
                <a:lnTo>
                  <a:pt x="669" y="2535"/>
                </a:lnTo>
                <a:lnTo>
                  <a:pt x="732" y="2491"/>
                </a:lnTo>
                <a:lnTo>
                  <a:pt x="634" y="2476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7" name="Freeform 180">
            <a:extLst>
              <a:ext uri="{FF2B5EF4-FFF2-40B4-BE49-F238E27FC236}">
                <a16:creationId xmlns:a16="http://schemas.microsoft.com/office/drawing/2014/main" id="{DCCA0CF6-207D-39A3-6959-9968F9195BC5}"/>
              </a:ext>
            </a:extLst>
          </p:cNvPr>
          <p:cNvSpPr>
            <a:spLocks/>
          </p:cNvSpPr>
          <p:nvPr/>
        </p:nvSpPr>
        <p:spPr bwMode="auto">
          <a:xfrm>
            <a:off x="2524484" y="3483395"/>
            <a:ext cx="888946" cy="867129"/>
          </a:xfrm>
          <a:custGeom>
            <a:avLst/>
            <a:gdLst/>
            <a:ahLst/>
            <a:cxnLst>
              <a:cxn ang="0">
                <a:pos x="2076" y="592"/>
              </a:cxn>
              <a:cxn ang="0">
                <a:pos x="1828" y="473"/>
              </a:cxn>
              <a:cxn ang="0">
                <a:pos x="1601" y="455"/>
              </a:cxn>
              <a:cxn ang="0">
                <a:pos x="1309" y="328"/>
              </a:cxn>
              <a:cxn ang="0">
                <a:pos x="1292" y="253"/>
              </a:cxn>
              <a:cxn ang="0">
                <a:pos x="1223" y="87"/>
              </a:cxn>
              <a:cxn ang="0">
                <a:pos x="1060" y="185"/>
              </a:cxn>
              <a:cxn ang="0">
                <a:pos x="1033" y="183"/>
              </a:cxn>
              <a:cxn ang="0">
                <a:pos x="924" y="182"/>
              </a:cxn>
              <a:cxn ang="0">
                <a:pos x="815" y="242"/>
              </a:cxn>
              <a:cxn ang="0">
                <a:pos x="732" y="95"/>
              </a:cxn>
              <a:cxn ang="0">
                <a:pos x="689" y="0"/>
              </a:cxn>
              <a:cxn ang="0">
                <a:pos x="605" y="70"/>
              </a:cxn>
              <a:cxn ang="0">
                <a:pos x="506" y="160"/>
              </a:cxn>
              <a:cxn ang="0">
                <a:pos x="421" y="268"/>
              </a:cxn>
              <a:cxn ang="0">
                <a:pos x="346" y="245"/>
              </a:cxn>
              <a:cxn ang="0">
                <a:pos x="209" y="211"/>
              </a:cxn>
              <a:cxn ang="0">
                <a:pos x="204" y="568"/>
              </a:cxn>
              <a:cxn ang="0">
                <a:pos x="194" y="575"/>
              </a:cxn>
              <a:cxn ang="0">
                <a:pos x="24" y="668"/>
              </a:cxn>
              <a:cxn ang="0">
                <a:pos x="45" y="874"/>
              </a:cxn>
              <a:cxn ang="0">
                <a:pos x="178" y="877"/>
              </a:cxn>
              <a:cxn ang="0">
                <a:pos x="188" y="954"/>
              </a:cxn>
              <a:cxn ang="0">
                <a:pos x="254" y="960"/>
              </a:cxn>
              <a:cxn ang="0">
                <a:pos x="452" y="887"/>
              </a:cxn>
              <a:cxn ang="0">
                <a:pos x="764" y="1126"/>
              </a:cxn>
              <a:cxn ang="0">
                <a:pos x="872" y="1242"/>
              </a:cxn>
              <a:cxn ang="0">
                <a:pos x="917" y="1477"/>
              </a:cxn>
              <a:cxn ang="0">
                <a:pos x="923" y="1523"/>
              </a:cxn>
              <a:cxn ang="0">
                <a:pos x="1005" y="1619"/>
              </a:cxn>
              <a:cxn ang="0">
                <a:pos x="1093" y="1705"/>
              </a:cxn>
              <a:cxn ang="0">
                <a:pos x="1155" y="1710"/>
              </a:cxn>
              <a:cxn ang="0">
                <a:pos x="1137" y="1788"/>
              </a:cxn>
              <a:cxn ang="0">
                <a:pos x="1204" y="1840"/>
              </a:cxn>
              <a:cxn ang="0">
                <a:pos x="1030" y="2099"/>
              </a:cxn>
              <a:cxn ang="0">
                <a:pos x="1324" y="2237"/>
              </a:cxn>
              <a:cxn ang="0">
                <a:pos x="1379" y="2139"/>
              </a:cxn>
              <a:cxn ang="0">
                <a:pos x="1456" y="1803"/>
              </a:cxn>
              <a:cxn ang="0">
                <a:pos x="1783" y="1628"/>
              </a:cxn>
              <a:cxn ang="0">
                <a:pos x="1918" y="1302"/>
              </a:cxn>
              <a:cxn ang="0">
                <a:pos x="2038" y="911"/>
              </a:cxn>
            </a:cxnLst>
            <a:rect l="0" t="0" r="r" b="b"/>
            <a:pathLst>
              <a:path w="2137" h="2237">
                <a:moveTo>
                  <a:pt x="2137" y="745"/>
                </a:moveTo>
                <a:lnTo>
                  <a:pt x="2076" y="592"/>
                </a:lnTo>
                <a:lnTo>
                  <a:pt x="2014" y="585"/>
                </a:lnTo>
                <a:lnTo>
                  <a:pt x="1828" y="473"/>
                </a:lnTo>
                <a:lnTo>
                  <a:pt x="1765" y="483"/>
                </a:lnTo>
                <a:lnTo>
                  <a:pt x="1601" y="455"/>
                </a:lnTo>
                <a:lnTo>
                  <a:pt x="1550" y="406"/>
                </a:lnTo>
                <a:lnTo>
                  <a:pt x="1309" y="328"/>
                </a:lnTo>
                <a:lnTo>
                  <a:pt x="1270" y="284"/>
                </a:lnTo>
                <a:lnTo>
                  <a:pt x="1292" y="253"/>
                </a:lnTo>
                <a:lnTo>
                  <a:pt x="1233" y="95"/>
                </a:lnTo>
                <a:lnTo>
                  <a:pt x="1223" y="87"/>
                </a:lnTo>
                <a:lnTo>
                  <a:pt x="1127" y="191"/>
                </a:lnTo>
                <a:lnTo>
                  <a:pt x="1060" y="185"/>
                </a:lnTo>
                <a:lnTo>
                  <a:pt x="1058" y="185"/>
                </a:lnTo>
                <a:lnTo>
                  <a:pt x="1033" y="183"/>
                </a:lnTo>
                <a:lnTo>
                  <a:pt x="964" y="167"/>
                </a:lnTo>
                <a:lnTo>
                  <a:pt x="924" y="182"/>
                </a:lnTo>
                <a:lnTo>
                  <a:pt x="933" y="201"/>
                </a:lnTo>
                <a:lnTo>
                  <a:pt x="815" y="242"/>
                </a:lnTo>
                <a:lnTo>
                  <a:pt x="736" y="194"/>
                </a:lnTo>
                <a:lnTo>
                  <a:pt x="732" y="95"/>
                </a:lnTo>
                <a:lnTo>
                  <a:pt x="743" y="4"/>
                </a:lnTo>
                <a:lnTo>
                  <a:pt x="689" y="0"/>
                </a:lnTo>
                <a:lnTo>
                  <a:pt x="693" y="8"/>
                </a:lnTo>
                <a:lnTo>
                  <a:pt x="605" y="70"/>
                </a:lnTo>
                <a:lnTo>
                  <a:pt x="480" y="70"/>
                </a:lnTo>
                <a:lnTo>
                  <a:pt x="506" y="160"/>
                </a:lnTo>
                <a:lnTo>
                  <a:pt x="556" y="180"/>
                </a:lnTo>
                <a:lnTo>
                  <a:pt x="421" y="268"/>
                </a:lnTo>
                <a:lnTo>
                  <a:pt x="396" y="261"/>
                </a:lnTo>
                <a:lnTo>
                  <a:pt x="346" y="245"/>
                </a:lnTo>
                <a:lnTo>
                  <a:pt x="339" y="205"/>
                </a:lnTo>
                <a:lnTo>
                  <a:pt x="209" y="211"/>
                </a:lnTo>
                <a:lnTo>
                  <a:pt x="235" y="380"/>
                </a:lnTo>
                <a:lnTo>
                  <a:pt x="204" y="568"/>
                </a:lnTo>
                <a:lnTo>
                  <a:pt x="204" y="574"/>
                </a:lnTo>
                <a:lnTo>
                  <a:pt x="194" y="575"/>
                </a:lnTo>
                <a:lnTo>
                  <a:pt x="86" y="595"/>
                </a:lnTo>
                <a:lnTo>
                  <a:pt x="24" y="668"/>
                </a:lnTo>
                <a:lnTo>
                  <a:pt x="0" y="755"/>
                </a:lnTo>
                <a:lnTo>
                  <a:pt x="45" y="874"/>
                </a:lnTo>
                <a:lnTo>
                  <a:pt x="97" y="908"/>
                </a:lnTo>
                <a:lnTo>
                  <a:pt x="178" y="877"/>
                </a:lnTo>
                <a:lnTo>
                  <a:pt x="180" y="916"/>
                </a:lnTo>
                <a:lnTo>
                  <a:pt x="188" y="954"/>
                </a:lnTo>
                <a:lnTo>
                  <a:pt x="242" y="959"/>
                </a:lnTo>
                <a:lnTo>
                  <a:pt x="254" y="960"/>
                </a:lnTo>
                <a:lnTo>
                  <a:pt x="287" y="962"/>
                </a:lnTo>
                <a:lnTo>
                  <a:pt x="452" y="887"/>
                </a:lnTo>
                <a:lnTo>
                  <a:pt x="506" y="1030"/>
                </a:lnTo>
                <a:lnTo>
                  <a:pt x="764" y="1126"/>
                </a:lnTo>
                <a:lnTo>
                  <a:pt x="774" y="1247"/>
                </a:lnTo>
                <a:lnTo>
                  <a:pt x="872" y="1242"/>
                </a:lnTo>
                <a:lnTo>
                  <a:pt x="930" y="1355"/>
                </a:lnTo>
                <a:lnTo>
                  <a:pt x="917" y="1477"/>
                </a:lnTo>
                <a:lnTo>
                  <a:pt x="917" y="1480"/>
                </a:lnTo>
                <a:lnTo>
                  <a:pt x="923" y="1523"/>
                </a:lnTo>
                <a:lnTo>
                  <a:pt x="935" y="1599"/>
                </a:lnTo>
                <a:lnTo>
                  <a:pt x="1005" y="1619"/>
                </a:lnTo>
                <a:lnTo>
                  <a:pt x="1054" y="1609"/>
                </a:lnTo>
                <a:lnTo>
                  <a:pt x="1093" y="1705"/>
                </a:lnTo>
                <a:lnTo>
                  <a:pt x="1146" y="1695"/>
                </a:lnTo>
                <a:lnTo>
                  <a:pt x="1155" y="1710"/>
                </a:lnTo>
                <a:lnTo>
                  <a:pt x="1148" y="1738"/>
                </a:lnTo>
                <a:lnTo>
                  <a:pt x="1137" y="1788"/>
                </a:lnTo>
                <a:lnTo>
                  <a:pt x="1158" y="1803"/>
                </a:lnTo>
                <a:lnTo>
                  <a:pt x="1204" y="1840"/>
                </a:lnTo>
                <a:lnTo>
                  <a:pt x="1028" y="2098"/>
                </a:lnTo>
                <a:lnTo>
                  <a:pt x="1030" y="2099"/>
                </a:lnTo>
                <a:lnTo>
                  <a:pt x="1055" y="2112"/>
                </a:lnTo>
                <a:lnTo>
                  <a:pt x="1324" y="2237"/>
                </a:lnTo>
                <a:lnTo>
                  <a:pt x="1353" y="2189"/>
                </a:lnTo>
                <a:lnTo>
                  <a:pt x="1379" y="2139"/>
                </a:lnTo>
                <a:lnTo>
                  <a:pt x="1475" y="1951"/>
                </a:lnTo>
                <a:lnTo>
                  <a:pt x="1456" y="1803"/>
                </a:lnTo>
                <a:lnTo>
                  <a:pt x="1638" y="1651"/>
                </a:lnTo>
                <a:lnTo>
                  <a:pt x="1783" y="1628"/>
                </a:lnTo>
                <a:lnTo>
                  <a:pt x="1871" y="1467"/>
                </a:lnTo>
                <a:lnTo>
                  <a:pt x="1918" y="1302"/>
                </a:lnTo>
                <a:lnTo>
                  <a:pt x="1907" y="1061"/>
                </a:lnTo>
                <a:lnTo>
                  <a:pt x="2038" y="911"/>
                </a:lnTo>
                <a:lnTo>
                  <a:pt x="2137" y="745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8" name="Freeform 181">
            <a:extLst>
              <a:ext uri="{FF2B5EF4-FFF2-40B4-BE49-F238E27FC236}">
                <a16:creationId xmlns:a16="http://schemas.microsoft.com/office/drawing/2014/main" id="{0796B9AD-80C8-E318-167C-3DFF0260BEA1}"/>
              </a:ext>
            </a:extLst>
          </p:cNvPr>
          <p:cNvSpPr>
            <a:spLocks/>
          </p:cNvSpPr>
          <p:nvPr/>
        </p:nvSpPr>
        <p:spPr bwMode="auto">
          <a:xfrm>
            <a:off x="2188213" y="3163845"/>
            <a:ext cx="38288" cy="60497"/>
          </a:xfrm>
          <a:custGeom>
            <a:avLst/>
            <a:gdLst/>
            <a:ahLst/>
            <a:cxnLst>
              <a:cxn ang="0">
                <a:pos x="68" y="0"/>
              </a:cxn>
              <a:cxn ang="0">
                <a:pos x="4" y="46"/>
              </a:cxn>
              <a:cxn ang="0">
                <a:pos x="6" y="46"/>
              </a:cxn>
              <a:cxn ang="0">
                <a:pos x="6" y="48"/>
              </a:cxn>
              <a:cxn ang="0">
                <a:pos x="0" y="153"/>
              </a:cxn>
              <a:cxn ang="0">
                <a:pos x="32" y="145"/>
              </a:cxn>
              <a:cxn ang="0">
                <a:pos x="83" y="47"/>
              </a:cxn>
              <a:cxn ang="0">
                <a:pos x="93" y="29"/>
              </a:cxn>
              <a:cxn ang="0">
                <a:pos x="68" y="0"/>
              </a:cxn>
            </a:cxnLst>
            <a:rect l="0" t="0" r="r" b="b"/>
            <a:pathLst>
              <a:path w="93" h="153">
                <a:moveTo>
                  <a:pt x="68" y="0"/>
                </a:moveTo>
                <a:lnTo>
                  <a:pt x="4" y="46"/>
                </a:lnTo>
                <a:lnTo>
                  <a:pt x="6" y="46"/>
                </a:lnTo>
                <a:lnTo>
                  <a:pt x="6" y="48"/>
                </a:lnTo>
                <a:lnTo>
                  <a:pt x="0" y="153"/>
                </a:lnTo>
                <a:lnTo>
                  <a:pt x="32" y="145"/>
                </a:lnTo>
                <a:lnTo>
                  <a:pt x="83" y="47"/>
                </a:lnTo>
                <a:lnTo>
                  <a:pt x="93" y="29"/>
                </a:lnTo>
                <a:lnTo>
                  <a:pt x="68" y="0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79" name="Freeform 182">
            <a:extLst>
              <a:ext uri="{FF2B5EF4-FFF2-40B4-BE49-F238E27FC236}">
                <a16:creationId xmlns:a16="http://schemas.microsoft.com/office/drawing/2014/main" id="{2114F771-BF37-AD19-CDDC-3C3E92B5FE86}"/>
              </a:ext>
            </a:extLst>
          </p:cNvPr>
          <p:cNvSpPr>
            <a:spLocks/>
          </p:cNvSpPr>
          <p:nvPr/>
        </p:nvSpPr>
        <p:spPr bwMode="auto">
          <a:xfrm>
            <a:off x="2631023" y="3826212"/>
            <a:ext cx="281334" cy="300936"/>
          </a:xfrm>
          <a:custGeom>
            <a:avLst/>
            <a:gdLst/>
            <a:ahLst/>
            <a:cxnLst>
              <a:cxn ang="0">
                <a:pos x="618" y="355"/>
              </a:cxn>
              <a:cxn ang="0">
                <a:pos x="520" y="360"/>
              </a:cxn>
              <a:cxn ang="0">
                <a:pos x="510" y="239"/>
              </a:cxn>
              <a:cxn ang="0">
                <a:pos x="252" y="143"/>
              </a:cxn>
              <a:cxn ang="0">
                <a:pos x="198" y="0"/>
              </a:cxn>
              <a:cxn ang="0">
                <a:pos x="33" y="75"/>
              </a:cxn>
              <a:cxn ang="0">
                <a:pos x="0" y="73"/>
              </a:cxn>
              <a:cxn ang="0">
                <a:pos x="35" y="174"/>
              </a:cxn>
              <a:cxn ang="0">
                <a:pos x="55" y="422"/>
              </a:cxn>
              <a:cxn ang="0">
                <a:pos x="14" y="470"/>
              </a:cxn>
              <a:cxn ang="0">
                <a:pos x="182" y="775"/>
              </a:cxn>
              <a:cxn ang="0">
                <a:pos x="247" y="732"/>
              </a:cxn>
              <a:cxn ang="0">
                <a:pos x="288" y="753"/>
              </a:cxn>
              <a:cxn ang="0">
                <a:pos x="330" y="775"/>
              </a:cxn>
              <a:cxn ang="0">
                <a:pos x="407" y="717"/>
              </a:cxn>
              <a:cxn ang="0">
                <a:pos x="425" y="703"/>
              </a:cxn>
              <a:cxn ang="0">
                <a:pos x="427" y="701"/>
              </a:cxn>
              <a:cxn ang="0">
                <a:pos x="429" y="693"/>
              </a:cxn>
              <a:cxn ang="0">
                <a:pos x="453" y="577"/>
              </a:cxn>
              <a:cxn ang="0">
                <a:pos x="580" y="549"/>
              </a:cxn>
              <a:cxn ang="0">
                <a:pos x="663" y="590"/>
              </a:cxn>
              <a:cxn ang="0">
                <a:pos x="676" y="468"/>
              </a:cxn>
              <a:cxn ang="0">
                <a:pos x="618" y="355"/>
              </a:cxn>
            </a:cxnLst>
            <a:rect l="0" t="0" r="r" b="b"/>
            <a:pathLst>
              <a:path w="676" h="775">
                <a:moveTo>
                  <a:pt x="618" y="355"/>
                </a:moveTo>
                <a:lnTo>
                  <a:pt x="520" y="360"/>
                </a:lnTo>
                <a:lnTo>
                  <a:pt x="510" y="239"/>
                </a:lnTo>
                <a:lnTo>
                  <a:pt x="252" y="143"/>
                </a:lnTo>
                <a:lnTo>
                  <a:pt x="198" y="0"/>
                </a:lnTo>
                <a:lnTo>
                  <a:pt x="33" y="75"/>
                </a:lnTo>
                <a:lnTo>
                  <a:pt x="0" y="73"/>
                </a:lnTo>
                <a:lnTo>
                  <a:pt x="35" y="174"/>
                </a:lnTo>
                <a:lnTo>
                  <a:pt x="55" y="422"/>
                </a:lnTo>
                <a:lnTo>
                  <a:pt x="14" y="470"/>
                </a:lnTo>
                <a:lnTo>
                  <a:pt x="182" y="775"/>
                </a:lnTo>
                <a:lnTo>
                  <a:pt x="247" y="732"/>
                </a:lnTo>
                <a:lnTo>
                  <a:pt x="288" y="753"/>
                </a:lnTo>
                <a:lnTo>
                  <a:pt x="330" y="775"/>
                </a:lnTo>
                <a:lnTo>
                  <a:pt x="407" y="717"/>
                </a:lnTo>
                <a:lnTo>
                  <a:pt x="425" y="703"/>
                </a:lnTo>
                <a:lnTo>
                  <a:pt x="427" y="701"/>
                </a:lnTo>
                <a:lnTo>
                  <a:pt x="429" y="693"/>
                </a:lnTo>
                <a:lnTo>
                  <a:pt x="453" y="577"/>
                </a:lnTo>
                <a:lnTo>
                  <a:pt x="580" y="549"/>
                </a:lnTo>
                <a:lnTo>
                  <a:pt x="663" y="590"/>
                </a:lnTo>
                <a:lnTo>
                  <a:pt x="676" y="468"/>
                </a:lnTo>
                <a:lnTo>
                  <a:pt x="618" y="355"/>
                </a:lnTo>
                <a:close/>
              </a:path>
            </a:pathLst>
          </a:custGeom>
          <a:solidFill>
            <a:srgbClr val="D9D9D9">
              <a:alpha val="69804"/>
            </a:srgbClr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0" name="Freeform 183">
            <a:extLst>
              <a:ext uri="{FF2B5EF4-FFF2-40B4-BE49-F238E27FC236}">
                <a16:creationId xmlns:a16="http://schemas.microsoft.com/office/drawing/2014/main" id="{FCAA60E6-542D-8B15-994F-A25F899A3397}"/>
              </a:ext>
            </a:extLst>
          </p:cNvPr>
          <p:cNvSpPr>
            <a:spLocks/>
          </p:cNvSpPr>
          <p:nvPr/>
        </p:nvSpPr>
        <p:spPr bwMode="auto">
          <a:xfrm>
            <a:off x="2677636" y="4099229"/>
            <a:ext cx="347921" cy="876438"/>
          </a:xfrm>
          <a:custGeom>
            <a:avLst/>
            <a:gdLst/>
            <a:ahLst/>
            <a:cxnLst>
              <a:cxn ang="0">
                <a:pos x="662" y="773"/>
              </a:cxn>
              <a:cxn ang="0">
                <a:pos x="674" y="753"/>
              </a:cxn>
              <a:cxn ang="0">
                <a:pos x="644" y="599"/>
              </a:cxn>
              <a:cxn ang="0">
                <a:pos x="655" y="517"/>
              </a:cxn>
              <a:cxn ang="0">
                <a:pos x="664" y="509"/>
              </a:cxn>
              <a:cxn ang="0">
                <a:pos x="662" y="508"/>
              </a:cxn>
              <a:cxn ang="0">
                <a:pos x="838" y="250"/>
              </a:cxn>
              <a:cxn ang="0">
                <a:pos x="792" y="213"/>
              </a:cxn>
              <a:cxn ang="0">
                <a:pos x="753" y="315"/>
              </a:cxn>
              <a:cxn ang="0">
                <a:pos x="584" y="322"/>
              </a:cxn>
              <a:cxn ang="0">
                <a:pos x="613" y="201"/>
              </a:cxn>
              <a:cxn ang="0">
                <a:pos x="496" y="136"/>
              </a:cxn>
              <a:cxn ang="0">
                <a:pos x="442" y="144"/>
              </a:cxn>
              <a:cxn ang="0">
                <a:pos x="318" y="7"/>
              </a:cxn>
              <a:cxn ang="0">
                <a:pos x="313" y="0"/>
              </a:cxn>
              <a:cxn ang="0">
                <a:pos x="295" y="14"/>
              </a:cxn>
              <a:cxn ang="0">
                <a:pos x="218" y="72"/>
              </a:cxn>
              <a:cxn ang="0">
                <a:pos x="176" y="50"/>
              </a:cxn>
              <a:cxn ang="0">
                <a:pos x="135" y="29"/>
              </a:cxn>
              <a:cxn ang="0">
                <a:pos x="70" y="72"/>
              </a:cxn>
              <a:cxn ang="0">
                <a:pos x="75" y="81"/>
              </a:cxn>
              <a:cxn ang="0">
                <a:pos x="81" y="92"/>
              </a:cxn>
              <a:cxn ang="0">
                <a:pos x="27" y="187"/>
              </a:cxn>
              <a:cxn ang="0">
                <a:pos x="19" y="201"/>
              </a:cxn>
              <a:cxn ang="0">
                <a:pos x="52" y="346"/>
              </a:cxn>
              <a:cxn ang="0">
                <a:pos x="0" y="632"/>
              </a:cxn>
              <a:cxn ang="0">
                <a:pos x="81" y="801"/>
              </a:cxn>
              <a:cxn ang="0">
                <a:pos x="50" y="1037"/>
              </a:cxn>
              <a:cxn ang="0">
                <a:pos x="86" y="1083"/>
              </a:cxn>
              <a:cxn ang="0">
                <a:pos x="68" y="1210"/>
              </a:cxn>
              <a:cxn ang="0">
                <a:pos x="169" y="1508"/>
              </a:cxn>
              <a:cxn ang="0">
                <a:pos x="195" y="1795"/>
              </a:cxn>
              <a:cxn ang="0">
                <a:pos x="169" y="1881"/>
              </a:cxn>
              <a:cxn ang="0">
                <a:pos x="221" y="1945"/>
              </a:cxn>
              <a:cxn ang="0">
                <a:pos x="291" y="2049"/>
              </a:cxn>
              <a:cxn ang="0">
                <a:pos x="439" y="2047"/>
              </a:cxn>
              <a:cxn ang="0">
                <a:pos x="501" y="2243"/>
              </a:cxn>
              <a:cxn ang="0">
                <a:pos x="599" y="2258"/>
              </a:cxn>
              <a:cxn ang="0">
                <a:pos x="665" y="2212"/>
              </a:cxn>
              <a:cxn ang="0">
                <a:pos x="536" y="2160"/>
              </a:cxn>
              <a:cxn ang="0">
                <a:pos x="398" y="1935"/>
              </a:cxn>
              <a:cxn ang="0">
                <a:pos x="427" y="1828"/>
              </a:cxn>
              <a:cxn ang="0">
                <a:pos x="489" y="1683"/>
              </a:cxn>
              <a:cxn ang="0">
                <a:pos x="382" y="1604"/>
              </a:cxn>
              <a:cxn ang="0">
                <a:pos x="390" y="1542"/>
              </a:cxn>
              <a:cxn ang="0">
                <a:pos x="453" y="1504"/>
              </a:cxn>
              <a:cxn ang="0">
                <a:pos x="465" y="1497"/>
              </a:cxn>
              <a:cxn ang="0">
                <a:pos x="458" y="1361"/>
              </a:cxn>
              <a:cxn ang="0">
                <a:pos x="432" y="1311"/>
              </a:cxn>
              <a:cxn ang="0">
                <a:pos x="418" y="1213"/>
              </a:cxn>
              <a:cxn ang="0">
                <a:pos x="486" y="1239"/>
              </a:cxn>
              <a:cxn ang="0">
                <a:pos x="551" y="1199"/>
              </a:cxn>
              <a:cxn ang="0">
                <a:pos x="517" y="1080"/>
              </a:cxn>
              <a:cxn ang="0">
                <a:pos x="722" y="1044"/>
              </a:cxn>
              <a:cxn ang="0">
                <a:pos x="774" y="939"/>
              </a:cxn>
              <a:cxn ang="0">
                <a:pos x="745" y="866"/>
              </a:cxn>
              <a:cxn ang="0">
                <a:pos x="662" y="773"/>
              </a:cxn>
            </a:cxnLst>
            <a:rect l="0" t="0" r="r" b="b"/>
            <a:pathLst>
              <a:path w="838" h="2258">
                <a:moveTo>
                  <a:pt x="662" y="773"/>
                </a:moveTo>
                <a:lnTo>
                  <a:pt x="674" y="753"/>
                </a:lnTo>
                <a:lnTo>
                  <a:pt x="644" y="599"/>
                </a:lnTo>
                <a:lnTo>
                  <a:pt x="655" y="517"/>
                </a:lnTo>
                <a:lnTo>
                  <a:pt x="664" y="509"/>
                </a:lnTo>
                <a:lnTo>
                  <a:pt x="662" y="508"/>
                </a:lnTo>
                <a:lnTo>
                  <a:pt x="838" y="250"/>
                </a:lnTo>
                <a:lnTo>
                  <a:pt x="792" y="213"/>
                </a:lnTo>
                <a:lnTo>
                  <a:pt x="753" y="315"/>
                </a:lnTo>
                <a:lnTo>
                  <a:pt x="584" y="322"/>
                </a:lnTo>
                <a:lnTo>
                  <a:pt x="613" y="201"/>
                </a:lnTo>
                <a:lnTo>
                  <a:pt x="496" y="136"/>
                </a:lnTo>
                <a:lnTo>
                  <a:pt x="442" y="144"/>
                </a:lnTo>
                <a:lnTo>
                  <a:pt x="318" y="7"/>
                </a:lnTo>
                <a:lnTo>
                  <a:pt x="313" y="0"/>
                </a:lnTo>
                <a:lnTo>
                  <a:pt x="295" y="14"/>
                </a:lnTo>
                <a:lnTo>
                  <a:pt x="218" y="72"/>
                </a:lnTo>
                <a:lnTo>
                  <a:pt x="176" y="50"/>
                </a:lnTo>
                <a:lnTo>
                  <a:pt x="135" y="29"/>
                </a:lnTo>
                <a:lnTo>
                  <a:pt x="70" y="72"/>
                </a:lnTo>
                <a:lnTo>
                  <a:pt x="75" y="81"/>
                </a:lnTo>
                <a:lnTo>
                  <a:pt x="81" y="92"/>
                </a:lnTo>
                <a:lnTo>
                  <a:pt x="27" y="187"/>
                </a:lnTo>
                <a:lnTo>
                  <a:pt x="19" y="201"/>
                </a:lnTo>
                <a:lnTo>
                  <a:pt x="52" y="346"/>
                </a:lnTo>
                <a:lnTo>
                  <a:pt x="0" y="632"/>
                </a:lnTo>
                <a:lnTo>
                  <a:pt x="81" y="801"/>
                </a:lnTo>
                <a:lnTo>
                  <a:pt x="50" y="1037"/>
                </a:lnTo>
                <a:lnTo>
                  <a:pt x="86" y="1083"/>
                </a:lnTo>
                <a:lnTo>
                  <a:pt x="68" y="1210"/>
                </a:lnTo>
                <a:lnTo>
                  <a:pt x="169" y="1508"/>
                </a:lnTo>
                <a:lnTo>
                  <a:pt x="195" y="1795"/>
                </a:lnTo>
                <a:lnTo>
                  <a:pt x="169" y="1881"/>
                </a:lnTo>
                <a:lnTo>
                  <a:pt x="221" y="1945"/>
                </a:lnTo>
                <a:lnTo>
                  <a:pt x="291" y="2049"/>
                </a:lnTo>
                <a:lnTo>
                  <a:pt x="439" y="2047"/>
                </a:lnTo>
                <a:lnTo>
                  <a:pt x="501" y="2243"/>
                </a:lnTo>
                <a:lnTo>
                  <a:pt x="599" y="2258"/>
                </a:lnTo>
                <a:lnTo>
                  <a:pt x="665" y="2212"/>
                </a:lnTo>
                <a:lnTo>
                  <a:pt x="536" y="2160"/>
                </a:lnTo>
                <a:lnTo>
                  <a:pt x="398" y="1935"/>
                </a:lnTo>
                <a:lnTo>
                  <a:pt x="427" y="1828"/>
                </a:lnTo>
                <a:lnTo>
                  <a:pt x="489" y="1683"/>
                </a:lnTo>
                <a:lnTo>
                  <a:pt x="382" y="1604"/>
                </a:lnTo>
                <a:lnTo>
                  <a:pt x="390" y="1542"/>
                </a:lnTo>
                <a:lnTo>
                  <a:pt x="453" y="1504"/>
                </a:lnTo>
                <a:lnTo>
                  <a:pt x="465" y="1497"/>
                </a:lnTo>
                <a:lnTo>
                  <a:pt x="458" y="1361"/>
                </a:lnTo>
                <a:lnTo>
                  <a:pt x="432" y="1311"/>
                </a:lnTo>
                <a:lnTo>
                  <a:pt x="418" y="1213"/>
                </a:lnTo>
                <a:lnTo>
                  <a:pt x="486" y="1239"/>
                </a:lnTo>
                <a:lnTo>
                  <a:pt x="551" y="1199"/>
                </a:lnTo>
                <a:lnTo>
                  <a:pt x="517" y="1080"/>
                </a:lnTo>
                <a:lnTo>
                  <a:pt x="722" y="1044"/>
                </a:lnTo>
                <a:lnTo>
                  <a:pt x="774" y="939"/>
                </a:lnTo>
                <a:lnTo>
                  <a:pt x="745" y="866"/>
                </a:lnTo>
                <a:lnTo>
                  <a:pt x="662" y="773"/>
                </a:lnTo>
                <a:close/>
              </a:path>
            </a:pathLst>
          </a:custGeom>
          <a:solidFill>
            <a:schemeClr val="accent2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1" name="Freeform 219">
            <a:extLst>
              <a:ext uri="{FF2B5EF4-FFF2-40B4-BE49-F238E27FC236}">
                <a16:creationId xmlns:a16="http://schemas.microsoft.com/office/drawing/2014/main" id="{9A9A00A1-39CE-E8A7-50AF-F6ACF752EB1E}"/>
              </a:ext>
            </a:extLst>
          </p:cNvPr>
          <p:cNvSpPr>
            <a:spLocks/>
          </p:cNvSpPr>
          <p:nvPr/>
        </p:nvSpPr>
        <p:spPr bwMode="auto">
          <a:xfrm>
            <a:off x="3816284" y="3300351"/>
            <a:ext cx="66588" cy="20164"/>
          </a:xfrm>
          <a:custGeom>
            <a:avLst/>
            <a:gdLst/>
            <a:ahLst/>
            <a:cxnLst>
              <a:cxn ang="0">
                <a:pos x="155" y="0"/>
              </a:cxn>
              <a:cxn ang="0">
                <a:pos x="0" y="4"/>
              </a:cxn>
              <a:cxn ang="0">
                <a:pos x="11" y="52"/>
              </a:cxn>
              <a:cxn ang="0">
                <a:pos x="161" y="27"/>
              </a:cxn>
              <a:cxn ang="0">
                <a:pos x="155" y="0"/>
              </a:cxn>
            </a:cxnLst>
            <a:rect l="0" t="0" r="r" b="b"/>
            <a:pathLst>
              <a:path w="161" h="52">
                <a:moveTo>
                  <a:pt x="155" y="0"/>
                </a:moveTo>
                <a:lnTo>
                  <a:pt x="0" y="4"/>
                </a:lnTo>
                <a:lnTo>
                  <a:pt x="11" y="52"/>
                </a:lnTo>
                <a:lnTo>
                  <a:pt x="161" y="27"/>
                </a:lnTo>
                <a:lnTo>
                  <a:pt x="155" y="0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2" name="Freeform 58">
            <a:extLst>
              <a:ext uri="{FF2B5EF4-FFF2-40B4-BE49-F238E27FC236}">
                <a16:creationId xmlns:a16="http://schemas.microsoft.com/office/drawing/2014/main" id="{40499CC7-24D2-FFA6-B035-CAEC41F6A0EB}"/>
              </a:ext>
            </a:extLst>
          </p:cNvPr>
          <p:cNvSpPr>
            <a:spLocks/>
          </p:cNvSpPr>
          <p:nvPr/>
        </p:nvSpPr>
        <p:spPr bwMode="auto">
          <a:xfrm>
            <a:off x="5304521" y="3000966"/>
            <a:ext cx="108207" cy="76009"/>
          </a:xfrm>
          <a:custGeom>
            <a:avLst/>
            <a:gdLst/>
            <a:ahLst/>
            <a:cxnLst>
              <a:cxn ang="0">
                <a:pos x="231" y="0"/>
              </a:cxn>
              <a:cxn ang="0">
                <a:pos x="143" y="117"/>
              </a:cxn>
              <a:cxn ang="0">
                <a:pos x="23" y="100"/>
              </a:cxn>
              <a:cxn ang="0">
                <a:pos x="7" y="98"/>
              </a:cxn>
              <a:cxn ang="0">
                <a:pos x="7" y="97"/>
              </a:cxn>
              <a:cxn ang="0">
                <a:pos x="0" y="99"/>
              </a:cxn>
              <a:cxn ang="0">
                <a:pos x="3" y="122"/>
              </a:cxn>
              <a:cxn ang="0">
                <a:pos x="4" y="128"/>
              </a:cxn>
              <a:cxn ang="0">
                <a:pos x="55" y="173"/>
              </a:cxn>
              <a:cxn ang="0">
                <a:pos x="195" y="196"/>
              </a:cxn>
              <a:cxn ang="0">
                <a:pos x="214" y="189"/>
              </a:cxn>
              <a:cxn ang="0">
                <a:pos x="261" y="54"/>
              </a:cxn>
              <a:cxn ang="0">
                <a:pos x="231" y="0"/>
              </a:cxn>
            </a:cxnLst>
            <a:rect l="0" t="0" r="r" b="b"/>
            <a:pathLst>
              <a:path w="261" h="196">
                <a:moveTo>
                  <a:pt x="231" y="0"/>
                </a:moveTo>
                <a:lnTo>
                  <a:pt x="143" y="117"/>
                </a:lnTo>
                <a:lnTo>
                  <a:pt x="23" y="100"/>
                </a:lnTo>
                <a:lnTo>
                  <a:pt x="7" y="98"/>
                </a:lnTo>
                <a:lnTo>
                  <a:pt x="7" y="97"/>
                </a:lnTo>
                <a:lnTo>
                  <a:pt x="0" y="99"/>
                </a:lnTo>
                <a:lnTo>
                  <a:pt x="3" y="122"/>
                </a:lnTo>
                <a:lnTo>
                  <a:pt x="4" y="128"/>
                </a:lnTo>
                <a:lnTo>
                  <a:pt x="55" y="173"/>
                </a:lnTo>
                <a:lnTo>
                  <a:pt x="195" y="196"/>
                </a:lnTo>
                <a:lnTo>
                  <a:pt x="214" y="189"/>
                </a:lnTo>
                <a:lnTo>
                  <a:pt x="261" y="54"/>
                </a:lnTo>
                <a:lnTo>
                  <a:pt x="231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3" name="Freeform 103">
            <a:extLst>
              <a:ext uri="{FF2B5EF4-FFF2-40B4-BE49-F238E27FC236}">
                <a16:creationId xmlns:a16="http://schemas.microsoft.com/office/drawing/2014/main" id="{99B5F84F-E009-6D0D-7A25-256892DB52DE}"/>
              </a:ext>
            </a:extLst>
          </p:cNvPr>
          <p:cNvSpPr>
            <a:spLocks/>
          </p:cNvSpPr>
          <p:nvPr/>
        </p:nvSpPr>
        <p:spPr bwMode="auto">
          <a:xfrm>
            <a:off x="5189656" y="2910994"/>
            <a:ext cx="34958" cy="32575"/>
          </a:xfrm>
          <a:custGeom>
            <a:avLst/>
            <a:gdLst/>
            <a:ahLst/>
            <a:cxnLst>
              <a:cxn ang="0">
                <a:pos x="79" y="48"/>
              </a:cxn>
              <a:cxn ang="0">
                <a:pos x="75" y="35"/>
              </a:cxn>
              <a:cxn ang="0">
                <a:pos x="85" y="22"/>
              </a:cxn>
              <a:cxn ang="0">
                <a:pos x="33" y="0"/>
              </a:cxn>
              <a:cxn ang="0">
                <a:pos x="0" y="66"/>
              </a:cxn>
              <a:cxn ang="0">
                <a:pos x="25" y="71"/>
              </a:cxn>
              <a:cxn ang="0">
                <a:pos x="87" y="83"/>
              </a:cxn>
              <a:cxn ang="0">
                <a:pos x="79" y="48"/>
              </a:cxn>
            </a:cxnLst>
            <a:rect l="0" t="0" r="r" b="b"/>
            <a:pathLst>
              <a:path w="87" h="83">
                <a:moveTo>
                  <a:pt x="79" y="48"/>
                </a:moveTo>
                <a:lnTo>
                  <a:pt x="75" y="35"/>
                </a:lnTo>
                <a:lnTo>
                  <a:pt x="85" y="22"/>
                </a:lnTo>
                <a:lnTo>
                  <a:pt x="33" y="0"/>
                </a:lnTo>
                <a:lnTo>
                  <a:pt x="0" y="66"/>
                </a:lnTo>
                <a:lnTo>
                  <a:pt x="25" y="71"/>
                </a:lnTo>
                <a:lnTo>
                  <a:pt x="87" y="83"/>
                </a:lnTo>
                <a:lnTo>
                  <a:pt x="79" y="4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4" name="Freeform 105">
            <a:extLst>
              <a:ext uri="{FF2B5EF4-FFF2-40B4-BE49-F238E27FC236}">
                <a16:creationId xmlns:a16="http://schemas.microsoft.com/office/drawing/2014/main" id="{D2EEF8A5-DBE5-3A4F-F06B-7A84788AF649}"/>
              </a:ext>
            </a:extLst>
          </p:cNvPr>
          <p:cNvSpPr>
            <a:spLocks/>
          </p:cNvSpPr>
          <p:nvPr/>
        </p:nvSpPr>
        <p:spPr bwMode="auto">
          <a:xfrm>
            <a:off x="5284544" y="3005618"/>
            <a:ext cx="23307" cy="27921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0" y="29"/>
              </a:cxn>
              <a:cxn ang="0">
                <a:pos x="3" y="45"/>
              </a:cxn>
              <a:cxn ang="0">
                <a:pos x="0" y="40"/>
              </a:cxn>
              <a:cxn ang="0">
                <a:pos x="0" y="56"/>
              </a:cxn>
              <a:cxn ang="0">
                <a:pos x="54" y="72"/>
              </a:cxn>
              <a:cxn ang="0">
                <a:pos x="54" y="65"/>
              </a:cxn>
              <a:cxn ang="0">
                <a:pos x="56" y="12"/>
              </a:cxn>
              <a:cxn ang="0">
                <a:pos x="23" y="0"/>
              </a:cxn>
            </a:cxnLst>
            <a:rect l="0" t="0" r="r" b="b"/>
            <a:pathLst>
              <a:path w="56" h="72">
                <a:moveTo>
                  <a:pt x="23" y="0"/>
                </a:moveTo>
                <a:lnTo>
                  <a:pt x="10" y="29"/>
                </a:lnTo>
                <a:lnTo>
                  <a:pt x="3" y="45"/>
                </a:lnTo>
                <a:lnTo>
                  <a:pt x="0" y="40"/>
                </a:lnTo>
                <a:lnTo>
                  <a:pt x="0" y="56"/>
                </a:lnTo>
                <a:lnTo>
                  <a:pt x="54" y="72"/>
                </a:lnTo>
                <a:lnTo>
                  <a:pt x="54" y="65"/>
                </a:lnTo>
                <a:lnTo>
                  <a:pt x="56" y="12"/>
                </a:lnTo>
                <a:lnTo>
                  <a:pt x="23" y="0"/>
                </a:lnTo>
                <a:close/>
              </a:path>
            </a:pathLst>
          </a:custGeom>
          <a:solidFill>
            <a:schemeClr val="tx1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5" name="Freeform 108">
            <a:extLst>
              <a:ext uri="{FF2B5EF4-FFF2-40B4-BE49-F238E27FC236}">
                <a16:creationId xmlns:a16="http://schemas.microsoft.com/office/drawing/2014/main" id="{80D57E80-6085-538B-0A7E-92DC11FF828D}"/>
              </a:ext>
            </a:extLst>
          </p:cNvPr>
          <p:cNvSpPr>
            <a:spLocks/>
          </p:cNvSpPr>
          <p:nvPr/>
        </p:nvSpPr>
        <p:spPr bwMode="auto">
          <a:xfrm>
            <a:off x="4936623" y="2844292"/>
            <a:ext cx="76576" cy="96175"/>
          </a:xfrm>
          <a:custGeom>
            <a:avLst/>
            <a:gdLst/>
            <a:ahLst/>
            <a:cxnLst>
              <a:cxn ang="0">
                <a:pos x="184" y="64"/>
              </a:cxn>
              <a:cxn ang="0">
                <a:pos x="162" y="0"/>
              </a:cxn>
              <a:cxn ang="0">
                <a:pos x="78" y="36"/>
              </a:cxn>
              <a:cxn ang="0">
                <a:pos x="25" y="32"/>
              </a:cxn>
              <a:cxn ang="0">
                <a:pos x="15" y="31"/>
              </a:cxn>
              <a:cxn ang="0">
                <a:pos x="0" y="246"/>
              </a:cxn>
              <a:cxn ang="0">
                <a:pos x="1" y="246"/>
              </a:cxn>
              <a:cxn ang="0">
                <a:pos x="47" y="251"/>
              </a:cxn>
              <a:cxn ang="0">
                <a:pos x="53" y="245"/>
              </a:cxn>
              <a:cxn ang="0">
                <a:pos x="106" y="205"/>
              </a:cxn>
              <a:cxn ang="0">
                <a:pos x="128" y="170"/>
              </a:cxn>
              <a:cxn ang="0">
                <a:pos x="92" y="108"/>
              </a:cxn>
              <a:cxn ang="0">
                <a:pos x="181" y="63"/>
              </a:cxn>
              <a:cxn ang="0">
                <a:pos x="184" y="64"/>
              </a:cxn>
            </a:cxnLst>
            <a:rect l="0" t="0" r="r" b="b"/>
            <a:pathLst>
              <a:path w="184" h="251">
                <a:moveTo>
                  <a:pt x="184" y="64"/>
                </a:moveTo>
                <a:lnTo>
                  <a:pt x="162" y="0"/>
                </a:lnTo>
                <a:lnTo>
                  <a:pt x="78" y="36"/>
                </a:lnTo>
                <a:lnTo>
                  <a:pt x="25" y="32"/>
                </a:lnTo>
                <a:lnTo>
                  <a:pt x="15" y="31"/>
                </a:lnTo>
                <a:lnTo>
                  <a:pt x="0" y="246"/>
                </a:lnTo>
                <a:lnTo>
                  <a:pt x="1" y="246"/>
                </a:lnTo>
                <a:lnTo>
                  <a:pt x="47" y="251"/>
                </a:lnTo>
                <a:lnTo>
                  <a:pt x="53" y="245"/>
                </a:lnTo>
                <a:lnTo>
                  <a:pt x="106" y="205"/>
                </a:lnTo>
                <a:lnTo>
                  <a:pt x="128" y="170"/>
                </a:lnTo>
                <a:lnTo>
                  <a:pt x="92" y="108"/>
                </a:lnTo>
                <a:lnTo>
                  <a:pt x="181" y="63"/>
                </a:lnTo>
                <a:lnTo>
                  <a:pt x="184" y="64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6" name="Freeform 114">
            <a:extLst>
              <a:ext uri="{FF2B5EF4-FFF2-40B4-BE49-F238E27FC236}">
                <a16:creationId xmlns:a16="http://schemas.microsoft.com/office/drawing/2014/main" id="{B55B1A32-C415-B119-2CDA-211759D8B42D}"/>
              </a:ext>
            </a:extLst>
          </p:cNvPr>
          <p:cNvSpPr>
            <a:spLocks/>
          </p:cNvSpPr>
          <p:nvPr/>
        </p:nvSpPr>
        <p:spPr bwMode="auto">
          <a:xfrm>
            <a:off x="4908324" y="2842740"/>
            <a:ext cx="34958" cy="96175"/>
          </a:xfrm>
          <a:custGeom>
            <a:avLst/>
            <a:gdLst/>
            <a:ahLst/>
            <a:cxnLst>
              <a:cxn ang="0">
                <a:pos x="59" y="31"/>
              </a:cxn>
              <a:cxn ang="0">
                <a:pos x="65" y="0"/>
              </a:cxn>
              <a:cxn ang="0">
                <a:pos x="37" y="7"/>
              </a:cxn>
              <a:cxn ang="0">
                <a:pos x="37" y="10"/>
              </a:cxn>
              <a:cxn ang="0">
                <a:pos x="0" y="117"/>
              </a:cxn>
              <a:cxn ang="0">
                <a:pos x="55" y="245"/>
              </a:cxn>
              <a:cxn ang="0">
                <a:pos x="55" y="245"/>
              </a:cxn>
              <a:cxn ang="0">
                <a:pos x="55" y="247"/>
              </a:cxn>
              <a:cxn ang="0">
                <a:pos x="67" y="248"/>
              </a:cxn>
              <a:cxn ang="0">
                <a:pos x="82" y="33"/>
              </a:cxn>
              <a:cxn ang="0">
                <a:pos x="59" y="31"/>
              </a:cxn>
            </a:cxnLst>
            <a:rect l="0" t="0" r="r" b="b"/>
            <a:pathLst>
              <a:path w="82" h="248">
                <a:moveTo>
                  <a:pt x="59" y="31"/>
                </a:moveTo>
                <a:lnTo>
                  <a:pt x="65" y="0"/>
                </a:lnTo>
                <a:lnTo>
                  <a:pt x="37" y="7"/>
                </a:lnTo>
                <a:lnTo>
                  <a:pt x="37" y="10"/>
                </a:lnTo>
                <a:lnTo>
                  <a:pt x="0" y="117"/>
                </a:lnTo>
                <a:lnTo>
                  <a:pt x="55" y="245"/>
                </a:lnTo>
                <a:lnTo>
                  <a:pt x="55" y="245"/>
                </a:lnTo>
                <a:lnTo>
                  <a:pt x="55" y="247"/>
                </a:lnTo>
                <a:lnTo>
                  <a:pt x="67" y="248"/>
                </a:lnTo>
                <a:lnTo>
                  <a:pt x="82" y="33"/>
                </a:lnTo>
                <a:lnTo>
                  <a:pt x="59" y="3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7" name="Freeform 231">
            <a:extLst>
              <a:ext uri="{FF2B5EF4-FFF2-40B4-BE49-F238E27FC236}">
                <a16:creationId xmlns:a16="http://schemas.microsoft.com/office/drawing/2014/main" id="{7BC6BCB0-A25E-4D94-7027-060077F60FE4}"/>
              </a:ext>
            </a:extLst>
          </p:cNvPr>
          <p:cNvSpPr>
            <a:spLocks/>
          </p:cNvSpPr>
          <p:nvPr/>
        </p:nvSpPr>
        <p:spPr bwMode="auto">
          <a:xfrm>
            <a:off x="4873364" y="2887730"/>
            <a:ext cx="58265" cy="88419"/>
          </a:xfrm>
          <a:custGeom>
            <a:avLst/>
            <a:gdLst/>
            <a:ahLst/>
            <a:cxnLst>
              <a:cxn ang="0">
                <a:pos x="87" y="0"/>
              </a:cxn>
              <a:cxn ang="0">
                <a:pos x="85" y="6"/>
              </a:cxn>
              <a:cxn ang="0">
                <a:pos x="77" y="26"/>
              </a:cxn>
              <a:cxn ang="0">
                <a:pos x="0" y="28"/>
              </a:cxn>
              <a:cxn ang="0">
                <a:pos x="18" y="116"/>
              </a:cxn>
              <a:cxn ang="0">
                <a:pos x="113" y="229"/>
              </a:cxn>
              <a:cxn ang="0">
                <a:pos x="125" y="212"/>
              </a:cxn>
              <a:cxn ang="0">
                <a:pos x="133" y="211"/>
              </a:cxn>
              <a:cxn ang="0">
                <a:pos x="140" y="211"/>
              </a:cxn>
              <a:cxn ang="0">
                <a:pos x="142" y="130"/>
              </a:cxn>
              <a:cxn ang="0">
                <a:pos x="142" y="128"/>
              </a:cxn>
              <a:cxn ang="0">
                <a:pos x="142" y="128"/>
              </a:cxn>
              <a:cxn ang="0">
                <a:pos x="87" y="0"/>
              </a:cxn>
            </a:cxnLst>
            <a:rect l="0" t="0" r="r" b="b"/>
            <a:pathLst>
              <a:path w="142" h="229">
                <a:moveTo>
                  <a:pt x="87" y="0"/>
                </a:moveTo>
                <a:lnTo>
                  <a:pt x="85" y="6"/>
                </a:lnTo>
                <a:lnTo>
                  <a:pt x="77" y="26"/>
                </a:lnTo>
                <a:lnTo>
                  <a:pt x="0" y="28"/>
                </a:lnTo>
                <a:lnTo>
                  <a:pt x="18" y="116"/>
                </a:lnTo>
                <a:lnTo>
                  <a:pt x="113" y="229"/>
                </a:lnTo>
                <a:lnTo>
                  <a:pt x="125" y="212"/>
                </a:lnTo>
                <a:lnTo>
                  <a:pt x="133" y="211"/>
                </a:lnTo>
                <a:lnTo>
                  <a:pt x="140" y="211"/>
                </a:lnTo>
                <a:lnTo>
                  <a:pt x="142" y="130"/>
                </a:lnTo>
                <a:lnTo>
                  <a:pt x="142" y="128"/>
                </a:lnTo>
                <a:lnTo>
                  <a:pt x="142" y="128"/>
                </a:lnTo>
                <a:lnTo>
                  <a:pt x="87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8" name="Freeform 67">
            <a:extLst>
              <a:ext uri="{FF2B5EF4-FFF2-40B4-BE49-F238E27FC236}">
                <a16:creationId xmlns:a16="http://schemas.microsoft.com/office/drawing/2014/main" id="{99C681D9-2F1A-D835-8D82-B0E607F5400D}"/>
              </a:ext>
            </a:extLst>
          </p:cNvPr>
          <p:cNvSpPr>
            <a:spLocks/>
          </p:cNvSpPr>
          <p:nvPr/>
        </p:nvSpPr>
        <p:spPr bwMode="auto">
          <a:xfrm>
            <a:off x="4931628" y="2867560"/>
            <a:ext cx="472774" cy="362984"/>
          </a:xfrm>
          <a:custGeom>
            <a:avLst/>
            <a:gdLst/>
            <a:ahLst/>
            <a:cxnLst>
              <a:cxn ang="0">
                <a:pos x="1116" y="531"/>
              </a:cxn>
              <a:cxn ang="0">
                <a:pos x="1091" y="540"/>
              </a:cxn>
              <a:cxn ang="0">
                <a:pos x="951" y="517"/>
              </a:cxn>
              <a:cxn ang="0">
                <a:pos x="900" y="472"/>
              </a:cxn>
              <a:cxn ang="0">
                <a:pos x="899" y="466"/>
              </a:cxn>
              <a:cxn ang="0">
                <a:pos x="896" y="443"/>
              </a:cxn>
              <a:cxn ang="0">
                <a:pos x="903" y="441"/>
              </a:cxn>
              <a:cxn ang="0">
                <a:pos x="904" y="428"/>
              </a:cxn>
              <a:cxn ang="0">
                <a:pos x="850" y="412"/>
              </a:cxn>
              <a:cxn ang="0">
                <a:pos x="850" y="396"/>
              </a:cxn>
              <a:cxn ang="0">
                <a:pos x="817" y="325"/>
              </a:cxn>
              <a:cxn ang="0">
                <a:pos x="709" y="201"/>
              </a:cxn>
              <a:cxn ang="0">
                <a:pos x="708" y="198"/>
              </a:cxn>
              <a:cxn ang="0">
                <a:pos x="707" y="194"/>
              </a:cxn>
              <a:cxn ang="0">
                <a:pos x="645" y="182"/>
              </a:cxn>
              <a:cxn ang="0">
                <a:pos x="620" y="177"/>
              </a:cxn>
              <a:cxn ang="0">
                <a:pos x="465" y="149"/>
              </a:cxn>
              <a:cxn ang="0">
                <a:pos x="412" y="81"/>
              </a:cxn>
              <a:cxn ang="0">
                <a:pos x="209" y="6"/>
              </a:cxn>
              <a:cxn ang="0">
                <a:pos x="198" y="1"/>
              </a:cxn>
              <a:cxn ang="0">
                <a:pos x="195" y="0"/>
              </a:cxn>
              <a:cxn ang="0">
                <a:pos x="106" y="45"/>
              </a:cxn>
              <a:cxn ang="0">
                <a:pos x="142" y="107"/>
              </a:cxn>
              <a:cxn ang="0">
                <a:pos x="120" y="142"/>
              </a:cxn>
              <a:cxn ang="0">
                <a:pos x="67" y="182"/>
              </a:cxn>
              <a:cxn ang="0">
                <a:pos x="61" y="188"/>
              </a:cxn>
              <a:cxn ang="0">
                <a:pos x="2" y="182"/>
              </a:cxn>
              <a:cxn ang="0">
                <a:pos x="0" y="263"/>
              </a:cxn>
              <a:cxn ang="0">
                <a:pos x="19" y="263"/>
              </a:cxn>
              <a:cxn ang="0">
                <a:pos x="299" y="691"/>
              </a:cxn>
              <a:cxn ang="0">
                <a:pos x="477" y="917"/>
              </a:cxn>
              <a:cxn ang="0">
                <a:pos x="510" y="861"/>
              </a:cxn>
              <a:cxn ang="0">
                <a:pos x="532" y="866"/>
              </a:cxn>
              <a:cxn ang="0">
                <a:pos x="660" y="901"/>
              </a:cxn>
              <a:cxn ang="0">
                <a:pos x="688" y="935"/>
              </a:cxn>
              <a:cxn ang="0">
                <a:pos x="802" y="808"/>
              </a:cxn>
              <a:cxn ang="0">
                <a:pos x="1111" y="704"/>
              </a:cxn>
              <a:cxn ang="0">
                <a:pos x="1138" y="579"/>
              </a:cxn>
              <a:cxn ang="0">
                <a:pos x="1116" y="531"/>
              </a:cxn>
            </a:cxnLst>
            <a:rect l="0" t="0" r="r" b="b"/>
            <a:pathLst>
              <a:path w="1138" h="935">
                <a:moveTo>
                  <a:pt x="1116" y="531"/>
                </a:moveTo>
                <a:lnTo>
                  <a:pt x="1091" y="540"/>
                </a:lnTo>
                <a:lnTo>
                  <a:pt x="951" y="517"/>
                </a:lnTo>
                <a:lnTo>
                  <a:pt x="900" y="472"/>
                </a:lnTo>
                <a:lnTo>
                  <a:pt x="899" y="466"/>
                </a:lnTo>
                <a:lnTo>
                  <a:pt x="896" y="443"/>
                </a:lnTo>
                <a:lnTo>
                  <a:pt x="903" y="441"/>
                </a:lnTo>
                <a:lnTo>
                  <a:pt x="904" y="428"/>
                </a:lnTo>
                <a:lnTo>
                  <a:pt x="850" y="412"/>
                </a:lnTo>
                <a:lnTo>
                  <a:pt x="850" y="396"/>
                </a:lnTo>
                <a:lnTo>
                  <a:pt x="817" y="325"/>
                </a:lnTo>
                <a:lnTo>
                  <a:pt x="709" y="201"/>
                </a:lnTo>
                <a:lnTo>
                  <a:pt x="708" y="198"/>
                </a:lnTo>
                <a:lnTo>
                  <a:pt x="707" y="194"/>
                </a:lnTo>
                <a:lnTo>
                  <a:pt x="645" y="182"/>
                </a:lnTo>
                <a:lnTo>
                  <a:pt x="620" y="177"/>
                </a:lnTo>
                <a:lnTo>
                  <a:pt x="465" y="149"/>
                </a:lnTo>
                <a:lnTo>
                  <a:pt x="412" y="81"/>
                </a:lnTo>
                <a:lnTo>
                  <a:pt x="209" y="6"/>
                </a:lnTo>
                <a:lnTo>
                  <a:pt x="198" y="1"/>
                </a:lnTo>
                <a:lnTo>
                  <a:pt x="195" y="0"/>
                </a:lnTo>
                <a:lnTo>
                  <a:pt x="106" y="45"/>
                </a:lnTo>
                <a:lnTo>
                  <a:pt x="142" y="107"/>
                </a:lnTo>
                <a:lnTo>
                  <a:pt x="120" y="142"/>
                </a:lnTo>
                <a:lnTo>
                  <a:pt x="67" y="182"/>
                </a:lnTo>
                <a:lnTo>
                  <a:pt x="61" y="188"/>
                </a:lnTo>
                <a:lnTo>
                  <a:pt x="2" y="182"/>
                </a:lnTo>
                <a:lnTo>
                  <a:pt x="0" y="263"/>
                </a:lnTo>
                <a:lnTo>
                  <a:pt x="19" y="263"/>
                </a:lnTo>
                <a:lnTo>
                  <a:pt x="299" y="691"/>
                </a:lnTo>
                <a:lnTo>
                  <a:pt x="477" y="917"/>
                </a:lnTo>
                <a:lnTo>
                  <a:pt x="510" y="861"/>
                </a:lnTo>
                <a:lnTo>
                  <a:pt x="532" y="866"/>
                </a:lnTo>
                <a:lnTo>
                  <a:pt x="660" y="901"/>
                </a:lnTo>
                <a:lnTo>
                  <a:pt x="688" y="935"/>
                </a:lnTo>
                <a:lnTo>
                  <a:pt x="802" y="808"/>
                </a:lnTo>
                <a:lnTo>
                  <a:pt x="1111" y="704"/>
                </a:lnTo>
                <a:lnTo>
                  <a:pt x="1138" y="579"/>
                </a:lnTo>
                <a:lnTo>
                  <a:pt x="1116" y="531"/>
                </a:lnTo>
                <a:close/>
              </a:path>
            </a:pathLst>
          </a:custGeom>
          <a:solidFill>
            <a:srgbClr val="996633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89" name="Freeform 94">
            <a:extLst>
              <a:ext uri="{FF2B5EF4-FFF2-40B4-BE49-F238E27FC236}">
                <a16:creationId xmlns:a16="http://schemas.microsoft.com/office/drawing/2014/main" id="{755C722F-25C6-2133-100C-4C76098299D2}"/>
              </a:ext>
            </a:extLst>
          </p:cNvPr>
          <p:cNvSpPr>
            <a:spLocks/>
          </p:cNvSpPr>
          <p:nvPr/>
        </p:nvSpPr>
        <p:spPr bwMode="auto">
          <a:xfrm>
            <a:off x="5332820" y="3022682"/>
            <a:ext cx="171465" cy="198555"/>
          </a:xfrm>
          <a:custGeom>
            <a:avLst/>
            <a:gdLst/>
            <a:ahLst/>
            <a:cxnLst>
              <a:cxn ang="0">
                <a:pos x="211" y="32"/>
              </a:cxn>
              <a:cxn ang="0">
                <a:pos x="199" y="11"/>
              </a:cxn>
              <a:cxn ang="0">
                <a:pos x="193" y="0"/>
              </a:cxn>
              <a:cxn ang="0">
                <a:pos x="146" y="135"/>
              </a:cxn>
              <a:cxn ang="0">
                <a:pos x="147" y="135"/>
              </a:cxn>
              <a:cxn ang="0">
                <a:pos x="152" y="133"/>
              </a:cxn>
              <a:cxn ang="0">
                <a:pos x="174" y="181"/>
              </a:cxn>
              <a:cxn ang="0">
                <a:pos x="147" y="306"/>
              </a:cxn>
              <a:cxn ang="0">
                <a:pos x="1" y="355"/>
              </a:cxn>
              <a:cxn ang="0">
                <a:pos x="0" y="357"/>
              </a:cxn>
              <a:cxn ang="0">
                <a:pos x="81" y="514"/>
              </a:cxn>
              <a:cxn ang="0">
                <a:pos x="92" y="510"/>
              </a:cxn>
              <a:cxn ang="0">
                <a:pos x="163" y="485"/>
              </a:cxn>
              <a:cxn ang="0">
                <a:pos x="300" y="366"/>
              </a:cxn>
              <a:cxn ang="0">
                <a:pos x="412" y="167"/>
              </a:cxn>
              <a:cxn ang="0">
                <a:pos x="211" y="32"/>
              </a:cxn>
            </a:cxnLst>
            <a:rect l="0" t="0" r="r" b="b"/>
            <a:pathLst>
              <a:path w="412" h="514">
                <a:moveTo>
                  <a:pt x="211" y="32"/>
                </a:moveTo>
                <a:lnTo>
                  <a:pt x="199" y="11"/>
                </a:lnTo>
                <a:lnTo>
                  <a:pt x="193" y="0"/>
                </a:lnTo>
                <a:lnTo>
                  <a:pt x="146" y="135"/>
                </a:lnTo>
                <a:lnTo>
                  <a:pt x="147" y="135"/>
                </a:lnTo>
                <a:lnTo>
                  <a:pt x="152" y="133"/>
                </a:lnTo>
                <a:lnTo>
                  <a:pt x="174" y="181"/>
                </a:lnTo>
                <a:lnTo>
                  <a:pt x="147" y="306"/>
                </a:lnTo>
                <a:lnTo>
                  <a:pt x="1" y="355"/>
                </a:lnTo>
                <a:lnTo>
                  <a:pt x="0" y="357"/>
                </a:lnTo>
                <a:lnTo>
                  <a:pt x="81" y="514"/>
                </a:lnTo>
                <a:lnTo>
                  <a:pt x="92" y="510"/>
                </a:lnTo>
                <a:lnTo>
                  <a:pt x="163" y="485"/>
                </a:lnTo>
                <a:lnTo>
                  <a:pt x="300" y="366"/>
                </a:lnTo>
                <a:lnTo>
                  <a:pt x="412" y="167"/>
                </a:lnTo>
                <a:lnTo>
                  <a:pt x="211" y="3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0" name="Freeform 185">
            <a:extLst>
              <a:ext uri="{FF2B5EF4-FFF2-40B4-BE49-F238E27FC236}">
                <a16:creationId xmlns:a16="http://schemas.microsoft.com/office/drawing/2014/main" id="{5D8D32A9-EE62-E44B-00E5-E9A5441477C8}"/>
              </a:ext>
            </a:extLst>
          </p:cNvPr>
          <p:cNvSpPr>
            <a:spLocks/>
          </p:cNvSpPr>
          <p:nvPr/>
        </p:nvSpPr>
        <p:spPr bwMode="auto">
          <a:xfrm>
            <a:off x="3816283" y="2991660"/>
            <a:ext cx="189776" cy="138058"/>
          </a:xfrm>
          <a:custGeom>
            <a:avLst/>
            <a:gdLst/>
            <a:ahLst/>
            <a:cxnLst>
              <a:cxn ang="0">
                <a:pos x="212" y="3"/>
              </a:cxn>
              <a:cxn ang="0">
                <a:pos x="200" y="12"/>
              </a:cxn>
              <a:cxn ang="0">
                <a:pos x="32" y="299"/>
              </a:cxn>
              <a:cxn ang="0">
                <a:pos x="32" y="301"/>
              </a:cxn>
              <a:cxn ang="0">
                <a:pos x="0" y="356"/>
              </a:cxn>
              <a:cxn ang="0">
                <a:pos x="212" y="353"/>
              </a:cxn>
              <a:cxn ang="0">
                <a:pos x="212" y="282"/>
              </a:cxn>
              <a:cxn ang="0">
                <a:pos x="253" y="249"/>
              </a:cxn>
              <a:cxn ang="0">
                <a:pos x="258" y="148"/>
              </a:cxn>
              <a:cxn ang="0">
                <a:pos x="261" y="82"/>
              </a:cxn>
              <a:cxn ang="0">
                <a:pos x="353" y="84"/>
              </a:cxn>
              <a:cxn ang="0">
                <a:pos x="452" y="85"/>
              </a:cxn>
              <a:cxn ang="0">
                <a:pos x="454" y="16"/>
              </a:cxn>
              <a:cxn ang="0">
                <a:pos x="454" y="10"/>
              </a:cxn>
              <a:cxn ang="0">
                <a:pos x="454" y="0"/>
              </a:cxn>
              <a:cxn ang="0">
                <a:pos x="212" y="3"/>
              </a:cxn>
            </a:cxnLst>
            <a:rect l="0" t="0" r="r" b="b"/>
            <a:pathLst>
              <a:path w="454" h="356">
                <a:moveTo>
                  <a:pt x="212" y="3"/>
                </a:moveTo>
                <a:lnTo>
                  <a:pt x="200" y="12"/>
                </a:lnTo>
                <a:lnTo>
                  <a:pt x="32" y="299"/>
                </a:lnTo>
                <a:lnTo>
                  <a:pt x="32" y="301"/>
                </a:lnTo>
                <a:lnTo>
                  <a:pt x="0" y="356"/>
                </a:lnTo>
                <a:lnTo>
                  <a:pt x="212" y="353"/>
                </a:lnTo>
                <a:lnTo>
                  <a:pt x="212" y="282"/>
                </a:lnTo>
                <a:lnTo>
                  <a:pt x="253" y="249"/>
                </a:lnTo>
                <a:lnTo>
                  <a:pt x="258" y="148"/>
                </a:lnTo>
                <a:lnTo>
                  <a:pt x="261" y="82"/>
                </a:lnTo>
                <a:lnTo>
                  <a:pt x="353" y="84"/>
                </a:lnTo>
                <a:lnTo>
                  <a:pt x="452" y="85"/>
                </a:lnTo>
                <a:lnTo>
                  <a:pt x="454" y="16"/>
                </a:lnTo>
                <a:lnTo>
                  <a:pt x="454" y="10"/>
                </a:lnTo>
                <a:lnTo>
                  <a:pt x="454" y="0"/>
                </a:lnTo>
                <a:lnTo>
                  <a:pt x="212" y="3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1" name="Freeform 197">
            <a:extLst>
              <a:ext uri="{FF2B5EF4-FFF2-40B4-BE49-F238E27FC236}">
                <a16:creationId xmlns:a16="http://schemas.microsoft.com/office/drawing/2014/main" id="{B99D109F-E34A-4848-D9F4-C5575F3CE3D1}"/>
              </a:ext>
            </a:extLst>
          </p:cNvPr>
          <p:cNvSpPr>
            <a:spLocks/>
          </p:cNvSpPr>
          <p:nvPr/>
        </p:nvSpPr>
        <p:spPr bwMode="auto">
          <a:xfrm>
            <a:off x="3811289" y="3241405"/>
            <a:ext cx="116529" cy="93074"/>
          </a:xfrm>
          <a:custGeom>
            <a:avLst/>
            <a:gdLst/>
            <a:ahLst/>
            <a:cxnLst>
              <a:cxn ang="0">
                <a:pos x="251" y="162"/>
              </a:cxn>
              <a:cxn ang="0">
                <a:pos x="256" y="100"/>
              </a:cxn>
              <a:cxn ang="0">
                <a:pos x="257" y="93"/>
              </a:cxn>
              <a:cxn ang="0">
                <a:pos x="143" y="0"/>
              </a:cxn>
              <a:cxn ang="0">
                <a:pos x="31" y="23"/>
              </a:cxn>
              <a:cxn ang="0">
                <a:pos x="28" y="32"/>
              </a:cxn>
              <a:cxn ang="0">
                <a:pos x="0" y="111"/>
              </a:cxn>
              <a:cxn ang="0">
                <a:pos x="10" y="154"/>
              </a:cxn>
              <a:cxn ang="0">
                <a:pos x="165" y="150"/>
              </a:cxn>
              <a:cxn ang="0">
                <a:pos x="171" y="177"/>
              </a:cxn>
              <a:cxn ang="0">
                <a:pos x="21" y="202"/>
              </a:cxn>
              <a:cxn ang="0">
                <a:pos x="31" y="240"/>
              </a:cxn>
              <a:cxn ang="0">
                <a:pos x="90" y="215"/>
              </a:cxn>
              <a:cxn ang="0">
                <a:pos x="173" y="218"/>
              </a:cxn>
              <a:cxn ang="0">
                <a:pos x="181" y="218"/>
              </a:cxn>
              <a:cxn ang="0">
                <a:pos x="277" y="221"/>
              </a:cxn>
              <a:cxn ang="0">
                <a:pos x="251" y="162"/>
              </a:cxn>
            </a:cxnLst>
            <a:rect l="0" t="0" r="r" b="b"/>
            <a:pathLst>
              <a:path w="277" h="240">
                <a:moveTo>
                  <a:pt x="251" y="162"/>
                </a:moveTo>
                <a:lnTo>
                  <a:pt x="256" y="100"/>
                </a:lnTo>
                <a:lnTo>
                  <a:pt x="257" y="93"/>
                </a:lnTo>
                <a:lnTo>
                  <a:pt x="143" y="0"/>
                </a:lnTo>
                <a:lnTo>
                  <a:pt x="31" y="23"/>
                </a:lnTo>
                <a:lnTo>
                  <a:pt x="28" y="32"/>
                </a:lnTo>
                <a:lnTo>
                  <a:pt x="0" y="111"/>
                </a:lnTo>
                <a:lnTo>
                  <a:pt x="10" y="154"/>
                </a:lnTo>
                <a:lnTo>
                  <a:pt x="165" y="150"/>
                </a:lnTo>
                <a:lnTo>
                  <a:pt x="171" y="177"/>
                </a:lnTo>
                <a:lnTo>
                  <a:pt x="21" y="202"/>
                </a:lnTo>
                <a:lnTo>
                  <a:pt x="31" y="240"/>
                </a:lnTo>
                <a:lnTo>
                  <a:pt x="90" y="215"/>
                </a:lnTo>
                <a:lnTo>
                  <a:pt x="173" y="218"/>
                </a:lnTo>
                <a:lnTo>
                  <a:pt x="181" y="218"/>
                </a:lnTo>
                <a:lnTo>
                  <a:pt x="277" y="221"/>
                </a:lnTo>
                <a:lnTo>
                  <a:pt x="251" y="162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2" name="Freeform 208">
            <a:extLst>
              <a:ext uri="{FF2B5EF4-FFF2-40B4-BE49-F238E27FC236}">
                <a16:creationId xmlns:a16="http://schemas.microsoft.com/office/drawing/2014/main" id="{58498917-B745-AE9D-BA3E-74A9814575D5}"/>
              </a:ext>
            </a:extLst>
          </p:cNvPr>
          <p:cNvSpPr>
            <a:spLocks/>
          </p:cNvSpPr>
          <p:nvPr/>
        </p:nvSpPr>
        <p:spPr bwMode="auto">
          <a:xfrm>
            <a:off x="3916165" y="3050605"/>
            <a:ext cx="344592" cy="319550"/>
          </a:xfrm>
          <a:custGeom>
            <a:avLst/>
            <a:gdLst/>
            <a:ahLst/>
            <a:cxnLst>
              <a:cxn ang="0">
                <a:pos x="768" y="336"/>
              </a:cxn>
              <a:cxn ang="0">
                <a:pos x="659" y="223"/>
              </a:cxn>
              <a:cxn ang="0">
                <a:pos x="382" y="0"/>
              </a:cxn>
              <a:cxn ang="0">
                <a:pos x="299" y="3"/>
              </a:cxn>
              <a:cxn ang="0">
                <a:pos x="366" y="541"/>
              </a:cxn>
              <a:cxn ang="0">
                <a:pos x="9" y="544"/>
              </a:cxn>
              <a:cxn ang="0">
                <a:pos x="6" y="586"/>
              </a:cxn>
              <a:cxn ang="0">
                <a:pos x="5" y="593"/>
              </a:cxn>
              <a:cxn ang="0">
                <a:pos x="0" y="655"/>
              </a:cxn>
              <a:cxn ang="0">
                <a:pos x="26" y="714"/>
              </a:cxn>
              <a:cxn ang="0">
                <a:pos x="28" y="716"/>
              </a:cxn>
              <a:cxn ang="0">
                <a:pos x="42" y="750"/>
              </a:cxn>
              <a:cxn ang="0">
                <a:pos x="171" y="716"/>
              </a:cxn>
              <a:cxn ang="0">
                <a:pos x="213" y="822"/>
              </a:cxn>
              <a:cxn ang="0">
                <a:pos x="238" y="820"/>
              </a:cxn>
              <a:cxn ang="0">
                <a:pos x="240" y="820"/>
              </a:cxn>
              <a:cxn ang="0">
                <a:pos x="363" y="817"/>
              </a:cxn>
              <a:cxn ang="0">
                <a:pos x="370" y="817"/>
              </a:cxn>
              <a:cxn ang="0">
                <a:pos x="374" y="802"/>
              </a:cxn>
              <a:cxn ang="0">
                <a:pos x="390" y="728"/>
              </a:cxn>
              <a:cxn ang="0">
                <a:pos x="581" y="591"/>
              </a:cxn>
              <a:cxn ang="0">
                <a:pos x="603" y="575"/>
              </a:cxn>
              <a:cxn ang="0">
                <a:pos x="642" y="548"/>
              </a:cxn>
              <a:cxn ang="0">
                <a:pos x="768" y="540"/>
              </a:cxn>
              <a:cxn ang="0">
                <a:pos x="824" y="495"/>
              </a:cxn>
              <a:cxn ang="0">
                <a:pos x="826" y="326"/>
              </a:cxn>
              <a:cxn ang="0">
                <a:pos x="768" y="336"/>
              </a:cxn>
            </a:cxnLst>
            <a:rect l="0" t="0" r="r" b="b"/>
            <a:pathLst>
              <a:path w="826" h="822">
                <a:moveTo>
                  <a:pt x="768" y="336"/>
                </a:moveTo>
                <a:lnTo>
                  <a:pt x="659" y="223"/>
                </a:lnTo>
                <a:lnTo>
                  <a:pt x="382" y="0"/>
                </a:lnTo>
                <a:lnTo>
                  <a:pt x="299" y="3"/>
                </a:lnTo>
                <a:lnTo>
                  <a:pt x="366" y="541"/>
                </a:lnTo>
                <a:lnTo>
                  <a:pt x="9" y="544"/>
                </a:lnTo>
                <a:lnTo>
                  <a:pt x="6" y="586"/>
                </a:lnTo>
                <a:lnTo>
                  <a:pt x="5" y="593"/>
                </a:lnTo>
                <a:lnTo>
                  <a:pt x="0" y="655"/>
                </a:lnTo>
                <a:lnTo>
                  <a:pt x="26" y="714"/>
                </a:lnTo>
                <a:lnTo>
                  <a:pt x="28" y="716"/>
                </a:lnTo>
                <a:lnTo>
                  <a:pt x="42" y="750"/>
                </a:lnTo>
                <a:lnTo>
                  <a:pt x="171" y="716"/>
                </a:lnTo>
                <a:lnTo>
                  <a:pt x="213" y="822"/>
                </a:lnTo>
                <a:lnTo>
                  <a:pt x="238" y="820"/>
                </a:lnTo>
                <a:lnTo>
                  <a:pt x="240" y="820"/>
                </a:lnTo>
                <a:lnTo>
                  <a:pt x="363" y="817"/>
                </a:lnTo>
                <a:lnTo>
                  <a:pt x="370" y="817"/>
                </a:lnTo>
                <a:lnTo>
                  <a:pt x="374" y="802"/>
                </a:lnTo>
                <a:lnTo>
                  <a:pt x="390" y="728"/>
                </a:lnTo>
                <a:lnTo>
                  <a:pt x="581" y="591"/>
                </a:lnTo>
                <a:lnTo>
                  <a:pt x="603" y="575"/>
                </a:lnTo>
                <a:lnTo>
                  <a:pt x="642" y="548"/>
                </a:lnTo>
                <a:lnTo>
                  <a:pt x="768" y="540"/>
                </a:lnTo>
                <a:lnTo>
                  <a:pt x="824" y="495"/>
                </a:lnTo>
                <a:lnTo>
                  <a:pt x="826" y="326"/>
                </a:lnTo>
                <a:lnTo>
                  <a:pt x="768" y="336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3" name="Freeform 101">
            <a:extLst>
              <a:ext uri="{FF2B5EF4-FFF2-40B4-BE49-F238E27FC236}">
                <a16:creationId xmlns:a16="http://schemas.microsoft.com/office/drawing/2014/main" id="{4100A76C-906A-3256-972F-63E7F43ADADC}"/>
              </a:ext>
            </a:extLst>
          </p:cNvPr>
          <p:cNvSpPr>
            <a:spLocks/>
          </p:cNvSpPr>
          <p:nvPr/>
        </p:nvSpPr>
        <p:spPr bwMode="auto">
          <a:xfrm>
            <a:off x="4924970" y="2802408"/>
            <a:ext cx="29964" cy="43434"/>
          </a:xfrm>
          <a:custGeom>
            <a:avLst/>
            <a:gdLst/>
            <a:ahLst/>
            <a:cxnLst>
              <a:cxn ang="0">
                <a:pos x="58" y="0"/>
              </a:cxn>
              <a:cxn ang="0">
                <a:pos x="32" y="3"/>
              </a:cxn>
              <a:cxn ang="0">
                <a:pos x="33" y="9"/>
              </a:cxn>
              <a:cxn ang="0">
                <a:pos x="29" y="22"/>
              </a:cxn>
              <a:cxn ang="0">
                <a:pos x="3" y="103"/>
              </a:cxn>
              <a:cxn ang="0">
                <a:pos x="0" y="112"/>
              </a:cxn>
              <a:cxn ang="0">
                <a:pos x="28" y="105"/>
              </a:cxn>
              <a:cxn ang="0">
                <a:pos x="29" y="103"/>
              </a:cxn>
              <a:cxn ang="0">
                <a:pos x="29" y="99"/>
              </a:cxn>
              <a:cxn ang="0">
                <a:pos x="44" y="61"/>
              </a:cxn>
              <a:cxn ang="0">
                <a:pos x="64" y="37"/>
              </a:cxn>
              <a:cxn ang="0">
                <a:pos x="73" y="28"/>
              </a:cxn>
              <a:cxn ang="0">
                <a:pos x="58" y="0"/>
              </a:cxn>
            </a:cxnLst>
            <a:rect l="0" t="0" r="r" b="b"/>
            <a:pathLst>
              <a:path w="73" h="112">
                <a:moveTo>
                  <a:pt x="58" y="0"/>
                </a:moveTo>
                <a:lnTo>
                  <a:pt x="32" y="3"/>
                </a:lnTo>
                <a:lnTo>
                  <a:pt x="33" y="9"/>
                </a:lnTo>
                <a:lnTo>
                  <a:pt x="29" y="22"/>
                </a:lnTo>
                <a:lnTo>
                  <a:pt x="3" y="103"/>
                </a:lnTo>
                <a:lnTo>
                  <a:pt x="0" y="112"/>
                </a:lnTo>
                <a:lnTo>
                  <a:pt x="28" y="105"/>
                </a:lnTo>
                <a:lnTo>
                  <a:pt x="29" y="103"/>
                </a:lnTo>
                <a:lnTo>
                  <a:pt x="29" y="99"/>
                </a:lnTo>
                <a:lnTo>
                  <a:pt x="44" y="61"/>
                </a:lnTo>
                <a:lnTo>
                  <a:pt x="64" y="37"/>
                </a:lnTo>
                <a:lnTo>
                  <a:pt x="73" y="28"/>
                </a:lnTo>
                <a:lnTo>
                  <a:pt x="58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4" name="Freeform 9">
            <a:extLst>
              <a:ext uri="{FF2B5EF4-FFF2-40B4-BE49-F238E27FC236}">
                <a16:creationId xmlns:a16="http://schemas.microsoft.com/office/drawing/2014/main" id="{752D06D9-610A-80A7-0B03-1131398D14BE}"/>
              </a:ext>
            </a:extLst>
          </p:cNvPr>
          <p:cNvSpPr>
            <a:spLocks/>
          </p:cNvSpPr>
          <p:nvPr/>
        </p:nvSpPr>
        <p:spPr bwMode="auto">
          <a:xfrm>
            <a:off x="4856717" y="2788449"/>
            <a:ext cx="49941" cy="29473"/>
          </a:xfrm>
          <a:custGeom>
            <a:avLst/>
            <a:gdLst/>
            <a:ahLst/>
            <a:cxnLst>
              <a:cxn ang="0">
                <a:pos x="110" y="0"/>
              </a:cxn>
              <a:cxn ang="0">
                <a:pos x="42" y="27"/>
              </a:cxn>
              <a:cxn ang="0">
                <a:pos x="0" y="43"/>
              </a:cxn>
              <a:cxn ang="0">
                <a:pos x="14" y="75"/>
              </a:cxn>
              <a:cxn ang="0">
                <a:pos x="49" y="77"/>
              </a:cxn>
              <a:cxn ang="0">
                <a:pos x="77" y="56"/>
              </a:cxn>
              <a:cxn ang="0">
                <a:pos x="87" y="38"/>
              </a:cxn>
              <a:cxn ang="0">
                <a:pos x="117" y="5"/>
              </a:cxn>
              <a:cxn ang="0">
                <a:pos x="110" y="0"/>
              </a:cxn>
            </a:cxnLst>
            <a:rect l="0" t="0" r="r" b="b"/>
            <a:pathLst>
              <a:path w="117" h="77">
                <a:moveTo>
                  <a:pt x="110" y="0"/>
                </a:moveTo>
                <a:lnTo>
                  <a:pt x="42" y="27"/>
                </a:lnTo>
                <a:lnTo>
                  <a:pt x="0" y="43"/>
                </a:lnTo>
                <a:lnTo>
                  <a:pt x="14" y="75"/>
                </a:lnTo>
                <a:lnTo>
                  <a:pt x="49" y="77"/>
                </a:lnTo>
                <a:lnTo>
                  <a:pt x="77" y="56"/>
                </a:lnTo>
                <a:lnTo>
                  <a:pt x="87" y="38"/>
                </a:lnTo>
                <a:lnTo>
                  <a:pt x="117" y="5"/>
                </a:lnTo>
                <a:lnTo>
                  <a:pt x="11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5" name="Freeform 13">
            <a:extLst>
              <a:ext uri="{FF2B5EF4-FFF2-40B4-BE49-F238E27FC236}">
                <a16:creationId xmlns:a16="http://schemas.microsoft.com/office/drawing/2014/main" id="{C438CA39-89E4-F96F-4693-E13DB08A3A23}"/>
              </a:ext>
            </a:extLst>
          </p:cNvPr>
          <p:cNvSpPr>
            <a:spLocks/>
          </p:cNvSpPr>
          <p:nvPr/>
        </p:nvSpPr>
        <p:spPr bwMode="auto">
          <a:xfrm>
            <a:off x="4706896" y="2631775"/>
            <a:ext cx="407851" cy="147365"/>
          </a:xfrm>
          <a:custGeom>
            <a:avLst/>
            <a:gdLst/>
            <a:ahLst/>
            <a:cxnLst>
              <a:cxn ang="0">
                <a:pos x="934" y="155"/>
              </a:cxn>
              <a:cxn ang="0">
                <a:pos x="951" y="140"/>
              </a:cxn>
              <a:cxn ang="0">
                <a:pos x="961" y="131"/>
              </a:cxn>
              <a:cxn ang="0">
                <a:pos x="961" y="131"/>
              </a:cxn>
              <a:cxn ang="0">
                <a:pos x="875" y="44"/>
              </a:cxn>
              <a:cxn ang="0">
                <a:pos x="871" y="36"/>
              </a:cxn>
              <a:cxn ang="0">
                <a:pos x="865" y="26"/>
              </a:cxn>
              <a:cxn ang="0">
                <a:pos x="856" y="5"/>
              </a:cxn>
              <a:cxn ang="0">
                <a:pos x="784" y="4"/>
              </a:cxn>
              <a:cxn ang="0">
                <a:pos x="780" y="23"/>
              </a:cxn>
              <a:cxn ang="0">
                <a:pos x="755" y="34"/>
              </a:cxn>
              <a:cxn ang="0">
                <a:pos x="701" y="59"/>
              </a:cxn>
              <a:cxn ang="0">
                <a:pos x="647" y="49"/>
              </a:cxn>
              <a:cxn ang="0">
                <a:pos x="610" y="59"/>
              </a:cxn>
              <a:cxn ang="0">
                <a:pos x="528" y="42"/>
              </a:cxn>
              <a:cxn ang="0">
                <a:pos x="443" y="0"/>
              </a:cxn>
              <a:cxn ang="0">
                <a:pos x="372" y="6"/>
              </a:cxn>
              <a:cxn ang="0">
                <a:pos x="295" y="53"/>
              </a:cxn>
              <a:cxn ang="0">
                <a:pos x="225" y="74"/>
              </a:cxn>
              <a:cxn ang="0">
                <a:pos x="137" y="56"/>
              </a:cxn>
              <a:cxn ang="0">
                <a:pos x="100" y="17"/>
              </a:cxn>
              <a:cxn ang="0">
                <a:pos x="85" y="1"/>
              </a:cxn>
              <a:cxn ang="0">
                <a:pos x="30" y="14"/>
              </a:cxn>
              <a:cxn ang="0">
                <a:pos x="34" y="34"/>
              </a:cxn>
              <a:cxn ang="0">
                <a:pos x="0" y="111"/>
              </a:cxn>
              <a:cxn ang="0">
                <a:pos x="6" y="111"/>
              </a:cxn>
              <a:cxn ang="0">
                <a:pos x="6" y="112"/>
              </a:cxn>
              <a:cxn ang="0">
                <a:pos x="25" y="188"/>
              </a:cxn>
              <a:cxn ang="0">
                <a:pos x="44" y="265"/>
              </a:cxn>
              <a:cxn ang="0">
                <a:pos x="150" y="356"/>
              </a:cxn>
              <a:cxn ang="0">
                <a:pos x="259" y="369"/>
              </a:cxn>
              <a:cxn ang="0">
                <a:pos x="274" y="338"/>
              </a:cxn>
              <a:cxn ang="0">
                <a:pos x="399" y="380"/>
              </a:cxn>
              <a:cxn ang="0">
                <a:pos x="535" y="346"/>
              </a:cxn>
              <a:cxn ang="0">
                <a:pos x="540" y="374"/>
              </a:cxn>
              <a:cxn ang="0">
                <a:pos x="584" y="342"/>
              </a:cxn>
              <a:cxn ang="0">
                <a:pos x="882" y="291"/>
              </a:cxn>
              <a:cxn ang="0">
                <a:pos x="884" y="291"/>
              </a:cxn>
              <a:cxn ang="0">
                <a:pos x="972" y="275"/>
              </a:cxn>
              <a:cxn ang="0">
                <a:pos x="978" y="274"/>
              </a:cxn>
              <a:cxn ang="0">
                <a:pos x="934" y="155"/>
              </a:cxn>
            </a:cxnLst>
            <a:rect l="0" t="0" r="r" b="b"/>
            <a:pathLst>
              <a:path w="978" h="380">
                <a:moveTo>
                  <a:pt x="934" y="155"/>
                </a:moveTo>
                <a:lnTo>
                  <a:pt x="951" y="140"/>
                </a:lnTo>
                <a:lnTo>
                  <a:pt x="961" y="131"/>
                </a:lnTo>
                <a:lnTo>
                  <a:pt x="961" y="131"/>
                </a:lnTo>
                <a:lnTo>
                  <a:pt x="875" y="44"/>
                </a:lnTo>
                <a:lnTo>
                  <a:pt x="871" y="36"/>
                </a:lnTo>
                <a:lnTo>
                  <a:pt x="865" y="26"/>
                </a:lnTo>
                <a:lnTo>
                  <a:pt x="856" y="5"/>
                </a:lnTo>
                <a:lnTo>
                  <a:pt x="784" y="4"/>
                </a:lnTo>
                <a:lnTo>
                  <a:pt x="780" y="23"/>
                </a:lnTo>
                <a:lnTo>
                  <a:pt x="755" y="34"/>
                </a:lnTo>
                <a:lnTo>
                  <a:pt x="701" y="59"/>
                </a:lnTo>
                <a:lnTo>
                  <a:pt x="647" y="49"/>
                </a:lnTo>
                <a:lnTo>
                  <a:pt x="610" y="59"/>
                </a:lnTo>
                <a:lnTo>
                  <a:pt x="528" y="42"/>
                </a:lnTo>
                <a:lnTo>
                  <a:pt x="443" y="0"/>
                </a:lnTo>
                <a:lnTo>
                  <a:pt x="372" y="6"/>
                </a:lnTo>
                <a:lnTo>
                  <a:pt x="295" y="53"/>
                </a:lnTo>
                <a:lnTo>
                  <a:pt x="225" y="74"/>
                </a:lnTo>
                <a:lnTo>
                  <a:pt x="137" y="56"/>
                </a:lnTo>
                <a:lnTo>
                  <a:pt x="100" y="17"/>
                </a:lnTo>
                <a:lnTo>
                  <a:pt x="85" y="1"/>
                </a:lnTo>
                <a:lnTo>
                  <a:pt x="30" y="14"/>
                </a:lnTo>
                <a:lnTo>
                  <a:pt x="34" y="34"/>
                </a:lnTo>
                <a:lnTo>
                  <a:pt x="0" y="111"/>
                </a:lnTo>
                <a:lnTo>
                  <a:pt x="6" y="111"/>
                </a:lnTo>
                <a:lnTo>
                  <a:pt x="6" y="112"/>
                </a:lnTo>
                <a:lnTo>
                  <a:pt x="25" y="188"/>
                </a:lnTo>
                <a:lnTo>
                  <a:pt x="44" y="265"/>
                </a:lnTo>
                <a:lnTo>
                  <a:pt x="150" y="356"/>
                </a:lnTo>
                <a:lnTo>
                  <a:pt x="259" y="369"/>
                </a:lnTo>
                <a:lnTo>
                  <a:pt x="274" y="338"/>
                </a:lnTo>
                <a:lnTo>
                  <a:pt x="399" y="380"/>
                </a:lnTo>
                <a:lnTo>
                  <a:pt x="535" y="346"/>
                </a:lnTo>
                <a:lnTo>
                  <a:pt x="540" y="374"/>
                </a:lnTo>
                <a:lnTo>
                  <a:pt x="584" y="342"/>
                </a:lnTo>
                <a:lnTo>
                  <a:pt x="882" y="291"/>
                </a:lnTo>
                <a:lnTo>
                  <a:pt x="884" y="291"/>
                </a:lnTo>
                <a:lnTo>
                  <a:pt x="972" y="275"/>
                </a:lnTo>
                <a:lnTo>
                  <a:pt x="978" y="274"/>
                </a:lnTo>
                <a:lnTo>
                  <a:pt x="934" y="155"/>
                </a:lnTo>
                <a:close/>
              </a:path>
            </a:pathLst>
          </a:custGeom>
          <a:solidFill>
            <a:srgbClr val="ED6E00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6" name="Freeform 64">
            <a:extLst>
              <a:ext uri="{FF2B5EF4-FFF2-40B4-BE49-F238E27FC236}">
                <a16:creationId xmlns:a16="http://schemas.microsoft.com/office/drawing/2014/main" id="{8F24810F-4C5E-ED79-FD73-567344B6C3A1}"/>
              </a:ext>
            </a:extLst>
          </p:cNvPr>
          <p:cNvSpPr>
            <a:spLocks/>
          </p:cNvSpPr>
          <p:nvPr/>
        </p:nvSpPr>
        <p:spPr bwMode="auto">
          <a:xfrm>
            <a:off x="4931629" y="2745014"/>
            <a:ext cx="143163" cy="113238"/>
          </a:xfrm>
          <a:custGeom>
            <a:avLst/>
            <a:gdLst/>
            <a:ahLst/>
            <a:cxnLst>
              <a:cxn ang="0">
                <a:pos x="342" y="0"/>
              </a:cxn>
              <a:cxn ang="0">
                <a:pos x="44" y="51"/>
              </a:cxn>
              <a:cxn ang="0">
                <a:pos x="0" y="83"/>
              </a:cxn>
              <a:cxn ang="0">
                <a:pos x="6" y="113"/>
              </a:cxn>
              <a:cxn ang="0">
                <a:pos x="14" y="150"/>
              </a:cxn>
              <a:cxn ang="0">
                <a:pos x="40" y="147"/>
              </a:cxn>
              <a:cxn ang="0">
                <a:pos x="55" y="175"/>
              </a:cxn>
              <a:cxn ang="0">
                <a:pos x="46" y="184"/>
              </a:cxn>
              <a:cxn ang="0">
                <a:pos x="26" y="208"/>
              </a:cxn>
              <a:cxn ang="0">
                <a:pos x="11" y="246"/>
              </a:cxn>
              <a:cxn ang="0">
                <a:pos x="4" y="283"/>
              </a:cxn>
              <a:cxn ang="0">
                <a:pos x="90" y="290"/>
              </a:cxn>
              <a:cxn ang="0">
                <a:pos x="174" y="254"/>
              </a:cxn>
              <a:cxn ang="0">
                <a:pos x="173" y="250"/>
              </a:cxn>
              <a:cxn ang="0">
                <a:pos x="185" y="242"/>
              </a:cxn>
              <a:cxn ang="0">
                <a:pos x="228" y="212"/>
              </a:cxn>
              <a:cxn ang="0">
                <a:pos x="266" y="184"/>
              </a:cxn>
              <a:cxn ang="0">
                <a:pos x="285" y="169"/>
              </a:cxn>
              <a:cxn ang="0">
                <a:pos x="284" y="140"/>
              </a:cxn>
              <a:cxn ang="0">
                <a:pos x="283" y="46"/>
              </a:cxn>
              <a:cxn ang="0">
                <a:pos x="331" y="23"/>
              </a:cxn>
              <a:cxn ang="0">
                <a:pos x="342" y="0"/>
              </a:cxn>
            </a:cxnLst>
            <a:rect l="0" t="0" r="r" b="b"/>
            <a:pathLst>
              <a:path w="342" h="290">
                <a:moveTo>
                  <a:pt x="342" y="0"/>
                </a:moveTo>
                <a:lnTo>
                  <a:pt x="44" y="51"/>
                </a:lnTo>
                <a:lnTo>
                  <a:pt x="0" y="83"/>
                </a:lnTo>
                <a:lnTo>
                  <a:pt x="6" y="113"/>
                </a:lnTo>
                <a:lnTo>
                  <a:pt x="14" y="150"/>
                </a:lnTo>
                <a:lnTo>
                  <a:pt x="40" y="147"/>
                </a:lnTo>
                <a:lnTo>
                  <a:pt x="55" y="175"/>
                </a:lnTo>
                <a:lnTo>
                  <a:pt x="46" y="184"/>
                </a:lnTo>
                <a:lnTo>
                  <a:pt x="26" y="208"/>
                </a:lnTo>
                <a:lnTo>
                  <a:pt x="11" y="246"/>
                </a:lnTo>
                <a:lnTo>
                  <a:pt x="4" y="283"/>
                </a:lnTo>
                <a:lnTo>
                  <a:pt x="90" y="290"/>
                </a:lnTo>
                <a:lnTo>
                  <a:pt x="174" y="254"/>
                </a:lnTo>
                <a:lnTo>
                  <a:pt x="173" y="250"/>
                </a:lnTo>
                <a:lnTo>
                  <a:pt x="185" y="242"/>
                </a:lnTo>
                <a:lnTo>
                  <a:pt x="228" y="212"/>
                </a:lnTo>
                <a:lnTo>
                  <a:pt x="266" y="184"/>
                </a:lnTo>
                <a:lnTo>
                  <a:pt x="285" y="169"/>
                </a:lnTo>
                <a:lnTo>
                  <a:pt x="284" y="140"/>
                </a:lnTo>
                <a:lnTo>
                  <a:pt x="283" y="46"/>
                </a:lnTo>
                <a:lnTo>
                  <a:pt x="331" y="23"/>
                </a:lnTo>
                <a:lnTo>
                  <a:pt x="342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7" name="Freeform 93">
            <a:extLst>
              <a:ext uri="{FF2B5EF4-FFF2-40B4-BE49-F238E27FC236}">
                <a16:creationId xmlns:a16="http://schemas.microsoft.com/office/drawing/2014/main" id="{C6754EED-AC27-15BE-4987-20CB8AA57681}"/>
              </a:ext>
            </a:extLst>
          </p:cNvPr>
          <p:cNvSpPr>
            <a:spLocks/>
          </p:cNvSpPr>
          <p:nvPr/>
        </p:nvSpPr>
        <p:spPr bwMode="auto">
          <a:xfrm>
            <a:off x="5504284" y="2706234"/>
            <a:ext cx="312963" cy="335062"/>
          </a:xfrm>
          <a:custGeom>
            <a:avLst/>
            <a:gdLst/>
            <a:ahLst/>
            <a:cxnLst>
              <a:cxn ang="0">
                <a:pos x="702" y="147"/>
              </a:cxn>
              <a:cxn ang="0">
                <a:pos x="754" y="101"/>
              </a:cxn>
              <a:cxn ang="0">
                <a:pos x="744" y="89"/>
              </a:cxn>
              <a:cxn ang="0">
                <a:pos x="730" y="71"/>
              </a:cxn>
              <a:cxn ang="0">
                <a:pos x="697" y="29"/>
              </a:cxn>
              <a:cxn ang="0">
                <a:pos x="589" y="0"/>
              </a:cxn>
              <a:cxn ang="0">
                <a:pos x="584" y="2"/>
              </a:cxn>
              <a:cxn ang="0">
                <a:pos x="584" y="2"/>
              </a:cxn>
              <a:cxn ang="0">
                <a:pos x="458" y="70"/>
              </a:cxn>
              <a:cxn ang="0">
                <a:pos x="471" y="132"/>
              </a:cxn>
              <a:cxn ang="0">
                <a:pos x="389" y="264"/>
              </a:cxn>
              <a:cxn ang="0">
                <a:pos x="392" y="351"/>
              </a:cxn>
              <a:cxn ang="0">
                <a:pos x="380" y="374"/>
              </a:cxn>
              <a:cxn ang="0">
                <a:pos x="349" y="359"/>
              </a:cxn>
              <a:cxn ang="0">
                <a:pos x="337" y="377"/>
              </a:cxn>
              <a:cxn ang="0">
                <a:pos x="271" y="434"/>
              </a:cxn>
              <a:cxn ang="0">
                <a:pos x="255" y="499"/>
              </a:cxn>
              <a:cxn ang="0">
                <a:pos x="95" y="525"/>
              </a:cxn>
              <a:cxn ang="0">
                <a:pos x="4" y="517"/>
              </a:cxn>
              <a:cxn ang="0">
                <a:pos x="2" y="529"/>
              </a:cxn>
              <a:cxn ang="0">
                <a:pos x="0" y="537"/>
              </a:cxn>
              <a:cxn ang="0">
                <a:pos x="129" y="680"/>
              </a:cxn>
              <a:cxn ang="0">
                <a:pos x="59" y="803"/>
              </a:cxn>
              <a:cxn ang="0">
                <a:pos x="282" y="767"/>
              </a:cxn>
              <a:cxn ang="0">
                <a:pos x="316" y="762"/>
              </a:cxn>
              <a:cxn ang="0">
                <a:pos x="410" y="863"/>
              </a:cxn>
              <a:cxn ang="0">
                <a:pos x="413" y="865"/>
              </a:cxn>
              <a:cxn ang="0">
                <a:pos x="570" y="817"/>
              </a:cxn>
              <a:cxn ang="0">
                <a:pos x="580" y="795"/>
              </a:cxn>
              <a:cxn ang="0">
                <a:pos x="456" y="668"/>
              </a:cxn>
              <a:cxn ang="0">
                <a:pos x="511" y="589"/>
              </a:cxn>
              <a:cxn ang="0">
                <a:pos x="572" y="593"/>
              </a:cxn>
              <a:cxn ang="0">
                <a:pos x="649" y="492"/>
              </a:cxn>
              <a:cxn ang="0">
                <a:pos x="703" y="315"/>
              </a:cxn>
              <a:cxn ang="0">
                <a:pos x="583" y="177"/>
              </a:cxn>
              <a:cxn ang="0">
                <a:pos x="702" y="147"/>
              </a:cxn>
            </a:cxnLst>
            <a:rect l="0" t="0" r="r" b="b"/>
            <a:pathLst>
              <a:path w="754" h="865">
                <a:moveTo>
                  <a:pt x="702" y="147"/>
                </a:moveTo>
                <a:lnTo>
                  <a:pt x="754" y="101"/>
                </a:lnTo>
                <a:lnTo>
                  <a:pt x="744" y="89"/>
                </a:lnTo>
                <a:lnTo>
                  <a:pt x="730" y="71"/>
                </a:lnTo>
                <a:lnTo>
                  <a:pt x="697" y="29"/>
                </a:lnTo>
                <a:lnTo>
                  <a:pt x="589" y="0"/>
                </a:lnTo>
                <a:lnTo>
                  <a:pt x="584" y="2"/>
                </a:lnTo>
                <a:lnTo>
                  <a:pt x="584" y="2"/>
                </a:lnTo>
                <a:lnTo>
                  <a:pt x="458" y="70"/>
                </a:lnTo>
                <a:lnTo>
                  <a:pt x="471" y="132"/>
                </a:lnTo>
                <a:lnTo>
                  <a:pt x="389" y="264"/>
                </a:lnTo>
                <a:lnTo>
                  <a:pt x="392" y="351"/>
                </a:lnTo>
                <a:lnTo>
                  <a:pt x="380" y="374"/>
                </a:lnTo>
                <a:lnTo>
                  <a:pt x="349" y="359"/>
                </a:lnTo>
                <a:lnTo>
                  <a:pt x="337" y="377"/>
                </a:lnTo>
                <a:lnTo>
                  <a:pt x="271" y="434"/>
                </a:lnTo>
                <a:lnTo>
                  <a:pt x="255" y="499"/>
                </a:lnTo>
                <a:lnTo>
                  <a:pt x="95" y="525"/>
                </a:lnTo>
                <a:lnTo>
                  <a:pt x="4" y="517"/>
                </a:lnTo>
                <a:lnTo>
                  <a:pt x="2" y="529"/>
                </a:lnTo>
                <a:lnTo>
                  <a:pt x="0" y="537"/>
                </a:lnTo>
                <a:lnTo>
                  <a:pt x="129" y="680"/>
                </a:lnTo>
                <a:lnTo>
                  <a:pt x="59" y="803"/>
                </a:lnTo>
                <a:lnTo>
                  <a:pt x="282" y="767"/>
                </a:lnTo>
                <a:lnTo>
                  <a:pt x="316" y="762"/>
                </a:lnTo>
                <a:lnTo>
                  <a:pt x="410" y="863"/>
                </a:lnTo>
                <a:lnTo>
                  <a:pt x="413" y="865"/>
                </a:lnTo>
                <a:lnTo>
                  <a:pt x="570" y="817"/>
                </a:lnTo>
                <a:lnTo>
                  <a:pt x="580" y="795"/>
                </a:lnTo>
                <a:lnTo>
                  <a:pt x="456" y="668"/>
                </a:lnTo>
                <a:lnTo>
                  <a:pt x="511" y="589"/>
                </a:lnTo>
                <a:lnTo>
                  <a:pt x="572" y="593"/>
                </a:lnTo>
                <a:lnTo>
                  <a:pt x="649" y="492"/>
                </a:lnTo>
                <a:lnTo>
                  <a:pt x="703" y="315"/>
                </a:lnTo>
                <a:lnTo>
                  <a:pt x="583" y="177"/>
                </a:lnTo>
                <a:lnTo>
                  <a:pt x="702" y="147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8" name="Freeform 109">
            <a:extLst>
              <a:ext uri="{FF2B5EF4-FFF2-40B4-BE49-F238E27FC236}">
                <a16:creationId xmlns:a16="http://schemas.microsoft.com/office/drawing/2014/main" id="{6CEBEDF1-4305-5297-1CBF-DF218ABC620A}"/>
              </a:ext>
            </a:extLst>
          </p:cNvPr>
          <p:cNvSpPr>
            <a:spLocks/>
          </p:cNvSpPr>
          <p:nvPr/>
        </p:nvSpPr>
        <p:spPr bwMode="auto">
          <a:xfrm>
            <a:off x="5129727" y="3160740"/>
            <a:ext cx="236386" cy="152020"/>
          </a:xfrm>
          <a:custGeom>
            <a:avLst/>
            <a:gdLst/>
            <a:ahLst/>
            <a:cxnLst>
              <a:cxn ang="0">
                <a:pos x="487" y="0"/>
              </a:cxn>
              <a:cxn ang="0">
                <a:pos x="325" y="53"/>
              </a:cxn>
              <a:cxn ang="0">
                <a:pos x="211" y="180"/>
              </a:cxn>
              <a:cxn ang="0">
                <a:pos x="183" y="146"/>
              </a:cxn>
              <a:cxn ang="0">
                <a:pos x="55" y="111"/>
              </a:cxn>
              <a:cxn ang="0">
                <a:pos x="33" y="106"/>
              </a:cxn>
              <a:cxn ang="0">
                <a:pos x="0" y="162"/>
              </a:cxn>
              <a:cxn ang="0">
                <a:pos x="4" y="167"/>
              </a:cxn>
              <a:cxn ang="0">
                <a:pos x="5" y="168"/>
              </a:cxn>
              <a:cxn ang="0">
                <a:pos x="42" y="321"/>
              </a:cxn>
              <a:cxn ang="0">
                <a:pos x="65" y="393"/>
              </a:cxn>
              <a:cxn ang="0">
                <a:pos x="143" y="379"/>
              </a:cxn>
              <a:cxn ang="0">
                <a:pos x="516" y="214"/>
              </a:cxn>
              <a:cxn ang="0">
                <a:pos x="540" y="167"/>
              </a:cxn>
              <a:cxn ang="0">
                <a:pos x="568" y="157"/>
              </a:cxn>
              <a:cxn ang="0">
                <a:pos x="487" y="0"/>
              </a:cxn>
            </a:cxnLst>
            <a:rect l="0" t="0" r="r" b="b"/>
            <a:pathLst>
              <a:path w="568" h="393">
                <a:moveTo>
                  <a:pt x="487" y="0"/>
                </a:moveTo>
                <a:lnTo>
                  <a:pt x="325" y="53"/>
                </a:lnTo>
                <a:lnTo>
                  <a:pt x="211" y="180"/>
                </a:lnTo>
                <a:lnTo>
                  <a:pt x="183" y="146"/>
                </a:lnTo>
                <a:lnTo>
                  <a:pt x="55" y="111"/>
                </a:lnTo>
                <a:lnTo>
                  <a:pt x="33" y="106"/>
                </a:lnTo>
                <a:lnTo>
                  <a:pt x="0" y="162"/>
                </a:lnTo>
                <a:lnTo>
                  <a:pt x="4" y="167"/>
                </a:lnTo>
                <a:lnTo>
                  <a:pt x="5" y="168"/>
                </a:lnTo>
                <a:lnTo>
                  <a:pt x="42" y="321"/>
                </a:lnTo>
                <a:lnTo>
                  <a:pt x="65" y="393"/>
                </a:lnTo>
                <a:lnTo>
                  <a:pt x="143" y="379"/>
                </a:lnTo>
                <a:lnTo>
                  <a:pt x="516" y="214"/>
                </a:lnTo>
                <a:lnTo>
                  <a:pt x="540" y="167"/>
                </a:lnTo>
                <a:lnTo>
                  <a:pt x="568" y="157"/>
                </a:lnTo>
                <a:lnTo>
                  <a:pt x="487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199" name="Freeform 115">
            <a:extLst>
              <a:ext uri="{FF2B5EF4-FFF2-40B4-BE49-F238E27FC236}">
                <a16:creationId xmlns:a16="http://schemas.microsoft.com/office/drawing/2014/main" id="{33DFA1CC-090B-5815-F5F9-2FE98D0A6115}"/>
              </a:ext>
            </a:extLst>
          </p:cNvPr>
          <p:cNvSpPr>
            <a:spLocks/>
          </p:cNvSpPr>
          <p:nvPr/>
        </p:nvSpPr>
        <p:spPr bwMode="auto">
          <a:xfrm>
            <a:off x="5096433" y="2686070"/>
            <a:ext cx="461120" cy="331960"/>
          </a:xfrm>
          <a:custGeom>
            <a:avLst/>
            <a:gdLst/>
            <a:ahLst/>
            <a:cxnLst>
              <a:cxn ang="0">
                <a:pos x="980" y="586"/>
              </a:cxn>
              <a:cxn ang="0">
                <a:pos x="982" y="578"/>
              </a:cxn>
              <a:cxn ang="0">
                <a:pos x="984" y="566"/>
              </a:cxn>
              <a:cxn ang="0">
                <a:pos x="1002" y="495"/>
              </a:cxn>
              <a:cxn ang="0">
                <a:pos x="992" y="469"/>
              </a:cxn>
              <a:cxn ang="0">
                <a:pos x="944" y="464"/>
              </a:cxn>
              <a:cxn ang="0">
                <a:pos x="910" y="281"/>
              </a:cxn>
              <a:cxn ang="0">
                <a:pos x="905" y="194"/>
              </a:cxn>
              <a:cxn ang="0">
                <a:pos x="905" y="190"/>
              </a:cxn>
              <a:cxn ang="0">
                <a:pos x="901" y="137"/>
              </a:cxn>
              <a:cxn ang="0">
                <a:pos x="803" y="94"/>
              </a:cxn>
              <a:cxn ang="0">
                <a:pos x="588" y="64"/>
              </a:cxn>
              <a:cxn ang="0">
                <a:pos x="563" y="93"/>
              </a:cxn>
              <a:cxn ang="0">
                <a:pos x="516" y="115"/>
              </a:cxn>
              <a:cxn ang="0">
                <a:pos x="521" y="147"/>
              </a:cxn>
              <a:cxn ang="0">
                <a:pos x="504" y="150"/>
              </a:cxn>
              <a:cxn ang="0">
                <a:pos x="427" y="167"/>
              </a:cxn>
              <a:cxn ang="0">
                <a:pos x="352" y="151"/>
              </a:cxn>
              <a:cxn ang="0">
                <a:pos x="260" y="96"/>
              </a:cxn>
              <a:cxn ang="0">
                <a:pos x="253" y="74"/>
              </a:cxn>
              <a:cxn ang="0">
                <a:pos x="240" y="29"/>
              </a:cxn>
              <a:cxn ang="0">
                <a:pos x="67" y="27"/>
              </a:cxn>
              <a:cxn ang="0">
                <a:pos x="17" y="0"/>
              </a:cxn>
              <a:cxn ang="0">
                <a:pos x="0" y="15"/>
              </a:cxn>
              <a:cxn ang="0">
                <a:pos x="44" y="134"/>
              </a:cxn>
              <a:cxn ang="0">
                <a:pos x="60" y="131"/>
              </a:cxn>
              <a:cxn ang="0">
                <a:pos x="134" y="259"/>
              </a:cxn>
              <a:cxn ang="0">
                <a:pos x="117" y="357"/>
              </a:cxn>
              <a:cxn ang="0">
                <a:pos x="268" y="475"/>
              </a:cxn>
              <a:cxn ang="0">
                <a:pos x="290" y="558"/>
              </a:cxn>
              <a:cxn ang="0">
                <a:pos x="323" y="578"/>
              </a:cxn>
              <a:cxn ang="0">
                <a:pos x="331" y="568"/>
              </a:cxn>
              <a:cxn ang="0">
                <a:pos x="374" y="572"/>
              </a:cxn>
              <a:cxn ang="0">
                <a:pos x="430" y="624"/>
              </a:cxn>
              <a:cxn ang="0">
                <a:pos x="541" y="737"/>
              </a:cxn>
              <a:cxn ang="0">
                <a:pos x="669" y="784"/>
              </a:cxn>
              <a:cxn ang="0">
                <a:pos x="770" y="740"/>
              </a:cxn>
              <a:cxn ang="0">
                <a:pos x="808" y="823"/>
              </a:cxn>
              <a:cxn ang="0">
                <a:pos x="1017" y="855"/>
              </a:cxn>
              <a:cxn ang="0">
                <a:pos x="1017" y="855"/>
              </a:cxn>
              <a:cxn ang="0">
                <a:pos x="1039" y="852"/>
              </a:cxn>
              <a:cxn ang="0">
                <a:pos x="1109" y="729"/>
              </a:cxn>
              <a:cxn ang="0">
                <a:pos x="980" y="586"/>
              </a:cxn>
            </a:cxnLst>
            <a:rect l="0" t="0" r="r" b="b"/>
            <a:pathLst>
              <a:path w="1109" h="855">
                <a:moveTo>
                  <a:pt x="980" y="586"/>
                </a:moveTo>
                <a:lnTo>
                  <a:pt x="982" y="578"/>
                </a:lnTo>
                <a:lnTo>
                  <a:pt x="984" y="566"/>
                </a:lnTo>
                <a:lnTo>
                  <a:pt x="1002" y="495"/>
                </a:lnTo>
                <a:lnTo>
                  <a:pt x="992" y="469"/>
                </a:lnTo>
                <a:lnTo>
                  <a:pt x="944" y="464"/>
                </a:lnTo>
                <a:lnTo>
                  <a:pt x="910" y="281"/>
                </a:lnTo>
                <a:lnTo>
                  <a:pt x="905" y="194"/>
                </a:lnTo>
                <a:lnTo>
                  <a:pt x="905" y="190"/>
                </a:lnTo>
                <a:lnTo>
                  <a:pt x="901" y="137"/>
                </a:lnTo>
                <a:lnTo>
                  <a:pt x="803" y="94"/>
                </a:lnTo>
                <a:lnTo>
                  <a:pt x="588" y="64"/>
                </a:lnTo>
                <a:lnTo>
                  <a:pt x="563" y="93"/>
                </a:lnTo>
                <a:lnTo>
                  <a:pt x="516" y="115"/>
                </a:lnTo>
                <a:lnTo>
                  <a:pt x="521" y="147"/>
                </a:lnTo>
                <a:lnTo>
                  <a:pt x="504" y="150"/>
                </a:lnTo>
                <a:lnTo>
                  <a:pt x="427" y="167"/>
                </a:lnTo>
                <a:lnTo>
                  <a:pt x="352" y="151"/>
                </a:lnTo>
                <a:lnTo>
                  <a:pt x="260" y="96"/>
                </a:lnTo>
                <a:lnTo>
                  <a:pt x="253" y="74"/>
                </a:lnTo>
                <a:lnTo>
                  <a:pt x="240" y="29"/>
                </a:lnTo>
                <a:lnTo>
                  <a:pt x="67" y="27"/>
                </a:lnTo>
                <a:lnTo>
                  <a:pt x="17" y="0"/>
                </a:lnTo>
                <a:lnTo>
                  <a:pt x="0" y="15"/>
                </a:lnTo>
                <a:lnTo>
                  <a:pt x="44" y="134"/>
                </a:lnTo>
                <a:lnTo>
                  <a:pt x="60" y="131"/>
                </a:lnTo>
                <a:lnTo>
                  <a:pt x="134" y="259"/>
                </a:lnTo>
                <a:lnTo>
                  <a:pt x="117" y="357"/>
                </a:lnTo>
                <a:lnTo>
                  <a:pt x="268" y="475"/>
                </a:lnTo>
                <a:lnTo>
                  <a:pt x="290" y="558"/>
                </a:lnTo>
                <a:lnTo>
                  <a:pt x="323" y="578"/>
                </a:lnTo>
                <a:lnTo>
                  <a:pt x="331" y="568"/>
                </a:lnTo>
                <a:lnTo>
                  <a:pt x="374" y="572"/>
                </a:lnTo>
                <a:lnTo>
                  <a:pt x="430" y="624"/>
                </a:lnTo>
                <a:lnTo>
                  <a:pt x="541" y="737"/>
                </a:lnTo>
                <a:lnTo>
                  <a:pt x="669" y="784"/>
                </a:lnTo>
                <a:lnTo>
                  <a:pt x="770" y="740"/>
                </a:lnTo>
                <a:lnTo>
                  <a:pt x="808" y="823"/>
                </a:lnTo>
                <a:lnTo>
                  <a:pt x="1017" y="855"/>
                </a:lnTo>
                <a:lnTo>
                  <a:pt x="1017" y="855"/>
                </a:lnTo>
                <a:lnTo>
                  <a:pt x="1039" y="852"/>
                </a:lnTo>
                <a:lnTo>
                  <a:pt x="1109" y="729"/>
                </a:lnTo>
                <a:lnTo>
                  <a:pt x="980" y="586"/>
                </a:lnTo>
                <a:close/>
              </a:path>
            </a:pathLst>
          </a:custGeom>
          <a:solidFill>
            <a:srgbClr val="996633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0" name="Freeform 116">
            <a:extLst>
              <a:ext uri="{FF2B5EF4-FFF2-40B4-BE49-F238E27FC236}">
                <a16:creationId xmlns:a16="http://schemas.microsoft.com/office/drawing/2014/main" id="{9CE0259C-51E0-FE58-7A02-AB8900E00373}"/>
              </a:ext>
            </a:extLst>
          </p:cNvPr>
          <p:cNvSpPr>
            <a:spLocks/>
          </p:cNvSpPr>
          <p:nvPr/>
        </p:nvSpPr>
        <p:spPr bwMode="auto">
          <a:xfrm>
            <a:off x="5003210" y="2737258"/>
            <a:ext cx="228063" cy="200107"/>
          </a:xfrm>
          <a:custGeom>
            <a:avLst/>
            <a:gdLst/>
            <a:ahLst/>
            <a:cxnLst>
              <a:cxn ang="0">
                <a:pos x="511" y="427"/>
              </a:cxn>
              <a:cxn ang="0">
                <a:pos x="489" y="344"/>
              </a:cxn>
              <a:cxn ang="0">
                <a:pos x="338" y="226"/>
              </a:cxn>
              <a:cxn ang="0">
                <a:pos x="355" y="128"/>
              </a:cxn>
              <a:cxn ang="0">
                <a:pos x="281" y="0"/>
              </a:cxn>
              <a:cxn ang="0">
                <a:pos x="265" y="3"/>
              </a:cxn>
              <a:cxn ang="0">
                <a:pos x="259" y="4"/>
              </a:cxn>
              <a:cxn ang="0">
                <a:pos x="171" y="20"/>
              </a:cxn>
              <a:cxn ang="0">
                <a:pos x="169" y="20"/>
              </a:cxn>
              <a:cxn ang="0">
                <a:pos x="158" y="43"/>
              </a:cxn>
              <a:cxn ang="0">
                <a:pos x="110" y="66"/>
              </a:cxn>
              <a:cxn ang="0">
                <a:pos x="111" y="160"/>
              </a:cxn>
              <a:cxn ang="0">
                <a:pos x="112" y="189"/>
              </a:cxn>
              <a:cxn ang="0">
                <a:pos x="93" y="204"/>
              </a:cxn>
              <a:cxn ang="0">
                <a:pos x="55" y="232"/>
              </a:cxn>
              <a:cxn ang="0">
                <a:pos x="12" y="262"/>
              </a:cxn>
              <a:cxn ang="0">
                <a:pos x="0" y="270"/>
              </a:cxn>
              <a:cxn ang="0">
                <a:pos x="1" y="274"/>
              </a:cxn>
              <a:cxn ang="0">
                <a:pos x="23" y="338"/>
              </a:cxn>
              <a:cxn ang="0">
                <a:pos x="34" y="343"/>
              </a:cxn>
              <a:cxn ang="0">
                <a:pos x="237" y="418"/>
              </a:cxn>
              <a:cxn ang="0">
                <a:pos x="290" y="486"/>
              </a:cxn>
              <a:cxn ang="0">
                <a:pos x="445" y="514"/>
              </a:cxn>
              <a:cxn ang="0">
                <a:pos x="478" y="448"/>
              </a:cxn>
              <a:cxn ang="0">
                <a:pos x="530" y="470"/>
              </a:cxn>
              <a:cxn ang="0">
                <a:pos x="543" y="450"/>
              </a:cxn>
              <a:cxn ang="0">
                <a:pos x="544" y="447"/>
              </a:cxn>
              <a:cxn ang="0">
                <a:pos x="511" y="427"/>
              </a:cxn>
            </a:cxnLst>
            <a:rect l="0" t="0" r="r" b="b"/>
            <a:pathLst>
              <a:path w="544" h="514">
                <a:moveTo>
                  <a:pt x="511" y="427"/>
                </a:moveTo>
                <a:lnTo>
                  <a:pt x="489" y="344"/>
                </a:lnTo>
                <a:lnTo>
                  <a:pt x="338" y="226"/>
                </a:lnTo>
                <a:lnTo>
                  <a:pt x="355" y="128"/>
                </a:lnTo>
                <a:lnTo>
                  <a:pt x="281" y="0"/>
                </a:lnTo>
                <a:lnTo>
                  <a:pt x="265" y="3"/>
                </a:lnTo>
                <a:lnTo>
                  <a:pt x="259" y="4"/>
                </a:lnTo>
                <a:lnTo>
                  <a:pt x="171" y="20"/>
                </a:lnTo>
                <a:lnTo>
                  <a:pt x="169" y="20"/>
                </a:lnTo>
                <a:lnTo>
                  <a:pt x="158" y="43"/>
                </a:lnTo>
                <a:lnTo>
                  <a:pt x="110" y="66"/>
                </a:lnTo>
                <a:lnTo>
                  <a:pt x="111" y="160"/>
                </a:lnTo>
                <a:lnTo>
                  <a:pt x="112" y="189"/>
                </a:lnTo>
                <a:lnTo>
                  <a:pt x="93" y="204"/>
                </a:lnTo>
                <a:lnTo>
                  <a:pt x="55" y="232"/>
                </a:lnTo>
                <a:lnTo>
                  <a:pt x="12" y="262"/>
                </a:lnTo>
                <a:lnTo>
                  <a:pt x="0" y="270"/>
                </a:lnTo>
                <a:lnTo>
                  <a:pt x="1" y="274"/>
                </a:lnTo>
                <a:lnTo>
                  <a:pt x="23" y="338"/>
                </a:lnTo>
                <a:lnTo>
                  <a:pt x="34" y="343"/>
                </a:lnTo>
                <a:lnTo>
                  <a:pt x="237" y="418"/>
                </a:lnTo>
                <a:lnTo>
                  <a:pt x="290" y="486"/>
                </a:lnTo>
                <a:lnTo>
                  <a:pt x="445" y="514"/>
                </a:lnTo>
                <a:lnTo>
                  <a:pt x="478" y="448"/>
                </a:lnTo>
                <a:lnTo>
                  <a:pt x="530" y="470"/>
                </a:lnTo>
                <a:lnTo>
                  <a:pt x="543" y="450"/>
                </a:lnTo>
                <a:lnTo>
                  <a:pt x="544" y="447"/>
                </a:lnTo>
                <a:lnTo>
                  <a:pt x="511" y="427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1" name="Freeform 137">
            <a:extLst>
              <a:ext uri="{FF2B5EF4-FFF2-40B4-BE49-F238E27FC236}">
                <a16:creationId xmlns:a16="http://schemas.microsoft.com/office/drawing/2014/main" id="{D8B9F768-9B38-3AE7-0359-BA897FFCADA9}"/>
              </a:ext>
            </a:extLst>
          </p:cNvPr>
          <p:cNvSpPr>
            <a:spLocks/>
          </p:cNvSpPr>
          <p:nvPr/>
        </p:nvSpPr>
        <p:spPr bwMode="auto">
          <a:xfrm>
            <a:off x="5472654" y="2681414"/>
            <a:ext cx="279668" cy="228028"/>
          </a:xfrm>
          <a:custGeom>
            <a:avLst/>
            <a:gdLst/>
            <a:ahLst/>
            <a:cxnLst>
              <a:cxn ang="0">
                <a:pos x="595" y="41"/>
              </a:cxn>
              <a:cxn ang="0">
                <a:pos x="563" y="62"/>
              </a:cxn>
              <a:cxn ang="0">
                <a:pos x="515" y="94"/>
              </a:cxn>
              <a:cxn ang="0">
                <a:pos x="511" y="75"/>
              </a:cxn>
              <a:cxn ang="0">
                <a:pos x="505" y="42"/>
              </a:cxn>
              <a:cxn ang="0">
                <a:pos x="451" y="0"/>
              </a:cxn>
              <a:cxn ang="0">
                <a:pos x="431" y="36"/>
              </a:cxn>
              <a:cxn ang="0">
                <a:pos x="382" y="65"/>
              </a:cxn>
              <a:cxn ang="0">
                <a:pos x="371" y="72"/>
              </a:cxn>
              <a:cxn ang="0">
                <a:pos x="345" y="87"/>
              </a:cxn>
              <a:cxn ang="0">
                <a:pos x="265" y="76"/>
              </a:cxn>
              <a:cxn ang="0">
                <a:pos x="251" y="74"/>
              </a:cxn>
              <a:cxn ang="0">
                <a:pos x="235" y="77"/>
              </a:cxn>
              <a:cxn ang="0">
                <a:pos x="193" y="85"/>
              </a:cxn>
              <a:cxn ang="0">
                <a:pos x="136" y="171"/>
              </a:cxn>
              <a:cxn ang="0">
                <a:pos x="109" y="211"/>
              </a:cxn>
              <a:cxn ang="0">
                <a:pos x="74" y="228"/>
              </a:cxn>
              <a:cxn ang="0">
                <a:pos x="0" y="209"/>
              </a:cxn>
              <a:cxn ang="0">
                <a:pos x="5" y="296"/>
              </a:cxn>
              <a:cxn ang="0">
                <a:pos x="39" y="479"/>
              </a:cxn>
              <a:cxn ang="0">
                <a:pos x="87" y="484"/>
              </a:cxn>
              <a:cxn ang="0">
                <a:pos x="97" y="510"/>
              </a:cxn>
              <a:cxn ang="0">
                <a:pos x="79" y="581"/>
              </a:cxn>
              <a:cxn ang="0">
                <a:pos x="170" y="589"/>
              </a:cxn>
              <a:cxn ang="0">
                <a:pos x="330" y="563"/>
              </a:cxn>
              <a:cxn ang="0">
                <a:pos x="346" y="498"/>
              </a:cxn>
              <a:cxn ang="0">
                <a:pos x="412" y="441"/>
              </a:cxn>
              <a:cxn ang="0">
                <a:pos x="424" y="423"/>
              </a:cxn>
              <a:cxn ang="0">
                <a:pos x="455" y="438"/>
              </a:cxn>
              <a:cxn ang="0">
                <a:pos x="467" y="415"/>
              </a:cxn>
              <a:cxn ang="0">
                <a:pos x="464" y="328"/>
              </a:cxn>
              <a:cxn ang="0">
                <a:pos x="546" y="196"/>
              </a:cxn>
              <a:cxn ang="0">
                <a:pos x="533" y="134"/>
              </a:cxn>
              <a:cxn ang="0">
                <a:pos x="659" y="66"/>
              </a:cxn>
              <a:cxn ang="0">
                <a:pos x="672" y="34"/>
              </a:cxn>
              <a:cxn ang="0">
                <a:pos x="673" y="30"/>
              </a:cxn>
              <a:cxn ang="0">
                <a:pos x="595" y="41"/>
              </a:cxn>
            </a:cxnLst>
            <a:rect l="0" t="0" r="r" b="b"/>
            <a:pathLst>
              <a:path w="673" h="589">
                <a:moveTo>
                  <a:pt x="595" y="41"/>
                </a:moveTo>
                <a:lnTo>
                  <a:pt x="563" y="62"/>
                </a:lnTo>
                <a:lnTo>
                  <a:pt x="515" y="94"/>
                </a:lnTo>
                <a:lnTo>
                  <a:pt x="511" y="75"/>
                </a:lnTo>
                <a:lnTo>
                  <a:pt x="505" y="42"/>
                </a:lnTo>
                <a:lnTo>
                  <a:pt x="451" y="0"/>
                </a:lnTo>
                <a:lnTo>
                  <a:pt x="431" y="36"/>
                </a:lnTo>
                <a:lnTo>
                  <a:pt x="382" y="65"/>
                </a:lnTo>
                <a:lnTo>
                  <a:pt x="371" y="72"/>
                </a:lnTo>
                <a:lnTo>
                  <a:pt x="345" y="87"/>
                </a:lnTo>
                <a:lnTo>
                  <a:pt x="265" y="76"/>
                </a:lnTo>
                <a:lnTo>
                  <a:pt x="251" y="74"/>
                </a:lnTo>
                <a:lnTo>
                  <a:pt x="235" y="77"/>
                </a:lnTo>
                <a:lnTo>
                  <a:pt x="193" y="85"/>
                </a:lnTo>
                <a:lnTo>
                  <a:pt x="136" y="171"/>
                </a:lnTo>
                <a:lnTo>
                  <a:pt x="109" y="211"/>
                </a:lnTo>
                <a:lnTo>
                  <a:pt x="74" y="228"/>
                </a:lnTo>
                <a:lnTo>
                  <a:pt x="0" y="209"/>
                </a:lnTo>
                <a:lnTo>
                  <a:pt x="5" y="296"/>
                </a:lnTo>
                <a:lnTo>
                  <a:pt x="39" y="479"/>
                </a:lnTo>
                <a:lnTo>
                  <a:pt x="87" y="484"/>
                </a:lnTo>
                <a:lnTo>
                  <a:pt x="97" y="510"/>
                </a:lnTo>
                <a:lnTo>
                  <a:pt x="79" y="581"/>
                </a:lnTo>
                <a:lnTo>
                  <a:pt x="170" y="589"/>
                </a:lnTo>
                <a:lnTo>
                  <a:pt x="330" y="563"/>
                </a:lnTo>
                <a:lnTo>
                  <a:pt x="346" y="498"/>
                </a:lnTo>
                <a:lnTo>
                  <a:pt x="412" y="441"/>
                </a:lnTo>
                <a:lnTo>
                  <a:pt x="424" y="423"/>
                </a:lnTo>
                <a:lnTo>
                  <a:pt x="455" y="438"/>
                </a:lnTo>
                <a:lnTo>
                  <a:pt x="467" y="415"/>
                </a:lnTo>
                <a:lnTo>
                  <a:pt x="464" y="328"/>
                </a:lnTo>
                <a:lnTo>
                  <a:pt x="546" y="196"/>
                </a:lnTo>
                <a:lnTo>
                  <a:pt x="533" y="134"/>
                </a:lnTo>
                <a:lnTo>
                  <a:pt x="659" y="66"/>
                </a:lnTo>
                <a:lnTo>
                  <a:pt x="672" y="34"/>
                </a:lnTo>
                <a:lnTo>
                  <a:pt x="673" y="30"/>
                </a:lnTo>
                <a:lnTo>
                  <a:pt x="595" y="4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2" name="Freeform 184">
            <a:extLst>
              <a:ext uri="{FF2B5EF4-FFF2-40B4-BE49-F238E27FC236}">
                <a16:creationId xmlns:a16="http://schemas.microsoft.com/office/drawing/2014/main" id="{DCCC4B10-0D6C-1138-0895-B2B486EA9AEB}"/>
              </a:ext>
            </a:extLst>
          </p:cNvPr>
          <p:cNvSpPr>
            <a:spLocks/>
          </p:cNvSpPr>
          <p:nvPr/>
        </p:nvSpPr>
        <p:spPr bwMode="auto">
          <a:xfrm>
            <a:off x="4498808" y="3348439"/>
            <a:ext cx="297981" cy="190799"/>
          </a:xfrm>
          <a:custGeom>
            <a:avLst/>
            <a:gdLst/>
            <a:ahLst/>
            <a:cxnLst>
              <a:cxn ang="0">
                <a:pos x="572" y="169"/>
              </a:cxn>
              <a:cxn ang="0">
                <a:pos x="507" y="168"/>
              </a:cxn>
              <a:cxn ang="0">
                <a:pos x="489" y="137"/>
              </a:cxn>
              <a:cxn ang="0">
                <a:pos x="504" y="77"/>
              </a:cxn>
              <a:cxn ang="0">
                <a:pos x="457" y="0"/>
              </a:cxn>
              <a:cxn ang="0">
                <a:pos x="373" y="96"/>
              </a:cxn>
              <a:cxn ang="0">
                <a:pos x="87" y="197"/>
              </a:cxn>
              <a:cxn ang="0">
                <a:pos x="62" y="206"/>
              </a:cxn>
              <a:cxn ang="0">
                <a:pos x="64" y="209"/>
              </a:cxn>
              <a:cxn ang="0">
                <a:pos x="0" y="328"/>
              </a:cxn>
              <a:cxn ang="0">
                <a:pos x="46" y="435"/>
              </a:cxn>
              <a:cxn ang="0">
                <a:pos x="104" y="492"/>
              </a:cxn>
              <a:cxn ang="0">
                <a:pos x="116" y="478"/>
              </a:cxn>
              <a:cxn ang="0">
                <a:pos x="160" y="423"/>
              </a:cxn>
              <a:cxn ang="0">
                <a:pos x="227" y="426"/>
              </a:cxn>
              <a:cxn ang="0">
                <a:pos x="232" y="427"/>
              </a:cxn>
              <a:cxn ang="0">
                <a:pos x="234" y="427"/>
              </a:cxn>
              <a:cxn ang="0">
                <a:pos x="235" y="385"/>
              </a:cxn>
              <a:cxn ang="0">
                <a:pos x="309" y="366"/>
              </a:cxn>
              <a:cxn ang="0">
                <a:pos x="348" y="390"/>
              </a:cxn>
              <a:cxn ang="0">
                <a:pos x="447" y="402"/>
              </a:cxn>
              <a:cxn ang="0">
                <a:pos x="499" y="366"/>
              </a:cxn>
              <a:cxn ang="0">
                <a:pos x="715" y="336"/>
              </a:cxn>
              <a:cxn ang="0">
                <a:pos x="572" y="169"/>
              </a:cxn>
            </a:cxnLst>
            <a:rect l="0" t="0" r="r" b="b"/>
            <a:pathLst>
              <a:path w="715" h="492">
                <a:moveTo>
                  <a:pt x="572" y="169"/>
                </a:moveTo>
                <a:lnTo>
                  <a:pt x="507" y="168"/>
                </a:lnTo>
                <a:lnTo>
                  <a:pt x="489" y="137"/>
                </a:lnTo>
                <a:lnTo>
                  <a:pt x="504" y="77"/>
                </a:lnTo>
                <a:lnTo>
                  <a:pt x="457" y="0"/>
                </a:lnTo>
                <a:lnTo>
                  <a:pt x="373" y="96"/>
                </a:lnTo>
                <a:lnTo>
                  <a:pt x="87" y="197"/>
                </a:lnTo>
                <a:lnTo>
                  <a:pt x="62" y="206"/>
                </a:lnTo>
                <a:lnTo>
                  <a:pt x="64" y="209"/>
                </a:lnTo>
                <a:lnTo>
                  <a:pt x="0" y="328"/>
                </a:lnTo>
                <a:lnTo>
                  <a:pt x="46" y="435"/>
                </a:lnTo>
                <a:lnTo>
                  <a:pt x="104" y="492"/>
                </a:lnTo>
                <a:lnTo>
                  <a:pt x="116" y="478"/>
                </a:lnTo>
                <a:lnTo>
                  <a:pt x="160" y="423"/>
                </a:lnTo>
                <a:lnTo>
                  <a:pt x="227" y="426"/>
                </a:lnTo>
                <a:lnTo>
                  <a:pt x="232" y="427"/>
                </a:lnTo>
                <a:lnTo>
                  <a:pt x="234" y="427"/>
                </a:lnTo>
                <a:lnTo>
                  <a:pt x="235" y="385"/>
                </a:lnTo>
                <a:lnTo>
                  <a:pt x="309" y="366"/>
                </a:lnTo>
                <a:lnTo>
                  <a:pt x="348" y="390"/>
                </a:lnTo>
                <a:lnTo>
                  <a:pt x="447" y="402"/>
                </a:lnTo>
                <a:lnTo>
                  <a:pt x="499" y="366"/>
                </a:lnTo>
                <a:lnTo>
                  <a:pt x="715" y="336"/>
                </a:lnTo>
                <a:lnTo>
                  <a:pt x="572" y="169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3" name="Freeform 186">
            <a:extLst>
              <a:ext uri="{FF2B5EF4-FFF2-40B4-BE49-F238E27FC236}">
                <a16:creationId xmlns:a16="http://schemas.microsoft.com/office/drawing/2014/main" id="{2B79E55C-DBC2-5501-0AD1-7406DC126C00}"/>
              </a:ext>
            </a:extLst>
          </p:cNvPr>
          <p:cNvSpPr>
            <a:spLocks/>
          </p:cNvSpPr>
          <p:nvPr/>
        </p:nvSpPr>
        <p:spPr bwMode="auto">
          <a:xfrm>
            <a:off x="4846729" y="3502011"/>
            <a:ext cx="126516" cy="114790"/>
          </a:xfrm>
          <a:custGeom>
            <a:avLst/>
            <a:gdLst/>
            <a:ahLst/>
            <a:cxnLst>
              <a:cxn ang="0">
                <a:pos x="307" y="132"/>
              </a:cxn>
              <a:cxn ang="0">
                <a:pos x="259" y="3"/>
              </a:cxn>
              <a:cxn ang="0">
                <a:pos x="258" y="0"/>
              </a:cxn>
              <a:cxn ang="0">
                <a:pos x="253" y="1"/>
              </a:cxn>
              <a:cxn ang="0">
                <a:pos x="133" y="27"/>
              </a:cxn>
              <a:cxn ang="0">
                <a:pos x="92" y="13"/>
              </a:cxn>
              <a:cxn ang="0">
                <a:pos x="71" y="25"/>
              </a:cxn>
              <a:cxn ang="0">
                <a:pos x="74" y="52"/>
              </a:cxn>
              <a:cxn ang="0">
                <a:pos x="80" y="138"/>
              </a:cxn>
              <a:cxn ang="0">
                <a:pos x="2" y="247"/>
              </a:cxn>
              <a:cxn ang="0">
                <a:pos x="9" y="278"/>
              </a:cxn>
              <a:cxn ang="0">
                <a:pos x="0" y="292"/>
              </a:cxn>
              <a:cxn ang="0">
                <a:pos x="48" y="294"/>
              </a:cxn>
              <a:cxn ang="0">
                <a:pos x="55" y="294"/>
              </a:cxn>
              <a:cxn ang="0">
                <a:pos x="106" y="296"/>
              </a:cxn>
              <a:cxn ang="0">
                <a:pos x="124" y="276"/>
              </a:cxn>
              <a:cxn ang="0">
                <a:pos x="233" y="279"/>
              </a:cxn>
              <a:cxn ang="0">
                <a:pos x="242" y="280"/>
              </a:cxn>
              <a:cxn ang="0">
                <a:pos x="253" y="285"/>
              </a:cxn>
              <a:cxn ang="0">
                <a:pos x="243" y="214"/>
              </a:cxn>
              <a:cxn ang="0">
                <a:pos x="307" y="132"/>
              </a:cxn>
            </a:cxnLst>
            <a:rect l="0" t="0" r="r" b="b"/>
            <a:pathLst>
              <a:path w="307" h="296">
                <a:moveTo>
                  <a:pt x="307" y="132"/>
                </a:moveTo>
                <a:lnTo>
                  <a:pt x="259" y="3"/>
                </a:lnTo>
                <a:lnTo>
                  <a:pt x="258" y="0"/>
                </a:lnTo>
                <a:lnTo>
                  <a:pt x="253" y="1"/>
                </a:lnTo>
                <a:lnTo>
                  <a:pt x="133" y="27"/>
                </a:lnTo>
                <a:lnTo>
                  <a:pt x="92" y="13"/>
                </a:lnTo>
                <a:lnTo>
                  <a:pt x="71" y="25"/>
                </a:lnTo>
                <a:lnTo>
                  <a:pt x="74" y="52"/>
                </a:lnTo>
                <a:lnTo>
                  <a:pt x="80" y="138"/>
                </a:lnTo>
                <a:lnTo>
                  <a:pt x="2" y="247"/>
                </a:lnTo>
                <a:lnTo>
                  <a:pt x="9" y="278"/>
                </a:lnTo>
                <a:lnTo>
                  <a:pt x="0" y="292"/>
                </a:lnTo>
                <a:lnTo>
                  <a:pt x="48" y="294"/>
                </a:lnTo>
                <a:lnTo>
                  <a:pt x="55" y="294"/>
                </a:lnTo>
                <a:lnTo>
                  <a:pt x="106" y="296"/>
                </a:lnTo>
                <a:lnTo>
                  <a:pt x="124" y="276"/>
                </a:lnTo>
                <a:lnTo>
                  <a:pt x="233" y="279"/>
                </a:lnTo>
                <a:lnTo>
                  <a:pt x="242" y="280"/>
                </a:lnTo>
                <a:lnTo>
                  <a:pt x="253" y="285"/>
                </a:lnTo>
                <a:lnTo>
                  <a:pt x="243" y="214"/>
                </a:lnTo>
                <a:lnTo>
                  <a:pt x="307" y="132"/>
                </a:lnTo>
                <a:close/>
              </a:path>
            </a:pathLst>
          </a:custGeom>
          <a:solidFill>
            <a:srgbClr val="D9D9D9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4" name="Freeform 187">
            <a:extLst>
              <a:ext uri="{FF2B5EF4-FFF2-40B4-BE49-F238E27FC236}">
                <a16:creationId xmlns:a16="http://schemas.microsoft.com/office/drawing/2014/main" id="{9791D050-212B-8C32-3A79-A4CB67C243A3}"/>
              </a:ext>
            </a:extLst>
          </p:cNvPr>
          <p:cNvSpPr>
            <a:spLocks/>
          </p:cNvSpPr>
          <p:nvPr/>
        </p:nvSpPr>
        <p:spPr bwMode="auto">
          <a:xfrm>
            <a:off x="4320687" y="2768284"/>
            <a:ext cx="94889" cy="153570"/>
          </a:xfrm>
          <a:custGeom>
            <a:avLst/>
            <a:gdLst/>
            <a:ahLst/>
            <a:cxnLst>
              <a:cxn ang="0">
                <a:pos x="221" y="248"/>
              </a:cxn>
              <a:cxn ang="0">
                <a:pos x="215" y="247"/>
              </a:cxn>
              <a:cxn ang="0">
                <a:pos x="153" y="187"/>
              </a:cxn>
              <a:cxn ang="0">
                <a:pos x="192" y="117"/>
              </a:cxn>
              <a:cxn ang="0">
                <a:pos x="167" y="54"/>
              </a:cxn>
              <a:cxn ang="0">
                <a:pos x="172" y="19"/>
              </a:cxn>
              <a:cxn ang="0">
                <a:pos x="127" y="0"/>
              </a:cxn>
              <a:cxn ang="0">
                <a:pos x="30" y="22"/>
              </a:cxn>
              <a:cxn ang="0">
                <a:pos x="29" y="22"/>
              </a:cxn>
              <a:cxn ang="0">
                <a:pos x="45" y="135"/>
              </a:cxn>
              <a:cxn ang="0">
                <a:pos x="0" y="189"/>
              </a:cxn>
              <a:cxn ang="0">
                <a:pos x="45" y="293"/>
              </a:cxn>
              <a:cxn ang="0">
                <a:pos x="73" y="296"/>
              </a:cxn>
              <a:cxn ang="0">
                <a:pos x="106" y="381"/>
              </a:cxn>
              <a:cxn ang="0">
                <a:pos x="112" y="396"/>
              </a:cxn>
              <a:cxn ang="0">
                <a:pos x="139" y="384"/>
              </a:cxn>
              <a:cxn ang="0">
                <a:pos x="226" y="249"/>
              </a:cxn>
              <a:cxn ang="0">
                <a:pos x="221" y="248"/>
              </a:cxn>
            </a:cxnLst>
            <a:rect l="0" t="0" r="r" b="b"/>
            <a:pathLst>
              <a:path w="226" h="396">
                <a:moveTo>
                  <a:pt x="221" y="248"/>
                </a:moveTo>
                <a:lnTo>
                  <a:pt x="215" y="247"/>
                </a:lnTo>
                <a:lnTo>
                  <a:pt x="153" y="187"/>
                </a:lnTo>
                <a:lnTo>
                  <a:pt x="192" y="117"/>
                </a:lnTo>
                <a:lnTo>
                  <a:pt x="167" y="54"/>
                </a:lnTo>
                <a:lnTo>
                  <a:pt x="172" y="19"/>
                </a:lnTo>
                <a:lnTo>
                  <a:pt x="127" y="0"/>
                </a:lnTo>
                <a:lnTo>
                  <a:pt x="30" y="22"/>
                </a:lnTo>
                <a:lnTo>
                  <a:pt x="29" y="22"/>
                </a:lnTo>
                <a:lnTo>
                  <a:pt x="45" y="135"/>
                </a:lnTo>
                <a:lnTo>
                  <a:pt x="0" y="189"/>
                </a:lnTo>
                <a:lnTo>
                  <a:pt x="45" y="293"/>
                </a:lnTo>
                <a:lnTo>
                  <a:pt x="73" y="296"/>
                </a:lnTo>
                <a:lnTo>
                  <a:pt x="106" y="381"/>
                </a:lnTo>
                <a:lnTo>
                  <a:pt x="112" y="396"/>
                </a:lnTo>
                <a:lnTo>
                  <a:pt x="139" y="384"/>
                </a:lnTo>
                <a:lnTo>
                  <a:pt x="226" y="249"/>
                </a:lnTo>
                <a:lnTo>
                  <a:pt x="221" y="248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5" name="Freeform 188">
            <a:extLst>
              <a:ext uri="{FF2B5EF4-FFF2-40B4-BE49-F238E27FC236}">
                <a16:creationId xmlns:a16="http://schemas.microsoft.com/office/drawing/2014/main" id="{D618BCF9-BAFA-82FC-0ACD-F847612D4D88}"/>
              </a:ext>
            </a:extLst>
          </p:cNvPr>
          <p:cNvSpPr>
            <a:spLocks/>
          </p:cNvSpPr>
          <p:nvPr/>
        </p:nvSpPr>
        <p:spPr bwMode="auto">
          <a:xfrm>
            <a:off x="4468844" y="3086283"/>
            <a:ext cx="243045" cy="341268"/>
          </a:xfrm>
          <a:custGeom>
            <a:avLst/>
            <a:gdLst/>
            <a:ahLst/>
            <a:cxnLst>
              <a:cxn ang="0">
                <a:pos x="584" y="412"/>
              </a:cxn>
              <a:cxn ang="0">
                <a:pos x="571" y="221"/>
              </a:cxn>
              <a:cxn ang="0">
                <a:pos x="566" y="205"/>
              </a:cxn>
              <a:cxn ang="0">
                <a:pos x="565" y="211"/>
              </a:cxn>
              <a:cxn ang="0">
                <a:pos x="121" y="0"/>
              </a:cxn>
              <a:cxn ang="0">
                <a:pos x="73" y="21"/>
              </a:cxn>
              <a:cxn ang="0">
                <a:pos x="92" y="106"/>
              </a:cxn>
              <a:cxn ang="0">
                <a:pos x="143" y="169"/>
              </a:cxn>
              <a:cxn ang="0">
                <a:pos x="117" y="350"/>
              </a:cxn>
              <a:cxn ang="0">
                <a:pos x="105" y="367"/>
              </a:cxn>
              <a:cxn ang="0">
                <a:pos x="0" y="512"/>
              </a:cxn>
              <a:cxn ang="0">
                <a:pos x="20" y="537"/>
              </a:cxn>
              <a:cxn ang="0">
                <a:pos x="22" y="540"/>
              </a:cxn>
              <a:cxn ang="0">
                <a:pos x="61" y="590"/>
              </a:cxn>
              <a:cxn ang="0">
                <a:pos x="70" y="598"/>
              </a:cxn>
              <a:cxn ang="0">
                <a:pos x="75" y="603"/>
              </a:cxn>
              <a:cxn ang="0">
                <a:pos x="84" y="612"/>
              </a:cxn>
              <a:cxn ang="0">
                <a:pos x="114" y="756"/>
              </a:cxn>
              <a:cxn ang="0">
                <a:pos x="55" y="780"/>
              </a:cxn>
              <a:cxn ang="0">
                <a:pos x="127" y="875"/>
              </a:cxn>
              <a:cxn ang="0">
                <a:pos x="133" y="883"/>
              </a:cxn>
              <a:cxn ang="0">
                <a:pos x="158" y="874"/>
              </a:cxn>
              <a:cxn ang="0">
                <a:pos x="444" y="773"/>
              </a:cxn>
              <a:cxn ang="0">
                <a:pos x="528" y="677"/>
              </a:cxn>
              <a:cxn ang="0">
                <a:pos x="516" y="658"/>
              </a:cxn>
              <a:cxn ang="0">
                <a:pos x="476" y="590"/>
              </a:cxn>
              <a:cxn ang="0">
                <a:pos x="529" y="414"/>
              </a:cxn>
              <a:cxn ang="0">
                <a:pos x="584" y="412"/>
              </a:cxn>
            </a:cxnLst>
            <a:rect l="0" t="0" r="r" b="b"/>
            <a:pathLst>
              <a:path w="584" h="883">
                <a:moveTo>
                  <a:pt x="584" y="412"/>
                </a:moveTo>
                <a:lnTo>
                  <a:pt x="571" y="221"/>
                </a:lnTo>
                <a:lnTo>
                  <a:pt x="566" y="205"/>
                </a:lnTo>
                <a:lnTo>
                  <a:pt x="565" y="211"/>
                </a:lnTo>
                <a:lnTo>
                  <a:pt x="121" y="0"/>
                </a:lnTo>
                <a:lnTo>
                  <a:pt x="73" y="21"/>
                </a:lnTo>
                <a:lnTo>
                  <a:pt x="92" y="106"/>
                </a:lnTo>
                <a:lnTo>
                  <a:pt x="143" y="169"/>
                </a:lnTo>
                <a:lnTo>
                  <a:pt x="117" y="350"/>
                </a:lnTo>
                <a:lnTo>
                  <a:pt x="105" y="367"/>
                </a:lnTo>
                <a:lnTo>
                  <a:pt x="0" y="512"/>
                </a:lnTo>
                <a:lnTo>
                  <a:pt x="20" y="537"/>
                </a:lnTo>
                <a:lnTo>
                  <a:pt x="22" y="540"/>
                </a:lnTo>
                <a:lnTo>
                  <a:pt x="61" y="590"/>
                </a:lnTo>
                <a:lnTo>
                  <a:pt x="70" y="598"/>
                </a:lnTo>
                <a:lnTo>
                  <a:pt x="75" y="603"/>
                </a:lnTo>
                <a:lnTo>
                  <a:pt x="84" y="612"/>
                </a:lnTo>
                <a:lnTo>
                  <a:pt x="114" y="756"/>
                </a:lnTo>
                <a:lnTo>
                  <a:pt x="55" y="780"/>
                </a:lnTo>
                <a:lnTo>
                  <a:pt x="127" y="875"/>
                </a:lnTo>
                <a:lnTo>
                  <a:pt x="133" y="883"/>
                </a:lnTo>
                <a:lnTo>
                  <a:pt x="158" y="874"/>
                </a:lnTo>
                <a:lnTo>
                  <a:pt x="444" y="773"/>
                </a:lnTo>
                <a:lnTo>
                  <a:pt x="528" y="677"/>
                </a:lnTo>
                <a:lnTo>
                  <a:pt x="516" y="658"/>
                </a:lnTo>
                <a:lnTo>
                  <a:pt x="476" y="590"/>
                </a:lnTo>
                <a:lnTo>
                  <a:pt x="529" y="414"/>
                </a:lnTo>
                <a:lnTo>
                  <a:pt x="584" y="412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6" name="Freeform 189">
            <a:extLst>
              <a:ext uri="{FF2B5EF4-FFF2-40B4-BE49-F238E27FC236}">
                <a16:creationId xmlns:a16="http://schemas.microsoft.com/office/drawing/2014/main" id="{3DFDB95E-1E1A-4115-8D76-E9CB61AC4055}"/>
              </a:ext>
            </a:extLst>
          </p:cNvPr>
          <p:cNvSpPr>
            <a:spLocks/>
          </p:cNvSpPr>
          <p:nvPr/>
        </p:nvSpPr>
        <p:spPr bwMode="auto">
          <a:xfrm>
            <a:off x="4170865" y="3356193"/>
            <a:ext cx="34958" cy="116340"/>
          </a:xfrm>
          <a:custGeom>
            <a:avLst/>
            <a:gdLst/>
            <a:ahLst/>
            <a:cxnLst>
              <a:cxn ang="0">
                <a:pos x="47" y="0"/>
              </a:cxn>
              <a:cxn ang="0">
                <a:pos x="44" y="3"/>
              </a:cxn>
              <a:cxn ang="0">
                <a:pos x="37" y="11"/>
              </a:cxn>
              <a:cxn ang="0">
                <a:pos x="1" y="13"/>
              </a:cxn>
              <a:cxn ang="0">
                <a:pos x="0" y="13"/>
              </a:cxn>
              <a:cxn ang="0">
                <a:pos x="10" y="198"/>
              </a:cxn>
              <a:cxn ang="0">
                <a:pos x="28" y="298"/>
              </a:cxn>
              <a:cxn ang="0">
                <a:pos x="30" y="296"/>
              </a:cxn>
              <a:cxn ang="0">
                <a:pos x="39" y="289"/>
              </a:cxn>
              <a:cxn ang="0">
                <a:pos x="73" y="281"/>
              </a:cxn>
              <a:cxn ang="0">
                <a:pos x="78" y="280"/>
              </a:cxn>
              <a:cxn ang="0">
                <a:pos x="84" y="99"/>
              </a:cxn>
              <a:cxn ang="0">
                <a:pos x="47" y="0"/>
              </a:cxn>
            </a:cxnLst>
            <a:rect l="0" t="0" r="r" b="b"/>
            <a:pathLst>
              <a:path w="84" h="298">
                <a:moveTo>
                  <a:pt x="47" y="0"/>
                </a:moveTo>
                <a:lnTo>
                  <a:pt x="44" y="3"/>
                </a:lnTo>
                <a:lnTo>
                  <a:pt x="37" y="11"/>
                </a:lnTo>
                <a:lnTo>
                  <a:pt x="1" y="13"/>
                </a:lnTo>
                <a:lnTo>
                  <a:pt x="0" y="13"/>
                </a:lnTo>
                <a:lnTo>
                  <a:pt x="10" y="198"/>
                </a:lnTo>
                <a:lnTo>
                  <a:pt x="28" y="298"/>
                </a:lnTo>
                <a:lnTo>
                  <a:pt x="30" y="296"/>
                </a:lnTo>
                <a:lnTo>
                  <a:pt x="39" y="289"/>
                </a:lnTo>
                <a:lnTo>
                  <a:pt x="73" y="281"/>
                </a:lnTo>
                <a:lnTo>
                  <a:pt x="78" y="280"/>
                </a:lnTo>
                <a:lnTo>
                  <a:pt x="84" y="99"/>
                </a:lnTo>
                <a:lnTo>
                  <a:pt x="47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7" name="Freeform 190">
            <a:extLst>
              <a:ext uri="{FF2B5EF4-FFF2-40B4-BE49-F238E27FC236}">
                <a16:creationId xmlns:a16="http://schemas.microsoft.com/office/drawing/2014/main" id="{841A6954-F455-49ED-76E9-0DB21F4E291F}"/>
              </a:ext>
            </a:extLst>
          </p:cNvPr>
          <p:cNvSpPr>
            <a:spLocks/>
          </p:cNvSpPr>
          <p:nvPr/>
        </p:nvSpPr>
        <p:spPr bwMode="auto">
          <a:xfrm>
            <a:off x="4840072" y="3609044"/>
            <a:ext cx="251369" cy="238888"/>
          </a:xfrm>
          <a:custGeom>
            <a:avLst/>
            <a:gdLst/>
            <a:ahLst/>
            <a:cxnLst>
              <a:cxn ang="0">
                <a:pos x="600" y="556"/>
              </a:cxn>
              <a:cxn ang="0">
                <a:pos x="549" y="428"/>
              </a:cxn>
              <a:cxn ang="0">
                <a:pos x="556" y="329"/>
              </a:cxn>
              <a:cxn ang="0">
                <a:pos x="524" y="298"/>
              </a:cxn>
              <a:cxn ang="0">
                <a:pos x="561" y="213"/>
              </a:cxn>
              <a:cxn ang="0">
                <a:pos x="562" y="210"/>
              </a:cxn>
              <a:cxn ang="0">
                <a:pos x="483" y="171"/>
              </a:cxn>
              <a:cxn ang="0">
                <a:pos x="470" y="119"/>
              </a:cxn>
              <a:cxn ang="0">
                <a:pos x="266" y="9"/>
              </a:cxn>
              <a:cxn ang="0">
                <a:pos x="255" y="4"/>
              </a:cxn>
              <a:cxn ang="0">
                <a:pos x="246" y="3"/>
              </a:cxn>
              <a:cxn ang="0">
                <a:pos x="137" y="0"/>
              </a:cxn>
              <a:cxn ang="0">
                <a:pos x="119" y="20"/>
              </a:cxn>
              <a:cxn ang="0">
                <a:pos x="68" y="18"/>
              </a:cxn>
              <a:cxn ang="0">
                <a:pos x="73" y="45"/>
              </a:cxn>
              <a:cxn ang="0">
                <a:pos x="79" y="79"/>
              </a:cxn>
              <a:cxn ang="0">
                <a:pos x="72" y="103"/>
              </a:cxn>
              <a:cxn ang="0">
                <a:pos x="88" y="124"/>
              </a:cxn>
              <a:cxn ang="0">
                <a:pos x="68" y="169"/>
              </a:cxn>
              <a:cxn ang="0">
                <a:pos x="31" y="195"/>
              </a:cxn>
              <a:cxn ang="0">
                <a:pos x="0" y="195"/>
              </a:cxn>
              <a:cxn ang="0">
                <a:pos x="4" y="295"/>
              </a:cxn>
              <a:cxn ang="0">
                <a:pos x="70" y="408"/>
              </a:cxn>
              <a:cxn ang="0">
                <a:pos x="72" y="407"/>
              </a:cxn>
              <a:cxn ang="0">
                <a:pos x="213" y="484"/>
              </a:cxn>
              <a:cxn ang="0">
                <a:pos x="218" y="496"/>
              </a:cxn>
              <a:cxn ang="0">
                <a:pos x="277" y="477"/>
              </a:cxn>
              <a:cxn ang="0">
                <a:pos x="307" y="585"/>
              </a:cxn>
              <a:cxn ang="0">
                <a:pos x="308" y="590"/>
              </a:cxn>
              <a:cxn ang="0">
                <a:pos x="308" y="591"/>
              </a:cxn>
              <a:cxn ang="0">
                <a:pos x="388" y="616"/>
              </a:cxn>
              <a:cxn ang="0">
                <a:pos x="603" y="564"/>
              </a:cxn>
              <a:cxn ang="0">
                <a:pos x="600" y="556"/>
              </a:cxn>
            </a:cxnLst>
            <a:rect l="0" t="0" r="r" b="b"/>
            <a:pathLst>
              <a:path w="603" h="616">
                <a:moveTo>
                  <a:pt x="600" y="556"/>
                </a:moveTo>
                <a:lnTo>
                  <a:pt x="549" y="428"/>
                </a:lnTo>
                <a:lnTo>
                  <a:pt x="556" y="329"/>
                </a:lnTo>
                <a:lnTo>
                  <a:pt x="524" y="298"/>
                </a:lnTo>
                <a:lnTo>
                  <a:pt x="561" y="213"/>
                </a:lnTo>
                <a:lnTo>
                  <a:pt x="562" y="210"/>
                </a:lnTo>
                <a:lnTo>
                  <a:pt x="483" y="171"/>
                </a:lnTo>
                <a:lnTo>
                  <a:pt x="470" y="119"/>
                </a:lnTo>
                <a:lnTo>
                  <a:pt x="266" y="9"/>
                </a:lnTo>
                <a:lnTo>
                  <a:pt x="255" y="4"/>
                </a:lnTo>
                <a:lnTo>
                  <a:pt x="246" y="3"/>
                </a:lnTo>
                <a:lnTo>
                  <a:pt x="137" y="0"/>
                </a:lnTo>
                <a:lnTo>
                  <a:pt x="119" y="20"/>
                </a:lnTo>
                <a:lnTo>
                  <a:pt x="68" y="18"/>
                </a:lnTo>
                <a:lnTo>
                  <a:pt x="73" y="45"/>
                </a:lnTo>
                <a:lnTo>
                  <a:pt x="79" y="79"/>
                </a:lnTo>
                <a:lnTo>
                  <a:pt x="72" y="103"/>
                </a:lnTo>
                <a:lnTo>
                  <a:pt x="88" y="124"/>
                </a:lnTo>
                <a:lnTo>
                  <a:pt x="68" y="169"/>
                </a:lnTo>
                <a:lnTo>
                  <a:pt x="31" y="195"/>
                </a:lnTo>
                <a:lnTo>
                  <a:pt x="0" y="195"/>
                </a:lnTo>
                <a:lnTo>
                  <a:pt x="4" y="295"/>
                </a:lnTo>
                <a:lnTo>
                  <a:pt x="70" y="408"/>
                </a:lnTo>
                <a:lnTo>
                  <a:pt x="72" y="407"/>
                </a:lnTo>
                <a:lnTo>
                  <a:pt x="213" y="484"/>
                </a:lnTo>
                <a:lnTo>
                  <a:pt x="218" y="496"/>
                </a:lnTo>
                <a:lnTo>
                  <a:pt x="277" y="477"/>
                </a:lnTo>
                <a:lnTo>
                  <a:pt x="307" y="585"/>
                </a:lnTo>
                <a:lnTo>
                  <a:pt x="308" y="590"/>
                </a:lnTo>
                <a:lnTo>
                  <a:pt x="308" y="591"/>
                </a:lnTo>
                <a:lnTo>
                  <a:pt x="388" y="616"/>
                </a:lnTo>
                <a:lnTo>
                  <a:pt x="603" y="564"/>
                </a:lnTo>
                <a:lnTo>
                  <a:pt x="600" y="556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8" name="Freeform 191">
            <a:extLst>
              <a:ext uri="{FF2B5EF4-FFF2-40B4-BE49-F238E27FC236}">
                <a16:creationId xmlns:a16="http://schemas.microsoft.com/office/drawing/2014/main" id="{7A394B90-2BD5-D3BB-B21C-101C736F0B58}"/>
              </a:ext>
            </a:extLst>
          </p:cNvPr>
          <p:cNvSpPr>
            <a:spLocks/>
          </p:cNvSpPr>
          <p:nvPr/>
        </p:nvSpPr>
        <p:spPr bwMode="auto">
          <a:xfrm>
            <a:off x="4856717" y="4155072"/>
            <a:ext cx="33294" cy="35677"/>
          </a:xfrm>
          <a:custGeom>
            <a:avLst/>
            <a:gdLst/>
            <a:ahLst/>
            <a:cxnLst>
              <a:cxn ang="0">
                <a:pos x="77" y="56"/>
              </a:cxn>
              <a:cxn ang="0">
                <a:pos x="71" y="10"/>
              </a:cxn>
              <a:cxn ang="0">
                <a:pos x="31" y="0"/>
              </a:cxn>
              <a:cxn ang="0">
                <a:pos x="2" y="47"/>
              </a:cxn>
              <a:cxn ang="0">
                <a:pos x="0" y="50"/>
              </a:cxn>
              <a:cxn ang="0">
                <a:pos x="39" y="93"/>
              </a:cxn>
              <a:cxn ang="0">
                <a:pos x="78" y="59"/>
              </a:cxn>
              <a:cxn ang="0">
                <a:pos x="77" y="56"/>
              </a:cxn>
            </a:cxnLst>
            <a:rect l="0" t="0" r="r" b="b"/>
            <a:pathLst>
              <a:path w="78" h="93">
                <a:moveTo>
                  <a:pt x="77" y="56"/>
                </a:moveTo>
                <a:lnTo>
                  <a:pt x="71" y="10"/>
                </a:lnTo>
                <a:lnTo>
                  <a:pt x="31" y="0"/>
                </a:lnTo>
                <a:lnTo>
                  <a:pt x="2" y="47"/>
                </a:lnTo>
                <a:lnTo>
                  <a:pt x="0" y="50"/>
                </a:lnTo>
                <a:lnTo>
                  <a:pt x="39" y="93"/>
                </a:lnTo>
                <a:lnTo>
                  <a:pt x="78" y="59"/>
                </a:lnTo>
                <a:lnTo>
                  <a:pt x="77" y="5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09" name="Freeform 192">
            <a:extLst>
              <a:ext uri="{FF2B5EF4-FFF2-40B4-BE49-F238E27FC236}">
                <a16:creationId xmlns:a16="http://schemas.microsoft.com/office/drawing/2014/main" id="{33AE78E9-F02F-AE8B-B090-3655F89D6CEF}"/>
              </a:ext>
            </a:extLst>
          </p:cNvPr>
          <p:cNvSpPr>
            <a:spLocks noEditPoints="1"/>
          </p:cNvSpPr>
          <p:nvPr/>
        </p:nvSpPr>
        <p:spPr bwMode="auto">
          <a:xfrm>
            <a:off x="4523779" y="4074407"/>
            <a:ext cx="381215" cy="297834"/>
          </a:xfrm>
          <a:custGeom>
            <a:avLst/>
            <a:gdLst/>
            <a:ahLst/>
            <a:cxnLst>
              <a:cxn ang="0">
                <a:pos x="622" y="489"/>
              </a:cxn>
              <a:cxn ang="0">
                <a:pos x="591" y="444"/>
              </a:cxn>
              <a:cxn ang="0">
                <a:pos x="676" y="399"/>
              </a:cxn>
              <a:cxn ang="0">
                <a:pos x="720" y="436"/>
              </a:cxn>
              <a:cxn ang="0">
                <a:pos x="622" y="489"/>
              </a:cxn>
              <a:cxn ang="0">
                <a:pos x="879" y="268"/>
              </a:cxn>
              <a:cxn ang="0">
                <a:pos x="840" y="302"/>
              </a:cxn>
              <a:cxn ang="0">
                <a:pos x="801" y="259"/>
              </a:cxn>
              <a:cxn ang="0">
                <a:pos x="803" y="256"/>
              </a:cxn>
              <a:cxn ang="0">
                <a:pos x="832" y="209"/>
              </a:cxn>
              <a:cxn ang="0">
                <a:pos x="872" y="219"/>
              </a:cxn>
              <a:cxn ang="0">
                <a:pos x="847" y="24"/>
              </a:cxn>
              <a:cxn ang="0">
                <a:pos x="847" y="23"/>
              </a:cxn>
              <a:cxn ang="0">
                <a:pos x="792" y="10"/>
              </a:cxn>
              <a:cxn ang="0">
                <a:pos x="743" y="0"/>
              </a:cxn>
              <a:cxn ang="0">
                <a:pos x="743" y="1"/>
              </a:cxn>
              <a:cxn ang="0">
                <a:pos x="742" y="1"/>
              </a:cxn>
              <a:cxn ang="0">
                <a:pos x="509" y="205"/>
              </a:cxn>
              <a:cxn ang="0">
                <a:pos x="496" y="215"/>
              </a:cxn>
              <a:cxn ang="0">
                <a:pos x="406" y="194"/>
              </a:cxn>
              <a:cxn ang="0">
                <a:pos x="314" y="274"/>
              </a:cxn>
              <a:cxn ang="0">
                <a:pos x="271" y="274"/>
              </a:cxn>
              <a:cxn ang="0">
                <a:pos x="266" y="188"/>
              </a:cxn>
              <a:cxn ang="0">
                <a:pos x="227" y="165"/>
              </a:cxn>
              <a:cxn ang="0">
                <a:pos x="217" y="386"/>
              </a:cxn>
              <a:cxn ang="0">
                <a:pos x="131" y="395"/>
              </a:cxn>
              <a:cxn ang="0">
                <a:pos x="0" y="371"/>
              </a:cxn>
              <a:cxn ang="0">
                <a:pos x="119" y="569"/>
              </a:cxn>
              <a:cxn ang="0">
                <a:pos x="101" y="651"/>
              </a:cxn>
              <a:cxn ang="0">
                <a:pos x="198" y="770"/>
              </a:cxn>
              <a:cxn ang="0">
                <a:pos x="377" y="716"/>
              </a:cxn>
              <a:cxn ang="0">
                <a:pos x="475" y="727"/>
              </a:cxn>
              <a:cxn ang="0">
                <a:pos x="614" y="670"/>
              </a:cxn>
              <a:cxn ang="0">
                <a:pos x="796" y="501"/>
              </a:cxn>
              <a:cxn ang="0">
                <a:pos x="850" y="415"/>
              </a:cxn>
              <a:cxn ang="0">
                <a:pos x="893" y="356"/>
              </a:cxn>
              <a:cxn ang="0">
                <a:pos x="916" y="274"/>
              </a:cxn>
              <a:cxn ang="0">
                <a:pos x="879" y="268"/>
              </a:cxn>
            </a:cxnLst>
            <a:rect l="0" t="0" r="r" b="b"/>
            <a:pathLst>
              <a:path w="916" h="770">
                <a:moveTo>
                  <a:pt x="622" y="489"/>
                </a:moveTo>
                <a:lnTo>
                  <a:pt x="591" y="444"/>
                </a:lnTo>
                <a:lnTo>
                  <a:pt x="676" y="399"/>
                </a:lnTo>
                <a:lnTo>
                  <a:pt x="720" y="436"/>
                </a:lnTo>
                <a:lnTo>
                  <a:pt x="622" y="489"/>
                </a:lnTo>
                <a:close/>
                <a:moveTo>
                  <a:pt x="879" y="268"/>
                </a:moveTo>
                <a:lnTo>
                  <a:pt x="840" y="302"/>
                </a:lnTo>
                <a:lnTo>
                  <a:pt x="801" y="259"/>
                </a:lnTo>
                <a:lnTo>
                  <a:pt x="803" y="256"/>
                </a:lnTo>
                <a:lnTo>
                  <a:pt x="832" y="209"/>
                </a:lnTo>
                <a:lnTo>
                  <a:pt x="872" y="219"/>
                </a:lnTo>
                <a:lnTo>
                  <a:pt x="847" y="24"/>
                </a:lnTo>
                <a:lnTo>
                  <a:pt x="847" y="23"/>
                </a:lnTo>
                <a:lnTo>
                  <a:pt x="792" y="10"/>
                </a:lnTo>
                <a:lnTo>
                  <a:pt x="743" y="0"/>
                </a:lnTo>
                <a:lnTo>
                  <a:pt x="743" y="1"/>
                </a:lnTo>
                <a:lnTo>
                  <a:pt x="742" y="1"/>
                </a:lnTo>
                <a:lnTo>
                  <a:pt x="509" y="205"/>
                </a:lnTo>
                <a:lnTo>
                  <a:pt x="496" y="215"/>
                </a:lnTo>
                <a:lnTo>
                  <a:pt x="406" y="194"/>
                </a:lnTo>
                <a:lnTo>
                  <a:pt x="314" y="274"/>
                </a:lnTo>
                <a:lnTo>
                  <a:pt x="271" y="274"/>
                </a:lnTo>
                <a:lnTo>
                  <a:pt x="266" y="188"/>
                </a:lnTo>
                <a:lnTo>
                  <a:pt x="227" y="165"/>
                </a:lnTo>
                <a:lnTo>
                  <a:pt x="217" y="386"/>
                </a:lnTo>
                <a:lnTo>
                  <a:pt x="131" y="395"/>
                </a:lnTo>
                <a:lnTo>
                  <a:pt x="0" y="371"/>
                </a:lnTo>
                <a:lnTo>
                  <a:pt x="119" y="569"/>
                </a:lnTo>
                <a:lnTo>
                  <a:pt x="101" y="651"/>
                </a:lnTo>
                <a:lnTo>
                  <a:pt x="198" y="770"/>
                </a:lnTo>
                <a:lnTo>
                  <a:pt x="377" y="716"/>
                </a:lnTo>
                <a:lnTo>
                  <a:pt x="475" y="727"/>
                </a:lnTo>
                <a:lnTo>
                  <a:pt x="614" y="670"/>
                </a:lnTo>
                <a:lnTo>
                  <a:pt x="796" y="501"/>
                </a:lnTo>
                <a:lnTo>
                  <a:pt x="850" y="415"/>
                </a:lnTo>
                <a:lnTo>
                  <a:pt x="893" y="356"/>
                </a:lnTo>
                <a:lnTo>
                  <a:pt x="916" y="274"/>
                </a:lnTo>
                <a:lnTo>
                  <a:pt x="879" y="268"/>
                </a:lnTo>
                <a:close/>
              </a:path>
            </a:pathLst>
          </a:custGeom>
          <a:solidFill>
            <a:srgbClr val="7030A0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0" name="Freeform 193">
            <a:extLst>
              <a:ext uri="{FF2B5EF4-FFF2-40B4-BE49-F238E27FC236}">
                <a16:creationId xmlns:a16="http://schemas.microsoft.com/office/drawing/2014/main" id="{35CAA137-91FC-FF51-C978-65692ACEA042}"/>
              </a:ext>
            </a:extLst>
          </p:cNvPr>
          <p:cNvSpPr>
            <a:spLocks/>
          </p:cNvSpPr>
          <p:nvPr/>
        </p:nvSpPr>
        <p:spPr bwMode="auto">
          <a:xfrm>
            <a:off x="4666943" y="3080078"/>
            <a:ext cx="367897" cy="432789"/>
          </a:xfrm>
          <a:custGeom>
            <a:avLst/>
            <a:gdLst/>
            <a:ahLst/>
            <a:cxnLst>
              <a:cxn ang="0">
                <a:pos x="885" y="301"/>
              </a:cxn>
              <a:cxn ang="0">
                <a:pos x="823" y="256"/>
              </a:cxn>
              <a:cxn ang="0">
                <a:pos x="778" y="66"/>
              </a:cxn>
              <a:cxn ang="0">
                <a:pos x="701" y="9"/>
              </a:cxn>
              <a:cxn ang="0">
                <a:pos x="698" y="0"/>
              </a:cxn>
              <a:cxn ang="0">
                <a:pos x="618" y="67"/>
              </a:cxn>
              <a:cxn ang="0">
                <a:pos x="138" y="79"/>
              </a:cxn>
              <a:cxn ang="0">
                <a:pos x="145" y="191"/>
              </a:cxn>
              <a:cxn ang="0">
                <a:pos x="94" y="192"/>
              </a:cxn>
              <a:cxn ang="0">
                <a:pos x="90" y="217"/>
              </a:cxn>
              <a:cxn ang="0">
                <a:pos x="94" y="230"/>
              </a:cxn>
              <a:cxn ang="0">
                <a:pos x="95" y="235"/>
              </a:cxn>
              <a:cxn ang="0">
                <a:pos x="108" y="426"/>
              </a:cxn>
              <a:cxn ang="0">
                <a:pos x="53" y="428"/>
              </a:cxn>
              <a:cxn ang="0">
                <a:pos x="0" y="604"/>
              </a:cxn>
              <a:cxn ang="0">
                <a:pos x="40" y="672"/>
              </a:cxn>
              <a:cxn ang="0">
                <a:pos x="52" y="691"/>
              </a:cxn>
              <a:cxn ang="0">
                <a:pos x="99" y="768"/>
              </a:cxn>
              <a:cxn ang="0">
                <a:pos x="84" y="828"/>
              </a:cxn>
              <a:cxn ang="0">
                <a:pos x="102" y="859"/>
              </a:cxn>
              <a:cxn ang="0">
                <a:pos x="167" y="860"/>
              </a:cxn>
              <a:cxn ang="0">
                <a:pos x="310" y="1027"/>
              </a:cxn>
              <a:cxn ang="0">
                <a:pos x="318" y="1026"/>
              </a:cxn>
              <a:cxn ang="0">
                <a:pos x="318" y="1026"/>
              </a:cxn>
              <a:cxn ang="0">
                <a:pos x="367" y="1069"/>
              </a:cxn>
              <a:cxn ang="0">
                <a:pos x="431" y="1046"/>
              </a:cxn>
              <a:cxn ang="0">
                <a:pos x="500" y="1112"/>
              </a:cxn>
              <a:cxn ang="0">
                <a:pos x="500" y="1113"/>
              </a:cxn>
              <a:cxn ang="0">
                <a:pos x="521" y="1101"/>
              </a:cxn>
              <a:cxn ang="0">
                <a:pos x="562" y="1115"/>
              </a:cxn>
              <a:cxn ang="0">
                <a:pos x="682" y="1089"/>
              </a:cxn>
              <a:cxn ang="0">
                <a:pos x="687" y="1088"/>
              </a:cxn>
              <a:cxn ang="0">
                <a:pos x="688" y="1091"/>
              </a:cxn>
              <a:cxn ang="0">
                <a:pos x="743" y="1036"/>
              </a:cxn>
              <a:cxn ang="0">
                <a:pos x="763" y="1062"/>
              </a:cxn>
              <a:cxn ang="0">
                <a:pos x="769" y="1059"/>
              </a:cxn>
              <a:cxn ang="0">
                <a:pos x="780" y="1052"/>
              </a:cxn>
              <a:cxn ang="0">
                <a:pos x="785" y="1049"/>
              </a:cxn>
              <a:cxn ang="0">
                <a:pos x="721" y="949"/>
              </a:cxn>
              <a:cxn ang="0">
                <a:pos x="694" y="909"/>
              </a:cxn>
              <a:cxn ang="0">
                <a:pos x="617" y="869"/>
              </a:cxn>
              <a:cxn ang="0">
                <a:pos x="623" y="838"/>
              </a:cxn>
              <a:cxn ang="0">
                <a:pos x="688" y="832"/>
              </a:cxn>
              <a:cxn ang="0">
                <a:pos x="700" y="697"/>
              </a:cxn>
              <a:cxn ang="0">
                <a:pos x="779" y="535"/>
              </a:cxn>
              <a:cxn ang="0">
                <a:pos x="785" y="522"/>
              </a:cxn>
              <a:cxn ang="0">
                <a:pos x="784" y="514"/>
              </a:cxn>
              <a:cxn ang="0">
                <a:pos x="777" y="450"/>
              </a:cxn>
              <a:cxn ang="0">
                <a:pos x="828" y="345"/>
              </a:cxn>
              <a:cxn ang="0">
                <a:pos x="885" y="301"/>
              </a:cxn>
            </a:cxnLst>
            <a:rect l="0" t="0" r="r" b="b"/>
            <a:pathLst>
              <a:path w="885" h="1115">
                <a:moveTo>
                  <a:pt x="885" y="301"/>
                </a:moveTo>
                <a:lnTo>
                  <a:pt x="823" y="256"/>
                </a:lnTo>
                <a:lnTo>
                  <a:pt x="778" y="66"/>
                </a:lnTo>
                <a:lnTo>
                  <a:pt x="701" y="9"/>
                </a:lnTo>
                <a:lnTo>
                  <a:pt x="698" y="0"/>
                </a:lnTo>
                <a:lnTo>
                  <a:pt x="618" y="67"/>
                </a:lnTo>
                <a:lnTo>
                  <a:pt x="138" y="79"/>
                </a:lnTo>
                <a:lnTo>
                  <a:pt x="145" y="191"/>
                </a:lnTo>
                <a:lnTo>
                  <a:pt x="94" y="192"/>
                </a:lnTo>
                <a:lnTo>
                  <a:pt x="90" y="217"/>
                </a:lnTo>
                <a:lnTo>
                  <a:pt x="94" y="230"/>
                </a:lnTo>
                <a:lnTo>
                  <a:pt x="95" y="235"/>
                </a:lnTo>
                <a:lnTo>
                  <a:pt x="108" y="426"/>
                </a:lnTo>
                <a:lnTo>
                  <a:pt x="53" y="428"/>
                </a:lnTo>
                <a:lnTo>
                  <a:pt x="0" y="604"/>
                </a:lnTo>
                <a:lnTo>
                  <a:pt x="40" y="672"/>
                </a:lnTo>
                <a:lnTo>
                  <a:pt x="52" y="691"/>
                </a:lnTo>
                <a:lnTo>
                  <a:pt x="99" y="768"/>
                </a:lnTo>
                <a:lnTo>
                  <a:pt x="84" y="828"/>
                </a:lnTo>
                <a:lnTo>
                  <a:pt x="102" y="859"/>
                </a:lnTo>
                <a:lnTo>
                  <a:pt x="167" y="860"/>
                </a:lnTo>
                <a:lnTo>
                  <a:pt x="310" y="1027"/>
                </a:lnTo>
                <a:lnTo>
                  <a:pt x="318" y="1026"/>
                </a:lnTo>
                <a:lnTo>
                  <a:pt x="318" y="1026"/>
                </a:lnTo>
                <a:lnTo>
                  <a:pt x="367" y="1069"/>
                </a:lnTo>
                <a:lnTo>
                  <a:pt x="431" y="1046"/>
                </a:lnTo>
                <a:lnTo>
                  <a:pt x="500" y="1112"/>
                </a:lnTo>
                <a:lnTo>
                  <a:pt x="500" y="1113"/>
                </a:lnTo>
                <a:lnTo>
                  <a:pt x="521" y="1101"/>
                </a:lnTo>
                <a:lnTo>
                  <a:pt x="562" y="1115"/>
                </a:lnTo>
                <a:lnTo>
                  <a:pt x="682" y="1089"/>
                </a:lnTo>
                <a:lnTo>
                  <a:pt x="687" y="1088"/>
                </a:lnTo>
                <a:lnTo>
                  <a:pt x="688" y="1091"/>
                </a:lnTo>
                <a:lnTo>
                  <a:pt x="743" y="1036"/>
                </a:lnTo>
                <a:lnTo>
                  <a:pt x="763" y="1062"/>
                </a:lnTo>
                <a:lnTo>
                  <a:pt x="769" y="1059"/>
                </a:lnTo>
                <a:lnTo>
                  <a:pt x="780" y="1052"/>
                </a:lnTo>
                <a:lnTo>
                  <a:pt x="785" y="1049"/>
                </a:lnTo>
                <a:lnTo>
                  <a:pt x="721" y="949"/>
                </a:lnTo>
                <a:lnTo>
                  <a:pt x="694" y="909"/>
                </a:lnTo>
                <a:lnTo>
                  <a:pt x="617" y="869"/>
                </a:lnTo>
                <a:lnTo>
                  <a:pt x="623" y="838"/>
                </a:lnTo>
                <a:lnTo>
                  <a:pt x="688" y="832"/>
                </a:lnTo>
                <a:lnTo>
                  <a:pt x="700" y="697"/>
                </a:lnTo>
                <a:lnTo>
                  <a:pt x="779" y="535"/>
                </a:lnTo>
                <a:lnTo>
                  <a:pt x="785" y="522"/>
                </a:lnTo>
                <a:lnTo>
                  <a:pt x="784" y="514"/>
                </a:lnTo>
                <a:lnTo>
                  <a:pt x="777" y="450"/>
                </a:lnTo>
                <a:lnTo>
                  <a:pt x="828" y="345"/>
                </a:lnTo>
                <a:lnTo>
                  <a:pt x="885" y="30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1" name="Freeform 194">
            <a:extLst>
              <a:ext uri="{FF2B5EF4-FFF2-40B4-BE49-F238E27FC236}">
                <a16:creationId xmlns:a16="http://schemas.microsoft.com/office/drawing/2014/main" id="{5D25EC5E-6653-225F-E35D-586A8B8FC296}"/>
              </a:ext>
            </a:extLst>
          </p:cNvPr>
          <p:cNvSpPr>
            <a:spLocks/>
          </p:cNvSpPr>
          <p:nvPr/>
        </p:nvSpPr>
        <p:spPr bwMode="auto">
          <a:xfrm>
            <a:off x="5106420" y="3326721"/>
            <a:ext cx="224734" cy="296281"/>
          </a:xfrm>
          <a:custGeom>
            <a:avLst/>
            <a:gdLst/>
            <a:ahLst/>
            <a:cxnLst>
              <a:cxn ang="0">
                <a:pos x="535" y="0"/>
              </a:cxn>
              <a:cxn ang="0">
                <a:pos x="198" y="91"/>
              </a:cxn>
              <a:cxn ang="0">
                <a:pos x="133" y="55"/>
              </a:cxn>
              <a:cxn ang="0">
                <a:pos x="116" y="45"/>
              </a:cxn>
              <a:cxn ang="0">
                <a:pos x="115" y="40"/>
              </a:cxn>
              <a:cxn ang="0">
                <a:pos x="81" y="75"/>
              </a:cxn>
              <a:cxn ang="0">
                <a:pos x="83" y="79"/>
              </a:cxn>
              <a:cxn ang="0">
                <a:pos x="109" y="126"/>
              </a:cxn>
              <a:cxn ang="0">
                <a:pos x="377" y="225"/>
              </a:cxn>
              <a:cxn ang="0">
                <a:pos x="211" y="405"/>
              </a:cxn>
              <a:cxn ang="0">
                <a:pos x="38" y="476"/>
              </a:cxn>
              <a:cxn ang="0">
                <a:pos x="37" y="477"/>
              </a:cxn>
              <a:cxn ang="0">
                <a:pos x="36" y="480"/>
              </a:cxn>
              <a:cxn ang="0">
                <a:pos x="0" y="545"/>
              </a:cxn>
              <a:cxn ang="0">
                <a:pos x="0" y="595"/>
              </a:cxn>
              <a:cxn ang="0">
                <a:pos x="0" y="730"/>
              </a:cxn>
              <a:cxn ang="0">
                <a:pos x="41" y="765"/>
              </a:cxn>
              <a:cxn ang="0">
                <a:pos x="61" y="747"/>
              </a:cxn>
              <a:cxn ang="0">
                <a:pos x="101" y="707"/>
              </a:cxn>
              <a:cxn ang="0">
                <a:pos x="335" y="503"/>
              </a:cxn>
              <a:cxn ang="0">
                <a:pos x="468" y="250"/>
              </a:cxn>
              <a:cxn ang="0">
                <a:pos x="540" y="83"/>
              </a:cxn>
              <a:cxn ang="0">
                <a:pos x="535" y="0"/>
              </a:cxn>
            </a:cxnLst>
            <a:rect l="0" t="0" r="r" b="b"/>
            <a:pathLst>
              <a:path w="540" h="765">
                <a:moveTo>
                  <a:pt x="535" y="0"/>
                </a:moveTo>
                <a:lnTo>
                  <a:pt x="198" y="91"/>
                </a:lnTo>
                <a:lnTo>
                  <a:pt x="133" y="55"/>
                </a:lnTo>
                <a:lnTo>
                  <a:pt x="116" y="45"/>
                </a:lnTo>
                <a:lnTo>
                  <a:pt x="115" y="40"/>
                </a:lnTo>
                <a:lnTo>
                  <a:pt x="81" y="75"/>
                </a:lnTo>
                <a:lnTo>
                  <a:pt x="83" y="79"/>
                </a:lnTo>
                <a:lnTo>
                  <a:pt x="109" y="126"/>
                </a:lnTo>
                <a:lnTo>
                  <a:pt x="377" y="225"/>
                </a:lnTo>
                <a:lnTo>
                  <a:pt x="211" y="405"/>
                </a:lnTo>
                <a:lnTo>
                  <a:pt x="38" y="476"/>
                </a:lnTo>
                <a:lnTo>
                  <a:pt x="37" y="477"/>
                </a:lnTo>
                <a:lnTo>
                  <a:pt x="36" y="480"/>
                </a:lnTo>
                <a:lnTo>
                  <a:pt x="0" y="545"/>
                </a:lnTo>
                <a:lnTo>
                  <a:pt x="0" y="595"/>
                </a:lnTo>
                <a:lnTo>
                  <a:pt x="0" y="730"/>
                </a:lnTo>
                <a:lnTo>
                  <a:pt x="41" y="765"/>
                </a:lnTo>
                <a:lnTo>
                  <a:pt x="61" y="747"/>
                </a:lnTo>
                <a:lnTo>
                  <a:pt x="101" y="707"/>
                </a:lnTo>
                <a:lnTo>
                  <a:pt x="335" y="503"/>
                </a:lnTo>
                <a:lnTo>
                  <a:pt x="468" y="250"/>
                </a:lnTo>
                <a:lnTo>
                  <a:pt x="540" y="83"/>
                </a:lnTo>
                <a:lnTo>
                  <a:pt x="535" y="0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2" name="Freeform 195">
            <a:extLst>
              <a:ext uri="{FF2B5EF4-FFF2-40B4-BE49-F238E27FC236}">
                <a16:creationId xmlns:a16="http://schemas.microsoft.com/office/drawing/2014/main" id="{50F2CED9-1A48-EC5C-0590-FA8904AD884A}"/>
              </a:ext>
            </a:extLst>
          </p:cNvPr>
          <p:cNvSpPr>
            <a:spLocks/>
          </p:cNvSpPr>
          <p:nvPr/>
        </p:nvSpPr>
        <p:spPr bwMode="auto">
          <a:xfrm>
            <a:off x="4741855" y="3936350"/>
            <a:ext cx="174793" cy="147365"/>
          </a:xfrm>
          <a:custGeom>
            <a:avLst/>
            <a:gdLst/>
            <a:ahLst/>
            <a:cxnLst>
              <a:cxn ang="0">
                <a:pos x="422" y="41"/>
              </a:cxn>
              <a:cxn ang="0">
                <a:pos x="332" y="0"/>
              </a:cxn>
              <a:cxn ang="0">
                <a:pos x="310" y="0"/>
              </a:cxn>
              <a:cxn ang="0">
                <a:pos x="305" y="0"/>
              </a:cxn>
              <a:cxn ang="0">
                <a:pos x="211" y="0"/>
              </a:cxn>
              <a:cxn ang="0">
                <a:pos x="103" y="103"/>
              </a:cxn>
              <a:cxn ang="0">
                <a:pos x="9" y="113"/>
              </a:cxn>
              <a:cxn ang="0">
                <a:pos x="0" y="135"/>
              </a:cxn>
              <a:cxn ang="0">
                <a:pos x="0" y="135"/>
              </a:cxn>
              <a:cxn ang="0">
                <a:pos x="27" y="165"/>
              </a:cxn>
              <a:cxn ang="0">
                <a:pos x="122" y="269"/>
              </a:cxn>
              <a:cxn ang="0">
                <a:pos x="219" y="355"/>
              </a:cxn>
              <a:cxn ang="0">
                <a:pos x="220" y="355"/>
              </a:cxn>
              <a:cxn ang="0">
                <a:pos x="220" y="354"/>
              </a:cxn>
              <a:cxn ang="0">
                <a:pos x="269" y="364"/>
              </a:cxn>
              <a:cxn ang="0">
                <a:pos x="324" y="377"/>
              </a:cxn>
              <a:cxn ang="0">
                <a:pos x="324" y="378"/>
              </a:cxn>
              <a:cxn ang="0">
                <a:pos x="422" y="220"/>
              </a:cxn>
              <a:cxn ang="0">
                <a:pos x="413" y="189"/>
              </a:cxn>
              <a:cxn ang="0">
                <a:pos x="422" y="41"/>
              </a:cxn>
            </a:cxnLst>
            <a:rect l="0" t="0" r="r" b="b"/>
            <a:pathLst>
              <a:path w="422" h="378">
                <a:moveTo>
                  <a:pt x="422" y="41"/>
                </a:moveTo>
                <a:lnTo>
                  <a:pt x="332" y="0"/>
                </a:lnTo>
                <a:lnTo>
                  <a:pt x="310" y="0"/>
                </a:lnTo>
                <a:lnTo>
                  <a:pt x="305" y="0"/>
                </a:lnTo>
                <a:lnTo>
                  <a:pt x="211" y="0"/>
                </a:lnTo>
                <a:lnTo>
                  <a:pt x="103" y="103"/>
                </a:lnTo>
                <a:lnTo>
                  <a:pt x="9" y="113"/>
                </a:lnTo>
                <a:lnTo>
                  <a:pt x="0" y="135"/>
                </a:lnTo>
                <a:lnTo>
                  <a:pt x="0" y="135"/>
                </a:lnTo>
                <a:lnTo>
                  <a:pt x="27" y="165"/>
                </a:lnTo>
                <a:lnTo>
                  <a:pt x="122" y="269"/>
                </a:lnTo>
                <a:lnTo>
                  <a:pt x="219" y="355"/>
                </a:lnTo>
                <a:lnTo>
                  <a:pt x="220" y="355"/>
                </a:lnTo>
                <a:lnTo>
                  <a:pt x="220" y="354"/>
                </a:lnTo>
                <a:lnTo>
                  <a:pt x="269" y="364"/>
                </a:lnTo>
                <a:lnTo>
                  <a:pt x="324" y="377"/>
                </a:lnTo>
                <a:lnTo>
                  <a:pt x="324" y="378"/>
                </a:lnTo>
                <a:lnTo>
                  <a:pt x="422" y="220"/>
                </a:lnTo>
                <a:lnTo>
                  <a:pt x="413" y="189"/>
                </a:lnTo>
                <a:lnTo>
                  <a:pt x="422" y="4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3" name="Freeform 196">
            <a:extLst>
              <a:ext uri="{FF2B5EF4-FFF2-40B4-BE49-F238E27FC236}">
                <a16:creationId xmlns:a16="http://schemas.microsoft.com/office/drawing/2014/main" id="{8065362C-C926-4AE1-8E9C-AA77BB049A54}"/>
              </a:ext>
            </a:extLst>
          </p:cNvPr>
          <p:cNvSpPr>
            <a:spLocks/>
          </p:cNvSpPr>
          <p:nvPr/>
        </p:nvSpPr>
        <p:spPr bwMode="auto">
          <a:xfrm>
            <a:off x="3889532" y="3381014"/>
            <a:ext cx="64923" cy="71355"/>
          </a:xfrm>
          <a:custGeom>
            <a:avLst/>
            <a:gdLst/>
            <a:ahLst/>
            <a:cxnLst>
              <a:cxn ang="0">
                <a:pos x="152" y="101"/>
              </a:cxn>
              <a:cxn ang="0">
                <a:pos x="149" y="97"/>
              </a:cxn>
              <a:cxn ang="0">
                <a:pos x="75" y="0"/>
              </a:cxn>
              <a:cxn ang="0">
                <a:pos x="0" y="50"/>
              </a:cxn>
              <a:cxn ang="0">
                <a:pos x="20" y="117"/>
              </a:cxn>
              <a:cxn ang="0">
                <a:pos x="28" y="146"/>
              </a:cxn>
              <a:cxn ang="0">
                <a:pos x="54" y="165"/>
              </a:cxn>
              <a:cxn ang="0">
                <a:pos x="84" y="186"/>
              </a:cxn>
              <a:cxn ang="0">
                <a:pos x="156" y="107"/>
              </a:cxn>
              <a:cxn ang="0">
                <a:pos x="152" y="101"/>
              </a:cxn>
            </a:cxnLst>
            <a:rect l="0" t="0" r="r" b="b"/>
            <a:pathLst>
              <a:path w="156" h="186">
                <a:moveTo>
                  <a:pt x="152" y="101"/>
                </a:moveTo>
                <a:lnTo>
                  <a:pt x="149" y="97"/>
                </a:lnTo>
                <a:lnTo>
                  <a:pt x="75" y="0"/>
                </a:lnTo>
                <a:lnTo>
                  <a:pt x="0" y="50"/>
                </a:lnTo>
                <a:lnTo>
                  <a:pt x="20" y="117"/>
                </a:lnTo>
                <a:lnTo>
                  <a:pt x="28" y="146"/>
                </a:lnTo>
                <a:lnTo>
                  <a:pt x="54" y="165"/>
                </a:lnTo>
                <a:lnTo>
                  <a:pt x="84" y="186"/>
                </a:lnTo>
                <a:lnTo>
                  <a:pt x="156" y="107"/>
                </a:lnTo>
                <a:lnTo>
                  <a:pt x="152" y="10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4" name="Freeform 198">
            <a:extLst>
              <a:ext uri="{FF2B5EF4-FFF2-40B4-BE49-F238E27FC236}">
                <a16:creationId xmlns:a16="http://schemas.microsoft.com/office/drawing/2014/main" id="{96D894E0-C742-8AF2-F556-5439167E127C}"/>
              </a:ext>
            </a:extLst>
          </p:cNvPr>
          <p:cNvSpPr>
            <a:spLocks/>
          </p:cNvSpPr>
          <p:nvPr/>
        </p:nvSpPr>
        <p:spPr bwMode="auto">
          <a:xfrm>
            <a:off x="4668606" y="3767267"/>
            <a:ext cx="269680" cy="214067"/>
          </a:xfrm>
          <a:custGeom>
            <a:avLst/>
            <a:gdLst/>
            <a:ahLst/>
            <a:cxnLst>
              <a:cxn ang="0">
                <a:pos x="632" y="89"/>
              </a:cxn>
              <a:cxn ang="0">
                <a:pos x="627" y="77"/>
              </a:cxn>
              <a:cxn ang="0">
                <a:pos x="486" y="0"/>
              </a:cxn>
              <a:cxn ang="0">
                <a:pos x="484" y="1"/>
              </a:cxn>
              <a:cxn ang="0">
                <a:pos x="471" y="3"/>
              </a:cxn>
              <a:cxn ang="0">
                <a:pos x="398" y="17"/>
              </a:cxn>
              <a:cxn ang="0">
                <a:pos x="364" y="156"/>
              </a:cxn>
              <a:cxn ang="0">
                <a:pos x="361" y="180"/>
              </a:cxn>
              <a:cxn ang="0">
                <a:pos x="398" y="236"/>
              </a:cxn>
              <a:cxn ang="0">
                <a:pos x="444" y="227"/>
              </a:cxn>
              <a:cxn ang="0">
                <a:pos x="439" y="292"/>
              </a:cxn>
              <a:cxn ang="0">
                <a:pos x="401" y="292"/>
              </a:cxn>
              <a:cxn ang="0">
                <a:pos x="289" y="199"/>
              </a:cxn>
              <a:cxn ang="0">
                <a:pos x="127" y="160"/>
              </a:cxn>
              <a:cxn ang="0">
                <a:pos x="121" y="159"/>
              </a:cxn>
              <a:cxn ang="0">
                <a:pos x="128" y="234"/>
              </a:cxn>
              <a:cxn ang="0">
                <a:pos x="130" y="257"/>
              </a:cxn>
              <a:cxn ang="0">
                <a:pos x="110" y="257"/>
              </a:cxn>
              <a:cxn ang="0">
                <a:pos x="12" y="259"/>
              </a:cxn>
              <a:cxn ang="0">
                <a:pos x="0" y="451"/>
              </a:cxn>
              <a:cxn ang="0">
                <a:pos x="77" y="530"/>
              </a:cxn>
              <a:cxn ang="0">
                <a:pos x="86" y="530"/>
              </a:cxn>
              <a:cxn ang="0">
                <a:pos x="121" y="531"/>
              </a:cxn>
              <a:cxn ang="0">
                <a:pos x="184" y="549"/>
              </a:cxn>
              <a:cxn ang="0">
                <a:pos x="184" y="550"/>
              </a:cxn>
              <a:cxn ang="0">
                <a:pos x="278" y="540"/>
              </a:cxn>
              <a:cxn ang="0">
                <a:pos x="386" y="437"/>
              </a:cxn>
              <a:cxn ang="0">
                <a:pos x="480" y="437"/>
              </a:cxn>
              <a:cxn ang="0">
                <a:pos x="485" y="437"/>
              </a:cxn>
              <a:cxn ang="0">
                <a:pos x="466" y="420"/>
              </a:cxn>
              <a:cxn ang="0">
                <a:pos x="462" y="380"/>
              </a:cxn>
              <a:cxn ang="0">
                <a:pos x="594" y="335"/>
              </a:cxn>
              <a:cxn ang="0">
                <a:pos x="606" y="332"/>
              </a:cxn>
              <a:cxn ang="0">
                <a:pos x="604" y="307"/>
              </a:cxn>
              <a:cxn ang="0">
                <a:pos x="612" y="245"/>
              </a:cxn>
              <a:cxn ang="0">
                <a:pos x="630" y="241"/>
              </a:cxn>
              <a:cxn ang="0">
                <a:pos x="649" y="127"/>
              </a:cxn>
              <a:cxn ang="0">
                <a:pos x="632" y="89"/>
              </a:cxn>
            </a:cxnLst>
            <a:rect l="0" t="0" r="r" b="b"/>
            <a:pathLst>
              <a:path w="649" h="550">
                <a:moveTo>
                  <a:pt x="632" y="89"/>
                </a:moveTo>
                <a:lnTo>
                  <a:pt x="627" y="77"/>
                </a:lnTo>
                <a:lnTo>
                  <a:pt x="486" y="0"/>
                </a:lnTo>
                <a:lnTo>
                  <a:pt x="484" y="1"/>
                </a:lnTo>
                <a:lnTo>
                  <a:pt x="471" y="3"/>
                </a:lnTo>
                <a:lnTo>
                  <a:pt x="398" y="17"/>
                </a:lnTo>
                <a:lnTo>
                  <a:pt x="364" y="156"/>
                </a:lnTo>
                <a:lnTo>
                  <a:pt x="361" y="180"/>
                </a:lnTo>
                <a:lnTo>
                  <a:pt x="398" y="236"/>
                </a:lnTo>
                <a:lnTo>
                  <a:pt x="444" y="227"/>
                </a:lnTo>
                <a:lnTo>
                  <a:pt x="439" y="292"/>
                </a:lnTo>
                <a:lnTo>
                  <a:pt x="401" y="292"/>
                </a:lnTo>
                <a:lnTo>
                  <a:pt x="289" y="199"/>
                </a:lnTo>
                <a:lnTo>
                  <a:pt x="127" y="160"/>
                </a:lnTo>
                <a:lnTo>
                  <a:pt x="121" y="159"/>
                </a:lnTo>
                <a:lnTo>
                  <a:pt x="128" y="234"/>
                </a:lnTo>
                <a:lnTo>
                  <a:pt x="130" y="257"/>
                </a:lnTo>
                <a:lnTo>
                  <a:pt x="110" y="257"/>
                </a:lnTo>
                <a:lnTo>
                  <a:pt x="12" y="259"/>
                </a:lnTo>
                <a:lnTo>
                  <a:pt x="0" y="451"/>
                </a:lnTo>
                <a:lnTo>
                  <a:pt x="77" y="530"/>
                </a:lnTo>
                <a:lnTo>
                  <a:pt x="86" y="530"/>
                </a:lnTo>
                <a:lnTo>
                  <a:pt x="121" y="531"/>
                </a:lnTo>
                <a:lnTo>
                  <a:pt x="184" y="549"/>
                </a:lnTo>
                <a:lnTo>
                  <a:pt x="184" y="550"/>
                </a:lnTo>
                <a:lnTo>
                  <a:pt x="278" y="540"/>
                </a:lnTo>
                <a:lnTo>
                  <a:pt x="386" y="437"/>
                </a:lnTo>
                <a:lnTo>
                  <a:pt x="480" y="437"/>
                </a:lnTo>
                <a:lnTo>
                  <a:pt x="485" y="437"/>
                </a:lnTo>
                <a:lnTo>
                  <a:pt x="466" y="420"/>
                </a:lnTo>
                <a:lnTo>
                  <a:pt x="462" y="380"/>
                </a:lnTo>
                <a:lnTo>
                  <a:pt x="594" y="335"/>
                </a:lnTo>
                <a:lnTo>
                  <a:pt x="606" y="332"/>
                </a:lnTo>
                <a:lnTo>
                  <a:pt x="604" y="307"/>
                </a:lnTo>
                <a:lnTo>
                  <a:pt x="612" y="245"/>
                </a:lnTo>
                <a:lnTo>
                  <a:pt x="630" y="241"/>
                </a:lnTo>
                <a:lnTo>
                  <a:pt x="649" y="127"/>
                </a:lnTo>
                <a:lnTo>
                  <a:pt x="632" y="89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5" name="Freeform 199">
            <a:extLst>
              <a:ext uri="{FF2B5EF4-FFF2-40B4-BE49-F238E27FC236}">
                <a16:creationId xmlns:a16="http://schemas.microsoft.com/office/drawing/2014/main" id="{518D70CA-308F-B7BC-ACE0-E3CD322520F4}"/>
              </a:ext>
            </a:extLst>
          </p:cNvPr>
          <p:cNvSpPr>
            <a:spLocks/>
          </p:cNvSpPr>
          <p:nvPr/>
        </p:nvSpPr>
        <p:spPr bwMode="auto">
          <a:xfrm>
            <a:off x="4830082" y="3615248"/>
            <a:ext cx="43281" cy="34127"/>
          </a:xfrm>
          <a:custGeom>
            <a:avLst/>
            <a:gdLst/>
            <a:ahLst/>
            <a:cxnLst>
              <a:cxn ang="0">
                <a:pos x="103" y="63"/>
              </a:cxn>
              <a:cxn ang="0">
                <a:pos x="97" y="29"/>
              </a:cxn>
              <a:cxn ang="0">
                <a:pos x="92" y="2"/>
              </a:cxn>
              <a:cxn ang="0">
                <a:pos x="85" y="2"/>
              </a:cxn>
              <a:cxn ang="0">
                <a:pos x="37" y="0"/>
              </a:cxn>
              <a:cxn ang="0">
                <a:pos x="33" y="7"/>
              </a:cxn>
              <a:cxn ang="0">
                <a:pos x="0" y="60"/>
              </a:cxn>
              <a:cxn ang="0">
                <a:pos x="19" y="82"/>
              </a:cxn>
              <a:cxn ang="0">
                <a:pos x="19" y="89"/>
              </a:cxn>
              <a:cxn ang="0">
                <a:pos x="101" y="71"/>
              </a:cxn>
              <a:cxn ang="0">
                <a:pos x="103" y="63"/>
              </a:cxn>
            </a:cxnLst>
            <a:rect l="0" t="0" r="r" b="b"/>
            <a:pathLst>
              <a:path w="103" h="89">
                <a:moveTo>
                  <a:pt x="103" y="63"/>
                </a:moveTo>
                <a:lnTo>
                  <a:pt x="97" y="29"/>
                </a:lnTo>
                <a:lnTo>
                  <a:pt x="92" y="2"/>
                </a:lnTo>
                <a:lnTo>
                  <a:pt x="85" y="2"/>
                </a:lnTo>
                <a:lnTo>
                  <a:pt x="37" y="0"/>
                </a:lnTo>
                <a:lnTo>
                  <a:pt x="33" y="7"/>
                </a:lnTo>
                <a:lnTo>
                  <a:pt x="0" y="60"/>
                </a:lnTo>
                <a:lnTo>
                  <a:pt x="19" y="82"/>
                </a:lnTo>
                <a:lnTo>
                  <a:pt x="19" y="89"/>
                </a:lnTo>
                <a:lnTo>
                  <a:pt x="101" y="71"/>
                </a:lnTo>
                <a:lnTo>
                  <a:pt x="103" y="6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6" name="Freeform 200">
            <a:extLst>
              <a:ext uri="{FF2B5EF4-FFF2-40B4-BE49-F238E27FC236}">
                <a16:creationId xmlns:a16="http://schemas.microsoft.com/office/drawing/2014/main" id="{5B4F3149-80EC-774E-74C6-C91C76125A84}"/>
              </a:ext>
            </a:extLst>
          </p:cNvPr>
          <p:cNvSpPr>
            <a:spLocks/>
          </p:cNvSpPr>
          <p:nvPr/>
        </p:nvSpPr>
        <p:spPr bwMode="auto">
          <a:xfrm>
            <a:off x="4227462" y="3294146"/>
            <a:ext cx="273010" cy="203209"/>
          </a:xfrm>
          <a:custGeom>
            <a:avLst/>
            <a:gdLst/>
            <a:ahLst/>
            <a:cxnLst>
              <a:cxn ang="0">
                <a:pos x="651" y="61"/>
              </a:cxn>
              <a:cxn ang="0">
                <a:pos x="642" y="53"/>
              </a:cxn>
              <a:cxn ang="0">
                <a:pos x="603" y="3"/>
              </a:cxn>
              <a:cxn ang="0">
                <a:pos x="601" y="0"/>
              </a:cxn>
              <a:cxn ang="0">
                <a:pos x="528" y="35"/>
              </a:cxn>
              <a:cxn ang="0">
                <a:pos x="393" y="35"/>
              </a:cxn>
              <a:cxn ang="0">
                <a:pos x="356" y="62"/>
              </a:cxn>
              <a:cxn ang="0">
                <a:pos x="103" y="5"/>
              </a:cxn>
              <a:cxn ang="0">
                <a:pos x="40" y="86"/>
              </a:cxn>
              <a:cxn ang="0">
                <a:pos x="41" y="129"/>
              </a:cxn>
              <a:cxn ang="0">
                <a:pos x="42" y="140"/>
              </a:cxn>
              <a:cxn ang="0">
                <a:pos x="42" y="160"/>
              </a:cxn>
              <a:cxn ang="0">
                <a:pos x="37" y="208"/>
              </a:cxn>
              <a:cxn ang="0">
                <a:pos x="0" y="283"/>
              </a:cxn>
              <a:cxn ang="0">
                <a:pos x="2" y="427"/>
              </a:cxn>
              <a:cxn ang="0">
                <a:pos x="35" y="432"/>
              </a:cxn>
              <a:cxn ang="0">
                <a:pos x="112" y="446"/>
              </a:cxn>
              <a:cxn ang="0">
                <a:pos x="160" y="520"/>
              </a:cxn>
              <a:cxn ang="0">
                <a:pos x="305" y="523"/>
              </a:cxn>
              <a:cxn ang="0">
                <a:pos x="309" y="525"/>
              </a:cxn>
              <a:cxn ang="0">
                <a:pos x="341" y="442"/>
              </a:cxn>
              <a:cxn ang="0">
                <a:pos x="410" y="395"/>
              </a:cxn>
              <a:cxn ang="0">
                <a:pos x="418" y="389"/>
              </a:cxn>
              <a:cxn ang="0">
                <a:pos x="472" y="405"/>
              </a:cxn>
              <a:cxn ang="0">
                <a:pos x="656" y="66"/>
              </a:cxn>
              <a:cxn ang="0">
                <a:pos x="651" y="61"/>
              </a:cxn>
            </a:cxnLst>
            <a:rect l="0" t="0" r="r" b="b"/>
            <a:pathLst>
              <a:path w="656" h="525">
                <a:moveTo>
                  <a:pt x="651" y="61"/>
                </a:moveTo>
                <a:lnTo>
                  <a:pt x="642" y="53"/>
                </a:lnTo>
                <a:lnTo>
                  <a:pt x="603" y="3"/>
                </a:lnTo>
                <a:lnTo>
                  <a:pt x="601" y="0"/>
                </a:lnTo>
                <a:lnTo>
                  <a:pt x="528" y="35"/>
                </a:lnTo>
                <a:lnTo>
                  <a:pt x="393" y="35"/>
                </a:lnTo>
                <a:lnTo>
                  <a:pt x="356" y="62"/>
                </a:lnTo>
                <a:lnTo>
                  <a:pt x="103" y="5"/>
                </a:lnTo>
                <a:lnTo>
                  <a:pt x="40" y="86"/>
                </a:lnTo>
                <a:lnTo>
                  <a:pt x="41" y="129"/>
                </a:lnTo>
                <a:lnTo>
                  <a:pt x="42" y="140"/>
                </a:lnTo>
                <a:lnTo>
                  <a:pt x="42" y="160"/>
                </a:lnTo>
                <a:lnTo>
                  <a:pt x="37" y="208"/>
                </a:lnTo>
                <a:lnTo>
                  <a:pt x="0" y="283"/>
                </a:lnTo>
                <a:lnTo>
                  <a:pt x="2" y="427"/>
                </a:lnTo>
                <a:lnTo>
                  <a:pt x="35" y="432"/>
                </a:lnTo>
                <a:lnTo>
                  <a:pt x="112" y="446"/>
                </a:lnTo>
                <a:lnTo>
                  <a:pt x="160" y="520"/>
                </a:lnTo>
                <a:lnTo>
                  <a:pt x="305" y="523"/>
                </a:lnTo>
                <a:lnTo>
                  <a:pt x="309" y="525"/>
                </a:lnTo>
                <a:lnTo>
                  <a:pt x="341" y="442"/>
                </a:lnTo>
                <a:lnTo>
                  <a:pt x="410" y="395"/>
                </a:lnTo>
                <a:lnTo>
                  <a:pt x="418" y="389"/>
                </a:lnTo>
                <a:lnTo>
                  <a:pt x="472" y="405"/>
                </a:lnTo>
                <a:lnTo>
                  <a:pt x="656" y="66"/>
                </a:lnTo>
                <a:lnTo>
                  <a:pt x="651" y="6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7" name="Freeform 201">
            <a:extLst>
              <a:ext uri="{FF2B5EF4-FFF2-40B4-BE49-F238E27FC236}">
                <a16:creationId xmlns:a16="http://schemas.microsoft.com/office/drawing/2014/main" id="{3606C523-D457-CF9A-039D-6C8E6614F359}"/>
              </a:ext>
            </a:extLst>
          </p:cNvPr>
          <p:cNvSpPr>
            <a:spLocks/>
          </p:cNvSpPr>
          <p:nvPr/>
        </p:nvSpPr>
        <p:spPr bwMode="auto">
          <a:xfrm>
            <a:off x="4167534" y="3083181"/>
            <a:ext cx="361238" cy="260604"/>
          </a:xfrm>
          <a:custGeom>
            <a:avLst/>
            <a:gdLst/>
            <a:ahLst/>
            <a:cxnLst>
              <a:cxn ang="0">
                <a:pos x="817" y="112"/>
              </a:cxn>
              <a:cxn ang="0">
                <a:pos x="798" y="27"/>
              </a:cxn>
              <a:cxn ang="0">
                <a:pos x="793" y="29"/>
              </a:cxn>
              <a:cxn ang="0">
                <a:pos x="758" y="43"/>
              </a:cxn>
              <a:cxn ang="0">
                <a:pos x="717" y="17"/>
              </a:cxn>
              <a:cxn ang="0">
                <a:pos x="615" y="0"/>
              </a:cxn>
              <a:cxn ang="0">
                <a:pos x="619" y="9"/>
              </a:cxn>
              <a:cxn ang="0">
                <a:pos x="288" y="231"/>
              </a:cxn>
              <a:cxn ang="0">
                <a:pos x="223" y="242"/>
              </a:cxn>
              <a:cxn ang="0">
                <a:pos x="221" y="411"/>
              </a:cxn>
              <a:cxn ang="0">
                <a:pos x="165" y="456"/>
              </a:cxn>
              <a:cxn ang="0">
                <a:pos x="39" y="464"/>
              </a:cxn>
              <a:cxn ang="0">
                <a:pos x="0" y="491"/>
              </a:cxn>
              <a:cxn ang="0">
                <a:pos x="110" y="655"/>
              </a:cxn>
              <a:cxn ang="0">
                <a:pos x="140" y="629"/>
              </a:cxn>
              <a:cxn ang="0">
                <a:pos x="185" y="672"/>
              </a:cxn>
              <a:cxn ang="0">
                <a:pos x="184" y="629"/>
              </a:cxn>
              <a:cxn ang="0">
                <a:pos x="247" y="548"/>
              </a:cxn>
              <a:cxn ang="0">
                <a:pos x="500" y="605"/>
              </a:cxn>
              <a:cxn ang="0">
                <a:pos x="537" y="578"/>
              </a:cxn>
              <a:cxn ang="0">
                <a:pos x="672" y="578"/>
              </a:cxn>
              <a:cxn ang="0">
                <a:pos x="745" y="543"/>
              </a:cxn>
              <a:cxn ang="0">
                <a:pos x="725" y="518"/>
              </a:cxn>
              <a:cxn ang="0">
                <a:pos x="830" y="373"/>
              </a:cxn>
              <a:cxn ang="0">
                <a:pos x="842" y="356"/>
              </a:cxn>
              <a:cxn ang="0">
                <a:pos x="868" y="175"/>
              </a:cxn>
              <a:cxn ang="0">
                <a:pos x="817" y="112"/>
              </a:cxn>
            </a:cxnLst>
            <a:rect l="0" t="0" r="r" b="b"/>
            <a:pathLst>
              <a:path w="868" h="672">
                <a:moveTo>
                  <a:pt x="817" y="112"/>
                </a:moveTo>
                <a:lnTo>
                  <a:pt x="798" y="27"/>
                </a:lnTo>
                <a:lnTo>
                  <a:pt x="793" y="29"/>
                </a:lnTo>
                <a:lnTo>
                  <a:pt x="758" y="43"/>
                </a:lnTo>
                <a:lnTo>
                  <a:pt x="717" y="17"/>
                </a:lnTo>
                <a:lnTo>
                  <a:pt x="615" y="0"/>
                </a:lnTo>
                <a:lnTo>
                  <a:pt x="619" y="9"/>
                </a:lnTo>
                <a:lnTo>
                  <a:pt x="288" y="231"/>
                </a:lnTo>
                <a:lnTo>
                  <a:pt x="223" y="242"/>
                </a:lnTo>
                <a:lnTo>
                  <a:pt x="221" y="411"/>
                </a:lnTo>
                <a:lnTo>
                  <a:pt x="165" y="456"/>
                </a:lnTo>
                <a:lnTo>
                  <a:pt x="39" y="464"/>
                </a:lnTo>
                <a:lnTo>
                  <a:pt x="0" y="491"/>
                </a:lnTo>
                <a:lnTo>
                  <a:pt x="110" y="655"/>
                </a:lnTo>
                <a:lnTo>
                  <a:pt x="140" y="629"/>
                </a:lnTo>
                <a:lnTo>
                  <a:pt x="185" y="672"/>
                </a:lnTo>
                <a:lnTo>
                  <a:pt x="184" y="629"/>
                </a:lnTo>
                <a:lnTo>
                  <a:pt x="247" y="548"/>
                </a:lnTo>
                <a:lnTo>
                  <a:pt x="500" y="605"/>
                </a:lnTo>
                <a:lnTo>
                  <a:pt x="537" y="578"/>
                </a:lnTo>
                <a:lnTo>
                  <a:pt x="672" y="578"/>
                </a:lnTo>
                <a:lnTo>
                  <a:pt x="745" y="543"/>
                </a:lnTo>
                <a:lnTo>
                  <a:pt x="725" y="518"/>
                </a:lnTo>
                <a:lnTo>
                  <a:pt x="830" y="373"/>
                </a:lnTo>
                <a:lnTo>
                  <a:pt x="842" y="356"/>
                </a:lnTo>
                <a:lnTo>
                  <a:pt x="868" y="175"/>
                </a:lnTo>
                <a:lnTo>
                  <a:pt x="817" y="112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8" name="Freeform 202">
            <a:extLst>
              <a:ext uri="{FF2B5EF4-FFF2-40B4-BE49-F238E27FC236}">
                <a16:creationId xmlns:a16="http://schemas.microsoft.com/office/drawing/2014/main" id="{A88645CB-095E-5233-1E08-C37F4BF7CAE6}"/>
              </a:ext>
            </a:extLst>
          </p:cNvPr>
          <p:cNvSpPr>
            <a:spLocks/>
          </p:cNvSpPr>
          <p:nvPr/>
        </p:nvSpPr>
        <p:spPr bwMode="auto">
          <a:xfrm>
            <a:off x="4437214" y="3967373"/>
            <a:ext cx="307969" cy="260604"/>
          </a:xfrm>
          <a:custGeom>
            <a:avLst/>
            <a:gdLst/>
            <a:ahLst/>
            <a:cxnLst>
              <a:cxn ang="0">
                <a:pos x="675" y="13"/>
              </a:cxn>
              <a:cxn ang="0">
                <a:pos x="640" y="12"/>
              </a:cxn>
              <a:cxn ang="0">
                <a:pos x="631" y="12"/>
              </a:cxn>
              <a:cxn ang="0">
                <a:pos x="0" y="0"/>
              </a:cxn>
              <a:cxn ang="0">
                <a:pos x="139" y="307"/>
              </a:cxn>
              <a:cxn ang="0">
                <a:pos x="139" y="413"/>
              </a:cxn>
              <a:cxn ang="0">
                <a:pos x="188" y="614"/>
              </a:cxn>
              <a:cxn ang="0">
                <a:pos x="206" y="644"/>
              </a:cxn>
              <a:cxn ang="0">
                <a:pos x="337" y="668"/>
              </a:cxn>
              <a:cxn ang="0">
                <a:pos x="423" y="659"/>
              </a:cxn>
              <a:cxn ang="0">
                <a:pos x="433" y="438"/>
              </a:cxn>
              <a:cxn ang="0">
                <a:pos x="433" y="429"/>
              </a:cxn>
              <a:cxn ang="0">
                <a:pos x="441" y="246"/>
              </a:cxn>
              <a:cxn ang="0">
                <a:pos x="520" y="246"/>
              </a:cxn>
              <a:cxn ang="0">
                <a:pos x="520" y="62"/>
              </a:cxn>
              <a:cxn ang="0">
                <a:pos x="720" y="54"/>
              </a:cxn>
              <a:cxn ang="0">
                <a:pos x="728" y="54"/>
              </a:cxn>
              <a:cxn ang="0">
                <a:pos x="729" y="54"/>
              </a:cxn>
              <a:cxn ang="0">
                <a:pos x="729" y="54"/>
              </a:cxn>
              <a:cxn ang="0">
                <a:pos x="738" y="32"/>
              </a:cxn>
              <a:cxn ang="0">
                <a:pos x="738" y="31"/>
              </a:cxn>
              <a:cxn ang="0">
                <a:pos x="675" y="13"/>
              </a:cxn>
            </a:cxnLst>
            <a:rect l="0" t="0" r="r" b="b"/>
            <a:pathLst>
              <a:path w="738" h="668">
                <a:moveTo>
                  <a:pt x="675" y="13"/>
                </a:moveTo>
                <a:lnTo>
                  <a:pt x="640" y="12"/>
                </a:lnTo>
                <a:lnTo>
                  <a:pt x="631" y="12"/>
                </a:lnTo>
                <a:lnTo>
                  <a:pt x="0" y="0"/>
                </a:lnTo>
                <a:lnTo>
                  <a:pt x="139" y="307"/>
                </a:lnTo>
                <a:lnTo>
                  <a:pt x="139" y="413"/>
                </a:lnTo>
                <a:lnTo>
                  <a:pt x="188" y="614"/>
                </a:lnTo>
                <a:lnTo>
                  <a:pt x="206" y="644"/>
                </a:lnTo>
                <a:lnTo>
                  <a:pt x="337" y="668"/>
                </a:lnTo>
                <a:lnTo>
                  <a:pt x="423" y="659"/>
                </a:lnTo>
                <a:lnTo>
                  <a:pt x="433" y="438"/>
                </a:lnTo>
                <a:lnTo>
                  <a:pt x="433" y="429"/>
                </a:lnTo>
                <a:lnTo>
                  <a:pt x="441" y="246"/>
                </a:lnTo>
                <a:lnTo>
                  <a:pt x="520" y="246"/>
                </a:lnTo>
                <a:lnTo>
                  <a:pt x="520" y="62"/>
                </a:lnTo>
                <a:lnTo>
                  <a:pt x="720" y="54"/>
                </a:lnTo>
                <a:lnTo>
                  <a:pt x="728" y="54"/>
                </a:lnTo>
                <a:lnTo>
                  <a:pt x="729" y="54"/>
                </a:lnTo>
                <a:lnTo>
                  <a:pt x="729" y="54"/>
                </a:lnTo>
                <a:lnTo>
                  <a:pt x="738" y="32"/>
                </a:lnTo>
                <a:lnTo>
                  <a:pt x="738" y="31"/>
                </a:lnTo>
                <a:lnTo>
                  <a:pt x="675" y="13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19" name="Freeform 203">
            <a:extLst>
              <a:ext uri="{FF2B5EF4-FFF2-40B4-BE49-F238E27FC236}">
                <a16:creationId xmlns:a16="http://schemas.microsoft.com/office/drawing/2014/main" id="{2219EA4E-8C29-8856-9B14-8A4C2AB7A484}"/>
              </a:ext>
            </a:extLst>
          </p:cNvPr>
          <p:cNvSpPr>
            <a:spLocks/>
          </p:cNvSpPr>
          <p:nvPr/>
        </p:nvSpPr>
        <p:spPr bwMode="auto">
          <a:xfrm>
            <a:off x="4860046" y="3827767"/>
            <a:ext cx="239717" cy="352125"/>
          </a:xfrm>
          <a:custGeom>
            <a:avLst/>
            <a:gdLst/>
            <a:ahLst/>
            <a:cxnLst>
              <a:cxn ang="0">
                <a:pos x="555" y="1"/>
              </a:cxn>
              <a:cxn ang="0">
                <a:pos x="555" y="0"/>
              </a:cxn>
              <a:cxn ang="0">
                <a:pos x="340" y="52"/>
              </a:cxn>
              <a:cxn ang="0">
                <a:pos x="260" y="27"/>
              </a:cxn>
              <a:cxn ang="0">
                <a:pos x="246" y="168"/>
              </a:cxn>
              <a:cxn ang="0">
                <a:pos x="308" y="236"/>
              </a:cxn>
              <a:cxn ang="0">
                <a:pos x="287" y="351"/>
              </a:cxn>
              <a:cxn ang="0">
                <a:pos x="252" y="348"/>
              </a:cxn>
              <a:cxn ang="0">
                <a:pos x="210" y="300"/>
              </a:cxn>
              <a:cxn ang="0">
                <a:pos x="225" y="240"/>
              </a:cxn>
              <a:cxn ang="0">
                <a:pos x="132" y="178"/>
              </a:cxn>
              <a:cxn ang="0">
                <a:pos x="0" y="223"/>
              </a:cxn>
              <a:cxn ang="0">
                <a:pos x="4" y="263"/>
              </a:cxn>
              <a:cxn ang="0">
                <a:pos x="23" y="280"/>
              </a:cxn>
              <a:cxn ang="0">
                <a:pos x="45" y="280"/>
              </a:cxn>
              <a:cxn ang="0">
                <a:pos x="135" y="321"/>
              </a:cxn>
              <a:cxn ang="0">
                <a:pos x="126" y="469"/>
              </a:cxn>
              <a:cxn ang="0">
                <a:pos x="135" y="500"/>
              </a:cxn>
              <a:cxn ang="0">
                <a:pos x="37" y="658"/>
              </a:cxn>
              <a:cxn ang="0">
                <a:pos x="62" y="853"/>
              </a:cxn>
              <a:cxn ang="0">
                <a:pos x="68" y="899"/>
              </a:cxn>
              <a:cxn ang="0">
                <a:pos x="69" y="902"/>
              </a:cxn>
              <a:cxn ang="0">
                <a:pos x="106" y="908"/>
              </a:cxn>
              <a:cxn ang="0">
                <a:pos x="106" y="907"/>
              </a:cxn>
              <a:cxn ang="0">
                <a:pos x="120" y="859"/>
              </a:cxn>
              <a:cxn ang="0">
                <a:pos x="120" y="842"/>
              </a:cxn>
              <a:cxn ang="0">
                <a:pos x="254" y="765"/>
              </a:cxn>
              <a:cxn ang="0">
                <a:pos x="245" y="637"/>
              </a:cxn>
              <a:cxn ang="0">
                <a:pos x="226" y="527"/>
              </a:cxn>
              <a:cxn ang="0">
                <a:pos x="408" y="370"/>
              </a:cxn>
              <a:cxn ang="0">
                <a:pos x="519" y="317"/>
              </a:cxn>
              <a:cxn ang="0">
                <a:pos x="573" y="217"/>
              </a:cxn>
              <a:cxn ang="0">
                <a:pos x="555" y="1"/>
              </a:cxn>
            </a:cxnLst>
            <a:rect l="0" t="0" r="r" b="b"/>
            <a:pathLst>
              <a:path w="573" h="908">
                <a:moveTo>
                  <a:pt x="555" y="1"/>
                </a:moveTo>
                <a:lnTo>
                  <a:pt x="555" y="0"/>
                </a:lnTo>
                <a:lnTo>
                  <a:pt x="340" y="52"/>
                </a:lnTo>
                <a:lnTo>
                  <a:pt x="260" y="27"/>
                </a:lnTo>
                <a:lnTo>
                  <a:pt x="246" y="168"/>
                </a:lnTo>
                <a:lnTo>
                  <a:pt x="308" y="236"/>
                </a:lnTo>
                <a:lnTo>
                  <a:pt x="287" y="351"/>
                </a:lnTo>
                <a:lnTo>
                  <a:pt x="252" y="348"/>
                </a:lnTo>
                <a:lnTo>
                  <a:pt x="210" y="300"/>
                </a:lnTo>
                <a:lnTo>
                  <a:pt x="225" y="240"/>
                </a:lnTo>
                <a:lnTo>
                  <a:pt x="132" y="178"/>
                </a:lnTo>
                <a:lnTo>
                  <a:pt x="0" y="223"/>
                </a:lnTo>
                <a:lnTo>
                  <a:pt x="4" y="263"/>
                </a:lnTo>
                <a:lnTo>
                  <a:pt x="23" y="280"/>
                </a:lnTo>
                <a:lnTo>
                  <a:pt x="45" y="280"/>
                </a:lnTo>
                <a:lnTo>
                  <a:pt x="135" y="321"/>
                </a:lnTo>
                <a:lnTo>
                  <a:pt x="126" y="469"/>
                </a:lnTo>
                <a:lnTo>
                  <a:pt x="135" y="500"/>
                </a:lnTo>
                <a:lnTo>
                  <a:pt x="37" y="658"/>
                </a:lnTo>
                <a:lnTo>
                  <a:pt x="62" y="853"/>
                </a:lnTo>
                <a:lnTo>
                  <a:pt x="68" y="899"/>
                </a:lnTo>
                <a:lnTo>
                  <a:pt x="69" y="902"/>
                </a:lnTo>
                <a:lnTo>
                  <a:pt x="106" y="908"/>
                </a:lnTo>
                <a:lnTo>
                  <a:pt x="106" y="907"/>
                </a:lnTo>
                <a:lnTo>
                  <a:pt x="120" y="859"/>
                </a:lnTo>
                <a:lnTo>
                  <a:pt x="120" y="842"/>
                </a:lnTo>
                <a:lnTo>
                  <a:pt x="254" y="765"/>
                </a:lnTo>
                <a:lnTo>
                  <a:pt x="245" y="637"/>
                </a:lnTo>
                <a:lnTo>
                  <a:pt x="226" y="527"/>
                </a:lnTo>
                <a:lnTo>
                  <a:pt x="408" y="370"/>
                </a:lnTo>
                <a:lnTo>
                  <a:pt x="519" y="317"/>
                </a:lnTo>
                <a:lnTo>
                  <a:pt x="573" y="217"/>
                </a:lnTo>
                <a:lnTo>
                  <a:pt x="555" y="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0" name="Freeform 204">
            <a:extLst>
              <a:ext uri="{FF2B5EF4-FFF2-40B4-BE49-F238E27FC236}">
                <a16:creationId xmlns:a16="http://schemas.microsoft.com/office/drawing/2014/main" id="{289E3317-A38E-7A25-91B1-8F970F437D79}"/>
              </a:ext>
            </a:extLst>
          </p:cNvPr>
          <p:cNvSpPr>
            <a:spLocks/>
          </p:cNvSpPr>
          <p:nvPr/>
        </p:nvSpPr>
        <p:spPr bwMode="auto">
          <a:xfrm>
            <a:off x="3814619" y="2997864"/>
            <a:ext cx="261358" cy="280769"/>
          </a:xfrm>
          <a:custGeom>
            <a:avLst/>
            <a:gdLst/>
            <a:ahLst/>
            <a:cxnLst>
              <a:cxn ang="0">
                <a:pos x="625" y="137"/>
              </a:cxn>
              <a:cxn ang="0">
                <a:pos x="456" y="2"/>
              </a:cxn>
              <a:cxn ang="0">
                <a:pos x="456" y="0"/>
              </a:cxn>
              <a:cxn ang="0">
                <a:pos x="456" y="1"/>
              </a:cxn>
              <a:cxn ang="0">
                <a:pos x="454" y="70"/>
              </a:cxn>
              <a:cxn ang="0">
                <a:pos x="355" y="69"/>
              </a:cxn>
              <a:cxn ang="0">
                <a:pos x="263" y="67"/>
              </a:cxn>
              <a:cxn ang="0">
                <a:pos x="260" y="133"/>
              </a:cxn>
              <a:cxn ang="0">
                <a:pos x="255" y="234"/>
              </a:cxn>
              <a:cxn ang="0">
                <a:pos x="214" y="267"/>
              </a:cxn>
              <a:cxn ang="0">
                <a:pos x="214" y="338"/>
              </a:cxn>
              <a:cxn ang="0">
                <a:pos x="2" y="341"/>
              </a:cxn>
              <a:cxn ang="0">
                <a:pos x="0" y="344"/>
              </a:cxn>
              <a:cxn ang="0">
                <a:pos x="26" y="427"/>
              </a:cxn>
              <a:cxn ang="0">
                <a:pos x="46" y="537"/>
              </a:cxn>
              <a:cxn ang="0">
                <a:pos x="26" y="645"/>
              </a:cxn>
              <a:cxn ang="0">
                <a:pos x="23" y="653"/>
              </a:cxn>
              <a:cxn ang="0">
                <a:pos x="135" y="630"/>
              </a:cxn>
              <a:cxn ang="0">
                <a:pos x="249" y="723"/>
              </a:cxn>
              <a:cxn ang="0">
                <a:pos x="252" y="681"/>
              </a:cxn>
              <a:cxn ang="0">
                <a:pos x="609" y="678"/>
              </a:cxn>
              <a:cxn ang="0">
                <a:pos x="542" y="140"/>
              </a:cxn>
              <a:cxn ang="0">
                <a:pos x="625" y="137"/>
              </a:cxn>
            </a:cxnLst>
            <a:rect l="0" t="0" r="r" b="b"/>
            <a:pathLst>
              <a:path w="625" h="723">
                <a:moveTo>
                  <a:pt x="625" y="137"/>
                </a:moveTo>
                <a:lnTo>
                  <a:pt x="456" y="2"/>
                </a:lnTo>
                <a:lnTo>
                  <a:pt x="456" y="0"/>
                </a:lnTo>
                <a:lnTo>
                  <a:pt x="456" y="1"/>
                </a:lnTo>
                <a:lnTo>
                  <a:pt x="454" y="70"/>
                </a:lnTo>
                <a:lnTo>
                  <a:pt x="355" y="69"/>
                </a:lnTo>
                <a:lnTo>
                  <a:pt x="263" y="67"/>
                </a:lnTo>
                <a:lnTo>
                  <a:pt x="260" y="133"/>
                </a:lnTo>
                <a:lnTo>
                  <a:pt x="255" y="234"/>
                </a:lnTo>
                <a:lnTo>
                  <a:pt x="214" y="267"/>
                </a:lnTo>
                <a:lnTo>
                  <a:pt x="214" y="338"/>
                </a:lnTo>
                <a:lnTo>
                  <a:pt x="2" y="341"/>
                </a:lnTo>
                <a:lnTo>
                  <a:pt x="0" y="344"/>
                </a:lnTo>
                <a:lnTo>
                  <a:pt x="26" y="427"/>
                </a:lnTo>
                <a:lnTo>
                  <a:pt x="46" y="537"/>
                </a:lnTo>
                <a:lnTo>
                  <a:pt x="26" y="645"/>
                </a:lnTo>
                <a:lnTo>
                  <a:pt x="23" y="653"/>
                </a:lnTo>
                <a:lnTo>
                  <a:pt x="135" y="630"/>
                </a:lnTo>
                <a:lnTo>
                  <a:pt x="249" y="723"/>
                </a:lnTo>
                <a:lnTo>
                  <a:pt x="252" y="681"/>
                </a:lnTo>
                <a:lnTo>
                  <a:pt x="609" y="678"/>
                </a:lnTo>
                <a:lnTo>
                  <a:pt x="542" y="140"/>
                </a:lnTo>
                <a:lnTo>
                  <a:pt x="625" y="137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1" name="Freeform 206">
            <a:extLst>
              <a:ext uri="{FF2B5EF4-FFF2-40B4-BE49-F238E27FC236}">
                <a16:creationId xmlns:a16="http://schemas.microsoft.com/office/drawing/2014/main" id="{47B5A340-6EDC-D1BC-61FA-DF351DB7F818}"/>
              </a:ext>
            </a:extLst>
          </p:cNvPr>
          <p:cNvSpPr>
            <a:spLocks/>
          </p:cNvSpPr>
          <p:nvPr/>
        </p:nvSpPr>
        <p:spPr bwMode="auto">
          <a:xfrm>
            <a:off x="3904511" y="2807065"/>
            <a:ext cx="246375" cy="186145"/>
          </a:xfrm>
          <a:custGeom>
            <a:avLst/>
            <a:gdLst/>
            <a:ahLst/>
            <a:cxnLst>
              <a:cxn ang="0">
                <a:pos x="590" y="31"/>
              </a:cxn>
              <a:cxn ang="0">
                <a:pos x="586" y="37"/>
              </a:cxn>
              <a:cxn ang="0">
                <a:pos x="523" y="15"/>
              </a:cxn>
              <a:cxn ang="0">
                <a:pos x="455" y="37"/>
              </a:cxn>
              <a:cxn ang="0">
                <a:pos x="421" y="0"/>
              </a:cxn>
              <a:cxn ang="0">
                <a:pos x="384" y="0"/>
              </a:cxn>
              <a:cxn ang="0">
                <a:pos x="339" y="105"/>
              </a:cxn>
              <a:cxn ang="0">
                <a:pos x="199" y="191"/>
              </a:cxn>
              <a:cxn ang="0">
                <a:pos x="159" y="358"/>
              </a:cxn>
              <a:cxn ang="0">
                <a:pos x="26" y="461"/>
              </a:cxn>
              <a:cxn ang="0">
                <a:pos x="0" y="479"/>
              </a:cxn>
              <a:cxn ang="0">
                <a:pos x="242" y="476"/>
              </a:cxn>
              <a:cxn ang="0">
                <a:pos x="242" y="474"/>
              </a:cxn>
              <a:cxn ang="0">
                <a:pos x="242" y="415"/>
              </a:cxn>
              <a:cxn ang="0">
                <a:pos x="416" y="343"/>
              </a:cxn>
              <a:cxn ang="0">
                <a:pos x="430" y="301"/>
              </a:cxn>
              <a:cxn ang="0">
                <a:pos x="535" y="215"/>
              </a:cxn>
              <a:cxn ang="0">
                <a:pos x="593" y="209"/>
              </a:cxn>
              <a:cxn ang="0">
                <a:pos x="590" y="31"/>
              </a:cxn>
            </a:cxnLst>
            <a:rect l="0" t="0" r="r" b="b"/>
            <a:pathLst>
              <a:path w="593" h="479">
                <a:moveTo>
                  <a:pt x="590" y="31"/>
                </a:moveTo>
                <a:lnTo>
                  <a:pt x="586" y="37"/>
                </a:lnTo>
                <a:lnTo>
                  <a:pt x="523" y="15"/>
                </a:lnTo>
                <a:lnTo>
                  <a:pt x="455" y="37"/>
                </a:lnTo>
                <a:lnTo>
                  <a:pt x="421" y="0"/>
                </a:lnTo>
                <a:lnTo>
                  <a:pt x="384" y="0"/>
                </a:lnTo>
                <a:lnTo>
                  <a:pt x="339" y="105"/>
                </a:lnTo>
                <a:lnTo>
                  <a:pt x="199" y="191"/>
                </a:lnTo>
                <a:lnTo>
                  <a:pt x="159" y="358"/>
                </a:lnTo>
                <a:lnTo>
                  <a:pt x="26" y="461"/>
                </a:lnTo>
                <a:lnTo>
                  <a:pt x="0" y="479"/>
                </a:lnTo>
                <a:lnTo>
                  <a:pt x="242" y="476"/>
                </a:lnTo>
                <a:lnTo>
                  <a:pt x="242" y="474"/>
                </a:lnTo>
                <a:lnTo>
                  <a:pt x="242" y="415"/>
                </a:lnTo>
                <a:lnTo>
                  <a:pt x="416" y="343"/>
                </a:lnTo>
                <a:lnTo>
                  <a:pt x="430" y="301"/>
                </a:lnTo>
                <a:lnTo>
                  <a:pt x="535" y="215"/>
                </a:lnTo>
                <a:lnTo>
                  <a:pt x="593" y="209"/>
                </a:lnTo>
                <a:lnTo>
                  <a:pt x="590" y="3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2" name="Freeform 207">
            <a:extLst>
              <a:ext uri="{FF2B5EF4-FFF2-40B4-BE49-F238E27FC236}">
                <a16:creationId xmlns:a16="http://schemas.microsoft.com/office/drawing/2014/main" id="{A3F60718-6EF5-09D4-BC5B-55D5B442F646}"/>
              </a:ext>
            </a:extLst>
          </p:cNvPr>
          <p:cNvSpPr>
            <a:spLocks/>
          </p:cNvSpPr>
          <p:nvPr/>
        </p:nvSpPr>
        <p:spPr bwMode="auto">
          <a:xfrm>
            <a:off x="4914981" y="3795189"/>
            <a:ext cx="73246" cy="169082"/>
          </a:xfrm>
          <a:custGeom>
            <a:avLst/>
            <a:gdLst/>
            <a:ahLst/>
            <a:cxnLst>
              <a:cxn ang="0">
                <a:pos x="114" y="255"/>
              </a:cxn>
              <a:cxn ang="0">
                <a:pos x="128" y="114"/>
              </a:cxn>
              <a:cxn ang="0">
                <a:pos x="128" y="113"/>
              </a:cxn>
              <a:cxn ang="0">
                <a:pos x="127" y="108"/>
              </a:cxn>
              <a:cxn ang="0">
                <a:pos x="97" y="0"/>
              </a:cxn>
              <a:cxn ang="0">
                <a:pos x="38" y="19"/>
              </a:cxn>
              <a:cxn ang="0">
                <a:pos x="55" y="57"/>
              </a:cxn>
              <a:cxn ang="0">
                <a:pos x="36" y="171"/>
              </a:cxn>
              <a:cxn ang="0">
                <a:pos x="18" y="175"/>
              </a:cxn>
              <a:cxn ang="0">
                <a:pos x="10" y="237"/>
              </a:cxn>
              <a:cxn ang="0">
                <a:pos x="12" y="262"/>
              </a:cxn>
              <a:cxn ang="0">
                <a:pos x="0" y="265"/>
              </a:cxn>
              <a:cxn ang="0">
                <a:pos x="93" y="327"/>
              </a:cxn>
              <a:cxn ang="0">
                <a:pos x="78" y="387"/>
              </a:cxn>
              <a:cxn ang="0">
                <a:pos x="120" y="435"/>
              </a:cxn>
              <a:cxn ang="0">
                <a:pos x="155" y="438"/>
              </a:cxn>
              <a:cxn ang="0">
                <a:pos x="176" y="323"/>
              </a:cxn>
              <a:cxn ang="0">
                <a:pos x="114" y="255"/>
              </a:cxn>
            </a:cxnLst>
            <a:rect l="0" t="0" r="r" b="b"/>
            <a:pathLst>
              <a:path w="176" h="438">
                <a:moveTo>
                  <a:pt x="114" y="255"/>
                </a:moveTo>
                <a:lnTo>
                  <a:pt x="128" y="114"/>
                </a:lnTo>
                <a:lnTo>
                  <a:pt x="128" y="113"/>
                </a:lnTo>
                <a:lnTo>
                  <a:pt x="127" y="108"/>
                </a:lnTo>
                <a:lnTo>
                  <a:pt x="97" y="0"/>
                </a:lnTo>
                <a:lnTo>
                  <a:pt x="38" y="19"/>
                </a:lnTo>
                <a:lnTo>
                  <a:pt x="55" y="57"/>
                </a:lnTo>
                <a:lnTo>
                  <a:pt x="36" y="171"/>
                </a:lnTo>
                <a:lnTo>
                  <a:pt x="18" y="175"/>
                </a:lnTo>
                <a:lnTo>
                  <a:pt x="10" y="237"/>
                </a:lnTo>
                <a:lnTo>
                  <a:pt x="12" y="262"/>
                </a:lnTo>
                <a:lnTo>
                  <a:pt x="0" y="265"/>
                </a:lnTo>
                <a:lnTo>
                  <a:pt x="93" y="327"/>
                </a:lnTo>
                <a:lnTo>
                  <a:pt x="78" y="387"/>
                </a:lnTo>
                <a:lnTo>
                  <a:pt x="120" y="435"/>
                </a:lnTo>
                <a:lnTo>
                  <a:pt x="155" y="438"/>
                </a:lnTo>
                <a:lnTo>
                  <a:pt x="176" y="323"/>
                </a:lnTo>
                <a:lnTo>
                  <a:pt x="114" y="255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3" name="Freeform 209">
            <a:extLst>
              <a:ext uri="{FF2B5EF4-FFF2-40B4-BE49-F238E27FC236}">
                <a16:creationId xmlns:a16="http://schemas.microsoft.com/office/drawing/2014/main" id="{F3C5C10C-81EA-6D4F-C203-1EBA647C53F8}"/>
              </a:ext>
            </a:extLst>
          </p:cNvPr>
          <p:cNvSpPr>
            <a:spLocks/>
          </p:cNvSpPr>
          <p:nvPr/>
        </p:nvSpPr>
        <p:spPr bwMode="auto">
          <a:xfrm>
            <a:off x="5136386" y="3863441"/>
            <a:ext cx="171465" cy="300936"/>
          </a:xfrm>
          <a:custGeom>
            <a:avLst/>
            <a:gdLst/>
            <a:ahLst/>
            <a:cxnLst>
              <a:cxn ang="0">
                <a:pos x="402" y="54"/>
              </a:cxn>
              <a:cxn ang="0">
                <a:pos x="413" y="237"/>
              </a:cxn>
              <a:cxn ang="0">
                <a:pos x="207" y="732"/>
              </a:cxn>
              <a:cxn ang="0">
                <a:pos x="96" y="775"/>
              </a:cxn>
              <a:cxn ang="0">
                <a:pos x="42" y="729"/>
              </a:cxn>
              <a:cxn ang="0">
                <a:pos x="0" y="569"/>
              </a:cxn>
              <a:cxn ang="0">
                <a:pos x="91" y="431"/>
              </a:cxn>
              <a:cxn ang="0">
                <a:pos x="61" y="313"/>
              </a:cxn>
              <a:cxn ang="0">
                <a:pos x="118" y="218"/>
              </a:cxn>
              <a:cxn ang="0">
                <a:pos x="286" y="145"/>
              </a:cxn>
              <a:cxn ang="0">
                <a:pos x="318" y="31"/>
              </a:cxn>
              <a:cxn ang="0">
                <a:pos x="371" y="0"/>
              </a:cxn>
              <a:cxn ang="0">
                <a:pos x="402" y="54"/>
              </a:cxn>
            </a:cxnLst>
            <a:rect l="0" t="0" r="r" b="b"/>
            <a:pathLst>
              <a:path w="413" h="775">
                <a:moveTo>
                  <a:pt x="402" y="54"/>
                </a:moveTo>
                <a:lnTo>
                  <a:pt x="413" y="237"/>
                </a:lnTo>
                <a:lnTo>
                  <a:pt x="207" y="732"/>
                </a:lnTo>
                <a:lnTo>
                  <a:pt x="96" y="775"/>
                </a:lnTo>
                <a:lnTo>
                  <a:pt x="42" y="729"/>
                </a:lnTo>
                <a:lnTo>
                  <a:pt x="0" y="569"/>
                </a:lnTo>
                <a:lnTo>
                  <a:pt x="91" y="431"/>
                </a:lnTo>
                <a:lnTo>
                  <a:pt x="61" y="313"/>
                </a:lnTo>
                <a:lnTo>
                  <a:pt x="118" y="218"/>
                </a:lnTo>
                <a:lnTo>
                  <a:pt x="286" y="145"/>
                </a:lnTo>
                <a:lnTo>
                  <a:pt x="318" y="31"/>
                </a:lnTo>
                <a:lnTo>
                  <a:pt x="371" y="0"/>
                </a:lnTo>
                <a:lnTo>
                  <a:pt x="402" y="54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4" name="Freeform 210">
            <a:extLst>
              <a:ext uri="{FF2B5EF4-FFF2-40B4-BE49-F238E27FC236}">
                <a16:creationId xmlns:a16="http://schemas.microsoft.com/office/drawing/2014/main" id="{84B27849-903D-74F9-AA10-ECE01A79C6D6}"/>
              </a:ext>
            </a:extLst>
          </p:cNvPr>
          <p:cNvSpPr>
            <a:spLocks/>
          </p:cNvSpPr>
          <p:nvPr/>
        </p:nvSpPr>
        <p:spPr bwMode="auto">
          <a:xfrm>
            <a:off x="4367298" y="2864459"/>
            <a:ext cx="361238" cy="304038"/>
          </a:xfrm>
          <a:custGeom>
            <a:avLst/>
            <a:gdLst/>
            <a:ahLst/>
            <a:cxnLst>
              <a:cxn ang="0">
                <a:pos x="859" y="636"/>
              </a:cxn>
              <a:cxn ang="0">
                <a:pos x="859" y="634"/>
              </a:cxn>
              <a:cxn ang="0">
                <a:pos x="832" y="182"/>
              </a:cxn>
              <a:cxn ang="0">
                <a:pos x="819" y="134"/>
              </a:cxn>
              <a:cxn ang="0">
                <a:pos x="832" y="78"/>
              </a:cxn>
              <a:cxn ang="0">
                <a:pos x="830" y="78"/>
              </a:cxn>
              <a:cxn ang="0">
                <a:pos x="812" y="60"/>
              </a:cxn>
              <a:cxn ang="0">
                <a:pos x="798" y="47"/>
              </a:cxn>
              <a:cxn ang="0">
                <a:pos x="727" y="49"/>
              </a:cxn>
              <a:cxn ang="0">
                <a:pos x="689" y="6"/>
              </a:cxn>
              <a:cxn ang="0">
                <a:pos x="579" y="32"/>
              </a:cxn>
              <a:cxn ang="0">
                <a:pos x="553" y="140"/>
              </a:cxn>
              <a:cxn ang="0">
                <a:pos x="517" y="166"/>
              </a:cxn>
              <a:cxn ang="0">
                <a:pos x="326" y="89"/>
              </a:cxn>
              <a:cxn ang="0">
                <a:pos x="300" y="47"/>
              </a:cxn>
              <a:cxn ang="0">
                <a:pos x="114" y="0"/>
              </a:cxn>
              <a:cxn ang="0">
                <a:pos x="27" y="135"/>
              </a:cxn>
              <a:cxn ang="0">
                <a:pos x="0" y="147"/>
              </a:cxn>
              <a:cxn ang="0">
                <a:pos x="3" y="155"/>
              </a:cxn>
              <a:cxn ang="0">
                <a:pos x="31" y="308"/>
              </a:cxn>
              <a:cxn ang="0">
                <a:pos x="8" y="402"/>
              </a:cxn>
              <a:cxn ang="0">
                <a:pos x="69" y="498"/>
              </a:cxn>
              <a:cxn ang="0">
                <a:pos x="110" y="503"/>
              </a:cxn>
              <a:cxn ang="0">
                <a:pos x="131" y="554"/>
              </a:cxn>
              <a:cxn ang="0">
                <a:pos x="135" y="565"/>
              </a:cxn>
              <a:cxn ang="0">
                <a:pos x="237" y="582"/>
              </a:cxn>
              <a:cxn ang="0">
                <a:pos x="278" y="608"/>
              </a:cxn>
              <a:cxn ang="0">
                <a:pos x="313" y="594"/>
              </a:cxn>
              <a:cxn ang="0">
                <a:pos x="318" y="592"/>
              </a:cxn>
              <a:cxn ang="0">
                <a:pos x="366" y="571"/>
              </a:cxn>
              <a:cxn ang="0">
                <a:pos x="810" y="782"/>
              </a:cxn>
              <a:cxn ang="0">
                <a:pos x="811" y="776"/>
              </a:cxn>
              <a:cxn ang="0">
                <a:pos x="811" y="774"/>
              </a:cxn>
              <a:cxn ang="0">
                <a:pos x="815" y="749"/>
              </a:cxn>
              <a:cxn ang="0">
                <a:pos x="866" y="748"/>
              </a:cxn>
              <a:cxn ang="0">
                <a:pos x="859" y="636"/>
              </a:cxn>
            </a:cxnLst>
            <a:rect l="0" t="0" r="r" b="b"/>
            <a:pathLst>
              <a:path w="866" h="782">
                <a:moveTo>
                  <a:pt x="859" y="636"/>
                </a:moveTo>
                <a:lnTo>
                  <a:pt x="859" y="634"/>
                </a:lnTo>
                <a:lnTo>
                  <a:pt x="832" y="182"/>
                </a:lnTo>
                <a:lnTo>
                  <a:pt x="819" y="134"/>
                </a:lnTo>
                <a:lnTo>
                  <a:pt x="832" y="78"/>
                </a:lnTo>
                <a:lnTo>
                  <a:pt x="830" y="78"/>
                </a:lnTo>
                <a:lnTo>
                  <a:pt x="812" y="60"/>
                </a:lnTo>
                <a:lnTo>
                  <a:pt x="798" y="47"/>
                </a:lnTo>
                <a:lnTo>
                  <a:pt x="727" y="49"/>
                </a:lnTo>
                <a:lnTo>
                  <a:pt x="689" y="6"/>
                </a:lnTo>
                <a:lnTo>
                  <a:pt x="579" y="32"/>
                </a:lnTo>
                <a:lnTo>
                  <a:pt x="553" y="140"/>
                </a:lnTo>
                <a:lnTo>
                  <a:pt x="517" y="166"/>
                </a:lnTo>
                <a:lnTo>
                  <a:pt x="326" y="89"/>
                </a:lnTo>
                <a:lnTo>
                  <a:pt x="300" y="47"/>
                </a:lnTo>
                <a:lnTo>
                  <a:pt x="114" y="0"/>
                </a:lnTo>
                <a:lnTo>
                  <a:pt x="27" y="135"/>
                </a:lnTo>
                <a:lnTo>
                  <a:pt x="0" y="147"/>
                </a:lnTo>
                <a:lnTo>
                  <a:pt x="3" y="155"/>
                </a:lnTo>
                <a:lnTo>
                  <a:pt x="31" y="308"/>
                </a:lnTo>
                <a:lnTo>
                  <a:pt x="8" y="402"/>
                </a:lnTo>
                <a:lnTo>
                  <a:pt x="69" y="498"/>
                </a:lnTo>
                <a:lnTo>
                  <a:pt x="110" y="503"/>
                </a:lnTo>
                <a:lnTo>
                  <a:pt x="131" y="554"/>
                </a:lnTo>
                <a:lnTo>
                  <a:pt x="135" y="565"/>
                </a:lnTo>
                <a:lnTo>
                  <a:pt x="237" y="582"/>
                </a:lnTo>
                <a:lnTo>
                  <a:pt x="278" y="608"/>
                </a:lnTo>
                <a:lnTo>
                  <a:pt x="313" y="594"/>
                </a:lnTo>
                <a:lnTo>
                  <a:pt x="318" y="592"/>
                </a:lnTo>
                <a:lnTo>
                  <a:pt x="366" y="571"/>
                </a:lnTo>
                <a:lnTo>
                  <a:pt x="810" y="782"/>
                </a:lnTo>
                <a:lnTo>
                  <a:pt x="811" y="776"/>
                </a:lnTo>
                <a:lnTo>
                  <a:pt x="811" y="774"/>
                </a:lnTo>
                <a:lnTo>
                  <a:pt x="815" y="749"/>
                </a:lnTo>
                <a:lnTo>
                  <a:pt x="866" y="748"/>
                </a:lnTo>
                <a:lnTo>
                  <a:pt x="859" y="636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5" name="Freeform 211">
            <a:extLst>
              <a:ext uri="{FF2B5EF4-FFF2-40B4-BE49-F238E27FC236}">
                <a16:creationId xmlns:a16="http://schemas.microsoft.com/office/drawing/2014/main" id="{C78732A4-83A2-4AE2-F033-319998756170}"/>
              </a:ext>
            </a:extLst>
          </p:cNvPr>
          <p:cNvSpPr>
            <a:spLocks/>
          </p:cNvSpPr>
          <p:nvPr/>
        </p:nvSpPr>
        <p:spPr bwMode="auto">
          <a:xfrm>
            <a:off x="3924488" y="3418244"/>
            <a:ext cx="93222" cy="85317"/>
          </a:xfrm>
          <a:custGeom>
            <a:avLst/>
            <a:gdLst/>
            <a:ahLst/>
            <a:cxnLst>
              <a:cxn ang="0">
                <a:pos x="221" y="131"/>
              </a:cxn>
              <a:cxn ang="0">
                <a:pos x="193" y="103"/>
              </a:cxn>
              <a:cxn ang="0">
                <a:pos x="178" y="39"/>
              </a:cxn>
              <a:cxn ang="0">
                <a:pos x="175" y="27"/>
              </a:cxn>
              <a:cxn ang="0">
                <a:pos x="65" y="0"/>
              </a:cxn>
              <a:cxn ang="0">
                <a:pos x="68" y="4"/>
              </a:cxn>
              <a:cxn ang="0">
                <a:pos x="72" y="10"/>
              </a:cxn>
              <a:cxn ang="0">
                <a:pos x="0" y="89"/>
              </a:cxn>
              <a:cxn ang="0">
                <a:pos x="178" y="215"/>
              </a:cxn>
              <a:cxn ang="0">
                <a:pos x="218" y="220"/>
              </a:cxn>
              <a:cxn ang="0">
                <a:pos x="221" y="219"/>
              </a:cxn>
              <a:cxn ang="0">
                <a:pos x="221" y="131"/>
              </a:cxn>
            </a:cxnLst>
            <a:rect l="0" t="0" r="r" b="b"/>
            <a:pathLst>
              <a:path w="221" h="220">
                <a:moveTo>
                  <a:pt x="221" y="131"/>
                </a:moveTo>
                <a:lnTo>
                  <a:pt x="193" y="103"/>
                </a:lnTo>
                <a:lnTo>
                  <a:pt x="178" y="39"/>
                </a:lnTo>
                <a:lnTo>
                  <a:pt x="175" y="27"/>
                </a:lnTo>
                <a:lnTo>
                  <a:pt x="65" y="0"/>
                </a:lnTo>
                <a:lnTo>
                  <a:pt x="68" y="4"/>
                </a:lnTo>
                <a:lnTo>
                  <a:pt x="72" y="10"/>
                </a:lnTo>
                <a:lnTo>
                  <a:pt x="0" y="89"/>
                </a:lnTo>
                <a:lnTo>
                  <a:pt x="178" y="215"/>
                </a:lnTo>
                <a:lnTo>
                  <a:pt x="218" y="220"/>
                </a:lnTo>
                <a:lnTo>
                  <a:pt x="221" y="219"/>
                </a:lnTo>
                <a:lnTo>
                  <a:pt x="221" y="13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6" name="Freeform 212">
            <a:extLst>
              <a:ext uri="{FF2B5EF4-FFF2-40B4-BE49-F238E27FC236}">
                <a16:creationId xmlns:a16="http://schemas.microsoft.com/office/drawing/2014/main" id="{AC9FEC59-D999-106D-15AA-DC60A6FBABC8}"/>
              </a:ext>
            </a:extLst>
          </p:cNvPr>
          <p:cNvSpPr>
            <a:spLocks/>
          </p:cNvSpPr>
          <p:nvPr/>
        </p:nvSpPr>
        <p:spPr bwMode="auto">
          <a:xfrm>
            <a:off x="4768490" y="4229532"/>
            <a:ext cx="54935" cy="34127"/>
          </a:xfrm>
          <a:custGeom>
            <a:avLst/>
            <a:gdLst/>
            <a:ahLst/>
            <a:cxnLst>
              <a:cxn ang="0">
                <a:pos x="0" y="45"/>
              </a:cxn>
              <a:cxn ang="0">
                <a:pos x="31" y="90"/>
              </a:cxn>
              <a:cxn ang="0">
                <a:pos x="129" y="37"/>
              </a:cxn>
              <a:cxn ang="0">
                <a:pos x="85" y="0"/>
              </a:cxn>
              <a:cxn ang="0">
                <a:pos x="0" y="45"/>
              </a:cxn>
            </a:cxnLst>
            <a:rect l="0" t="0" r="r" b="b"/>
            <a:pathLst>
              <a:path w="129" h="90">
                <a:moveTo>
                  <a:pt x="0" y="45"/>
                </a:moveTo>
                <a:lnTo>
                  <a:pt x="31" y="90"/>
                </a:lnTo>
                <a:lnTo>
                  <a:pt x="129" y="37"/>
                </a:lnTo>
                <a:lnTo>
                  <a:pt x="85" y="0"/>
                </a:lnTo>
                <a:lnTo>
                  <a:pt x="0" y="45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7" name="Freeform 213">
            <a:extLst>
              <a:ext uri="{FF2B5EF4-FFF2-40B4-BE49-F238E27FC236}">
                <a16:creationId xmlns:a16="http://schemas.microsoft.com/office/drawing/2014/main" id="{6B158A7D-FF4D-BA76-EA33-C74E6EFF0A57}"/>
              </a:ext>
            </a:extLst>
          </p:cNvPr>
          <p:cNvSpPr>
            <a:spLocks/>
          </p:cNvSpPr>
          <p:nvPr/>
        </p:nvSpPr>
        <p:spPr bwMode="auto">
          <a:xfrm>
            <a:off x="4417237" y="3512870"/>
            <a:ext cx="181452" cy="183043"/>
          </a:xfrm>
          <a:custGeom>
            <a:avLst/>
            <a:gdLst/>
            <a:ahLst/>
            <a:cxnLst>
              <a:cxn ang="0">
                <a:pos x="428" y="4"/>
              </a:cxn>
              <a:cxn ang="0">
                <a:pos x="423" y="3"/>
              </a:cxn>
              <a:cxn ang="0">
                <a:pos x="356" y="0"/>
              </a:cxn>
              <a:cxn ang="0">
                <a:pos x="312" y="55"/>
              </a:cxn>
              <a:cxn ang="0">
                <a:pos x="300" y="69"/>
              </a:cxn>
              <a:cxn ang="0">
                <a:pos x="294" y="76"/>
              </a:cxn>
              <a:cxn ang="0">
                <a:pos x="292" y="121"/>
              </a:cxn>
              <a:cxn ang="0">
                <a:pos x="136" y="78"/>
              </a:cxn>
              <a:cxn ang="0">
                <a:pos x="134" y="78"/>
              </a:cxn>
              <a:cxn ang="0">
                <a:pos x="136" y="131"/>
              </a:cxn>
              <a:cxn ang="0">
                <a:pos x="171" y="127"/>
              </a:cxn>
              <a:cxn ang="0">
                <a:pos x="196" y="153"/>
              </a:cxn>
              <a:cxn ang="0">
                <a:pos x="182" y="217"/>
              </a:cxn>
              <a:cxn ang="0">
                <a:pos x="182" y="219"/>
              </a:cxn>
              <a:cxn ang="0">
                <a:pos x="214" y="248"/>
              </a:cxn>
              <a:cxn ang="0">
                <a:pos x="209" y="342"/>
              </a:cxn>
              <a:cxn ang="0">
                <a:pos x="161" y="350"/>
              </a:cxn>
              <a:cxn ang="0">
                <a:pos x="160" y="336"/>
              </a:cxn>
              <a:cxn ang="0">
                <a:pos x="107" y="323"/>
              </a:cxn>
              <a:cxn ang="0">
                <a:pos x="0" y="417"/>
              </a:cxn>
              <a:cxn ang="0">
                <a:pos x="32" y="460"/>
              </a:cxn>
              <a:cxn ang="0">
                <a:pos x="38" y="472"/>
              </a:cxn>
              <a:cxn ang="0">
                <a:pos x="188" y="457"/>
              </a:cxn>
              <a:cxn ang="0">
                <a:pos x="202" y="456"/>
              </a:cxn>
              <a:cxn ang="0">
                <a:pos x="209" y="473"/>
              </a:cxn>
              <a:cxn ang="0">
                <a:pos x="245" y="462"/>
              </a:cxn>
              <a:cxn ang="0">
                <a:pos x="299" y="399"/>
              </a:cxn>
              <a:cxn ang="0">
                <a:pos x="302" y="343"/>
              </a:cxn>
              <a:cxn ang="0">
                <a:pos x="341" y="297"/>
              </a:cxn>
              <a:cxn ang="0">
                <a:pos x="394" y="233"/>
              </a:cxn>
              <a:cxn ang="0">
                <a:pos x="434" y="26"/>
              </a:cxn>
              <a:cxn ang="0">
                <a:pos x="428" y="4"/>
              </a:cxn>
            </a:cxnLst>
            <a:rect l="0" t="0" r="r" b="b"/>
            <a:pathLst>
              <a:path w="434" h="473">
                <a:moveTo>
                  <a:pt x="428" y="4"/>
                </a:moveTo>
                <a:lnTo>
                  <a:pt x="423" y="3"/>
                </a:lnTo>
                <a:lnTo>
                  <a:pt x="356" y="0"/>
                </a:lnTo>
                <a:lnTo>
                  <a:pt x="312" y="55"/>
                </a:lnTo>
                <a:lnTo>
                  <a:pt x="300" y="69"/>
                </a:lnTo>
                <a:lnTo>
                  <a:pt x="294" y="76"/>
                </a:lnTo>
                <a:lnTo>
                  <a:pt x="292" y="121"/>
                </a:lnTo>
                <a:lnTo>
                  <a:pt x="136" y="78"/>
                </a:lnTo>
                <a:lnTo>
                  <a:pt x="134" y="78"/>
                </a:lnTo>
                <a:lnTo>
                  <a:pt x="136" y="131"/>
                </a:lnTo>
                <a:lnTo>
                  <a:pt x="171" y="127"/>
                </a:lnTo>
                <a:lnTo>
                  <a:pt x="196" y="153"/>
                </a:lnTo>
                <a:lnTo>
                  <a:pt x="182" y="217"/>
                </a:lnTo>
                <a:lnTo>
                  <a:pt x="182" y="219"/>
                </a:lnTo>
                <a:lnTo>
                  <a:pt x="214" y="248"/>
                </a:lnTo>
                <a:lnTo>
                  <a:pt x="209" y="342"/>
                </a:lnTo>
                <a:lnTo>
                  <a:pt x="161" y="350"/>
                </a:lnTo>
                <a:lnTo>
                  <a:pt x="160" y="336"/>
                </a:lnTo>
                <a:lnTo>
                  <a:pt x="107" y="323"/>
                </a:lnTo>
                <a:lnTo>
                  <a:pt x="0" y="417"/>
                </a:lnTo>
                <a:lnTo>
                  <a:pt x="32" y="460"/>
                </a:lnTo>
                <a:lnTo>
                  <a:pt x="38" y="472"/>
                </a:lnTo>
                <a:lnTo>
                  <a:pt x="188" y="457"/>
                </a:lnTo>
                <a:lnTo>
                  <a:pt x="202" y="456"/>
                </a:lnTo>
                <a:lnTo>
                  <a:pt x="209" y="473"/>
                </a:lnTo>
                <a:lnTo>
                  <a:pt x="245" y="462"/>
                </a:lnTo>
                <a:lnTo>
                  <a:pt x="299" y="399"/>
                </a:lnTo>
                <a:lnTo>
                  <a:pt x="302" y="343"/>
                </a:lnTo>
                <a:lnTo>
                  <a:pt x="341" y="297"/>
                </a:lnTo>
                <a:lnTo>
                  <a:pt x="394" y="233"/>
                </a:lnTo>
                <a:lnTo>
                  <a:pt x="434" y="26"/>
                </a:lnTo>
                <a:lnTo>
                  <a:pt x="428" y="4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8" name="Freeform 214">
            <a:extLst>
              <a:ext uri="{FF2B5EF4-FFF2-40B4-BE49-F238E27FC236}">
                <a16:creationId xmlns:a16="http://schemas.microsoft.com/office/drawing/2014/main" id="{351BF0CC-E81E-7D4A-96A3-CB3F616F1DF7}"/>
              </a:ext>
            </a:extLst>
          </p:cNvPr>
          <p:cNvSpPr>
            <a:spLocks/>
          </p:cNvSpPr>
          <p:nvPr/>
        </p:nvSpPr>
        <p:spPr bwMode="auto">
          <a:xfrm>
            <a:off x="4946611" y="3481843"/>
            <a:ext cx="176457" cy="209414"/>
          </a:xfrm>
          <a:custGeom>
            <a:avLst/>
            <a:gdLst/>
            <a:ahLst/>
            <a:cxnLst>
              <a:cxn ang="0">
                <a:pos x="383" y="328"/>
              </a:cxn>
              <a:cxn ang="0">
                <a:pos x="383" y="193"/>
              </a:cxn>
              <a:cxn ang="0">
                <a:pos x="383" y="143"/>
              </a:cxn>
              <a:cxn ang="0">
                <a:pos x="419" y="78"/>
              </a:cxn>
              <a:cxn ang="0">
                <a:pos x="420" y="75"/>
              </a:cxn>
              <a:cxn ang="0">
                <a:pos x="359" y="47"/>
              </a:cxn>
              <a:cxn ang="0">
                <a:pos x="338" y="61"/>
              </a:cxn>
              <a:cxn ang="0">
                <a:pos x="333" y="65"/>
              </a:cxn>
              <a:cxn ang="0">
                <a:pos x="306" y="86"/>
              </a:cxn>
              <a:cxn ang="0">
                <a:pos x="109" y="44"/>
              </a:cxn>
              <a:cxn ang="0">
                <a:pos x="97" y="23"/>
              </a:cxn>
              <a:cxn ang="0">
                <a:pos x="91" y="26"/>
              </a:cxn>
              <a:cxn ang="0">
                <a:pos x="71" y="0"/>
              </a:cxn>
              <a:cxn ang="0">
                <a:pos x="16" y="55"/>
              </a:cxn>
              <a:cxn ang="0">
                <a:pos x="64" y="184"/>
              </a:cxn>
              <a:cxn ang="0">
                <a:pos x="0" y="266"/>
              </a:cxn>
              <a:cxn ang="0">
                <a:pos x="10" y="337"/>
              </a:cxn>
              <a:cxn ang="0">
                <a:pos x="214" y="447"/>
              </a:cxn>
              <a:cxn ang="0">
                <a:pos x="227" y="499"/>
              </a:cxn>
              <a:cxn ang="0">
                <a:pos x="306" y="538"/>
              </a:cxn>
              <a:cxn ang="0">
                <a:pos x="351" y="436"/>
              </a:cxn>
              <a:cxn ang="0">
                <a:pos x="424" y="363"/>
              </a:cxn>
              <a:cxn ang="0">
                <a:pos x="383" y="328"/>
              </a:cxn>
            </a:cxnLst>
            <a:rect l="0" t="0" r="r" b="b"/>
            <a:pathLst>
              <a:path w="424" h="538">
                <a:moveTo>
                  <a:pt x="383" y="328"/>
                </a:moveTo>
                <a:lnTo>
                  <a:pt x="383" y="193"/>
                </a:lnTo>
                <a:lnTo>
                  <a:pt x="383" y="143"/>
                </a:lnTo>
                <a:lnTo>
                  <a:pt x="419" y="78"/>
                </a:lnTo>
                <a:lnTo>
                  <a:pt x="420" y="75"/>
                </a:lnTo>
                <a:lnTo>
                  <a:pt x="359" y="47"/>
                </a:lnTo>
                <a:lnTo>
                  <a:pt x="338" y="61"/>
                </a:lnTo>
                <a:lnTo>
                  <a:pt x="333" y="65"/>
                </a:lnTo>
                <a:lnTo>
                  <a:pt x="306" y="86"/>
                </a:lnTo>
                <a:lnTo>
                  <a:pt x="109" y="44"/>
                </a:lnTo>
                <a:lnTo>
                  <a:pt x="97" y="23"/>
                </a:lnTo>
                <a:lnTo>
                  <a:pt x="91" y="26"/>
                </a:lnTo>
                <a:lnTo>
                  <a:pt x="71" y="0"/>
                </a:lnTo>
                <a:lnTo>
                  <a:pt x="16" y="55"/>
                </a:lnTo>
                <a:lnTo>
                  <a:pt x="64" y="184"/>
                </a:lnTo>
                <a:lnTo>
                  <a:pt x="0" y="266"/>
                </a:lnTo>
                <a:lnTo>
                  <a:pt x="10" y="337"/>
                </a:lnTo>
                <a:lnTo>
                  <a:pt x="214" y="447"/>
                </a:lnTo>
                <a:lnTo>
                  <a:pt x="227" y="499"/>
                </a:lnTo>
                <a:lnTo>
                  <a:pt x="306" y="538"/>
                </a:lnTo>
                <a:lnTo>
                  <a:pt x="351" y="436"/>
                </a:lnTo>
                <a:lnTo>
                  <a:pt x="424" y="363"/>
                </a:lnTo>
                <a:lnTo>
                  <a:pt x="383" y="328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29" name="Freeform 215">
            <a:extLst>
              <a:ext uri="{FF2B5EF4-FFF2-40B4-BE49-F238E27FC236}">
                <a16:creationId xmlns:a16="http://schemas.microsoft.com/office/drawing/2014/main" id="{6C3F6255-2DC9-5526-9E32-24F3E3A7205D}"/>
              </a:ext>
            </a:extLst>
          </p:cNvPr>
          <p:cNvSpPr>
            <a:spLocks/>
          </p:cNvSpPr>
          <p:nvPr/>
        </p:nvSpPr>
        <p:spPr bwMode="auto">
          <a:xfrm>
            <a:off x="4355646" y="3320517"/>
            <a:ext cx="186446" cy="238888"/>
          </a:xfrm>
          <a:custGeom>
            <a:avLst/>
            <a:gdLst/>
            <a:ahLst/>
            <a:cxnLst>
              <a:cxn ang="0">
                <a:pos x="389" y="509"/>
              </a:cxn>
              <a:cxn ang="0">
                <a:pos x="343" y="402"/>
              </a:cxn>
              <a:cxn ang="0">
                <a:pos x="407" y="283"/>
              </a:cxn>
              <a:cxn ang="0">
                <a:pos x="405" y="280"/>
              </a:cxn>
              <a:cxn ang="0">
                <a:pos x="399" y="272"/>
              </a:cxn>
              <a:cxn ang="0">
                <a:pos x="327" y="177"/>
              </a:cxn>
              <a:cxn ang="0">
                <a:pos x="386" y="153"/>
              </a:cxn>
              <a:cxn ang="0">
                <a:pos x="356" y="9"/>
              </a:cxn>
              <a:cxn ang="0">
                <a:pos x="347" y="0"/>
              </a:cxn>
              <a:cxn ang="0">
                <a:pos x="163" y="339"/>
              </a:cxn>
              <a:cxn ang="0">
                <a:pos x="109" y="323"/>
              </a:cxn>
              <a:cxn ang="0">
                <a:pos x="101" y="329"/>
              </a:cxn>
              <a:cxn ang="0">
                <a:pos x="32" y="376"/>
              </a:cxn>
              <a:cxn ang="0">
                <a:pos x="0" y="459"/>
              </a:cxn>
              <a:cxn ang="0">
                <a:pos x="6" y="462"/>
              </a:cxn>
              <a:cxn ang="0">
                <a:pos x="76" y="497"/>
              </a:cxn>
              <a:cxn ang="0">
                <a:pos x="87" y="568"/>
              </a:cxn>
              <a:cxn ang="0">
                <a:pos x="84" y="579"/>
              </a:cxn>
              <a:cxn ang="0">
                <a:pos x="140" y="577"/>
              </a:cxn>
              <a:cxn ang="0">
                <a:pos x="169" y="577"/>
              </a:cxn>
              <a:cxn ang="0">
                <a:pos x="275" y="575"/>
              </a:cxn>
              <a:cxn ang="0">
                <a:pos x="281" y="575"/>
              </a:cxn>
              <a:cxn ang="0">
                <a:pos x="283" y="575"/>
              </a:cxn>
              <a:cxn ang="0">
                <a:pos x="439" y="618"/>
              </a:cxn>
              <a:cxn ang="0">
                <a:pos x="441" y="573"/>
              </a:cxn>
              <a:cxn ang="0">
                <a:pos x="447" y="566"/>
              </a:cxn>
              <a:cxn ang="0">
                <a:pos x="389" y="509"/>
              </a:cxn>
            </a:cxnLst>
            <a:rect l="0" t="0" r="r" b="b"/>
            <a:pathLst>
              <a:path w="447" h="618">
                <a:moveTo>
                  <a:pt x="389" y="509"/>
                </a:moveTo>
                <a:lnTo>
                  <a:pt x="343" y="402"/>
                </a:lnTo>
                <a:lnTo>
                  <a:pt x="407" y="283"/>
                </a:lnTo>
                <a:lnTo>
                  <a:pt x="405" y="280"/>
                </a:lnTo>
                <a:lnTo>
                  <a:pt x="399" y="272"/>
                </a:lnTo>
                <a:lnTo>
                  <a:pt x="327" y="177"/>
                </a:lnTo>
                <a:lnTo>
                  <a:pt x="386" y="153"/>
                </a:lnTo>
                <a:lnTo>
                  <a:pt x="356" y="9"/>
                </a:lnTo>
                <a:lnTo>
                  <a:pt x="347" y="0"/>
                </a:lnTo>
                <a:lnTo>
                  <a:pt x="163" y="339"/>
                </a:lnTo>
                <a:lnTo>
                  <a:pt x="109" y="323"/>
                </a:lnTo>
                <a:lnTo>
                  <a:pt x="101" y="329"/>
                </a:lnTo>
                <a:lnTo>
                  <a:pt x="32" y="376"/>
                </a:lnTo>
                <a:lnTo>
                  <a:pt x="0" y="459"/>
                </a:lnTo>
                <a:lnTo>
                  <a:pt x="6" y="462"/>
                </a:lnTo>
                <a:lnTo>
                  <a:pt x="76" y="497"/>
                </a:lnTo>
                <a:lnTo>
                  <a:pt x="87" y="568"/>
                </a:lnTo>
                <a:lnTo>
                  <a:pt x="84" y="579"/>
                </a:lnTo>
                <a:lnTo>
                  <a:pt x="140" y="577"/>
                </a:lnTo>
                <a:lnTo>
                  <a:pt x="169" y="577"/>
                </a:lnTo>
                <a:lnTo>
                  <a:pt x="275" y="575"/>
                </a:lnTo>
                <a:lnTo>
                  <a:pt x="281" y="575"/>
                </a:lnTo>
                <a:lnTo>
                  <a:pt x="283" y="575"/>
                </a:lnTo>
                <a:lnTo>
                  <a:pt x="439" y="618"/>
                </a:lnTo>
                <a:lnTo>
                  <a:pt x="441" y="573"/>
                </a:lnTo>
                <a:lnTo>
                  <a:pt x="447" y="566"/>
                </a:lnTo>
                <a:lnTo>
                  <a:pt x="389" y="509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0" name="Freeform 216">
            <a:extLst>
              <a:ext uri="{FF2B5EF4-FFF2-40B4-BE49-F238E27FC236}">
                <a16:creationId xmlns:a16="http://schemas.microsoft.com/office/drawing/2014/main" id="{289D8AD1-2DB8-BAB4-42DD-6DDAC3F979BA}"/>
              </a:ext>
            </a:extLst>
          </p:cNvPr>
          <p:cNvSpPr>
            <a:spLocks/>
          </p:cNvSpPr>
          <p:nvPr/>
        </p:nvSpPr>
        <p:spPr bwMode="auto">
          <a:xfrm>
            <a:off x="3824606" y="3325171"/>
            <a:ext cx="63258" cy="37229"/>
          </a:xfrm>
          <a:custGeom>
            <a:avLst/>
            <a:gdLst/>
            <a:ahLst/>
            <a:cxnLst>
              <a:cxn ang="0">
                <a:pos x="142" y="3"/>
              </a:cxn>
              <a:cxn ang="0">
                <a:pos x="59" y="0"/>
              </a:cxn>
              <a:cxn ang="0">
                <a:pos x="0" y="25"/>
              </a:cxn>
              <a:cxn ang="0">
                <a:pos x="0" y="25"/>
              </a:cxn>
              <a:cxn ang="0">
                <a:pos x="6" y="31"/>
              </a:cxn>
              <a:cxn ang="0">
                <a:pos x="63" y="92"/>
              </a:cxn>
              <a:cxn ang="0">
                <a:pos x="67" y="97"/>
              </a:cxn>
              <a:cxn ang="0">
                <a:pos x="143" y="46"/>
              </a:cxn>
              <a:cxn ang="0">
                <a:pos x="147" y="17"/>
              </a:cxn>
              <a:cxn ang="0">
                <a:pos x="150" y="3"/>
              </a:cxn>
              <a:cxn ang="0">
                <a:pos x="142" y="3"/>
              </a:cxn>
            </a:cxnLst>
            <a:rect l="0" t="0" r="r" b="b"/>
            <a:pathLst>
              <a:path w="150" h="97">
                <a:moveTo>
                  <a:pt x="142" y="3"/>
                </a:moveTo>
                <a:lnTo>
                  <a:pt x="59" y="0"/>
                </a:lnTo>
                <a:lnTo>
                  <a:pt x="0" y="25"/>
                </a:lnTo>
                <a:lnTo>
                  <a:pt x="0" y="25"/>
                </a:lnTo>
                <a:lnTo>
                  <a:pt x="6" y="31"/>
                </a:lnTo>
                <a:lnTo>
                  <a:pt x="63" y="92"/>
                </a:lnTo>
                <a:lnTo>
                  <a:pt x="67" y="97"/>
                </a:lnTo>
                <a:lnTo>
                  <a:pt x="143" y="46"/>
                </a:lnTo>
                <a:lnTo>
                  <a:pt x="147" y="17"/>
                </a:lnTo>
                <a:lnTo>
                  <a:pt x="150" y="3"/>
                </a:lnTo>
                <a:lnTo>
                  <a:pt x="142" y="3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1" name="Freeform 217">
            <a:extLst>
              <a:ext uri="{FF2B5EF4-FFF2-40B4-BE49-F238E27FC236}">
                <a16:creationId xmlns:a16="http://schemas.microsoft.com/office/drawing/2014/main" id="{88B04758-FADC-FA77-F59D-894386684222}"/>
              </a:ext>
            </a:extLst>
          </p:cNvPr>
          <p:cNvSpPr>
            <a:spLocks/>
          </p:cNvSpPr>
          <p:nvPr/>
        </p:nvSpPr>
        <p:spPr bwMode="auto">
          <a:xfrm>
            <a:off x="3852907" y="3326722"/>
            <a:ext cx="163140" cy="102379"/>
          </a:xfrm>
          <a:custGeom>
            <a:avLst/>
            <a:gdLst/>
            <a:ahLst/>
            <a:cxnLst>
              <a:cxn ang="0">
                <a:pos x="391" y="109"/>
              </a:cxn>
              <a:cxn ang="0">
                <a:pos x="366" y="111"/>
              </a:cxn>
              <a:cxn ang="0">
                <a:pos x="324" y="5"/>
              </a:cxn>
              <a:cxn ang="0">
                <a:pos x="195" y="39"/>
              </a:cxn>
              <a:cxn ang="0">
                <a:pos x="181" y="5"/>
              </a:cxn>
              <a:cxn ang="0">
                <a:pos x="179" y="3"/>
              </a:cxn>
              <a:cxn ang="0">
                <a:pos x="83" y="0"/>
              </a:cxn>
              <a:cxn ang="0">
                <a:pos x="80" y="14"/>
              </a:cxn>
              <a:cxn ang="0">
                <a:pos x="76" y="43"/>
              </a:cxn>
              <a:cxn ang="0">
                <a:pos x="0" y="94"/>
              </a:cxn>
              <a:cxn ang="0">
                <a:pos x="89" y="189"/>
              </a:cxn>
              <a:cxn ang="0">
                <a:pos x="89" y="189"/>
              </a:cxn>
              <a:cxn ang="0">
                <a:pos x="164" y="139"/>
              </a:cxn>
              <a:cxn ang="0">
                <a:pos x="238" y="236"/>
              </a:cxn>
              <a:cxn ang="0">
                <a:pos x="348" y="263"/>
              </a:cxn>
              <a:cxn ang="0">
                <a:pos x="347" y="259"/>
              </a:cxn>
              <a:cxn ang="0">
                <a:pos x="384" y="204"/>
              </a:cxn>
              <a:cxn ang="0">
                <a:pos x="391" y="109"/>
              </a:cxn>
            </a:cxnLst>
            <a:rect l="0" t="0" r="r" b="b"/>
            <a:pathLst>
              <a:path w="391" h="263">
                <a:moveTo>
                  <a:pt x="391" y="109"/>
                </a:moveTo>
                <a:lnTo>
                  <a:pt x="366" y="111"/>
                </a:lnTo>
                <a:lnTo>
                  <a:pt x="324" y="5"/>
                </a:lnTo>
                <a:lnTo>
                  <a:pt x="195" y="39"/>
                </a:lnTo>
                <a:lnTo>
                  <a:pt x="181" y="5"/>
                </a:lnTo>
                <a:lnTo>
                  <a:pt x="179" y="3"/>
                </a:lnTo>
                <a:lnTo>
                  <a:pt x="83" y="0"/>
                </a:lnTo>
                <a:lnTo>
                  <a:pt x="80" y="14"/>
                </a:lnTo>
                <a:lnTo>
                  <a:pt x="76" y="43"/>
                </a:lnTo>
                <a:lnTo>
                  <a:pt x="0" y="94"/>
                </a:lnTo>
                <a:lnTo>
                  <a:pt x="89" y="189"/>
                </a:lnTo>
                <a:lnTo>
                  <a:pt x="89" y="189"/>
                </a:lnTo>
                <a:lnTo>
                  <a:pt x="164" y="139"/>
                </a:lnTo>
                <a:lnTo>
                  <a:pt x="238" y="236"/>
                </a:lnTo>
                <a:lnTo>
                  <a:pt x="348" y="263"/>
                </a:lnTo>
                <a:lnTo>
                  <a:pt x="347" y="259"/>
                </a:lnTo>
                <a:lnTo>
                  <a:pt x="384" y="204"/>
                </a:lnTo>
                <a:lnTo>
                  <a:pt x="391" y="109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2" name="Freeform 218">
            <a:extLst>
              <a:ext uri="{FF2B5EF4-FFF2-40B4-BE49-F238E27FC236}">
                <a16:creationId xmlns:a16="http://schemas.microsoft.com/office/drawing/2014/main" id="{E2288944-75AA-BFC4-6E69-BFDD03E5B7B0}"/>
              </a:ext>
            </a:extLst>
          </p:cNvPr>
          <p:cNvSpPr>
            <a:spLocks/>
          </p:cNvSpPr>
          <p:nvPr/>
        </p:nvSpPr>
        <p:spPr bwMode="auto">
          <a:xfrm>
            <a:off x="4119257" y="3360850"/>
            <a:ext cx="63258" cy="136508"/>
          </a:xfrm>
          <a:custGeom>
            <a:avLst/>
            <a:gdLst/>
            <a:ahLst/>
            <a:cxnLst>
              <a:cxn ang="0">
                <a:pos x="131" y="185"/>
              </a:cxn>
              <a:cxn ang="0">
                <a:pos x="121" y="0"/>
              </a:cxn>
              <a:cxn ang="0">
                <a:pos x="35" y="5"/>
              </a:cxn>
              <a:cxn ang="0">
                <a:pos x="19" y="77"/>
              </a:cxn>
              <a:cxn ang="0">
                <a:pos x="6" y="76"/>
              </a:cxn>
              <a:cxn ang="0">
                <a:pos x="36" y="127"/>
              </a:cxn>
              <a:cxn ang="0">
                <a:pos x="15" y="203"/>
              </a:cxn>
              <a:cxn ang="0">
                <a:pos x="0" y="250"/>
              </a:cxn>
              <a:cxn ang="0">
                <a:pos x="29" y="343"/>
              </a:cxn>
              <a:cxn ang="0">
                <a:pos x="35" y="344"/>
              </a:cxn>
              <a:cxn ang="0">
                <a:pos x="72" y="350"/>
              </a:cxn>
              <a:cxn ang="0">
                <a:pos x="149" y="285"/>
              </a:cxn>
              <a:cxn ang="0">
                <a:pos x="131" y="185"/>
              </a:cxn>
            </a:cxnLst>
            <a:rect l="0" t="0" r="r" b="b"/>
            <a:pathLst>
              <a:path w="149" h="350">
                <a:moveTo>
                  <a:pt x="131" y="185"/>
                </a:moveTo>
                <a:lnTo>
                  <a:pt x="121" y="0"/>
                </a:lnTo>
                <a:lnTo>
                  <a:pt x="35" y="5"/>
                </a:lnTo>
                <a:lnTo>
                  <a:pt x="19" y="77"/>
                </a:lnTo>
                <a:lnTo>
                  <a:pt x="6" y="76"/>
                </a:lnTo>
                <a:lnTo>
                  <a:pt x="36" y="127"/>
                </a:lnTo>
                <a:lnTo>
                  <a:pt x="15" y="203"/>
                </a:lnTo>
                <a:lnTo>
                  <a:pt x="0" y="250"/>
                </a:lnTo>
                <a:lnTo>
                  <a:pt x="29" y="343"/>
                </a:lnTo>
                <a:lnTo>
                  <a:pt x="35" y="344"/>
                </a:lnTo>
                <a:lnTo>
                  <a:pt x="72" y="350"/>
                </a:lnTo>
                <a:lnTo>
                  <a:pt x="149" y="285"/>
                </a:lnTo>
                <a:lnTo>
                  <a:pt x="131" y="185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3" name="Freeform 220">
            <a:extLst>
              <a:ext uri="{FF2B5EF4-FFF2-40B4-BE49-F238E27FC236}">
                <a16:creationId xmlns:a16="http://schemas.microsoft.com/office/drawing/2014/main" id="{C7D00F4A-7BBE-5794-5A25-7F0F5AAE7E52}"/>
              </a:ext>
            </a:extLst>
          </p:cNvPr>
          <p:cNvSpPr>
            <a:spLocks/>
          </p:cNvSpPr>
          <p:nvPr/>
        </p:nvSpPr>
        <p:spPr bwMode="auto">
          <a:xfrm>
            <a:off x="4370627" y="3542342"/>
            <a:ext cx="136504" cy="131853"/>
          </a:xfrm>
          <a:custGeom>
            <a:avLst/>
            <a:gdLst/>
            <a:ahLst/>
            <a:cxnLst>
              <a:cxn ang="0">
                <a:pos x="295" y="141"/>
              </a:cxn>
              <a:cxn ang="0">
                <a:pos x="295" y="139"/>
              </a:cxn>
              <a:cxn ang="0">
                <a:pos x="309" y="75"/>
              </a:cxn>
              <a:cxn ang="0">
                <a:pos x="284" y="49"/>
              </a:cxn>
              <a:cxn ang="0">
                <a:pos x="249" y="53"/>
              </a:cxn>
              <a:cxn ang="0">
                <a:pos x="247" y="0"/>
              </a:cxn>
              <a:cxn ang="0">
                <a:pos x="241" y="0"/>
              </a:cxn>
              <a:cxn ang="0">
                <a:pos x="135" y="2"/>
              </a:cxn>
              <a:cxn ang="0">
                <a:pos x="134" y="59"/>
              </a:cxn>
              <a:cxn ang="0">
                <a:pos x="133" y="82"/>
              </a:cxn>
              <a:cxn ang="0">
                <a:pos x="31" y="76"/>
              </a:cxn>
              <a:cxn ang="0">
                <a:pos x="0" y="186"/>
              </a:cxn>
              <a:cxn ang="0">
                <a:pos x="107" y="331"/>
              </a:cxn>
              <a:cxn ang="0">
                <a:pos x="113" y="339"/>
              </a:cxn>
              <a:cxn ang="0">
                <a:pos x="220" y="245"/>
              </a:cxn>
              <a:cxn ang="0">
                <a:pos x="273" y="258"/>
              </a:cxn>
              <a:cxn ang="0">
                <a:pos x="274" y="272"/>
              </a:cxn>
              <a:cxn ang="0">
                <a:pos x="322" y="264"/>
              </a:cxn>
              <a:cxn ang="0">
                <a:pos x="327" y="170"/>
              </a:cxn>
              <a:cxn ang="0">
                <a:pos x="295" y="141"/>
              </a:cxn>
            </a:cxnLst>
            <a:rect l="0" t="0" r="r" b="b"/>
            <a:pathLst>
              <a:path w="327" h="339">
                <a:moveTo>
                  <a:pt x="295" y="141"/>
                </a:moveTo>
                <a:lnTo>
                  <a:pt x="295" y="139"/>
                </a:lnTo>
                <a:lnTo>
                  <a:pt x="309" y="75"/>
                </a:lnTo>
                <a:lnTo>
                  <a:pt x="284" y="49"/>
                </a:lnTo>
                <a:lnTo>
                  <a:pt x="249" y="53"/>
                </a:lnTo>
                <a:lnTo>
                  <a:pt x="247" y="0"/>
                </a:lnTo>
                <a:lnTo>
                  <a:pt x="241" y="0"/>
                </a:lnTo>
                <a:lnTo>
                  <a:pt x="135" y="2"/>
                </a:lnTo>
                <a:lnTo>
                  <a:pt x="134" y="59"/>
                </a:lnTo>
                <a:lnTo>
                  <a:pt x="133" y="82"/>
                </a:lnTo>
                <a:lnTo>
                  <a:pt x="31" y="76"/>
                </a:lnTo>
                <a:lnTo>
                  <a:pt x="0" y="186"/>
                </a:lnTo>
                <a:lnTo>
                  <a:pt x="107" y="331"/>
                </a:lnTo>
                <a:lnTo>
                  <a:pt x="113" y="339"/>
                </a:lnTo>
                <a:lnTo>
                  <a:pt x="220" y="245"/>
                </a:lnTo>
                <a:lnTo>
                  <a:pt x="273" y="258"/>
                </a:lnTo>
                <a:lnTo>
                  <a:pt x="274" y="272"/>
                </a:lnTo>
                <a:lnTo>
                  <a:pt x="322" y="264"/>
                </a:lnTo>
                <a:lnTo>
                  <a:pt x="327" y="170"/>
                </a:lnTo>
                <a:lnTo>
                  <a:pt x="295" y="141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4" name="Freeform 221">
            <a:extLst>
              <a:ext uri="{FF2B5EF4-FFF2-40B4-BE49-F238E27FC236}">
                <a16:creationId xmlns:a16="http://schemas.microsoft.com/office/drawing/2014/main" id="{875DFB3D-0436-C9FA-8B79-09CF4770B173}"/>
              </a:ext>
            </a:extLst>
          </p:cNvPr>
          <p:cNvSpPr>
            <a:spLocks/>
          </p:cNvSpPr>
          <p:nvPr/>
        </p:nvSpPr>
        <p:spPr bwMode="auto">
          <a:xfrm>
            <a:off x="4989892" y="3196419"/>
            <a:ext cx="156482" cy="124098"/>
          </a:xfrm>
          <a:custGeom>
            <a:avLst/>
            <a:gdLst/>
            <a:ahLst/>
            <a:cxnLst>
              <a:cxn ang="0">
                <a:pos x="367" y="286"/>
              </a:cxn>
              <a:cxn ang="0">
                <a:pos x="365" y="284"/>
              </a:cxn>
              <a:cxn ang="0">
                <a:pos x="154" y="137"/>
              </a:cxn>
              <a:cxn ang="0">
                <a:pos x="117" y="23"/>
              </a:cxn>
              <a:cxn ang="0">
                <a:pos x="109" y="1"/>
              </a:cxn>
              <a:cxn ang="0">
                <a:pos x="108" y="0"/>
              </a:cxn>
              <a:cxn ang="0">
                <a:pos x="51" y="44"/>
              </a:cxn>
              <a:cxn ang="0">
                <a:pos x="0" y="149"/>
              </a:cxn>
              <a:cxn ang="0">
                <a:pos x="7" y="213"/>
              </a:cxn>
              <a:cxn ang="0">
                <a:pos x="51" y="220"/>
              </a:cxn>
              <a:cxn ang="0">
                <a:pos x="62" y="192"/>
              </a:cxn>
              <a:cxn ang="0">
                <a:pos x="69" y="196"/>
              </a:cxn>
              <a:cxn ang="0">
                <a:pos x="121" y="233"/>
              </a:cxn>
              <a:cxn ang="0">
                <a:pos x="184" y="233"/>
              </a:cxn>
              <a:cxn ang="0">
                <a:pos x="327" y="315"/>
              </a:cxn>
              <a:cxn ang="0">
                <a:pos x="330" y="317"/>
              </a:cxn>
              <a:cxn ang="0">
                <a:pos x="375" y="300"/>
              </a:cxn>
              <a:cxn ang="0">
                <a:pos x="367" y="286"/>
              </a:cxn>
            </a:cxnLst>
            <a:rect l="0" t="0" r="r" b="b"/>
            <a:pathLst>
              <a:path w="375" h="317">
                <a:moveTo>
                  <a:pt x="367" y="286"/>
                </a:moveTo>
                <a:lnTo>
                  <a:pt x="365" y="284"/>
                </a:lnTo>
                <a:lnTo>
                  <a:pt x="154" y="137"/>
                </a:lnTo>
                <a:lnTo>
                  <a:pt x="117" y="23"/>
                </a:lnTo>
                <a:lnTo>
                  <a:pt x="109" y="1"/>
                </a:lnTo>
                <a:lnTo>
                  <a:pt x="108" y="0"/>
                </a:lnTo>
                <a:lnTo>
                  <a:pt x="51" y="44"/>
                </a:lnTo>
                <a:lnTo>
                  <a:pt x="0" y="149"/>
                </a:lnTo>
                <a:lnTo>
                  <a:pt x="7" y="213"/>
                </a:lnTo>
                <a:lnTo>
                  <a:pt x="51" y="220"/>
                </a:lnTo>
                <a:lnTo>
                  <a:pt x="62" y="192"/>
                </a:lnTo>
                <a:lnTo>
                  <a:pt x="69" y="196"/>
                </a:lnTo>
                <a:lnTo>
                  <a:pt x="121" y="233"/>
                </a:lnTo>
                <a:lnTo>
                  <a:pt x="184" y="233"/>
                </a:lnTo>
                <a:lnTo>
                  <a:pt x="327" y="315"/>
                </a:lnTo>
                <a:lnTo>
                  <a:pt x="330" y="317"/>
                </a:lnTo>
                <a:lnTo>
                  <a:pt x="375" y="300"/>
                </a:lnTo>
                <a:lnTo>
                  <a:pt x="367" y="28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5" name="Freeform 222">
            <a:extLst>
              <a:ext uri="{FF2B5EF4-FFF2-40B4-BE49-F238E27FC236}">
                <a16:creationId xmlns:a16="http://schemas.microsoft.com/office/drawing/2014/main" id="{4DFDF7A8-626E-F5E6-B321-74CC89A5B55A}"/>
              </a:ext>
            </a:extLst>
          </p:cNvPr>
          <p:cNvSpPr>
            <a:spLocks/>
          </p:cNvSpPr>
          <p:nvPr/>
        </p:nvSpPr>
        <p:spPr bwMode="auto">
          <a:xfrm>
            <a:off x="5119740" y="3312762"/>
            <a:ext cx="34958" cy="43434"/>
          </a:xfrm>
          <a:custGeom>
            <a:avLst/>
            <a:gdLst/>
            <a:ahLst/>
            <a:cxnLst>
              <a:cxn ang="0">
                <a:pos x="77" y="21"/>
              </a:cxn>
              <a:cxn ang="0">
                <a:pos x="64" y="0"/>
              </a:cxn>
              <a:cxn ang="0">
                <a:pos x="19" y="17"/>
              </a:cxn>
              <a:cxn ang="0">
                <a:pos x="20" y="17"/>
              </a:cxn>
              <a:cxn ang="0">
                <a:pos x="0" y="46"/>
              </a:cxn>
              <a:cxn ang="0">
                <a:pos x="1" y="91"/>
              </a:cxn>
              <a:cxn ang="0">
                <a:pos x="14" y="104"/>
              </a:cxn>
              <a:cxn ang="0">
                <a:pos x="47" y="108"/>
              </a:cxn>
              <a:cxn ang="0">
                <a:pos x="48" y="108"/>
              </a:cxn>
              <a:cxn ang="0">
                <a:pos x="82" y="73"/>
              </a:cxn>
              <a:cxn ang="0">
                <a:pos x="77" y="21"/>
              </a:cxn>
            </a:cxnLst>
            <a:rect l="0" t="0" r="r" b="b"/>
            <a:pathLst>
              <a:path w="82" h="108">
                <a:moveTo>
                  <a:pt x="77" y="21"/>
                </a:moveTo>
                <a:lnTo>
                  <a:pt x="64" y="0"/>
                </a:lnTo>
                <a:lnTo>
                  <a:pt x="19" y="17"/>
                </a:lnTo>
                <a:lnTo>
                  <a:pt x="20" y="17"/>
                </a:lnTo>
                <a:lnTo>
                  <a:pt x="0" y="46"/>
                </a:lnTo>
                <a:lnTo>
                  <a:pt x="1" y="91"/>
                </a:lnTo>
                <a:lnTo>
                  <a:pt x="14" y="104"/>
                </a:lnTo>
                <a:lnTo>
                  <a:pt x="47" y="108"/>
                </a:lnTo>
                <a:lnTo>
                  <a:pt x="48" y="108"/>
                </a:lnTo>
                <a:lnTo>
                  <a:pt x="82" y="73"/>
                </a:lnTo>
                <a:lnTo>
                  <a:pt x="77" y="21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6" name="Freeform 223">
            <a:extLst>
              <a:ext uri="{FF2B5EF4-FFF2-40B4-BE49-F238E27FC236}">
                <a16:creationId xmlns:a16="http://schemas.microsoft.com/office/drawing/2014/main" id="{F683B1BB-C18A-A3C1-3A05-7A2F0D89BAC6}"/>
              </a:ext>
            </a:extLst>
          </p:cNvPr>
          <p:cNvSpPr>
            <a:spLocks/>
          </p:cNvSpPr>
          <p:nvPr/>
        </p:nvSpPr>
        <p:spPr bwMode="auto">
          <a:xfrm>
            <a:off x="4482163" y="3478742"/>
            <a:ext cx="397862" cy="401765"/>
          </a:xfrm>
          <a:custGeom>
            <a:avLst/>
            <a:gdLst/>
            <a:ahLst/>
            <a:cxnLst>
              <a:cxn ang="0">
                <a:pos x="861" y="533"/>
              </a:cxn>
              <a:cxn ang="0">
                <a:pos x="859" y="490"/>
              </a:cxn>
              <a:cxn ang="0">
                <a:pos x="856" y="436"/>
              </a:cxn>
              <a:cxn ang="0">
                <a:pos x="837" y="414"/>
              </a:cxn>
              <a:cxn ang="0">
                <a:pos x="870" y="361"/>
              </a:cxn>
              <a:cxn ang="0">
                <a:pos x="874" y="354"/>
              </a:cxn>
              <a:cxn ang="0">
                <a:pos x="883" y="340"/>
              </a:cxn>
              <a:cxn ang="0">
                <a:pos x="876" y="309"/>
              </a:cxn>
              <a:cxn ang="0">
                <a:pos x="954" y="200"/>
              </a:cxn>
              <a:cxn ang="0">
                <a:pos x="948" y="114"/>
              </a:cxn>
              <a:cxn ang="0">
                <a:pos x="945" y="87"/>
              </a:cxn>
              <a:cxn ang="0">
                <a:pos x="945" y="86"/>
              </a:cxn>
              <a:cxn ang="0">
                <a:pos x="876" y="20"/>
              </a:cxn>
              <a:cxn ang="0">
                <a:pos x="812" y="43"/>
              </a:cxn>
              <a:cxn ang="0">
                <a:pos x="763" y="0"/>
              </a:cxn>
              <a:cxn ang="0">
                <a:pos x="763" y="0"/>
              </a:cxn>
              <a:cxn ang="0">
                <a:pos x="755" y="1"/>
              </a:cxn>
              <a:cxn ang="0">
                <a:pos x="539" y="31"/>
              </a:cxn>
              <a:cxn ang="0">
                <a:pos x="487" y="67"/>
              </a:cxn>
              <a:cxn ang="0">
                <a:pos x="388" y="55"/>
              </a:cxn>
              <a:cxn ang="0">
                <a:pos x="349" y="31"/>
              </a:cxn>
              <a:cxn ang="0">
                <a:pos x="275" y="50"/>
              </a:cxn>
              <a:cxn ang="0">
                <a:pos x="274" y="92"/>
              </a:cxn>
              <a:cxn ang="0">
                <a:pos x="272" y="92"/>
              </a:cxn>
              <a:cxn ang="0">
                <a:pos x="278" y="114"/>
              </a:cxn>
              <a:cxn ang="0">
                <a:pos x="238" y="321"/>
              </a:cxn>
              <a:cxn ang="0">
                <a:pos x="185" y="385"/>
              </a:cxn>
              <a:cxn ang="0">
                <a:pos x="146" y="431"/>
              </a:cxn>
              <a:cxn ang="0">
                <a:pos x="143" y="487"/>
              </a:cxn>
              <a:cxn ang="0">
                <a:pos x="89" y="550"/>
              </a:cxn>
              <a:cxn ang="0">
                <a:pos x="53" y="561"/>
              </a:cxn>
              <a:cxn ang="0">
                <a:pos x="55" y="568"/>
              </a:cxn>
              <a:cxn ang="0">
                <a:pos x="0" y="617"/>
              </a:cxn>
              <a:cxn ang="0">
                <a:pos x="156" y="616"/>
              </a:cxn>
              <a:cxn ang="0">
                <a:pos x="208" y="731"/>
              </a:cxn>
              <a:cxn ang="0">
                <a:pos x="315" y="725"/>
              </a:cxn>
              <a:cxn ang="0">
                <a:pos x="332" y="682"/>
              </a:cxn>
              <a:cxn ang="0">
                <a:pos x="385" y="674"/>
              </a:cxn>
              <a:cxn ang="0">
                <a:pos x="388" y="703"/>
              </a:cxn>
              <a:cxn ang="0">
                <a:pos x="454" y="699"/>
              </a:cxn>
              <a:cxn ang="0">
                <a:pos x="468" y="897"/>
              </a:cxn>
              <a:cxn ang="0">
                <a:pos x="565" y="904"/>
              </a:cxn>
              <a:cxn ang="0">
                <a:pos x="568" y="904"/>
              </a:cxn>
              <a:cxn ang="0">
                <a:pos x="574" y="905"/>
              </a:cxn>
              <a:cxn ang="0">
                <a:pos x="736" y="944"/>
              </a:cxn>
              <a:cxn ang="0">
                <a:pos x="848" y="1037"/>
              </a:cxn>
              <a:cxn ang="0">
                <a:pos x="886" y="1037"/>
              </a:cxn>
              <a:cxn ang="0">
                <a:pos x="891" y="972"/>
              </a:cxn>
              <a:cxn ang="0">
                <a:pos x="845" y="981"/>
              </a:cxn>
              <a:cxn ang="0">
                <a:pos x="808" y="925"/>
              </a:cxn>
              <a:cxn ang="0">
                <a:pos x="811" y="901"/>
              </a:cxn>
              <a:cxn ang="0">
                <a:pos x="845" y="762"/>
              </a:cxn>
              <a:cxn ang="0">
                <a:pos x="918" y="748"/>
              </a:cxn>
              <a:cxn ang="0">
                <a:pos x="931" y="746"/>
              </a:cxn>
              <a:cxn ang="0">
                <a:pos x="865" y="633"/>
              </a:cxn>
              <a:cxn ang="0">
                <a:pos x="861" y="533"/>
              </a:cxn>
            </a:cxnLst>
            <a:rect l="0" t="0" r="r" b="b"/>
            <a:pathLst>
              <a:path w="954" h="1037">
                <a:moveTo>
                  <a:pt x="861" y="533"/>
                </a:moveTo>
                <a:lnTo>
                  <a:pt x="859" y="490"/>
                </a:lnTo>
                <a:lnTo>
                  <a:pt x="856" y="436"/>
                </a:lnTo>
                <a:lnTo>
                  <a:pt x="837" y="414"/>
                </a:lnTo>
                <a:lnTo>
                  <a:pt x="870" y="361"/>
                </a:lnTo>
                <a:lnTo>
                  <a:pt x="874" y="354"/>
                </a:lnTo>
                <a:lnTo>
                  <a:pt x="883" y="340"/>
                </a:lnTo>
                <a:lnTo>
                  <a:pt x="876" y="309"/>
                </a:lnTo>
                <a:lnTo>
                  <a:pt x="954" y="200"/>
                </a:lnTo>
                <a:lnTo>
                  <a:pt x="948" y="114"/>
                </a:lnTo>
                <a:lnTo>
                  <a:pt x="945" y="87"/>
                </a:lnTo>
                <a:lnTo>
                  <a:pt x="945" y="86"/>
                </a:lnTo>
                <a:lnTo>
                  <a:pt x="876" y="20"/>
                </a:lnTo>
                <a:lnTo>
                  <a:pt x="812" y="43"/>
                </a:lnTo>
                <a:lnTo>
                  <a:pt x="763" y="0"/>
                </a:lnTo>
                <a:lnTo>
                  <a:pt x="763" y="0"/>
                </a:lnTo>
                <a:lnTo>
                  <a:pt x="755" y="1"/>
                </a:lnTo>
                <a:lnTo>
                  <a:pt x="539" y="31"/>
                </a:lnTo>
                <a:lnTo>
                  <a:pt x="487" y="67"/>
                </a:lnTo>
                <a:lnTo>
                  <a:pt x="388" y="55"/>
                </a:lnTo>
                <a:lnTo>
                  <a:pt x="349" y="31"/>
                </a:lnTo>
                <a:lnTo>
                  <a:pt x="275" y="50"/>
                </a:lnTo>
                <a:lnTo>
                  <a:pt x="274" y="92"/>
                </a:lnTo>
                <a:lnTo>
                  <a:pt x="272" y="92"/>
                </a:lnTo>
                <a:lnTo>
                  <a:pt x="278" y="114"/>
                </a:lnTo>
                <a:lnTo>
                  <a:pt x="238" y="321"/>
                </a:lnTo>
                <a:lnTo>
                  <a:pt x="185" y="385"/>
                </a:lnTo>
                <a:lnTo>
                  <a:pt x="146" y="431"/>
                </a:lnTo>
                <a:lnTo>
                  <a:pt x="143" y="487"/>
                </a:lnTo>
                <a:lnTo>
                  <a:pt x="89" y="550"/>
                </a:lnTo>
                <a:lnTo>
                  <a:pt x="53" y="561"/>
                </a:lnTo>
                <a:lnTo>
                  <a:pt x="55" y="568"/>
                </a:lnTo>
                <a:lnTo>
                  <a:pt x="0" y="617"/>
                </a:lnTo>
                <a:lnTo>
                  <a:pt x="156" y="616"/>
                </a:lnTo>
                <a:lnTo>
                  <a:pt x="208" y="731"/>
                </a:lnTo>
                <a:lnTo>
                  <a:pt x="315" y="725"/>
                </a:lnTo>
                <a:lnTo>
                  <a:pt x="332" y="682"/>
                </a:lnTo>
                <a:lnTo>
                  <a:pt x="385" y="674"/>
                </a:lnTo>
                <a:lnTo>
                  <a:pt x="388" y="703"/>
                </a:lnTo>
                <a:lnTo>
                  <a:pt x="454" y="699"/>
                </a:lnTo>
                <a:lnTo>
                  <a:pt x="468" y="897"/>
                </a:lnTo>
                <a:lnTo>
                  <a:pt x="565" y="904"/>
                </a:lnTo>
                <a:lnTo>
                  <a:pt x="568" y="904"/>
                </a:lnTo>
                <a:lnTo>
                  <a:pt x="574" y="905"/>
                </a:lnTo>
                <a:lnTo>
                  <a:pt x="736" y="944"/>
                </a:lnTo>
                <a:lnTo>
                  <a:pt x="848" y="1037"/>
                </a:lnTo>
                <a:lnTo>
                  <a:pt x="886" y="1037"/>
                </a:lnTo>
                <a:lnTo>
                  <a:pt x="891" y="972"/>
                </a:lnTo>
                <a:lnTo>
                  <a:pt x="845" y="981"/>
                </a:lnTo>
                <a:lnTo>
                  <a:pt x="808" y="925"/>
                </a:lnTo>
                <a:lnTo>
                  <a:pt x="811" y="901"/>
                </a:lnTo>
                <a:lnTo>
                  <a:pt x="845" y="762"/>
                </a:lnTo>
                <a:lnTo>
                  <a:pt x="918" y="748"/>
                </a:lnTo>
                <a:lnTo>
                  <a:pt x="931" y="746"/>
                </a:lnTo>
                <a:lnTo>
                  <a:pt x="865" y="633"/>
                </a:lnTo>
                <a:lnTo>
                  <a:pt x="861" y="533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7" name="Freeform 224">
            <a:extLst>
              <a:ext uri="{FF2B5EF4-FFF2-40B4-BE49-F238E27FC236}">
                <a16:creationId xmlns:a16="http://schemas.microsoft.com/office/drawing/2014/main" id="{D32482A0-7017-7E22-E0D2-C882F706088B}"/>
              </a:ext>
            </a:extLst>
          </p:cNvPr>
          <p:cNvSpPr>
            <a:spLocks/>
          </p:cNvSpPr>
          <p:nvPr/>
        </p:nvSpPr>
        <p:spPr bwMode="auto">
          <a:xfrm>
            <a:off x="3997737" y="3368606"/>
            <a:ext cx="136504" cy="134955"/>
          </a:xfrm>
          <a:custGeom>
            <a:avLst/>
            <a:gdLst/>
            <a:ahLst/>
            <a:cxnLst>
              <a:cxn ang="0">
                <a:pos x="309" y="186"/>
              </a:cxn>
              <a:cxn ang="0">
                <a:pos x="330" y="110"/>
              </a:cxn>
              <a:cxn ang="0">
                <a:pos x="300" y="59"/>
              </a:cxn>
              <a:cxn ang="0">
                <a:pos x="290" y="58"/>
              </a:cxn>
              <a:cxn ang="0">
                <a:pos x="218" y="53"/>
              </a:cxn>
              <a:cxn ang="0">
                <a:pos x="169" y="0"/>
              </a:cxn>
              <a:cxn ang="0">
                <a:pos x="46" y="3"/>
              </a:cxn>
              <a:cxn ang="0">
                <a:pos x="44" y="3"/>
              </a:cxn>
              <a:cxn ang="0">
                <a:pos x="37" y="98"/>
              </a:cxn>
              <a:cxn ang="0">
                <a:pos x="0" y="153"/>
              </a:cxn>
              <a:cxn ang="0">
                <a:pos x="1" y="157"/>
              </a:cxn>
              <a:cxn ang="0">
                <a:pos x="4" y="169"/>
              </a:cxn>
              <a:cxn ang="0">
                <a:pos x="19" y="233"/>
              </a:cxn>
              <a:cxn ang="0">
                <a:pos x="47" y="261"/>
              </a:cxn>
              <a:cxn ang="0">
                <a:pos x="47" y="349"/>
              </a:cxn>
              <a:cxn ang="0">
                <a:pos x="50" y="349"/>
              </a:cxn>
              <a:cxn ang="0">
                <a:pos x="209" y="308"/>
              </a:cxn>
              <a:cxn ang="0">
                <a:pos x="323" y="326"/>
              </a:cxn>
              <a:cxn ang="0">
                <a:pos x="294" y="233"/>
              </a:cxn>
              <a:cxn ang="0">
                <a:pos x="309" y="186"/>
              </a:cxn>
            </a:cxnLst>
            <a:rect l="0" t="0" r="r" b="b"/>
            <a:pathLst>
              <a:path w="330" h="349">
                <a:moveTo>
                  <a:pt x="309" y="186"/>
                </a:moveTo>
                <a:lnTo>
                  <a:pt x="330" y="110"/>
                </a:lnTo>
                <a:lnTo>
                  <a:pt x="300" y="59"/>
                </a:lnTo>
                <a:lnTo>
                  <a:pt x="290" y="58"/>
                </a:lnTo>
                <a:lnTo>
                  <a:pt x="218" y="53"/>
                </a:lnTo>
                <a:lnTo>
                  <a:pt x="169" y="0"/>
                </a:lnTo>
                <a:lnTo>
                  <a:pt x="46" y="3"/>
                </a:lnTo>
                <a:lnTo>
                  <a:pt x="44" y="3"/>
                </a:lnTo>
                <a:lnTo>
                  <a:pt x="37" y="98"/>
                </a:lnTo>
                <a:lnTo>
                  <a:pt x="0" y="153"/>
                </a:lnTo>
                <a:lnTo>
                  <a:pt x="1" y="157"/>
                </a:lnTo>
                <a:lnTo>
                  <a:pt x="4" y="169"/>
                </a:lnTo>
                <a:lnTo>
                  <a:pt x="19" y="233"/>
                </a:lnTo>
                <a:lnTo>
                  <a:pt x="47" y="261"/>
                </a:lnTo>
                <a:lnTo>
                  <a:pt x="47" y="349"/>
                </a:lnTo>
                <a:lnTo>
                  <a:pt x="50" y="349"/>
                </a:lnTo>
                <a:lnTo>
                  <a:pt x="209" y="308"/>
                </a:lnTo>
                <a:lnTo>
                  <a:pt x="323" y="326"/>
                </a:lnTo>
                <a:lnTo>
                  <a:pt x="294" y="233"/>
                </a:lnTo>
                <a:lnTo>
                  <a:pt x="309" y="186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8" name="Freeform 225">
            <a:extLst>
              <a:ext uri="{FF2B5EF4-FFF2-40B4-BE49-F238E27FC236}">
                <a16:creationId xmlns:a16="http://schemas.microsoft.com/office/drawing/2014/main" id="{84FF62AF-5914-0852-C2D6-3FED6650A587}"/>
              </a:ext>
            </a:extLst>
          </p:cNvPr>
          <p:cNvSpPr>
            <a:spLocks/>
          </p:cNvSpPr>
          <p:nvPr/>
        </p:nvSpPr>
        <p:spPr bwMode="auto">
          <a:xfrm>
            <a:off x="4067654" y="3273980"/>
            <a:ext cx="146493" cy="117893"/>
          </a:xfrm>
          <a:custGeom>
            <a:avLst/>
            <a:gdLst/>
            <a:ahLst/>
            <a:cxnLst>
              <a:cxn ang="0">
                <a:pos x="240" y="0"/>
              </a:cxn>
              <a:cxn ang="0">
                <a:pos x="218" y="16"/>
              </a:cxn>
              <a:cxn ang="0">
                <a:pos x="27" y="153"/>
              </a:cxn>
              <a:cxn ang="0">
                <a:pos x="11" y="227"/>
              </a:cxn>
              <a:cxn ang="0">
                <a:pos x="7" y="242"/>
              </a:cxn>
              <a:cxn ang="0">
                <a:pos x="0" y="242"/>
              </a:cxn>
              <a:cxn ang="0">
                <a:pos x="49" y="295"/>
              </a:cxn>
              <a:cxn ang="0">
                <a:pos x="121" y="300"/>
              </a:cxn>
              <a:cxn ang="0">
                <a:pos x="131" y="301"/>
              </a:cxn>
              <a:cxn ang="0">
                <a:pos x="144" y="302"/>
              </a:cxn>
              <a:cxn ang="0">
                <a:pos x="160" y="230"/>
              </a:cxn>
              <a:cxn ang="0">
                <a:pos x="246" y="225"/>
              </a:cxn>
              <a:cxn ang="0">
                <a:pos x="247" y="225"/>
              </a:cxn>
              <a:cxn ang="0">
                <a:pos x="283" y="223"/>
              </a:cxn>
              <a:cxn ang="0">
                <a:pos x="290" y="215"/>
              </a:cxn>
              <a:cxn ang="0">
                <a:pos x="293" y="212"/>
              </a:cxn>
              <a:cxn ang="0">
                <a:pos x="306" y="202"/>
              </a:cxn>
              <a:cxn ang="0">
                <a:pos x="349" y="165"/>
              </a:cxn>
              <a:cxn ang="0">
                <a:pos x="350" y="164"/>
              </a:cxn>
              <a:cxn ang="0">
                <a:pos x="240" y="0"/>
              </a:cxn>
            </a:cxnLst>
            <a:rect l="0" t="0" r="r" b="b"/>
            <a:pathLst>
              <a:path w="350" h="302">
                <a:moveTo>
                  <a:pt x="240" y="0"/>
                </a:moveTo>
                <a:lnTo>
                  <a:pt x="218" y="16"/>
                </a:lnTo>
                <a:lnTo>
                  <a:pt x="27" y="153"/>
                </a:lnTo>
                <a:lnTo>
                  <a:pt x="11" y="227"/>
                </a:lnTo>
                <a:lnTo>
                  <a:pt x="7" y="242"/>
                </a:lnTo>
                <a:lnTo>
                  <a:pt x="0" y="242"/>
                </a:lnTo>
                <a:lnTo>
                  <a:pt x="49" y="295"/>
                </a:lnTo>
                <a:lnTo>
                  <a:pt x="121" y="300"/>
                </a:lnTo>
                <a:lnTo>
                  <a:pt x="131" y="301"/>
                </a:lnTo>
                <a:lnTo>
                  <a:pt x="144" y="302"/>
                </a:lnTo>
                <a:lnTo>
                  <a:pt x="160" y="230"/>
                </a:lnTo>
                <a:lnTo>
                  <a:pt x="246" y="225"/>
                </a:lnTo>
                <a:lnTo>
                  <a:pt x="247" y="225"/>
                </a:lnTo>
                <a:lnTo>
                  <a:pt x="283" y="223"/>
                </a:lnTo>
                <a:lnTo>
                  <a:pt x="290" y="215"/>
                </a:lnTo>
                <a:lnTo>
                  <a:pt x="293" y="212"/>
                </a:lnTo>
                <a:lnTo>
                  <a:pt x="306" y="202"/>
                </a:lnTo>
                <a:lnTo>
                  <a:pt x="349" y="165"/>
                </a:lnTo>
                <a:lnTo>
                  <a:pt x="350" y="164"/>
                </a:lnTo>
                <a:lnTo>
                  <a:pt x="240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39" name="Freeform 226">
            <a:extLst>
              <a:ext uri="{FF2B5EF4-FFF2-40B4-BE49-F238E27FC236}">
                <a16:creationId xmlns:a16="http://schemas.microsoft.com/office/drawing/2014/main" id="{E2E76FE0-195D-FE9E-230B-D273F0DE9BAB}"/>
              </a:ext>
            </a:extLst>
          </p:cNvPr>
          <p:cNvSpPr>
            <a:spLocks/>
          </p:cNvSpPr>
          <p:nvPr/>
        </p:nvSpPr>
        <p:spPr bwMode="auto">
          <a:xfrm>
            <a:off x="4838406" y="3643171"/>
            <a:ext cx="38288" cy="41883"/>
          </a:xfrm>
          <a:custGeom>
            <a:avLst/>
            <a:gdLst/>
            <a:ahLst/>
            <a:cxnLst>
              <a:cxn ang="0">
                <a:pos x="77" y="16"/>
              </a:cxn>
              <a:cxn ang="0">
                <a:pos x="81" y="1"/>
              </a:cxn>
              <a:cxn ang="0">
                <a:pos x="82" y="0"/>
              </a:cxn>
              <a:cxn ang="0">
                <a:pos x="0" y="18"/>
              </a:cxn>
              <a:cxn ang="0">
                <a:pos x="1" y="29"/>
              </a:cxn>
              <a:cxn ang="0">
                <a:pos x="3" y="65"/>
              </a:cxn>
              <a:cxn ang="0">
                <a:pos x="5" y="108"/>
              </a:cxn>
              <a:cxn ang="0">
                <a:pos x="36" y="108"/>
              </a:cxn>
              <a:cxn ang="0">
                <a:pos x="73" y="82"/>
              </a:cxn>
              <a:cxn ang="0">
                <a:pos x="93" y="37"/>
              </a:cxn>
              <a:cxn ang="0">
                <a:pos x="77" y="16"/>
              </a:cxn>
            </a:cxnLst>
            <a:rect l="0" t="0" r="r" b="b"/>
            <a:pathLst>
              <a:path w="93" h="108">
                <a:moveTo>
                  <a:pt x="77" y="16"/>
                </a:moveTo>
                <a:lnTo>
                  <a:pt x="81" y="1"/>
                </a:lnTo>
                <a:lnTo>
                  <a:pt x="82" y="0"/>
                </a:lnTo>
                <a:lnTo>
                  <a:pt x="0" y="18"/>
                </a:lnTo>
                <a:lnTo>
                  <a:pt x="1" y="29"/>
                </a:lnTo>
                <a:lnTo>
                  <a:pt x="3" y="65"/>
                </a:lnTo>
                <a:lnTo>
                  <a:pt x="5" y="108"/>
                </a:lnTo>
                <a:lnTo>
                  <a:pt x="36" y="108"/>
                </a:lnTo>
                <a:lnTo>
                  <a:pt x="73" y="82"/>
                </a:lnTo>
                <a:lnTo>
                  <a:pt x="93" y="37"/>
                </a:lnTo>
                <a:lnTo>
                  <a:pt x="77" y="16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0" name="Freeform 227">
            <a:extLst>
              <a:ext uri="{FF2B5EF4-FFF2-40B4-BE49-F238E27FC236}">
                <a16:creationId xmlns:a16="http://schemas.microsoft.com/office/drawing/2014/main" id="{70EF03F3-1346-006A-EFC6-7B0E6A7CB453}"/>
              </a:ext>
            </a:extLst>
          </p:cNvPr>
          <p:cNvSpPr>
            <a:spLocks/>
          </p:cNvSpPr>
          <p:nvPr/>
        </p:nvSpPr>
        <p:spPr bwMode="auto">
          <a:xfrm>
            <a:off x="4617003" y="3989094"/>
            <a:ext cx="214747" cy="190799"/>
          </a:xfrm>
          <a:custGeom>
            <a:avLst/>
            <a:gdLst/>
            <a:ahLst/>
            <a:cxnLst>
              <a:cxn ang="0">
                <a:pos x="418" y="134"/>
              </a:cxn>
              <a:cxn ang="0">
                <a:pos x="323" y="30"/>
              </a:cxn>
              <a:cxn ang="0">
                <a:pos x="296" y="0"/>
              </a:cxn>
              <a:cxn ang="0">
                <a:pos x="87" y="8"/>
              </a:cxn>
              <a:cxn ang="0">
                <a:pos x="87" y="192"/>
              </a:cxn>
              <a:cxn ang="0">
                <a:pos x="8" y="192"/>
              </a:cxn>
              <a:cxn ang="0">
                <a:pos x="0" y="375"/>
              </a:cxn>
              <a:cxn ang="0">
                <a:pos x="0" y="384"/>
              </a:cxn>
              <a:cxn ang="0">
                <a:pos x="39" y="407"/>
              </a:cxn>
              <a:cxn ang="0">
                <a:pos x="44" y="493"/>
              </a:cxn>
              <a:cxn ang="0">
                <a:pos x="87" y="493"/>
              </a:cxn>
              <a:cxn ang="0">
                <a:pos x="179" y="413"/>
              </a:cxn>
              <a:cxn ang="0">
                <a:pos x="269" y="434"/>
              </a:cxn>
              <a:cxn ang="0">
                <a:pos x="282" y="424"/>
              </a:cxn>
              <a:cxn ang="0">
                <a:pos x="515" y="220"/>
              </a:cxn>
              <a:cxn ang="0">
                <a:pos x="418" y="134"/>
              </a:cxn>
            </a:cxnLst>
            <a:rect l="0" t="0" r="r" b="b"/>
            <a:pathLst>
              <a:path w="515" h="493">
                <a:moveTo>
                  <a:pt x="418" y="134"/>
                </a:moveTo>
                <a:lnTo>
                  <a:pt x="323" y="30"/>
                </a:lnTo>
                <a:lnTo>
                  <a:pt x="296" y="0"/>
                </a:lnTo>
                <a:lnTo>
                  <a:pt x="87" y="8"/>
                </a:lnTo>
                <a:lnTo>
                  <a:pt x="87" y="192"/>
                </a:lnTo>
                <a:lnTo>
                  <a:pt x="8" y="192"/>
                </a:lnTo>
                <a:lnTo>
                  <a:pt x="0" y="375"/>
                </a:lnTo>
                <a:lnTo>
                  <a:pt x="0" y="384"/>
                </a:lnTo>
                <a:lnTo>
                  <a:pt x="39" y="407"/>
                </a:lnTo>
                <a:lnTo>
                  <a:pt x="44" y="493"/>
                </a:lnTo>
                <a:lnTo>
                  <a:pt x="87" y="493"/>
                </a:lnTo>
                <a:lnTo>
                  <a:pt x="179" y="413"/>
                </a:lnTo>
                <a:lnTo>
                  <a:pt x="269" y="434"/>
                </a:lnTo>
                <a:lnTo>
                  <a:pt x="282" y="424"/>
                </a:lnTo>
                <a:lnTo>
                  <a:pt x="515" y="220"/>
                </a:lnTo>
                <a:lnTo>
                  <a:pt x="418" y="134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1" name="Freeform 228">
            <a:extLst>
              <a:ext uri="{FF2B5EF4-FFF2-40B4-BE49-F238E27FC236}">
                <a16:creationId xmlns:a16="http://schemas.microsoft.com/office/drawing/2014/main" id="{483C662A-F2DF-6D6F-6B9A-563CAE421A5D}"/>
              </a:ext>
            </a:extLst>
          </p:cNvPr>
          <p:cNvSpPr>
            <a:spLocks/>
          </p:cNvSpPr>
          <p:nvPr/>
        </p:nvSpPr>
        <p:spPr bwMode="auto">
          <a:xfrm>
            <a:off x="4189177" y="3326723"/>
            <a:ext cx="54935" cy="138058"/>
          </a:xfrm>
          <a:custGeom>
            <a:avLst/>
            <a:gdLst/>
            <a:ahLst/>
            <a:cxnLst>
              <a:cxn ang="0">
                <a:pos x="133" y="74"/>
              </a:cxn>
              <a:cxn ang="0">
                <a:pos x="133" y="54"/>
              </a:cxn>
              <a:cxn ang="0">
                <a:pos x="132" y="43"/>
              </a:cxn>
              <a:cxn ang="0">
                <a:pos x="87" y="0"/>
              </a:cxn>
              <a:cxn ang="0">
                <a:pos x="57" y="26"/>
              </a:cxn>
              <a:cxn ang="0">
                <a:pos x="56" y="27"/>
              </a:cxn>
              <a:cxn ang="0">
                <a:pos x="13" y="64"/>
              </a:cxn>
              <a:cxn ang="0">
                <a:pos x="0" y="74"/>
              </a:cxn>
              <a:cxn ang="0">
                <a:pos x="37" y="173"/>
              </a:cxn>
              <a:cxn ang="0">
                <a:pos x="31" y="354"/>
              </a:cxn>
              <a:cxn ang="0">
                <a:pos x="89" y="340"/>
              </a:cxn>
              <a:cxn ang="0">
                <a:pos x="93" y="341"/>
              </a:cxn>
              <a:cxn ang="0">
                <a:pos x="91" y="197"/>
              </a:cxn>
              <a:cxn ang="0">
                <a:pos x="128" y="122"/>
              </a:cxn>
              <a:cxn ang="0">
                <a:pos x="133" y="74"/>
              </a:cxn>
            </a:cxnLst>
            <a:rect l="0" t="0" r="r" b="b"/>
            <a:pathLst>
              <a:path w="133" h="354">
                <a:moveTo>
                  <a:pt x="133" y="74"/>
                </a:moveTo>
                <a:lnTo>
                  <a:pt x="133" y="54"/>
                </a:lnTo>
                <a:lnTo>
                  <a:pt x="132" y="43"/>
                </a:lnTo>
                <a:lnTo>
                  <a:pt x="87" y="0"/>
                </a:lnTo>
                <a:lnTo>
                  <a:pt x="57" y="26"/>
                </a:lnTo>
                <a:lnTo>
                  <a:pt x="56" y="27"/>
                </a:lnTo>
                <a:lnTo>
                  <a:pt x="13" y="64"/>
                </a:lnTo>
                <a:lnTo>
                  <a:pt x="0" y="74"/>
                </a:lnTo>
                <a:lnTo>
                  <a:pt x="37" y="173"/>
                </a:lnTo>
                <a:lnTo>
                  <a:pt x="31" y="354"/>
                </a:lnTo>
                <a:lnTo>
                  <a:pt x="89" y="340"/>
                </a:lnTo>
                <a:lnTo>
                  <a:pt x="93" y="341"/>
                </a:lnTo>
                <a:lnTo>
                  <a:pt x="91" y="197"/>
                </a:lnTo>
                <a:lnTo>
                  <a:pt x="128" y="122"/>
                </a:lnTo>
                <a:lnTo>
                  <a:pt x="133" y="74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2" name="Freeform 229">
            <a:extLst>
              <a:ext uri="{FF2B5EF4-FFF2-40B4-BE49-F238E27FC236}">
                <a16:creationId xmlns:a16="http://schemas.microsoft.com/office/drawing/2014/main" id="{C0F3EE04-DFD1-E1F6-EED0-8CA7358C1297}"/>
              </a:ext>
            </a:extLst>
          </p:cNvPr>
          <p:cNvSpPr>
            <a:spLocks/>
          </p:cNvSpPr>
          <p:nvPr/>
        </p:nvSpPr>
        <p:spPr bwMode="auto">
          <a:xfrm>
            <a:off x="4924969" y="3272432"/>
            <a:ext cx="337934" cy="243541"/>
          </a:xfrm>
          <a:custGeom>
            <a:avLst/>
            <a:gdLst/>
            <a:ahLst/>
            <a:cxnLst>
              <a:cxn ang="0">
                <a:pos x="547" y="267"/>
              </a:cxn>
              <a:cxn ang="0">
                <a:pos x="518" y="216"/>
              </a:cxn>
              <a:cxn ang="0">
                <a:pos x="485" y="212"/>
              </a:cxn>
              <a:cxn ang="0">
                <a:pos x="472" y="199"/>
              </a:cxn>
              <a:cxn ang="0">
                <a:pos x="471" y="154"/>
              </a:cxn>
              <a:cxn ang="0">
                <a:pos x="491" y="125"/>
              </a:cxn>
              <a:cxn ang="0">
                <a:pos x="344" y="41"/>
              </a:cxn>
              <a:cxn ang="0">
                <a:pos x="281" y="41"/>
              </a:cxn>
              <a:cxn ang="0">
                <a:pos x="229" y="4"/>
              </a:cxn>
              <a:cxn ang="0">
                <a:pos x="222" y="0"/>
              </a:cxn>
              <a:cxn ang="0">
                <a:pos x="211" y="28"/>
              </a:cxn>
              <a:cxn ang="0">
                <a:pos x="167" y="21"/>
              </a:cxn>
              <a:cxn ang="0">
                <a:pos x="168" y="29"/>
              </a:cxn>
              <a:cxn ang="0">
                <a:pos x="162" y="42"/>
              </a:cxn>
              <a:cxn ang="0">
                <a:pos x="83" y="204"/>
              </a:cxn>
              <a:cxn ang="0">
                <a:pos x="71" y="339"/>
              </a:cxn>
              <a:cxn ang="0">
                <a:pos x="6" y="345"/>
              </a:cxn>
              <a:cxn ang="0">
                <a:pos x="0" y="376"/>
              </a:cxn>
              <a:cxn ang="0">
                <a:pos x="77" y="416"/>
              </a:cxn>
              <a:cxn ang="0">
                <a:pos x="104" y="456"/>
              </a:cxn>
              <a:cxn ang="0">
                <a:pos x="168" y="556"/>
              </a:cxn>
              <a:cxn ang="0">
                <a:pos x="163" y="559"/>
              </a:cxn>
              <a:cxn ang="0">
                <a:pos x="152" y="566"/>
              </a:cxn>
              <a:cxn ang="0">
                <a:pos x="164" y="587"/>
              </a:cxn>
              <a:cxn ang="0">
                <a:pos x="361" y="629"/>
              </a:cxn>
              <a:cxn ang="0">
                <a:pos x="388" y="608"/>
              </a:cxn>
              <a:cxn ang="0">
                <a:pos x="393" y="604"/>
              </a:cxn>
              <a:cxn ang="0">
                <a:pos x="414" y="590"/>
              </a:cxn>
              <a:cxn ang="0">
                <a:pos x="475" y="618"/>
              </a:cxn>
              <a:cxn ang="0">
                <a:pos x="476" y="617"/>
              </a:cxn>
              <a:cxn ang="0">
                <a:pos x="649" y="546"/>
              </a:cxn>
              <a:cxn ang="0">
                <a:pos x="815" y="366"/>
              </a:cxn>
              <a:cxn ang="0">
                <a:pos x="547" y="267"/>
              </a:cxn>
            </a:cxnLst>
            <a:rect l="0" t="0" r="r" b="b"/>
            <a:pathLst>
              <a:path w="815" h="629">
                <a:moveTo>
                  <a:pt x="547" y="267"/>
                </a:moveTo>
                <a:lnTo>
                  <a:pt x="518" y="216"/>
                </a:lnTo>
                <a:lnTo>
                  <a:pt x="485" y="212"/>
                </a:lnTo>
                <a:lnTo>
                  <a:pt x="472" y="199"/>
                </a:lnTo>
                <a:lnTo>
                  <a:pt x="471" y="154"/>
                </a:lnTo>
                <a:lnTo>
                  <a:pt x="491" y="125"/>
                </a:lnTo>
                <a:lnTo>
                  <a:pt x="344" y="41"/>
                </a:lnTo>
                <a:lnTo>
                  <a:pt x="281" y="41"/>
                </a:lnTo>
                <a:lnTo>
                  <a:pt x="229" y="4"/>
                </a:lnTo>
                <a:lnTo>
                  <a:pt x="222" y="0"/>
                </a:lnTo>
                <a:lnTo>
                  <a:pt x="211" y="28"/>
                </a:lnTo>
                <a:lnTo>
                  <a:pt x="167" y="21"/>
                </a:lnTo>
                <a:lnTo>
                  <a:pt x="168" y="29"/>
                </a:lnTo>
                <a:lnTo>
                  <a:pt x="162" y="42"/>
                </a:lnTo>
                <a:lnTo>
                  <a:pt x="83" y="204"/>
                </a:lnTo>
                <a:lnTo>
                  <a:pt x="71" y="339"/>
                </a:lnTo>
                <a:lnTo>
                  <a:pt x="6" y="345"/>
                </a:lnTo>
                <a:lnTo>
                  <a:pt x="0" y="376"/>
                </a:lnTo>
                <a:lnTo>
                  <a:pt x="77" y="416"/>
                </a:lnTo>
                <a:lnTo>
                  <a:pt x="104" y="456"/>
                </a:lnTo>
                <a:lnTo>
                  <a:pt x="168" y="556"/>
                </a:lnTo>
                <a:lnTo>
                  <a:pt x="163" y="559"/>
                </a:lnTo>
                <a:lnTo>
                  <a:pt x="152" y="566"/>
                </a:lnTo>
                <a:lnTo>
                  <a:pt x="164" y="587"/>
                </a:lnTo>
                <a:lnTo>
                  <a:pt x="361" y="629"/>
                </a:lnTo>
                <a:lnTo>
                  <a:pt x="388" y="608"/>
                </a:lnTo>
                <a:lnTo>
                  <a:pt x="393" y="604"/>
                </a:lnTo>
                <a:lnTo>
                  <a:pt x="414" y="590"/>
                </a:lnTo>
                <a:lnTo>
                  <a:pt x="475" y="618"/>
                </a:lnTo>
                <a:lnTo>
                  <a:pt x="476" y="617"/>
                </a:lnTo>
                <a:lnTo>
                  <a:pt x="649" y="546"/>
                </a:lnTo>
                <a:lnTo>
                  <a:pt x="815" y="366"/>
                </a:lnTo>
                <a:lnTo>
                  <a:pt x="547" y="267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3" name="Freeform 230">
            <a:extLst>
              <a:ext uri="{FF2B5EF4-FFF2-40B4-BE49-F238E27FC236}">
                <a16:creationId xmlns:a16="http://schemas.microsoft.com/office/drawing/2014/main" id="{C181207A-1C60-AD5F-0F68-170B7457E822}"/>
              </a:ext>
            </a:extLst>
          </p:cNvPr>
          <p:cNvSpPr>
            <a:spLocks/>
          </p:cNvSpPr>
          <p:nvPr/>
        </p:nvSpPr>
        <p:spPr bwMode="auto">
          <a:xfrm>
            <a:off x="4382280" y="3543894"/>
            <a:ext cx="44948" cy="31024"/>
          </a:xfrm>
          <a:custGeom>
            <a:avLst/>
            <a:gdLst/>
            <a:ahLst/>
            <a:cxnLst>
              <a:cxn ang="0">
                <a:pos x="75" y="0"/>
              </a:cxn>
              <a:cxn ang="0">
                <a:pos x="19" y="2"/>
              </a:cxn>
              <a:cxn ang="0">
                <a:pos x="16" y="15"/>
              </a:cxn>
              <a:cxn ang="0">
                <a:pos x="4" y="57"/>
              </a:cxn>
              <a:cxn ang="0">
                <a:pos x="0" y="74"/>
              </a:cxn>
              <a:cxn ang="0">
                <a:pos x="102" y="80"/>
              </a:cxn>
              <a:cxn ang="0">
                <a:pos x="103" y="57"/>
              </a:cxn>
              <a:cxn ang="0">
                <a:pos x="104" y="0"/>
              </a:cxn>
              <a:cxn ang="0">
                <a:pos x="75" y="0"/>
              </a:cxn>
            </a:cxnLst>
            <a:rect l="0" t="0" r="r" b="b"/>
            <a:pathLst>
              <a:path w="104" h="80">
                <a:moveTo>
                  <a:pt x="75" y="0"/>
                </a:moveTo>
                <a:lnTo>
                  <a:pt x="19" y="2"/>
                </a:lnTo>
                <a:lnTo>
                  <a:pt x="16" y="15"/>
                </a:lnTo>
                <a:lnTo>
                  <a:pt x="4" y="57"/>
                </a:lnTo>
                <a:lnTo>
                  <a:pt x="0" y="74"/>
                </a:lnTo>
                <a:lnTo>
                  <a:pt x="102" y="80"/>
                </a:lnTo>
                <a:lnTo>
                  <a:pt x="103" y="57"/>
                </a:lnTo>
                <a:lnTo>
                  <a:pt x="104" y="0"/>
                </a:lnTo>
                <a:lnTo>
                  <a:pt x="75" y="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4" name="Freeform 232">
            <a:extLst>
              <a:ext uri="{FF2B5EF4-FFF2-40B4-BE49-F238E27FC236}">
                <a16:creationId xmlns:a16="http://schemas.microsoft.com/office/drawing/2014/main" id="{FC0592BC-CD32-E9AB-F998-33CD88A74673}"/>
              </a:ext>
            </a:extLst>
          </p:cNvPr>
          <p:cNvSpPr>
            <a:spLocks/>
          </p:cNvSpPr>
          <p:nvPr/>
        </p:nvSpPr>
        <p:spPr bwMode="auto">
          <a:xfrm>
            <a:off x="4708560" y="2890832"/>
            <a:ext cx="249704" cy="220273"/>
          </a:xfrm>
          <a:custGeom>
            <a:avLst/>
            <a:gdLst/>
            <a:ahLst/>
            <a:cxnLst>
              <a:cxn ang="0">
                <a:pos x="596" y="471"/>
              </a:cxn>
              <a:cxn ang="0">
                <a:pos x="585" y="430"/>
              </a:cxn>
              <a:cxn ang="0">
                <a:pos x="489" y="259"/>
              </a:cxn>
              <a:cxn ang="0">
                <a:pos x="404" y="135"/>
              </a:cxn>
              <a:cxn ang="0">
                <a:pos x="367" y="7"/>
              </a:cxn>
              <a:cxn ang="0">
                <a:pos x="284" y="0"/>
              </a:cxn>
              <a:cxn ang="0">
                <a:pos x="213" y="52"/>
              </a:cxn>
              <a:cxn ang="0">
                <a:pos x="13" y="10"/>
              </a:cxn>
              <a:cxn ang="0">
                <a:pos x="0" y="66"/>
              </a:cxn>
              <a:cxn ang="0">
                <a:pos x="13" y="114"/>
              </a:cxn>
              <a:cxn ang="0">
                <a:pos x="40" y="566"/>
              </a:cxn>
              <a:cxn ang="0">
                <a:pos x="40" y="568"/>
              </a:cxn>
              <a:cxn ang="0">
                <a:pos x="520" y="556"/>
              </a:cxn>
              <a:cxn ang="0">
                <a:pos x="600" y="489"/>
              </a:cxn>
              <a:cxn ang="0">
                <a:pos x="596" y="471"/>
              </a:cxn>
            </a:cxnLst>
            <a:rect l="0" t="0" r="r" b="b"/>
            <a:pathLst>
              <a:path w="600" h="568">
                <a:moveTo>
                  <a:pt x="596" y="471"/>
                </a:moveTo>
                <a:lnTo>
                  <a:pt x="585" y="430"/>
                </a:lnTo>
                <a:lnTo>
                  <a:pt x="489" y="259"/>
                </a:lnTo>
                <a:lnTo>
                  <a:pt x="404" y="135"/>
                </a:lnTo>
                <a:lnTo>
                  <a:pt x="367" y="7"/>
                </a:lnTo>
                <a:lnTo>
                  <a:pt x="284" y="0"/>
                </a:lnTo>
                <a:lnTo>
                  <a:pt x="213" y="52"/>
                </a:lnTo>
                <a:lnTo>
                  <a:pt x="13" y="10"/>
                </a:lnTo>
                <a:lnTo>
                  <a:pt x="0" y="66"/>
                </a:lnTo>
                <a:lnTo>
                  <a:pt x="13" y="114"/>
                </a:lnTo>
                <a:lnTo>
                  <a:pt x="40" y="566"/>
                </a:lnTo>
                <a:lnTo>
                  <a:pt x="40" y="568"/>
                </a:lnTo>
                <a:lnTo>
                  <a:pt x="520" y="556"/>
                </a:lnTo>
                <a:lnTo>
                  <a:pt x="600" y="489"/>
                </a:lnTo>
                <a:lnTo>
                  <a:pt x="596" y="471"/>
                </a:lnTo>
                <a:close/>
              </a:path>
            </a:pathLst>
          </a:custGeom>
          <a:solidFill>
            <a:srgbClr val="996633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5" name="Freeform 233">
            <a:extLst>
              <a:ext uri="{FF2B5EF4-FFF2-40B4-BE49-F238E27FC236}">
                <a16:creationId xmlns:a16="http://schemas.microsoft.com/office/drawing/2014/main" id="{D0F556A3-4D9A-04AB-5FF9-B237993470C3}"/>
              </a:ext>
            </a:extLst>
          </p:cNvPr>
          <p:cNvSpPr>
            <a:spLocks/>
          </p:cNvSpPr>
          <p:nvPr/>
        </p:nvSpPr>
        <p:spPr bwMode="auto">
          <a:xfrm>
            <a:off x="4432219" y="3689706"/>
            <a:ext cx="289658" cy="283872"/>
          </a:xfrm>
          <a:custGeom>
            <a:avLst/>
            <a:gdLst/>
            <a:ahLst/>
            <a:cxnLst>
              <a:cxn ang="0">
                <a:pos x="675" y="458"/>
              </a:cxn>
              <a:cxn ang="0">
                <a:pos x="695" y="458"/>
              </a:cxn>
              <a:cxn ang="0">
                <a:pos x="693" y="435"/>
              </a:cxn>
              <a:cxn ang="0">
                <a:pos x="686" y="360"/>
              </a:cxn>
              <a:cxn ang="0">
                <a:pos x="683" y="360"/>
              </a:cxn>
              <a:cxn ang="0">
                <a:pos x="586" y="353"/>
              </a:cxn>
              <a:cxn ang="0">
                <a:pos x="572" y="155"/>
              </a:cxn>
              <a:cxn ang="0">
                <a:pos x="506" y="159"/>
              </a:cxn>
              <a:cxn ang="0">
                <a:pos x="503" y="130"/>
              </a:cxn>
              <a:cxn ang="0">
                <a:pos x="450" y="138"/>
              </a:cxn>
              <a:cxn ang="0">
                <a:pos x="433" y="181"/>
              </a:cxn>
              <a:cxn ang="0">
                <a:pos x="326" y="187"/>
              </a:cxn>
              <a:cxn ang="0">
                <a:pos x="274" y="72"/>
              </a:cxn>
              <a:cxn ang="0">
                <a:pos x="118" y="73"/>
              </a:cxn>
              <a:cxn ang="0">
                <a:pos x="173" y="24"/>
              </a:cxn>
              <a:cxn ang="0">
                <a:pos x="171" y="17"/>
              </a:cxn>
              <a:cxn ang="0">
                <a:pos x="164" y="0"/>
              </a:cxn>
              <a:cxn ang="0">
                <a:pos x="150" y="1"/>
              </a:cxn>
              <a:cxn ang="0">
                <a:pos x="0" y="16"/>
              </a:cxn>
              <a:cxn ang="0">
                <a:pos x="14" y="43"/>
              </a:cxn>
              <a:cxn ang="0">
                <a:pos x="93" y="194"/>
              </a:cxn>
              <a:cxn ang="0">
                <a:pos x="88" y="245"/>
              </a:cxn>
              <a:cxn ang="0">
                <a:pos x="122" y="356"/>
              </a:cxn>
              <a:cxn ang="0">
                <a:pos x="111" y="461"/>
              </a:cxn>
              <a:cxn ang="0">
                <a:pos x="39" y="546"/>
              </a:cxn>
              <a:cxn ang="0">
                <a:pos x="8" y="712"/>
              </a:cxn>
              <a:cxn ang="0">
                <a:pos x="11" y="719"/>
              </a:cxn>
              <a:cxn ang="0">
                <a:pos x="642" y="731"/>
              </a:cxn>
              <a:cxn ang="0">
                <a:pos x="565" y="652"/>
              </a:cxn>
              <a:cxn ang="0">
                <a:pos x="577" y="460"/>
              </a:cxn>
              <a:cxn ang="0">
                <a:pos x="675" y="458"/>
              </a:cxn>
            </a:cxnLst>
            <a:rect l="0" t="0" r="r" b="b"/>
            <a:pathLst>
              <a:path w="695" h="731">
                <a:moveTo>
                  <a:pt x="675" y="458"/>
                </a:moveTo>
                <a:lnTo>
                  <a:pt x="695" y="458"/>
                </a:lnTo>
                <a:lnTo>
                  <a:pt x="693" y="435"/>
                </a:lnTo>
                <a:lnTo>
                  <a:pt x="686" y="360"/>
                </a:lnTo>
                <a:lnTo>
                  <a:pt x="683" y="360"/>
                </a:lnTo>
                <a:lnTo>
                  <a:pt x="586" y="353"/>
                </a:lnTo>
                <a:lnTo>
                  <a:pt x="572" y="155"/>
                </a:lnTo>
                <a:lnTo>
                  <a:pt x="506" y="159"/>
                </a:lnTo>
                <a:lnTo>
                  <a:pt x="503" y="130"/>
                </a:lnTo>
                <a:lnTo>
                  <a:pt x="450" y="138"/>
                </a:lnTo>
                <a:lnTo>
                  <a:pt x="433" y="181"/>
                </a:lnTo>
                <a:lnTo>
                  <a:pt x="326" y="187"/>
                </a:lnTo>
                <a:lnTo>
                  <a:pt x="274" y="72"/>
                </a:lnTo>
                <a:lnTo>
                  <a:pt x="118" y="73"/>
                </a:lnTo>
                <a:lnTo>
                  <a:pt x="173" y="24"/>
                </a:lnTo>
                <a:lnTo>
                  <a:pt x="171" y="17"/>
                </a:lnTo>
                <a:lnTo>
                  <a:pt x="164" y="0"/>
                </a:lnTo>
                <a:lnTo>
                  <a:pt x="150" y="1"/>
                </a:lnTo>
                <a:lnTo>
                  <a:pt x="0" y="16"/>
                </a:lnTo>
                <a:lnTo>
                  <a:pt x="14" y="43"/>
                </a:lnTo>
                <a:lnTo>
                  <a:pt x="93" y="194"/>
                </a:lnTo>
                <a:lnTo>
                  <a:pt x="88" y="245"/>
                </a:lnTo>
                <a:lnTo>
                  <a:pt x="122" y="356"/>
                </a:lnTo>
                <a:lnTo>
                  <a:pt x="111" y="461"/>
                </a:lnTo>
                <a:lnTo>
                  <a:pt x="39" y="546"/>
                </a:lnTo>
                <a:lnTo>
                  <a:pt x="8" y="712"/>
                </a:lnTo>
                <a:lnTo>
                  <a:pt x="11" y="719"/>
                </a:lnTo>
                <a:lnTo>
                  <a:pt x="642" y="731"/>
                </a:lnTo>
                <a:lnTo>
                  <a:pt x="565" y="652"/>
                </a:lnTo>
                <a:lnTo>
                  <a:pt x="577" y="460"/>
                </a:lnTo>
                <a:lnTo>
                  <a:pt x="675" y="458"/>
                </a:lnTo>
                <a:close/>
              </a:path>
            </a:pathLst>
          </a:custGeom>
          <a:solidFill>
            <a:srgbClr val="7030A0"/>
          </a:solidFill>
          <a:ln w="6350" cmpd="sng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6" name="Freeform 234">
            <a:extLst>
              <a:ext uri="{FF2B5EF4-FFF2-40B4-BE49-F238E27FC236}">
                <a16:creationId xmlns:a16="http://schemas.microsoft.com/office/drawing/2014/main" id="{1AD87115-700C-9687-1D69-8A6879340130}"/>
              </a:ext>
            </a:extLst>
          </p:cNvPr>
          <p:cNvSpPr>
            <a:spLocks/>
          </p:cNvSpPr>
          <p:nvPr/>
        </p:nvSpPr>
        <p:spPr bwMode="auto">
          <a:xfrm>
            <a:off x="4006055" y="2776045"/>
            <a:ext cx="419502" cy="404867"/>
          </a:xfrm>
          <a:custGeom>
            <a:avLst/>
            <a:gdLst/>
            <a:ahLst/>
            <a:cxnLst>
              <a:cxn ang="0">
                <a:pos x="1005" y="795"/>
              </a:cxn>
              <a:cxn ang="0">
                <a:pos x="1001" y="784"/>
              </a:cxn>
              <a:cxn ang="0">
                <a:pos x="980" y="733"/>
              </a:cxn>
              <a:cxn ang="0">
                <a:pos x="939" y="728"/>
              </a:cxn>
              <a:cxn ang="0">
                <a:pos x="878" y="632"/>
              </a:cxn>
              <a:cxn ang="0">
                <a:pos x="901" y="538"/>
              </a:cxn>
              <a:cxn ang="0">
                <a:pos x="873" y="385"/>
              </a:cxn>
              <a:cxn ang="0">
                <a:pos x="870" y="377"/>
              </a:cxn>
              <a:cxn ang="0">
                <a:pos x="864" y="362"/>
              </a:cxn>
              <a:cxn ang="0">
                <a:pos x="831" y="277"/>
              </a:cxn>
              <a:cxn ang="0">
                <a:pos x="803" y="274"/>
              </a:cxn>
              <a:cxn ang="0">
                <a:pos x="758" y="170"/>
              </a:cxn>
              <a:cxn ang="0">
                <a:pos x="803" y="116"/>
              </a:cxn>
              <a:cxn ang="0">
                <a:pos x="787" y="3"/>
              </a:cxn>
              <a:cxn ang="0">
                <a:pos x="717" y="1"/>
              </a:cxn>
              <a:cxn ang="0">
                <a:pos x="686" y="0"/>
              </a:cxn>
              <a:cxn ang="0">
                <a:pos x="614" y="12"/>
              </a:cxn>
              <a:cxn ang="0">
                <a:pos x="415" y="26"/>
              </a:cxn>
              <a:cxn ang="0">
                <a:pos x="394" y="54"/>
              </a:cxn>
              <a:cxn ang="0">
                <a:pos x="348" y="114"/>
              </a:cxn>
              <a:cxn ang="0">
                <a:pos x="351" y="292"/>
              </a:cxn>
              <a:cxn ang="0">
                <a:pos x="293" y="298"/>
              </a:cxn>
              <a:cxn ang="0">
                <a:pos x="188" y="384"/>
              </a:cxn>
              <a:cxn ang="0">
                <a:pos x="174" y="426"/>
              </a:cxn>
              <a:cxn ang="0">
                <a:pos x="0" y="498"/>
              </a:cxn>
              <a:cxn ang="0">
                <a:pos x="0" y="557"/>
              </a:cxn>
              <a:cxn ang="0">
                <a:pos x="0" y="559"/>
              </a:cxn>
              <a:cxn ang="0">
                <a:pos x="0" y="576"/>
              </a:cxn>
              <a:cxn ang="0">
                <a:pos x="169" y="711"/>
              </a:cxn>
              <a:cxn ang="0">
                <a:pos x="446" y="934"/>
              </a:cxn>
              <a:cxn ang="0">
                <a:pos x="555" y="1047"/>
              </a:cxn>
              <a:cxn ang="0">
                <a:pos x="613" y="1037"/>
              </a:cxn>
              <a:cxn ang="0">
                <a:pos x="678" y="1026"/>
              </a:cxn>
              <a:cxn ang="0">
                <a:pos x="1009" y="804"/>
              </a:cxn>
              <a:cxn ang="0">
                <a:pos x="1005" y="795"/>
              </a:cxn>
            </a:cxnLst>
            <a:rect l="0" t="0" r="r" b="b"/>
            <a:pathLst>
              <a:path w="1009" h="1047">
                <a:moveTo>
                  <a:pt x="1005" y="795"/>
                </a:moveTo>
                <a:lnTo>
                  <a:pt x="1001" y="784"/>
                </a:lnTo>
                <a:lnTo>
                  <a:pt x="980" y="733"/>
                </a:lnTo>
                <a:lnTo>
                  <a:pt x="939" y="728"/>
                </a:lnTo>
                <a:lnTo>
                  <a:pt x="878" y="632"/>
                </a:lnTo>
                <a:lnTo>
                  <a:pt x="901" y="538"/>
                </a:lnTo>
                <a:lnTo>
                  <a:pt x="873" y="385"/>
                </a:lnTo>
                <a:lnTo>
                  <a:pt x="870" y="377"/>
                </a:lnTo>
                <a:lnTo>
                  <a:pt x="864" y="362"/>
                </a:lnTo>
                <a:lnTo>
                  <a:pt x="831" y="277"/>
                </a:lnTo>
                <a:lnTo>
                  <a:pt x="803" y="274"/>
                </a:lnTo>
                <a:lnTo>
                  <a:pt x="758" y="170"/>
                </a:lnTo>
                <a:lnTo>
                  <a:pt x="803" y="116"/>
                </a:lnTo>
                <a:lnTo>
                  <a:pt x="787" y="3"/>
                </a:lnTo>
                <a:lnTo>
                  <a:pt x="717" y="1"/>
                </a:lnTo>
                <a:lnTo>
                  <a:pt x="686" y="0"/>
                </a:lnTo>
                <a:lnTo>
                  <a:pt x="614" y="12"/>
                </a:lnTo>
                <a:lnTo>
                  <a:pt x="415" y="26"/>
                </a:lnTo>
                <a:lnTo>
                  <a:pt x="394" y="54"/>
                </a:lnTo>
                <a:lnTo>
                  <a:pt x="348" y="114"/>
                </a:lnTo>
                <a:lnTo>
                  <a:pt x="351" y="292"/>
                </a:lnTo>
                <a:lnTo>
                  <a:pt x="293" y="298"/>
                </a:lnTo>
                <a:lnTo>
                  <a:pt x="188" y="384"/>
                </a:lnTo>
                <a:lnTo>
                  <a:pt x="174" y="426"/>
                </a:lnTo>
                <a:lnTo>
                  <a:pt x="0" y="498"/>
                </a:lnTo>
                <a:lnTo>
                  <a:pt x="0" y="557"/>
                </a:lnTo>
                <a:lnTo>
                  <a:pt x="0" y="559"/>
                </a:lnTo>
                <a:lnTo>
                  <a:pt x="0" y="576"/>
                </a:lnTo>
                <a:lnTo>
                  <a:pt x="169" y="711"/>
                </a:lnTo>
                <a:lnTo>
                  <a:pt x="446" y="934"/>
                </a:lnTo>
                <a:lnTo>
                  <a:pt x="555" y="1047"/>
                </a:lnTo>
                <a:lnTo>
                  <a:pt x="613" y="1037"/>
                </a:lnTo>
                <a:lnTo>
                  <a:pt x="678" y="1026"/>
                </a:lnTo>
                <a:lnTo>
                  <a:pt x="1009" y="804"/>
                </a:lnTo>
                <a:lnTo>
                  <a:pt x="1005" y="795"/>
                </a:lnTo>
                <a:close/>
              </a:path>
            </a:pathLst>
          </a:custGeom>
          <a:solidFill>
            <a:srgbClr val="D9D9D9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47" name="Freeform 25">
            <a:extLst>
              <a:ext uri="{FF2B5EF4-FFF2-40B4-BE49-F238E27FC236}">
                <a16:creationId xmlns:a16="http://schemas.microsoft.com/office/drawing/2014/main" id="{84E9F909-E0BC-D0A3-3C54-C513726937E6}"/>
              </a:ext>
            </a:extLst>
          </p:cNvPr>
          <p:cNvSpPr>
            <a:spLocks/>
          </p:cNvSpPr>
          <p:nvPr/>
        </p:nvSpPr>
        <p:spPr bwMode="auto">
          <a:xfrm>
            <a:off x="4419948" y="2457621"/>
            <a:ext cx="87805" cy="69805"/>
          </a:xfrm>
          <a:custGeom>
            <a:avLst/>
            <a:gdLst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54 w 10000"/>
              <a:gd name="connsiteY16" fmla="*/ 7111 h 10000"/>
              <a:gd name="connsiteX17" fmla="*/ 81 w 10000"/>
              <a:gd name="connsiteY17" fmla="*/ 7444 h 10000"/>
              <a:gd name="connsiteX18" fmla="*/ 81 w 10000"/>
              <a:gd name="connsiteY18" fmla="*/ 8278 h 10000"/>
              <a:gd name="connsiteX19" fmla="*/ 730 w 10000"/>
              <a:gd name="connsiteY19" fmla="*/ 8278 h 10000"/>
              <a:gd name="connsiteX20" fmla="*/ 1270 w 10000"/>
              <a:gd name="connsiteY20" fmla="*/ 8389 h 10000"/>
              <a:gd name="connsiteX21" fmla="*/ 1865 w 10000"/>
              <a:gd name="connsiteY21" fmla="*/ 8056 h 10000"/>
              <a:gd name="connsiteX22" fmla="*/ 2270 w 10000"/>
              <a:gd name="connsiteY22" fmla="*/ 7444 h 10000"/>
              <a:gd name="connsiteX23" fmla="*/ 3676 w 10000"/>
              <a:gd name="connsiteY23" fmla="*/ 7722 h 10000"/>
              <a:gd name="connsiteX24" fmla="*/ 3973 w 10000"/>
              <a:gd name="connsiteY24" fmla="*/ 8778 h 10000"/>
              <a:gd name="connsiteX25" fmla="*/ 4649 w 10000"/>
              <a:gd name="connsiteY25" fmla="*/ 9278 h 10000"/>
              <a:gd name="connsiteX26" fmla="*/ 5838 w 10000"/>
              <a:gd name="connsiteY26" fmla="*/ 10000 h 10000"/>
              <a:gd name="connsiteX27" fmla="*/ 5838 w 10000"/>
              <a:gd name="connsiteY27" fmla="*/ 10000 h 10000"/>
              <a:gd name="connsiteX28" fmla="*/ 5892 w 10000"/>
              <a:gd name="connsiteY28" fmla="*/ 10000 h 10000"/>
              <a:gd name="connsiteX29" fmla="*/ 7189 w 10000"/>
              <a:gd name="connsiteY29" fmla="*/ 9944 h 10000"/>
              <a:gd name="connsiteX30" fmla="*/ 7486 w 10000"/>
              <a:gd name="connsiteY30" fmla="*/ 8889 h 10000"/>
              <a:gd name="connsiteX31" fmla="*/ 8108 w 10000"/>
              <a:gd name="connsiteY31" fmla="*/ 9056 h 10000"/>
              <a:gd name="connsiteX32" fmla="*/ 8568 w 10000"/>
              <a:gd name="connsiteY32" fmla="*/ 8389 h 10000"/>
              <a:gd name="connsiteX33" fmla="*/ 8676 w 10000"/>
              <a:gd name="connsiteY33" fmla="*/ 8278 h 10000"/>
              <a:gd name="connsiteX34" fmla="*/ 9216 w 10000"/>
              <a:gd name="connsiteY34" fmla="*/ 7444 h 10000"/>
              <a:gd name="connsiteX35" fmla="*/ 9703 w 10000"/>
              <a:gd name="connsiteY35" fmla="*/ 5722 h 10000"/>
              <a:gd name="connsiteX36" fmla="*/ 9973 w 10000"/>
              <a:gd name="connsiteY36" fmla="*/ 3611 h 10000"/>
              <a:gd name="connsiteX37" fmla="*/ 10000 w 10000"/>
              <a:gd name="connsiteY37" fmla="*/ 3333 h 10000"/>
              <a:gd name="connsiteX38" fmla="*/ 10000 w 10000"/>
              <a:gd name="connsiteY38" fmla="*/ 3111 h 10000"/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54 w 10000"/>
              <a:gd name="connsiteY16" fmla="*/ 7111 h 10000"/>
              <a:gd name="connsiteX17" fmla="*/ 81 w 10000"/>
              <a:gd name="connsiteY17" fmla="*/ 7444 h 10000"/>
              <a:gd name="connsiteX18" fmla="*/ 81 w 10000"/>
              <a:gd name="connsiteY18" fmla="*/ 8278 h 10000"/>
              <a:gd name="connsiteX19" fmla="*/ 730 w 10000"/>
              <a:gd name="connsiteY19" fmla="*/ 8278 h 10000"/>
              <a:gd name="connsiteX20" fmla="*/ 1865 w 10000"/>
              <a:gd name="connsiteY20" fmla="*/ 8056 h 10000"/>
              <a:gd name="connsiteX21" fmla="*/ 2270 w 10000"/>
              <a:gd name="connsiteY21" fmla="*/ 7444 h 10000"/>
              <a:gd name="connsiteX22" fmla="*/ 3676 w 10000"/>
              <a:gd name="connsiteY22" fmla="*/ 7722 h 10000"/>
              <a:gd name="connsiteX23" fmla="*/ 3973 w 10000"/>
              <a:gd name="connsiteY23" fmla="*/ 8778 h 10000"/>
              <a:gd name="connsiteX24" fmla="*/ 4649 w 10000"/>
              <a:gd name="connsiteY24" fmla="*/ 9278 h 10000"/>
              <a:gd name="connsiteX25" fmla="*/ 5838 w 10000"/>
              <a:gd name="connsiteY25" fmla="*/ 10000 h 10000"/>
              <a:gd name="connsiteX26" fmla="*/ 5838 w 10000"/>
              <a:gd name="connsiteY26" fmla="*/ 10000 h 10000"/>
              <a:gd name="connsiteX27" fmla="*/ 5892 w 10000"/>
              <a:gd name="connsiteY27" fmla="*/ 10000 h 10000"/>
              <a:gd name="connsiteX28" fmla="*/ 7189 w 10000"/>
              <a:gd name="connsiteY28" fmla="*/ 9944 h 10000"/>
              <a:gd name="connsiteX29" fmla="*/ 7486 w 10000"/>
              <a:gd name="connsiteY29" fmla="*/ 8889 h 10000"/>
              <a:gd name="connsiteX30" fmla="*/ 8108 w 10000"/>
              <a:gd name="connsiteY30" fmla="*/ 9056 h 10000"/>
              <a:gd name="connsiteX31" fmla="*/ 8568 w 10000"/>
              <a:gd name="connsiteY31" fmla="*/ 8389 h 10000"/>
              <a:gd name="connsiteX32" fmla="*/ 8676 w 10000"/>
              <a:gd name="connsiteY32" fmla="*/ 8278 h 10000"/>
              <a:gd name="connsiteX33" fmla="*/ 9216 w 10000"/>
              <a:gd name="connsiteY33" fmla="*/ 7444 h 10000"/>
              <a:gd name="connsiteX34" fmla="*/ 9703 w 10000"/>
              <a:gd name="connsiteY34" fmla="*/ 5722 h 10000"/>
              <a:gd name="connsiteX35" fmla="*/ 9973 w 10000"/>
              <a:gd name="connsiteY35" fmla="*/ 3611 h 10000"/>
              <a:gd name="connsiteX36" fmla="*/ 10000 w 10000"/>
              <a:gd name="connsiteY36" fmla="*/ 3333 h 10000"/>
              <a:gd name="connsiteX37" fmla="*/ 10000 w 10000"/>
              <a:gd name="connsiteY37" fmla="*/ 3111 h 10000"/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54 w 10000"/>
              <a:gd name="connsiteY16" fmla="*/ 7111 h 10000"/>
              <a:gd name="connsiteX17" fmla="*/ 81 w 10000"/>
              <a:gd name="connsiteY17" fmla="*/ 7444 h 10000"/>
              <a:gd name="connsiteX18" fmla="*/ 81 w 10000"/>
              <a:gd name="connsiteY18" fmla="*/ 8278 h 10000"/>
              <a:gd name="connsiteX19" fmla="*/ 1865 w 10000"/>
              <a:gd name="connsiteY19" fmla="*/ 8056 h 10000"/>
              <a:gd name="connsiteX20" fmla="*/ 2270 w 10000"/>
              <a:gd name="connsiteY20" fmla="*/ 7444 h 10000"/>
              <a:gd name="connsiteX21" fmla="*/ 3676 w 10000"/>
              <a:gd name="connsiteY21" fmla="*/ 7722 h 10000"/>
              <a:gd name="connsiteX22" fmla="*/ 3973 w 10000"/>
              <a:gd name="connsiteY22" fmla="*/ 8778 h 10000"/>
              <a:gd name="connsiteX23" fmla="*/ 4649 w 10000"/>
              <a:gd name="connsiteY23" fmla="*/ 9278 h 10000"/>
              <a:gd name="connsiteX24" fmla="*/ 5838 w 10000"/>
              <a:gd name="connsiteY24" fmla="*/ 10000 h 10000"/>
              <a:gd name="connsiteX25" fmla="*/ 5838 w 10000"/>
              <a:gd name="connsiteY25" fmla="*/ 10000 h 10000"/>
              <a:gd name="connsiteX26" fmla="*/ 5892 w 10000"/>
              <a:gd name="connsiteY26" fmla="*/ 10000 h 10000"/>
              <a:gd name="connsiteX27" fmla="*/ 7189 w 10000"/>
              <a:gd name="connsiteY27" fmla="*/ 9944 h 10000"/>
              <a:gd name="connsiteX28" fmla="*/ 7486 w 10000"/>
              <a:gd name="connsiteY28" fmla="*/ 8889 h 10000"/>
              <a:gd name="connsiteX29" fmla="*/ 8108 w 10000"/>
              <a:gd name="connsiteY29" fmla="*/ 9056 h 10000"/>
              <a:gd name="connsiteX30" fmla="*/ 8568 w 10000"/>
              <a:gd name="connsiteY30" fmla="*/ 8389 h 10000"/>
              <a:gd name="connsiteX31" fmla="*/ 8676 w 10000"/>
              <a:gd name="connsiteY31" fmla="*/ 8278 h 10000"/>
              <a:gd name="connsiteX32" fmla="*/ 9216 w 10000"/>
              <a:gd name="connsiteY32" fmla="*/ 7444 h 10000"/>
              <a:gd name="connsiteX33" fmla="*/ 9703 w 10000"/>
              <a:gd name="connsiteY33" fmla="*/ 5722 h 10000"/>
              <a:gd name="connsiteX34" fmla="*/ 9973 w 10000"/>
              <a:gd name="connsiteY34" fmla="*/ 3611 h 10000"/>
              <a:gd name="connsiteX35" fmla="*/ 10000 w 10000"/>
              <a:gd name="connsiteY35" fmla="*/ 3333 h 10000"/>
              <a:gd name="connsiteX36" fmla="*/ 10000 w 10000"/>
              <a:gd name="connsiteY36" fmla="*/ 3111 h 10000"/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54 w 10000"/>
              <a:gd name="connsiteY16" fmla="*/ 7111 h 10000"/>
              <a:gd name="connsiteX17" fmla="*/ 81 w 10000"/>
              <a:gd name="connsiteY17" fmla="*/ 7444 h 10000"/>
              <a:gd name="connsiteX18" fmla="*/ 1865 w 10000"/>
              <a:gd name="connsiteY18" fmla="*/ 8056 h 10000"/>
              <a:gd name="connsiteX19" fmla="*/ 2270 w 10000"/>
              <a:gd name="connsiteY19" fmla="*/ 7444 h 10000"/>
              <a:gd name="connsiteX20" fmla="*/ 3676 w 10000"/>
              <a:gd name="connsiteY20" fmla="*/ 7722 h 10000"/>
              <a:gd name="connsiteX21" fmla="*/ 3973 w 10000"/>
              <a:gd name="connsiteY21" fmla="*/ 8778 h 10000"/>
              <a:gd name="connsiteX22" fmla="*/ 4649 w 10000"/>
              <a:gd name="connsiteY22" fmla="*/ 9278 h 10000"/>
              <a:gd name="connsiteX23" fmla="*/ 5838 w 10000"/>
              <a:gd name="connsiteY23" fmla="*/ 10000 h 10000"/>
              <a:gd name="connsiteX24" fmla="*/ 5838 w 10000"/>
              <a:gd name="connsiteY24" fmla="*/ 10000 h 10000"/>
              <a:gd name="connsiteX25" fmla="*/ 5892 w 10000"/>
              <a:gd name="connsiteY25" fmla="*/ 10000 h 10000"/>
              <a:gd name="connsiteX26" fmla="*/ 7189 w 10000"/>
              <a:gd name="connsiteY26" fmla="*/ 9944 h 10000"/>
              <a:gd name="connsiteX27" fmla="*/ 7486 w 10000"/>
              <a:gd name="connsiteY27" fmla="*/ 8889 h 10000"/>
              <a:gd name="connsiteX28" fmla="*/ 8108 w 10000"/>
              <a:gd name="connsiteY28" fmla="*/ 9056 h 10000"/>
              <a:gd name="connsiteX29" fmla="*/ 8568 w 10000"/>
              <a:gd name="connsiteY29" fmla="*/ 8389 h 10000"/>
              <a:gd name="connsiteX30" fmla="*/ 8676 w 10000"/>
              <a:gd name="connsiteY30" fmla="*/ 8278 h 10000"/>
              <a:gd name="connsiteX31" fmla="*/ 9216 w 10000"/>
              <a:gd name="connsiteY31" fmla="*/ 7444 h 10000"/>
              <a:gd name="connsiteX32" fmla="*/ 9703 w 10000"/>
              <a:gd name="connsiteY32" fmla="*/ 5722 h 10000"/>
              <a:gd name="connsiteX33" fmla="*/ 9973 w 10000"/>
              <a:gd name="connsiteY33" fmla="*/ 3611 h 10000"/>
              <a:gd name="connsiteX34" fmla="*/ 10000 w 10000"/>
              <a:gd name="connsiteY34" fmla="*/ 3333 h 10000"/>
              <a:gd name="connsiteX35" fmla="*/ 10000 w 10000"/>
              <a:gd name="connsiteY35" fmla="*/ 3111 h 10000"/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54 w 10000"/>
              <a:gd name="connsiteY16" fmla="*/ 7111 h 10000"/>
              <a:gd name="connsiteX17" fmla="*/ 1865 w 10000"/>
              <a:gd name="connsiteY17" fmla="*/ 8056 h 10000"/>
              <a:gd name="connsiteX18" fmla="*/ 2270 w 10000"/>
              <a:gd name="connsiteY18" fmla="*/ 7444 h 10000"/>
              <a:gd name="connsiteX19" fmla="*/ 3676 w 10000"/>
              <a:gd name="connsiteY19" fmla="*/ 7722 h 10000"/>
              <a:gd name="connsiteX20" fmla="*/ 3973 w 10000"/>
              <a:gd name="connsiteY20" fmla="*/ 8778 h 10000"/>
              <a:gd name="connsiteX21" fmla="*/ 4649 w 10000"/>
              <a:gd name="connsiteY21" fmla="*/ 9278 h 10000"/>
              <a:gd name="connsiteX22" fmla="*/ 5838 w 10000"/>
              <a:gd name="connsiteY22" fmla="*/ 10000 h 10000"/>
              <a:gd name="connsiteX23" fmla="*/ 5838 w 10000"/>
              <a:gd name="connsiteY23" fmla="*/ 10000 h 10000"/>
              <a:gd name="connsiteX24" fmla="*/ 5892 w 10000"/>
              <a:gd name="connsiteY24" fmla="*/ 10000 h 10000"/>
              <a:gd name="connsiteX25" fmla="*/ 7189 w 10000"/>
              <a:gd name="connsiteY25" fmla="*/ 9944 h 10000"/>
              <a:gd name="connsiteX26" fmla="*/ 7486 w 10000"/>
              <a:gd name="connsiteY26" fmla="*/ 8889 h 10000"/>
              <a:gd name="connsiteX27" fmla="*/ 8108 w 10000"/>
              <a:gd name="connsiteY27" fmla="*/ 9056 h 10000"/>
              <a:gd name="connsiteX28" fmla="*/ 8568 w 10000"/>
              <a:gd name="connsiteY28" fmla="*/ 8389 h 10000"/>
              <a:gd name="connsiteX29" fmla="*/ 8676 w 10000"/>
              <a:gd name="connsiteY29" fmla="*/ 8278 h 10000"/>
              <a:gd name="connsiteX30" fmla="*/ 9216 w 10000"/>
              <a:gd name="connsiteY30" fmla="*/ 7444 h 10000"/>
              <a:gd name="connsiteX31" fmla="*/ 9703 w 10000"/>
              <a:gd name="connsiteY31" fmla="*/ 5722 h 10000"/>
              <a:gd name="connsiteX32" fmla="*/ 9973 w 10000"/>
              <a:gd name="connsiteY32" fmla="*/ 3611 h 10000"/>
              <a:gd name="connsiteX33" fmla="*/ 10000 w 10000"/>
              <a:gd name="connsiteY33" fmla="*/ 3333 h 10000"/>
              <a:gd name="connsiteX34" fmla="*/ 10000 w 10000"/>
              <a:gd name="connsiteY34" fmla="*/ 3111 h 10000"/>
              <a:gd name="connsiteX0" fmla="*/ 10000 w 10000"/>
              <a:gd name="connsiteY0" fmla="*/ 3111 h 10000"/>
              <a:gd name="connsiteX1" fmla="*/ 9946 w 10000"/>
              <a:gd name="connsiteY1" fmla="*/ 1222 h 10000"/>
              <a:gd name="connsiteX2" fmla="*/ 7730 w 10000"/>
              <a:gd name="connsiteY2" fmla="*/ 0 h 10000"/>
              <a:gd name="connsiteX3" fmla="*/ 6865 w 10000"/>
              <a:gd name="connsiteY3" fmla="*/ 500 h 10000"/>
              <a:gd name="connsiteX4" fmla="*/ 6459 w 10000"/>
              <a:gd name="connsiteY4" fmla="*/ 2167 h 10000"/>
              <a:gd name="connsiteX5" fmla="*/ 6054 w 10000"/>
              <a:gd name="connsiteY5" fmla="*/ 1944 h 10000"/>
              <a:gd name="connsiteX6" fmla="*/ 5919 w 10000"/>
              <a:gd name="connsiteY6" fmla="*/ 1889 h 10000"/>
              <a:gd name="connsiteX7" fmla="*/ 5892 w 10000"/>
              <a:gd name="connsiteY7" fmla="*/ 1889 h 10000"/>
              <a:gd name="connsiteX8" fmla="*/ 5459 w 10000"/>
              <a:gd name="connsiteY8" fmla="*/ 2167 h 10000"/>
              <a:gd name="connsiteX9" fmla="*/ 4838 w 10000"/>
              <a:gd name="connsiteY9" fmla="*/ 4667 h 10000"/>
              <a:gd name="connsiteX10" fmla="*/ 4270 w 10000"/>
              <a:gd name="connsiteY10" fmla="*/ 5167 h 10000"/>
              <a:gd name="connsiteX11" fmla="*/ 2865 w 10000"/>
              <a:gd name="connsiteY11" fmla="*/ 5556 h 10000"/>
              <a:gd name="connsiteX12" fmla="*/ 2270 w 10000"/>
              <a:gd name="connsiteY12" fmla="*/ 5444 h 10000"/>
              <a:gd name="connsiteX13" fmla="*/ 946 w 10000"/>
              <a:gd name="connsiteY13" fmla="*/ 6778 h 10000"/>
              <a:gd name="connsiteX14" fmla="*/ 189 w 10000"/>
              <a:gd name="connsiteY14" fmla="*/ 6500 h 10000"/>
              <a:gd name="connsiteX15" fmla="*/ 0 w 10000"/>
              <a:gd name="connsiteY15" fmla="*/ 7000 h 10000"/>
              <a:gd name="connsiteX16" fmla="*/ 1865 w 10000"/>
              <a:gd name="connsiteY16" fmla="*/ 8056 h 10000"/>
              <a:gd name="connsiteX17" fmla="*/ 2270 w 10000"/>
              <a:gd name="connsiteY17" fmla="*/ 7444 h 10000"/>
              <a:gd name="connsiteX18" fmla="*/ 3676 w 10000"/>
              <a:gd name="connsiteY18" fmla="*/ 7722 h 10000"/>
              <a:gd name="connsiteX19" fmla="*/ 3973 w 10000"/>
              <a:gd name="connsiteY19" fmla="*/ 8778 h 10000"/>
              <a:gd name="connsiteX20" fmla="*/ 4649 w 10000"/>
              <a:gd name="connsiteY20" fmla="*/ 9278 h 10000"/>
              <a:gd name="connsiteX21" fmla="*/ 5838 w 10000"/>
              <a:gd name="connsiteY21" fmla="*/ 10000 h 10000"/>
              <a:gd name="connsiteX22" fmla="*/ 5838 w 10000"/>
              <a:gd name="connsiteY22" fmla="*/ 10000 h 10000"/>
              <a:gd name="connsiteX23" fmla="*/ 5892 w 10000"/>
              <a:gd name="connsiteY23" fmla="*/ 10000 h 10000"/>
              <a:gd name="connsiteX24" fmla="*/ 7189 w 10000"/>
              <a:gd name="connsiteY24" fmla="*/ 9944 h 10000"/>
              <a:gd name="connsiteX25" fmla="*/ 7486 w 10000"/>
              <a:gd name="connsiteY25" fmla="*/ 8889 h 10000"/>
              <a:gd name="connsiteX26" fmla="*/ 8108 w 10000"/>
              <a:gd name="connsiteY26" fmla="*/ 9056 h 10000"/>
              <a:gd name="connsiteX27" fmla="*/ 8568 w 10000"/>
              <a:gd name="connsiteY27" fmla="*/ 8389 h 10000"/>
              <a:gd name="connsiteX28" fmla="*/ 8676 w 10000"/>
              <a:gd name="connsiteY28" fmla="*/ 8278 h 10000"/>
              <a:gd name="connsiteX29" fmla="*/ 9216 w 10000"/>
              <a:gd name="connsiteY29" fmla="*/ 7444 h 10000"/>
              <a:gd name="connsiteX30" fmla="*/ 9703 w 10000"/>
              <a:gd name="connsiteY30" fmla="*/ 5722 h 10000"/>
              <a:gd name="connsiteX31" fmla="*/ 9973 w 10000"/>
              <a:gd name="connsiteY31" fmla="*/ 3611 h 10000"/>
              <a:gd name="connsiteX32" fmla="*/ 10000 w 10000"/>
              <a:gd name="connsiteY32" fmla="*/ 3333 h 10000"/>
              <a:gd name="connsiteX33" fmla="*/ 10000 w 10000"/>
              <a:gd name="connsiteY33" fmla="*/ 3111 h 10000"/>
              <a:gd name="connsiteX0" fmla="*/ 9811 w 9811"/>
              <a:gd name="connsiteY0" fmla="*/ 3111 h 10000"/>
              <a:gd name="connsiteX1" fmla="*/ 9757 w 9811"/>
              <a:gd name="connsiteY1" fmla="*/ 1222 h 10000"/>
              <a:gd name="connsiteX2" fmla="*/ 7541 w 9811"/>
              <a:gd name="connsiteY2" fmla="*/ 0 h 10000"/>
              <a:gd name="connsiteX3" fmla="*/ 6676 w 9811"/>
              <a:gd name="connsiteY3" fmla="*/ 500 h 10000"/>
              <a:gd name="connsiteX4" fmla="*/ 6270 w 9811"/>
              <a:gd name="connsiteY4" fmla="*/ 2167 h 10000"/>
              <a:gd name="connsiteX5" fmla="*/ 5865 w 9811"/>
              <a:gd name="connsiteY5" fmla="*/ 1944 h 10000"/>
              <a:gd name="connsiteX6" fmla="*/ 5730 w 9811"/>
              <a:gd name="connsiteY6" fmla="*/ 1889 h 10000"/>
              <a:gd name="connsiteX7" fmla="*/ 5703 w 9811"/>
              <a:gd name="connsiteY7" fmla="*/ 1889 h 10000"/>
              <a:gd name="connsiteX8" fmla="*/ 5270 w 9811"/>
              <a:gd name="connsiteY8" fmla="*/ 2167 h 10000"/>
              <a:gd name="connsiteX9" fmla="*/ 4649 w 9811"/>
              <a:gd name="connsiteY9" fmla="*/ 4667 h 10000"/>
              <a:gd name="connsiteX10" fmla="*/ 4081 w 9811"/>
              <a:gd name="connsiteY10" fmla="*/ 5167 h 10000"/>
              <a:gd name="connsiteX11" fmla="*/ 2676 w 9811"/>
              <a:gd name="connsiteY11" fmla="*/ 5556 h 10000"/>
              <a:gd name="connsiteX12" fmla="*/ 2081 w 9811"/>
              <a:gd name="connsiteY12" fmla="*/ 5444 h 10000"/>
              <a:gd name="connsiteX13" fmla="*/ 757 w 9811"/>
              <a:gd name="connsiteY13" fmla="*/ 6778 h 10000"/>
              <a:gd name="connsiteX14" fmla="*/ 0 w 9811"/>
              <a:gd name="connsiteY14" fmla="*/ 6500 h 10000"/>
              <a:gd name="connsiteX15" fmla="*/ 1676 w 9811"/>
              <a:gd name="connsiteY15" fmla="*/ 8056 h 10000"/>
              <a:gd name="connsiteX16" fmla="*/ 2081 w 9811"/>
              <a:gd name="connsiteY16" fmla="*/ 7444 h 10000"/>
              <a:gd name="connsiteX17" fmla="*/ 3487 w 9811"/>
              <a:gd name="connsiteY17" fmla="*/ 7722 h 10000"/>
              <a:gd name="connsiteX18" fmla="*/ 3784 w 9811"/>
              <a:gd name="connsiteY18" fmla="*/ 8778 h 10000"/>
              <a:gd name="connsiteX19" fmla="*/ 4460 w 9811"/>
              <a:gd name="connsiteY19" fmla="*/ 9278 h 10000"/>
              <a:gd name="connsiteX20" fmla="*/ 5649 w 9811"/>
              <a:gd name="connsiteY20" fmla="*/ 10000 h 10000"/>
              <a:gd name="connsiteX21" fmla="*/ 5649 w 9811"/>
              <a:gd name="connsiteY21" fmla="*/ 10000 h 10000"/>
              <a:gd name="connsiteX22" fmla="*/ 5703 w 9811"/>
              <a:gd name="connsiteY22" fmla="*/ 10000 h 10000"/>
              <a:gd name="connsiteX23" fmla="*/ 7000 w 9811"/>
              <a:gd name="connsiteY23" fmla="*/ 9944 h 10000"/>
              <a:gd name="connsiteX24" fmla="*/ 7297 w 9811"/>
              <a:gd name="connsiteY24" fmla="*/ 8889 h 10000"/>
              <a:gd name="connsiteX25" fmla="*/ 7919 w 9811"/>
              <a:gd name="connsiteY25" fmla="*/ 9056 h 10000"/>
              <a:gd name="connsiteX26" fmla="*/ 8379 w 9811"/>
              <a:gd name="connsiteY26" fmla="*/ 8389 h 10000"/>
              <a:gd name="connsiteX27" fmla="*/ 8487 w 9811"/>
              <a:gd name="connsiteY27" fmla="*/ 8278 h 10000"/>
              <a:gd name="connsiteX28" fmla="*/ 9027 w 9811"/>
              <a:gd name="connsiteY28" fmla="*/ 7444 h 10000"/>
              <a:gd name="connsiteX29" fmla="*/ 9514 w 9811"/>
              <a:gd name="connsiteY29" fmla="*/ 5722 h 10000"/>
              <a:gd name="connsiteX30" fmla="*/ 9784 w 9811"/>
              <a:gd name="connsiteY30" fmla="*/ 3611 h 10000"/>
              <a:gd name="connsiteX31" fmla="*/ 9811 w 9811"/>
              <a:gd name="connsiteY31" fmla="*/ 3333 h 10000"/>
              <a:gd name="connsiteX32" fmla="*/ 9811 w 9811"/>
              <a:gd name="connsiteY32" fmla="*/ 3111 h 10000"/>
              <a:gd name="connsiteX0" fmla="*/ 10000 w 10000"/>
              <a:gd name="connsiteY0" fmla="*/ 3111 h 10000"/>
              <a:gd name="connsiteX1" fmla="*/ 9945 w 10000"/>
              <a:gd name="connsiteY1" fmla="*/ 1222 h 10000"/>
              <a:gd name="connsiteX2" fmla="*/ 7686 w 10000"/>
              <a:gd name="connsiteY2" fmla="*/ 0 h 10000"/>
              <a:gd name="connsiteX3" fmla="*/ 6805 w 10000"/>
              <a:gd name="connsiteY3" fmla="*/ 500 h 10000"/>
              <a:gd name="connsiteX4" fmla="*/ 6391 w 10000"/>
              <a:gd name="connsiteY4" fmla="*/ 2167 h 10000"/>
              <a:gd name="connsiteX5" fmla="*/ 5978 w 10000"/>
              <a:gd name="connsiteY5" fmla="*/ 1944 h 10000"/>
              <a:gd name="connsiteX6" fmla="*/ 5840 w 10000"/>
              <a:gd name="connsiteY6" fmla="*/ 1889 h 10000"/>
              <a:gd name="connsiteX7" fmla="*/ 5813 w 10000"/>
              <a:gd name="connsiteY7" fmla="*/ 1889 h 10000"/>
              <a:gd name="connsiteX8" fmla="*/ 5372 w 10000"/>
              <a:gd name="connsiteY8" fmla="*/ 2167 h 10000"/>
              <a:gd name="connsiteX9" fmla="*/ 4739 w 10000"/>
              <a:gd name="connsiteY9" fmla="*/ 4667 h 10000"/>
              <a:gd name="connsiteX10" fmla="*/ 4160 w 10000"/>
              <a:gd name="connsiteY10" fmla="*/ 5167 h 10000"/>
              <a:gd name="connsiteX11" fmla="*/ 2728 w 10000"/>
              <a:gd name="connsiteY11" fmla="*/ 5556 h 10000"/>
              <a:gd name="connsiteX12" fmla="*/ 2121 w 10000"/>
              <a:gd name="connsiteY12" fmla="*/ 5444 h 10000"/>
              <a:gd name="connsiteX13" fmla="*/ 0 w 10000"/>
              <a:gd name="connsiteY13" fmla="*/ 6500 h 10000"/>
              <a:gd name="connsiteX14" fmla="*/ 1708 w 10000"/>
              <a:gd name="connsiteY14" fmla="*/ 8056 h 10000"/>
              <a:gd name="connsiteX15" fmla="*/ 2121 w 10000"/>
              <a:gd name="connsiteY15" fmla="*/ 7444 h 10000"/>
              <a:gd name="connsiteX16" fmla="*/ 3554 w 10000"/>
              <a:gd name="connsiteY16" fmla="*/ 7722 h 10000"/>
              <a:gd name="connsiteX17" fmla="*/ 3857 w 10000"/>
              <a:gd name="connsiteY17" fmla="*/ 8778 h 10000"/>
              <a:gd name="connsiteX18" fmla="*/ 4546 w 10000"/>
              <a:gd name="connsiteY18" fmla="*/ 9278 h 10000"/>
              <a:gd name="connsiteX19" fmla="*/ 5758 w 10000"/>
              <a:gd name="connsiteY19" fmla="*/ 10000 h 10000"/>
              <a:gd name="connsiteX20" fmla="*/ 5758 w 10000"/>
              <a:gd name="connsiteY20" fmla="*/ 10000 h 10000"/>
              <a:gd name="connsiteX21" fmla="*/ 5813 w 10000"/>
              <a:gd name="connsiteY21" fmla="*/ 10000 h 10000"/>
              <a:gd name="connsiteX22" fmla="*/ 7135 w 10000"/>
              <a:gd name="connsiteY22" fmla="*/ 9944 h 10000"/>
              <a:gd name="connsiteX23" fmla="*/ 7438 w 10000"/>
              <a:gd name="connsiteY23" fmla="*/ 8889 h 10000"/>
              <a:gd name="connsiteX24" fmla="*/ 8072 w 10000"/>
              <a:gd name="connsiteY24" fmla="*/ 9056 h 10000"/>
              <a:gd name="connsiteX25" fmla="*/ 8540 w 10000"/>
              <a:gd name="connsiteY25" fmla="*/ 8389 h 10000"/>
              <a:gd name="connsiteX26" fmla="*/ 8650 w 10000"/>
              <a:gd name="connsiteY26" fmla="*/ 8278 h 10000"/>
              <a:gd name="connsiteX27" fmla="*/ 9201 w 10000"/>
              <a:gd name="connsiteY27" fmla="*/ 7444 h 10000"/>
              <a:gd name="connsiteX28" fmla="*/ 9697 w 10000"/>
              <a:gd name="connsiteY28" fmla="*/ 5722 h 10000"/>
              <a:gd name="connsiteX29" fmla="*/ 9972 w 10000"/>
              <a:gd name="connsiteY29" fmla="*/ 3611 h 10000"/>
              <a:gd name="connsiteX30" fmla="*/ 10000 w 10000"/>
              <a:gd name="connsiteY30" fmla="*/ 3333 h 10000"/>
              <a:gd name="connsiteX31" fmla="*/ 10000 w 10000"/>
              <a:gd name="connsiteY31" fmla="*/ 3111 h 10000"/>
              <a:gd name="connsiteX0" fmla="*/ 8292 w 8292"/>
              <a:gd name="connsiteY0" fmla="*/ 3111 h 10000"/>
              <a:gd name="connsiteX1" fmla="*/ 8237 w 8292"/>
              <a:gd name="connsiteY1" fmla="*/ 1222 h 10000"/>
              <a:gd name="connsiteX2" fmla="*/ 5978 w 8292"/>
              <a:gd name="connsiteY2" fmla="*/ 0 h 10000"/>
              <a:gd name="connsiteX3" fmla="*/ 5097 w 8292"/>
              <a:gd name="connsiteY3" fmla="*/ 500 h 10000"/>
              <a:gd name="connsiteX4" fmla="*/ 4683 w 8292"/>
              <a:gd name="connsiteY4" fmla="*/ 2167 h 10000"/>
              <a:gd name="connsiteX5" fmla="*/ 4270 w 8292"/>
              <a:gd name="connsiteY5" fmla="*/ 1944 h 10000"/>
              <a:gd name="connsiteX6" fmla="*/ 4132 w 8292"/>
              <a:gd name="connsiteY6" fmla="*/ 1889 h 10000"/>
              <a:gd name="connsiteX7" fmla="*/ 4105 w 8292"/>
              <a:gd name="connsiteY7" fmla="*/ 1889 h 10000"/>
              <a:gd name="connsiteX8" fmla="*/ 3664 w 8292"/>
              <a:gd name="connsiteY8" fmla="*/ 2167 h 10000"/>
              <a:gd name="connsiteX9" fmla="*/ 3031 w 8292"/>
              <a:gd name="connsiteY9" fmla="*/ 4667 h 10000"/>
              <a:gd name="connsiteX10" fmla="*/ 2452 w 8292"/>
              <a:gd name="connsiteY10" fmla="*/ 5167 h 10000"/>
              <a:gd name="connsiteX11" fmla="*/ 1020 w 8292"/>
              <a:gd name="connsiteY11" fmla="*/ 5556 h 10000"/>
              <a:gd name="connsiteX12" fmla="*/ 413 w 8292"/>
              <a:gd name="connsiteY12" fmla="*/ 5444 h 10000"/>
              <a:gd name="connsiteX13" fmla="*/ 0 w 8292"/>
              <a:gd name="connsiteY13" fmla="*/ 8056 h 10000"/>
              <a:gd name="connsiteX14" fmla="*/ 413 w 8292"/>
              <a:gd name="connsiteY14" fmla="*/ 7444 h 10000"/>
              <a:gd name="connsiteX15" fmla="*/ 1846 w 8292"/>
              <a:gd name="connsiteY15" fmla="*/ 7722 h 10000"/>
              <a:gd name="connsiteX16" fmla="*/ 2149 w 8292"/>
              <a:gd name="connsiteY16" fmla="*/ 8778 h 10000"/>
              <a:gd name="connsiteX17" fmla="*/ 2838 w 8292"/>
              <a:gd name="connsiteY17" fmla="*/ 9278 h 10000"/>
              <a:gd name="connsiteX18" fmla="*/ 4050 w 8292"/>
              <a:gd name="connsiteY18" fmla="*/ 10000 h 10000"/>
              <a:gd name="connsiteX19" fmla="*/ 4050 w 8292"/>
              <a:gd name="connsiteY19" fmla="*/ 10000 h 10000"/>
              <a:gd name="connsiteX20" fmla="*/ 4105 w 8292"/>
              <a:gd name="connsiteY20" fmla="*/ 10000 h 10000"/>
              <a:gd name="connsiteX21" fmla="*/ 5427 w 8292"/>
              <a:gd name="connsiteY21" fmla="*/ 9944 h 10000"/>
              <a:gd name="connsiteX22" fmla="*/ 5730 w 8292"/>
              <a:gd name="connsiteY22" fmla="*/ 8889 h 10000"/>
              <a:gd name="connsiteX23" fmla="*/ 6364 w 8292"/>
              <a:gd name="connsiteY23" fmla="*/ 9056 h 10000"/>
              <a:gd name="connsiteX24" fmla="*/ 6832 w 8292"/>
              <a:gd name="connsiteY24" fmla="*/ 8389 h 10000"/>
              <a:gd name="connsiteX25" fmla="*/ 6942 w 8292"/>
              <a:gd name="connsiteY25" fmla="*/ 8278 h 10000"/>
              <a:gd name="connsiteX26" fmla="*/ 7493 w 8292"/>
              <a:gd name="connsiteY26" fmla="*/ 7444 h 10000"/>
              <a:gd name="connsiteX27" fmla="*/ 7989 w 8292"/>
              <a:gd name="connsiteY27" fmla="*/ 5722 h 10000"/>
              <a:gd name="connsiteX28" fmla="*/ 8264 w 8292"/>
              <a:gd name="connsiteY28" fmla="*/ 3611 h 10000"/>
              <a:gd name="connsiteX29" fmla="*/ 8292 w 8292"/>
              <a:gd name="connsiteY29" fmla="*/ 3333 h 10000"/>
              <a:gd name="connsiteX30" fmla="*/ 8292 w 8292"/>
              <a:gd name="connsiteY30" fmla="*/ 3111 h 10000"/>
              <a:gd name="connsiteX0" fmla="*/ 10000 w 10000"/>
              <a:gd name="connsiteY0" fmla="*/ 3111 h 10000"/>
              <a:gd name="connsiteX1" fmla="*/ 9934 w 10000"/>
              <a:gd name="connsiteY1" fmla="*/ 1222 h 10000"/>
              <a:gd name="connsiteX2" fmla="*/ 7209 w 10000"/>
              <a:gd name="connsiteY2" fmla="*/ 0 h 10000"/>
              <a:gd name="connsiteX3" fmla="*/ 6147 w 10000"/>
              <a:gd name="connsiteY3" fmla="*/ 500 h 10000"/>
              <a:gd name="connsiteX4" fmla="*/ 5648 w 10000"/>
              <a:gd name="connsiteY4" fmla="*/ 2167 h 10000"/>
              <a:gd name="connsiteX5" fmla="*/ 5150 w 10000"/>
              <a:gd name="connsiteY5" fmla="*/ 1944 h 10000"/>
              <a:gd name="connsiteX6" fmla="*/ 4983 w 10000"/>
              <a:gd name="connsiteY6" fmla="*/ 1889 h 10000"/>
              <a:gd name="connsiteX7" fmla="*/ 4951 w 10000"/>
              <a:gd name="connsiteY7" fmla="*/ 1889 h 10000"/>
              <a:gd name="connsiteX8" fmla="*/ 4419 w 10000"/>
              <a:gd name="connsiteY8" fmla="*/ 2167 h 10000"/>
              <a:gd name="connsiteX9" fmla="*/ 3655 w 10000"/>
              <a:gd name="connsiteY9" fmla="*/ 4667 h 10000"/>
              <a:gd name="connsiteX10" fmla="*/ 2957 w 10000"/>
              <a:gd name="connsiteY10" fmla="*/ 5167 h 10000"/>
              <a:gd name="connsiteX11" fmla="*/ 1230 w 10000"/>
              <a:gd name="connsiteY11" fmla="*/ 5556 h 10000"/>
              <a:gd name="connsiteX12" fmla="*/ 498 w 10000"/>
              <a:gd name="connsiteY12" fmla="*/ 5444 h 10000"/>
              <a:gd name="connsiteX13" fmla="*/ 0 w 10000"/>
              <a:gd name="connsiteY13" fmla="*/ 8056 h 10000"/>
              <a:gd name="connsiteX14" fmla="*/ 498 w 10000"/>
              <a:gd name="connsiteY14" fmla="*/ 7444 h 10000"/>
              <a:gd name="connsiteX15" fmla="*/ 2592 w 10000"/>
              <a:gd name="connsiteY15" fmla="*/ 8778 h 10000"/>
              <a:gd name="connsiteX16" fmla="*/ 3423 w 10000"/>
              <a:gd name="connsiteY16" fmla="*/ 9278 h 10000"/>
              <a:gd name="connsiteX17" fmla="*/ 4884 w 10000"/>
              <a:gd name="connsiteY17" fmla="*/ 10000 h 10000"/>
              <a:gd name="connsiteX18" fmla="*/ 4884 w 10000"/>
              <a:gd name="connsiteY18" fmla="*/ 10000 h 10000"/>
              <a:gd name="connsiteX19" fmla="*/ 4951 w 10000"/>
              <a:gd name="connsiteY19" fmla="*/ 10000 h 10000"/>
              <a:gd name="connsiteX20" fmla="*/ 6545 w 10000"/>
              <a:gd name="connsiteY20" fmla="*/ 9944 h 10000"/>
              <a:gd name="connsiteX21" fmla="*/ 6910 w 10000"/>
              <a:gd name="connsiteY21" fmla="*/ 8889 h 10000"/>
              <a:gd name="connsiteX22" fmla="*/ 7675 w 10000"/>
              <a:gd name="connsiteY22" fmla="*/ 9056 h 10000"/>
              <a:gd name="connsiteX23" fmla="*/ 8239 w 10000"/>
              <a:gd name="connsiteY23" fmla="*/ 8389 h 10000"/>
              <a:gd name="connsiteX24" fmla="*/ 8372 w 10000"/>
              <a:gd name="connsiteY24" fmla="*/ 8278 h 10000"/>
              <a:gd name="connsiteX25" fmla="*/ 9036 w 10000"/>
              <a:gd name="connsiteY25" fmla="*/ 7444 h 10000"/>
              <a:gd name="connsiteX26" fmla="*/ 9635 w 10000"/>
              <a:gd name="connsiteY26" fmla="*/ 5722 h 10000"/>
              <a:gd name="connsiteX27" fmla="*/ 9966 w 10000"/>
              <a:gd name="connsiteY27" fmla="*/ 3611 h 10000"/>
              <a:gd name="connsiteX28" fmla="*/ 10000 w 10000"/>
              <a:gd name="connsiteY28" fmla="*/ 3333 h 10000"/>
              <a:gd name="connsiteX29" fmla="*/ 10000 w 10000"/>
              <a:gd name="connsiteY29" fmla="*/ 3111 h 10000"/>
              <a:gd name="connsiteX0" fmla="*/ 10000 w 10000"/>
              <a:gd name="connsiteY0" fmla="*/ 3111 h 10000"/>
              <a:gd name="connsiteX1" fmla="*/ 9934 w 10000"/>
              <a:gd name="connsiteY1" fmla="*/ 1222 h 10000"/>
              <a:gd name="connsiteX2" fmla="*/ 7209 w 10000"/>
              <a:gd name="connsiteY2" fmla="*/ 0 h 10000"/>
              <a:gd name="connsiteX3" fmla="*/ 6147 w 10000"/>
              <a:gd name="connsiteY3" fmla="*/ 500 h 10000"/>
              <a:gd name="connsiteX4" fmla="*/ 5648 w 10000"/>
              <a:gd name="connsiteY4" fmla="*/ 2167 h 10000"/>
              <a:gd name="connsiteX5" fmla="*/ 5150 w 10000"/>
              <a:gd name="connsiteY5" fmla="*/ 1944 h 10000"/>
              <a:gd name="connsiteX6" fmla="*/ 4983 w 10000"/>
              <a:gd name="connsiteY6" fmla="*/ 1889 h 10000"/>
              <a:gd name="connsiteX7" fmla="*/ 4951 w 10000"/>
              <a:gd name="connsiteY7" fmla="*/ 1889 h 10000"/>
              <a:gd name="connsiteX8" fmla="*/ 4419 w 10000"/>
              <a:gd name="connsiteY8" fmla="*/ 2167 h 10000"/>
              <a:gd name="connsiteX9" fmla="*/ 3655 w 10000"/>
              <a:gd name="connsiteY9" fmla="*/ 4667 h 10000"/>
              <a:gd name="connsiteX10" fmla="*/ 2957 w 10000"/>
              <a:gd name="connsiteY10" fmla="*/ 5167 h 10000"/>
              <a:gd name="connsiteX11" fmla="*/ 1230 w 10000"/>
              <a:gd name="connsiteY11" fmla="*/ 5556 h 10000"/>
              <a:gd name="connsiteX12" fmla="*/ 498 w 10000"/>
              <a:gd name="connsiteY12" fmla="*/ 5444 h 10000"/>
              <a:gd name="connsiteX13" fmla="*/ 0 w 10000"/>
              <a:gd name="connsiteY13" fmla="*/ 8056 h 10000"/>
              <a:gd name="connsiteX14" fmla="*/ 2592 w 10000"/>
              <a:gd name="connsiteY14" fmla="*/ 8778 h 10000"/>
              <a:gd name="connsiteX15" fmla="*/ 3423 w 10000"/>
              <a:gd name="connsiteY15" fmla="*/ 9278 h 10000"/>
              <a:gd name="connsiteX16" fmla="*/ 4884 w 10000"/>
              <a:gd name="connsiteY16" fmla="*/ 10000 h 10000"/>
              <a:gd name="connsiteX17" fmla="*/ 4884 w 10000"/>
              <a:gd name="connsiteY17" fmla="*/ 10000 h 10000"/>
              <a:gd name="connsiteX18" fmla="*/ 4951 w 10000"/>
              <a:gd name="connsiteY18" fmla="*/ 10000 h 10000"/>
              <a:gd name="connsiteX19" fmla="*/ 6545 w 10000"/>
              <a:gd name="connsiteY19" fmla="*/ 9944 h 10000"/>
              <a:gd name="connsiteX20" fmla="*/ 6910 w 10000"/>
              <a:gd name="connsiteY20" fmla="*/ 8889 h 10000"/>
              <a:gd name="connsiteX21" fmla="*/ 7675 w 10000"/>
              <a:gd name="connsiteY21" fmla="*/ 9056 h 10000"/>
              <a:gd name="connsiteX22" fmla="*/ 8239 w 10000"/>
              <a:gd name="connsiteY22" fmla="*/ 8389 h 10000"/>
              <a:gd name="connsiteX23" fmla="*/ 8372 w 10000"/>
              <a:gd name="connsiteY23" fmla="*/ 8278 h 10000"/>
              <a:gd name="connsiteX24" fmla="*/ 9036 w 10000"/>
              <a:gd name="connsiteY24" fmla="*/ 7444 h 10000"/>
              <a:gd name="connsiteX25" fmla="*/ 9635 w 10000"/>
              <a:gd name="connsiteY25" fmla="*/ 5722 h 10000"/>
              <a:gd name="connsiteX26" fmla="*/ 9966 w 10000"/>
              <a:gd name="connsiteY26" fmla="*/ 3611 h 10000"/>
              <a:gd name="connsiteX27" fmla="*/ 10000 w 10000"/>
              <a:gd name="connsiteY27" fmla="*/ 3333 h 10000"/>
              <a:gd name="connsiteX28" fmla="*/ 10000 w 10000"/>
              <a:gd name="connsiteY28" fmla="*/ 3111 h 10000"/>
              <a:gd name="connsiteX0" fmla="*/ 9502 w 9502"/>
              <a:gd name="connsiteY0" fmla="*/ 3111 h 10000"/>
              <a:gd name="connsiteX1" fmla="*/ 9436 w 9502"/>
              <a:gd name="connsiteY1" fmla="*/ 1222 h 10000"/>
              <a:gd name="connsiteX2" fmla="*/ 6711 w 9502"/>
              <a:gd name="connsiteY2" fmla="*/ 0 h 10000"/>
              <a:gd name="connsiteX3" fmla="*/ 5649 w 9502"/>
              <a:gd name="connsiteY3" fmla="*/ 500 h 10000"/>
              <a:gd name="connsiteX4" fmla="*/ 5150 w 9502"/>
              <a:gd name="connsiteY4" fmla="*/ 2167 h 10000"/>
              <a:gd name="connsiteX5" fmla="*/ 4652 w 9502"/>
              <a:gd name="connsiteY5" fmla="*/ 1944 h 10000"/>
              <a:gd name="connsiteX6" fmla="*/ 4485 w 9502"/>
              <a:gd name="connsiteY6" fmla="*/ 1889 h 10000"/>
              <a:gd name="connsiteX7" fmla="*/ 4453 w 9502"/>
              <a:gd name="connsiteY7" fmla="*/ 1889 h 10000"/>
              <a:gd name="connsiteX8" fmla="*/ 3921 w 9502"/>
              <a:gd name="connsiteY8" fmla="*/ 2167 h 10000"/>
              <a:gd name="connsiteX9" fmla="*/ 3157 w 9502"/>
              <a:gd name="connsiteY9" fmla="*/ 4667 h 10000"/>
              <a:gd name="connsiteX10" fmla="*/ 2459 w 9502"/>
              <a:gd name="connsiteY10" fmla="*/ 5167 h 10000"/>
              <a:gd name="connsiteX11" fmla="*/ 732 w 9502"/>
              <a:gd name="connsiteY11" fmla="*/ 5556 h 10000"/>
              <a:gd name="connsiteX12" fmla="*/ 0 w 9502"/>
              <a:gd name="connsiteY12" fmla="*/ 5444 h 10000"/>
              <a:gd name="connsiteX13" fmla="*/ 2094 w 9502"/>
              <a:gd name="connsiteY13" fmla="*/ 8778 h 10000"/>
              <a:gd name="connsiteX14" fmla="*/ 2925 w 9502"/>
              <a:gd name="connsiteY14" fmla="*/ 9278 h 10000"/>
              <a:gd name="connsiteX15" fmla="*/ 4386 w 9502"/>
              <a:gd name="connsiteY15" fmla="*/ 10000 h 10000"/>
              <a:gd name="connsiteX16" fmla="*/ 4386 w 9502"/>
              <a:gd name="connsiteY16" fmla="*/ 10000 h 10000"/>
              <a:gd name="connsiteX17" fmla="*/ 4453 w 9502"/>
              <a:gd name="connsiteY17" fmla="*/ 10000 h 10000"/>
              <a:gd name="connsiteX18" fmla="*/ 6047 w 9502"/>
              <a:gd name="connsiteY18" fmla="*/ 9944 h 10000"/>
              <a:gd name="connsiteX19" fmla="*/ 6412 w 9502"/>
              <a:gd name="connsiteY19" fmla="*/ 8889 h 10000"/>
              <a:gd name="connsiteX20" fmla="*/ 7177 w 9502"/>
              <a:gd name="connsiteY20" fmla="*/ 9056 h 10000"/>
              <a:gd name="connsiteX21" fmla="*/ 7741 w 9502"/>
              <a:gd name="connsiteY21" fmla="*/ 8389 h 10000"/>
              <a:gd name="connsiteX22" fmla="*/ 7874 w 9502"/>
              <a:gd name="connsiteY22" fmla="*/ 8278 h 10000"/>
              <a:gd name="connsiteX23" fmla="*/ 8538 w 9502"/>
              <a:gd name="connsiteY23" fmla="*/ 7444 h 10000"/>
              <a:gd name="connsiteX24" fmla="*/ 9137 w 9502"/>
              <a:gd name="connsiteY24" fmla="*/ 5722 h 10000"/>
              <a:gd name="connsiteX25" fmla="*/ 9468 w 9502"/>
              <a:gd name="connsiteY25" fmla="*/ 3611 h 10000"/>
              <a:gd name="connsiteX26" fmla="*/ 9502 w 9502"/>
              <a:gd name="connsiteY26" fmla="*/ 3333 h 10000"/>
              <a:gd name="connsiteX27" fmla="*/ 9502 w 9502"/>
              <a:gd name="connsiteY27" fmla="*/ 3111 h 10000"/>
              <a:gd name="connsiteX0" fmla="*/ 9230 w 9230"/>
              <a:gd name="connsiteY0" fmla="*/ 3111 h 10000"/>
              <a:gd name="connsiteX1" fmla="*/ 9161 w 9230"/>
              <a:gd name="connsiteY1" fmla="*/ 1222 h 10000"/>
              <a:gd name="connsiteX2" fmla="*/ 6293 w 9230"/>
              <a:gd name="connsiteY2" fmla="*/ 0 h 10000"/>
              <a:gd name="connsiteX3" fmla="*/ 5175 w 9230"/>
              <a:gd name="connsiteY3" fmla="*/ 500 h 10000"/>
              <a:gd name="connsiteX4" fmla="*/ 4650 w 9230"/>
              <a:gd name="connsiteY4" fmla="*/ 2167 h 10000"/>
              <a:gd name="connsiteX5" fmla="*/ 4126 w 9230"/>
              <a:gd name="connsiteY5" fmla="*/ 1944 h 10000"/>
              <a:gd name="connsiteX6" fmla="*/ 3950 w 9230"/>
              <a:gd name="connsiteY6" fmla="*/ 1889 h 10000"/>
              <a:gd name="connsiteX7" fmla="*/ 3916 w 9230"/>
              <a:gd name="connsiteY7" fmla="*/ 1889 h 10000"/>
              <a:gd name="connsiteX8" fmla="*/ 3356 w 9230"/>
              <a:gd name="connsiteY8" fmla="*/ 2167 h 10000"/>
              <a:gd name="connsiteX9" fmla="*/ 2552 w 9230"/>
              <a:gd name="connsiteY9" fmla="*/ 4667 h 10000"/>
              <a:gd name="connsiteX10" fmla="*/ 1818 w 9230"/>
              <a:gd name="connsiteY10" fmla="*/ 5167 h 10000"/>
              <a:gd name="connsiteX11" fmla="*/ 0 w 9230"/>
              <a:gd name="connsiteY11" fmla="*/ 5556 h 10000"/>
              <a:gd name="connsiteX12" fmla="*/ 1434 w 9230"/>
              <a:gd name="connsiteY12" fmla="*/ 8778 h 10000"/>
              <a:gd name="connsiteX13" fmla="*/ 2308 w 9230"/>
              <a:gd name="connsiteY13" fmla="*/ 9278 h 10000"/>
              <a:gd name="connsiteX14" fmla="*/ 3846 w 9230"/>
              <a:gd name="connsiteY14" fmla="*/ 10000 h 10000"/>
              <a:gd name="connsiteX15" fmla="*/ 3846 w 9230"/>
              <a:gd name="connsiteY15" fmla="*/ 10000 h 10000"/>
              <a:gd name="connsiteX16" fmla="*/ 3916 w 9230"/>
              <a:gd name="connsiteY16" fmla="*/ 10000 h 10000"/>
              <a:gd name="connsiteX17" fmla="*/ 5594 w 9230"/>
              <a:gd name="connsiteY17" fmla="*/ 9944 h 10000"/>
              <a:gd name="connsiteX18" fmla="*/ 5978 w 9230"/>
              <a:gd name="connsiteY18" fmla="*/ 8889 h 10000"/>
              <a:gd name="connsiteX19" fmla="*/ 6783 w 9230"/>
              <a:gd name="connsiteY19" fmla="*/ 9056 h 10000"/>
              <a:gd name="connsiteX20" fmla="*/ 7377 w 9230"/>
              <a:gd name="connsiteY20" fmla="*/ 8389 h 10000"/>
              <a:gd name="connsiteX21" fmla="*/ 7517 w 9230"/>
              <a:gd name="connsiteY21" fmla="*/ 8278 h 10000"/>
              <a:gd name="connsiteX22" fmla="*/ 8215 w 9230"/>
              <a:gd name="connsiteY22" fmla="*/ 7444 h 10000"/>
              <a:gd name="connsiteX23" fmla="*/ 8846 w 9230"/>
              <a:gd name="connsiteY23" fmla="*/ 5722 h 10000"/>
              <a:gd name="connsiteX24" fmla="*/ 9194 w 9230"/>
              <a:gd name="connsiteY24" fmla="*/ 3611 h 10000"/>
              <a:gd name="connsiteX25" fmla="*/ 9230 w 9230"/>
              <a:gd name="connsiteY25" fmla="*/ 3333 h 10000"/>
              <a:gd name="connsiteX26" fmla="*/ 9230 w 9230"/>
              <a:gd name="connsiteY26" fmla="*/ 3111 h 10000"/>
              <a:gd name="connsiteX0" fmla="*/ 8446 w 8446"/>
              <a:gd name="connsiteY0" fmla="*/ 3111 h 10000"/>
              <a:gd name="connsiteX1" fmla="*/ 8371 w 8446"/>
              <a:gd name="connsiteY1" fmla="*/ 1222 h 10000"/>
              <a:gd name="connsiteX2" fmla="*/ 5264 w 8446"/>
              <a:gd name="connsiteY2" fmla="*/ 0 h 10000"/>
              <a:gd name="connsiteX3" fmla="*/ 4053 w 8446"/>
              <a:gd name="connsiteY3" fmla="*/ 500 h 10000"/>
              <a:gd name="connsiteX4" fmla="*/ 3484 w 8446"/>
              <a:gd name="connsiteY4" fmla="*/ 2167 h 10000"/>
              <a:gd name="connsiteX5" fmla="*/ 2916 w 8446"/>
              <a:gd name="connsiteY5" fmla="*/ 1944 h 10000"/>
              <a:gd name="connsiteX6" fmla="*/ 2726 w 8446"/>
              <a:gd name="connsiteY6" fmla="*/ 1889 h 10000"/>
              <a:gd name="connsiteX7" fmla="*/ 2689 w 8446"/>
              <a:gd name="connsiteY7" fmla="*/ 1889 h 10000"/>
              <a:gd name="connsiteX8" fmla="*/ 2082 w 8446"/>
              <a:gd name="connsiteY8" fmla="*/ 2167 h 10000"/>
              <a:gd name="connsiteX9" fmla="*/ 1211 w 8446"/>
              <a:gd name="connsiteY9" fmla="*/ 4667 h 10000"/>
              <a:gd name="connsiteX10" fmla="*/ 416 w 8446"/>
              <a:gd name="connsiteY10" fmla="*/ 5167 h 10000"/>
              <a:gd name="connsiteX11" fmla="*/ 0 w 8446"/>
              <a:gd name="connsiteY11" fmla="*/ 8778 h 10000"/>
              <a:gd name="connsiteX12" fmla="*/ 947 w 8446"/>
              <a:gd name="connsiteY12" fmla="*/ 9278 h 10000"/>
              <a:gd name="connsiteX13" fmla="*/ 2613 w 8446"/>
              <a:gd name="connsiteY13" fmla="*/ 10000 h 10000"/>
              <a:gd name="connsiteX14" fmla="*/ 2613 w 8446"/>
              <a:gd name="connsiteY14" fmla="*/ 10000 h 10000"/>
              <a:gd name="connsiteX15" fmla="*/ 2689 w 8446"/>
              <a:gd name="connsiteY15" fmla="*/ 10000 h 10000"/>
              <a:gd name="connsiteX16" fmla="*/ 4507 w 8446"/>
              <a:gd name="connsiteY16" fmla="*/ 9944 h 10000"/>
              <a:gd name="connsiteX17" fmla="*/ 4923 w 8446"/>
              <a:gd name="connsiteY17" fmla="*/ 8889 h 10000"/>
              <a:gd name="connsiteX18" fmla="*/ 5795 w 8446"/>
              <a:gd name="connsiteY18" fmla="*/ 9056 h 10000"/>
              <a:gd name="connsiteX19" fmla="*/ 6438 w 8446"/>
              <a:gd name="connsiteY19" fmla="*/ 8389 h 10000"/>
              <a:gd name="connsiteX20" fmla="*/ 6590 w 8446"/>
              <a:gd name="connsiteY20" fmla="*/ 8278 h 10000"/>
              <a:gd name="connsiteX21" fmla="*/ 7346 w 8446"/>
              <a:gd name="connsiteY21" fmla="*/ 7444 h 10000"/>
              <a:gd name="connsiteX22" fmla="*/ 8030 w 8446"/>
              <a:gd name="connsiteY22" fmla="*/ 5722 h 10000"/>
              <a:gd name="connsiteX23" fmla="*/ 8407 w 8446"/>
              <a:gd name="connsiteY23" fmla="*/ 3611 h 10000"/>
              <a:gd name="connsiteX24" fmla="*/ 8446 w 8446"/>
              <a:gd name="connsiteY24" fmla="*/ 3333 h 10000"/>
              <a:gd name="connsiteX25" fmla="*/ 8446 w 8446"/>
              <a:gd name="connsiteY25" fmla="*/ 3111 h 10000"/>
              <a:gd name="connsiteX0" fmla="*/ 9514 w 9514"/>
              <a:gd name="connsiteY0" fmla="*/ 3111 h 10000"/>
              <a:gd name="connsiteX1" fmla="*/ 9425 w 9514"/>
              <a:gd name="connsiteY1" fmla="*/ 1222 h 10000"/>
              <a:gd name="connsiteX2" fmla="*/ 5747 w 9514"/>
              <a:gd name="connsiteY2" fmla="*/ 0 h 10000"/>
              <a:gd name="connsiteX3" fmla="*/ 4313 w 9514"/>
              <a:gd name="connsiteY3" fmla="*/ 500 h 10000"/>
              <a:gd name="connsiteX4" fmla="*/ 3639 w 9514"/>
              <a:gd name="connsiteY4" fmla="*/ 2167 h 10000"/>
              <a:gd name="connsiteX5" fmla="*/ 2967 w 9514"/>
              <a:gd name="connsiteY5" fmla="*/ 1944 h 10000"/>
              <a:gd name="connsiteX6" fmla="*/ 2742 w 9514"/>
              <a:gd name="connsiteY6" fmla="*/ 1889 h 10000"/>
              <a:gd name="connsiteX7" fmla="*/ 2698 w 9514"/>
              <a:gd name="connsiteY7" fmla="*/ 1889 h 10000"/>
              <a:gd name="connsiteX8" fmla="*/ 1979 w 9514"/>
              <a:gd name="connsiteY8" fmla="*/ 2167 h 10000"/>
              <a:gd name="connsiteX9" fmla="*/ 948 w 9514"/>
              <a:gd name="connsiteY9" fmla="*/ 4667 h 10000"/>
              <a:gd name="connsiteX10" fmla="*/ 7 w 9514"/>
              <a:gd name="connsiteY10" fmla="*/ 5167 h 10000"/>
              <a:gd name="connsiteX11" fmla="*/ 635 w 9514"/>
              <a:gd name="connsiteY11" fmla="*/ 9278 h 10000"/>
              <a:gd name="connsiteX12" fmla="*/ 2608 w 9514"/>
              <a:gd name="connsiteY12" fmla="*/ 10000 h 10000"/>
              <a:gd name="connsiteX13" fmla="*/ 2608 w 9514"/>
              <a:gd name="connsiteY13" fmla="*/ 10000 h 10000"/>
              <a:gd name="connsiteX14" fmla="*/ 2698 w 9514"/>
              <a:gd name="connsiteY14" fmla="*/ 10000 h 10000"/>
              <a:gd name="connsiteX15" fmla="*/ 4850 w 9514"/>
              <a:gd name="connsiteY15" fmla="*/ 9944 h 10000"/>
              <a:gd name="connsiteX16" fmla="*/ 5343 w 9514"/>
              <a:gd name="connsiteY16" fmla="*/ 8889 h 10000"/>
              <a:gd name="connsiteX17" fmla="*/ 6375 w 9514"/>
              <a:gd name="connsiteY17" fmla="*/ 9056 h 10000"/>
              <a:gd name="connsiteX18" fmla="*/ 7137 w 9514"/>
              <a:gd name="connsiteY18" fmla="*/ 8389 h 10000"/>
              <a:gd name="connsiteX19" fmla="*/ 7317 w 9514"/>
              <a:gd name="connsiteY19" fmla="*/ 8278 h 10000"/>
              <a:gd name="connsiteX20" fmla="*/ 8212 w 9514"/>
              <a:gd name="connsiteY20" fmla="*/ 7444 h 10000"/>
              <a:gd name="connsiteX21" fmla="*/ 9021 w 9514"/>
              <a:gd name="connsiteY21" fmla="*/ 5722 h 10000"/>
              <a:gd name="connsiteX22" fmla="*/ 9468 w 9514"/>
              <a:gd name="connsiteY22" fmla="*/ 3611 h 10000"/>
              <a:gd name="connsiteX23" fmla="*/ 9514 w 9514"/>
              <a:gd name="connsiteY23" fmla="*/ 3333 h 10000"/>
              <a:gd name="connsiteX24" fmla="*/ 9514 w 9514"/>
              <a:gd name="connsiteY24" fmla="*/ 311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514" h="10000">
                <a:moveTo>
                  <a:pt x="9514" y="3111"/>
                </a:moveTo>
                <a:cubicBezTo>
                  <a:pt x="9484" y="2481"/>
                  <a:pt x="9454" y="1852"/>
                  <a:pt x="9425" y="1222"/>
                </a:cubicBezTo>
                <a:lnTo>
                  <a:pt x="5747" y="0"/>
                </a:lnTo>
                <a:lnTo>
                  <a:pt x="4313" y="500"/>
                </a:lnTo>
                <a:cubicBezTo>
                  <a:pt x="4087" y="1056"/>
                  <a:pt x="3862" y="1611"/>
                  <a:pt x="3639" y="2167"/>
                </a:cubicBezTo>
                <a:lnTo>
                  <a:pt x="2967" y="1944"/>
                </a:lnTo>
                <a:lnTo>
                  <a:pt x="2742" y="1889"/>
                </a:lnTo>
                <a:lnTo>
                  <a:pt x="2698" y="1889"/>
                </a:lnTo>
                <a:lnTo>
                  <a:pt x="1979" y="2167"/>
                </a:lnTo>
                <a:lnTo>
                  <a:pt x="948" y="4667"/>
                </a:lnTo>
                <a:lnTo>
                  <a:pt x="7" y="5167"/>
                </a:lnTo>
                <a:cubicBezTo>
                  <a:pt x="-45" y="5935"/>
                  <a:pt x="202" y="8473"/>
                  <a:pt x="635" y="9278"/>
                </a:cubicBezTo>
                <a:lnTo>
                  <a:pt x="2608" y="10000"/>
                </a:lnTo>
                <a:lnTo>
                  <a:pt x="2608" y="10000"/>
                </a:lnTo>
                <a:lnTo>
                  <a:pt x="2698" y="10000"/>
                </a:lnTo>
                <a:lnTo>
                  <a:pt x="4850" y="9944"/>
                </a:lnTo>
                <a:lnTo>
                  <a:pt x="5343" y="8889"/>
                </a:lnTo>
                <a:lnTo>
                  <a:pt x="6375" y="9056"/>
                </a:lnTo>
                <a:lnTo>
                  <a:pt x="7137" y="8389"/>
                </a:lnTo>
                <a:lnTo>
                  <a:pt x="7317" y="8278"/>
                </a:lnTo>
                <a:lnTo>
                  <a:pt x="8212" y="7444"/>
                </a:lnTo>
                <a:lnTo>
                  <a:pt x="9021" y="5722"/>
                </a:lnTo>
                <a:cubicBezTo>
                  <a:pt x="9172" y="5018"/>
                  <a:pt x="9317" y="4315"/>
                  <a:pt x="9468" y="3611"/>
                </a:cubicBezTo>
                <a:cubicBezTo>
                  <a:pt x="9484" y="3518"/>
                  <a:pt x="9499" y="3426"/>
                  <a:pt x="9514" y="3333"/>
                </a:cubicBezTo>
                <a:lnTo>
                  <a:pt x="9514" y="3111"/>
                </a:lnTo>
                <a:close/>
              </a:path>
            </a:pathLst>
          </a:custGeom>
          <a:solidFill>
            <a:srgbClr val="00B050"/>
          </a:solidFill>
          <a:ln w="0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7D117"/>
              </a:solidFill>
              <a:latin typeface="Geneva" pitchFamily="1" charset="-128"/>
              <a:cs typeface="Arial" charset="0"/>
            </a:endParaRPr>
          </a:p>
        </p:txBody>
      </p:sp>
      <p:sp>
        <p:nvSpPr>
          <p:cNvPr id="1273" name="Speech Bubble: Rectangle 1272">
            <a:extLst>
              <a:ext uri="{FF2B5EF4-FFF2-40B4-BE49-F238E27FC236}">
                <a16:creationId xmlns:a16="http://schemas.microsoft.com/office/drawing/2014/main" id="{687F7F96-A6C9-F253-735A-4B3E00303538}"/>
              </a:ext>
            </a:extLst>
          </p:cNvPr>
          <p:cNvSpPr/>
          <p:nvPr/>
        </p:nvSpPr>
        <p:spPr bwMode="gray">
          <a:xfrm>
            <a:off x="2846071" y="2575898"/>
            <a:ext cx="1004534" cy="454506"/>
          </a:xfrm>
          <a:prstGeom prst="wedgeRectCallout">
            <a:avLst>
              <a:gd name="adj1" fmla="val 75497"/>
              <a:gd name="adj2" fmla="val -16678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IBERICA</a:t>
            </a:r>
          </a:p>
          <a:p>
            <a:pPr algn="ctr" defTabSz="914378"/>
            <a:endParaRPr lang="en-US" sz="525" b="1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Montornes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Noblejas (2025)</a:t>
            </a:r>
          </a:p>
        </p:txBody>
      </p:sp>
      <p:sp>
        <p:nvSpPr>
          <p:cNvPr id="1277" name="Speech Bubble: Rectangle 1276">
            <a:extLst>
              <a:ext uri="{FF2B5EF4-FFF2-40B4-BE49-F238E27FC236}">
                <a16:creationId xmlns:a16="http://schemas.microsoft.com/office/drawing/2014/main" id="{AB7006FC-A6DB-D305-DA8F-BD66D29CCAEC}"/>
              </a:ext>
            </a:extLst>
          </p:cNvPr>
          <p:cNvSpPr/>
          <p:nvPr/>
        </p:nvSpPr>
        <p:spPr bwMode="gray">
          <a:xfrm>
            <a:off x="4889181" y="3586049"/>
            <a:ext cx="830680" cy="349692"/>
          </a:xfrm>
          <a:prstGeom prst="wedgeRectCallout">
            <a:avLst>
              <a:gd name="adj1" fmla="val -617"/>
              <a:gd name="adj2" fmla="val -264820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Dubai (2025)</a:t>
            </a:r>
          </a:p>
        </p:txBody>
      </p:sp>
      <p:sp>
        <p:nvSpPr>
          <p:cNvPr id="1279" name="Speech Bubble: Rectangle 1278">
            <a:extLst>
              <a:ext uri="{FF2B5EF4-FFF2-40B4-BE49-F238E27FC236}">
                <a16:creationId xmlns:a16="http://schemas.microsoft.com/office/drawing/2014/main" id="{E866D762-F376-D6DE-89B3-71247D7A27AD}"/>
              </a:ext>
            </a:extLst>
          </p:cNvPr>
          <p:cNvSpPr/>
          <p:nvPr/>
        </p:nvSpPr>
        <p:spPr bwMode="gray">
          <a:xfrm>
            <a:off x="6925930" y="2704681"/>
            <a:ext cx="1262522" cy="744587"/>
          </a:xfrm>
          <a:prstGeom prst="wedgeRectCallout">
            <a:avLst>
              <a:gd name="adj1" fmla="val -78846"/>
              <a:gd name="adj2" fmla="val -13525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</a:t>
            </a:r>
          </a:p>
          <a:p>
            <a:pPr algn="ctr" defTabSz="914378"/>
            <a:endParaRPr lang="en-US" sz="450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Hefei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Taicang 2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Taicang 3 (2025)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Guangzhou (2025)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 Chi Minh City (2025)</a:t>
            </a:r>
          </a:p>
        </p:txBody>
      </p:sp>
      <p:sp>
        <p:nvSpPr>
          <p:cNvPr id="1281" name="Speech Bubble: Rectangle 1280">
            <a:extLst>
              <a:ext uri="{FF2B5EF4-FFF2-40B4-BE49-F238E27FC236}">
                <a16:creationId xmlns:a16="http://schemas.microsoft.com/office/drawing/2014/main" id="{38D72BAE-DC5F-E4BA-A55A-2D342BF4F6D3}"/>
              </a:ext>
            </a:extLst>
          </p:cNvPr>
          <p:cNvSpPr/>
          <p:nvPr/>
        </p:nvSpPr>
        <p:spPr bwMode="gray">
          <a:xfrm>
            <a:off x="1371600" y="4212259"/>
            <a:ext cx="1316736" cy="539999"/>
          </a:xfrm>
          <a:prstGeom prst="wedgeRectCallout">
            <a:avLst>
              <a:gd name="adj1" fmla="val 74657"/>
              <a:gd name="adj2" fmla="val -154681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SOAM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Duque De Caxias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 Paulo (2025)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 (2025)</a:t>
            </a:r>
          </a:p>
        </p:txBody>
      </p:sp>
      <p:sp>
        <p:nvSpPr>
          <p:cNvPr id="1282" name="Speech Bubble: Rectangle 1281">
            <a:extLst>
              <a:ext uri="{FF2B5EF4-FFF2-40B4-BE49-F238E27FC236}">
                <a16:creationId xmlns:a16="http://schemas.microsoft.com/office/drawing/2014/main" id="{92959D3A-9BA9-0F2A-40E6-5CD18ED0214E}"/>
              </a:ext>
            </a:extLst>
          </p:cNvPr>
          <p:cNvSpPr/>
          <p:nvPr/>
        </p:nvSpPr>
        <p:spPr bwMode="gray">
          <a:xfrm>
            <a:off x="684150" y="3327013"/>
            <a:ext cx="1332102" cy="565901"/>
          </a:xfrm>
          <a:prstGeom prst="wedgeRectCallout">
            <a:avLst>
              <a:gd name="adj1" fmla="val 47040"/>
              <a:gd name="adj2" fmla="val -103684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MXCA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 De Mexico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 Cristobal SBM (2024)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Cuernavaca EBM (2025)</a:t>
            </a:r>
          </a:p>
        </p:txBody>
      </p:sp>
      <p:sp>
        <p:nvSpPr>
          <p:cNvPr id="1284" name="Speech Bubble: Rectangle 1283">
            <a:extLst>
              <a:ext uri="{FF2B5EF4-FFF2-40B4-BE49-F238E27FC236}">
                <a16:creationId xmlns:a16="http://schemas.microsoft.com/office/drawing/2014/main" id="{A42EF2A5-C584-5577-5137-77DCCB72CC63}"/>
              </a:ext>
            </a:extLst>
          </p:cNvPr>
          <p:cNvSpPr/>
          <p:nvPr/>
        </p:nvSpPr>
        <p:spPr bwMode="gray">
          <a:xfrm>
            <a:off x="3756356" y="1409418"/>
            <a:ext cx="1027159" cy="402913"/>
          </a:xfrm>
          <a:prstGeom prst="wedgeRectCallout">
            <a:avLst>
              <a:gd name="adj1" fmla="val 6345"/>
              <a:gd name="adj2" fmla="val 191810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GERMANY/BENL</a:t>
            </a:r>
          </a:p>
          <a:p>
            <a:pPr algn="ctr" defTabSz="914378"/>
            <a:endParaRPr lang="en-US" sz="525" b="1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Lübeck (2025)</a:t>
            </a:r>
          </a:p>
        </p:txBody>
      </p:sp>
      <p:sp>
        <p:nvSpPr>
          <p:cNvPr id="1285" name="Speech Bubble: Rectangle 1284">
            <a:extLst>
              <a:ext uri="{FF2B5EF4-FFF2-40B4-BE49-F238E27FC236}">
                <a16:creationId xmlns:a16="http://schemas.microsoft.com/office/drawing/2014/main" id="{A9A9C1B2-FB93-7E09-870B-2FE4C12D7F13}"/>
              </a:ext>
            </a:extLst>
          </p:cNvPr>
          <p:cNvSpPr/>
          <p:nvPr/>
        </p:nvSpPr>
        <p:spPr bwMode="gray">
          <a:xfrm>
            <a:off x="3777165" y="3092991"/>
            <a:ext cx="911419" cy="386794"/>
          </a:xfrm>
          <a:prstGeom prst="wedgeRectCallout">
            <a:avLst>
              <a:gd name="adj1" fmla="val 21821"/>
              <a:gd name="adj2" fmla="val -168171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Anagni (2025)</a:t>
            </a:r>
          </a:p>
        </p:txBody>
      </p:sp>
      <p:sp>
        <p:nvSpPr>
          <p:cNvPr id="1286" name="Footer Placeholder 1285">
            <a:extLst>
              <a:ext uri="{FF2B5EF4-FFF2-40B4-BE49-F238E27FC236}">
                <a16:creationId xmlns:a16="http://schemas.microsoft.com/office/drawing/2014/main" id="{EE1C7BD9-069D-EE0B-83C4-253474B10E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defTabSz="914378"/>
            <a:r>
              <a:rPr lang="en-US" dirty="0">
                <a:solidFill>
                  <a:srgbClr val="004D90"/>
                </a:solidFill>
                <a:latin typeface="Arial"/>
              </a:rPr>
              <a:t>High class plants</a:t>
            </a:r>
            <a:endParaRPr lang="en-GB" dirty="0">
              <a:solidFill>
                <a:srgbClr val="004D90"/>
              </a:solidFill>
              <a:latin typeface="Arial"/>
            </a:endParaRPr>
          </a:p>
        </p:txBody>
      </p:sp>
      <p:sp>
        <p:nvSpPr>
          <p:cNvPr id="1272" name="Speech Bubble: Rectangle 1271">
            <a:extLst>
              <a:ext uri="{FF2B5EF4-FFF2-40B4-BE49-F238E27FC236}">
                <a16:creationId xmlns:a16="http://schemas.microsoft.com/office/drawing/2014/main" id="{D2C71E1B-9864-E22D-B07C-CF1EDADF43A1}"/>
              </a:ext>
            </a:extLst>
          </p:cNvPr>
          <p:cNvSpPr/>
          <p:nvPr/>
        </p:nvSpPr>
        <p:spPr bwMode="gray">
          <a:xfrm>
            <a:off x="2998921" y="1922837"/>
            <a:ext cx="995486" cy="344400"/>
          </a:xfrm>
          <a:prstGeom prst="wedgeRectCallout">
            <a:avLst>
              <a:gd name="adj1" fmla="val 64535"/>
              <a:gd name="adj2" fmla="val 82608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Bridgwater (2025)</a:t>
            </a:r>
          </a:p>
        </p:txBody>
      </p:sp>
      <p:sp>
        <p:nvSpPr>
          <p:cNvPr id="1030" name="Speech Bubble: Rectangle 1029">
            <a:extLst>
              <a:ext uri="{FF2B5EF4-FFF2-40B4-BE49-F238E27FC236}">
                <a16:creationId xmlns:a16="http://schemas.microsoft.com/office/drawing/2014/main" id="{3BB39A6C-110A-A717-D3D2-8883754FF712}"/>
              </a:ext>
            </a:extLst>
          </p:cNvPr>
          <p:cNvSpPr/>
          <p:nvPr/>
        </p:nvSpPr>
        <p:spPr bwMode="gray">
          <a:xfrm>
            <a:off x="5080205" y="1662847"/>
            <a:ext cx="1045008" cy="394982"/>
          </a:xfrm>
          <a:prstGeom prst="wedgeRectCallout">
            <a:avLst>
              <a:gd name="adj1" fmla="val -96645"/>
              <a:gd name="adj2" fmla="val 130256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CEEU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Nowy Dwor (2025)</a:t>
            </a:r>
          </a:p>
        </p:txBody>
      </p:sp>
      <p:sp>
        <p:nvSpPr>
          <p:cNvPr id="1276" name="Speech Bubble: Rectangle 1275">
            <a:extLst>
              <a:ext uri="{FF2B5EF4-FFF2-40B4-BE49-F238E27FC236}">
                <a16:creationId xmlns:a16="http://schemas.microsoft.com/office/drawing/2014/main" id="{C5B8E62F-810C-BA7F-5450-EB3E738E2D93}"/>
              </a:ext>
            </a:extLst>
          </p:cNvPr>
          <p:cNvSpPr/>
          <p:nvPr/>
        </p:nvSpPr>
        <p:spPr bwMode="gray">
          <a:xfrm>
            <a:off x="5248573" y="2243788"/>
            <a:ext cx="979852" cy="446934"/>
          </a:xfrm>
          <a:prstGeom prst="wedgeRectCallout">
            <a:avLst>
              <a:gd name="adj1" fmla="val -87117"/>
              <a:gd name="adj2" fmla="val 53010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Turkey</a:t>
            </a:r>
          </a:p>
          <a:p>
            <a:pPr algn="ctr" defTabSz="914378"/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Gebze (2025)</a:t>
            </a:r>
          </a:p>
          <a:p>
            <a:pPr marL="128588" indent="-128588" defTabSz="91437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Konya (2025)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4472F6AB-05C1-77BF-83B0-AF12981FDB6A}"/>
              </a:ext>
            </a:extLst>
          </p:cNvPr>
          <p:cNvSpPr/>
          <p:nvPr/>
        </p:nvSpPr>
        <p:spPr bwMode="gray">
          <a:xfrm>
            <a:off x="684148" y="2267236"/>
            <a:ext cx="770993" cy="191729"/>
          </a:xfrm>
          <a:prstGeom prst="wedgeRectCallout">
            <a:avLst>
              <a:gd name="adj1" fmla="val 92288"/>
              <a:gd name="adj2" fmla="val 61215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NOAM (None)</a:t>
            </a:r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6B49FA8-6C1B-960A-D19D-CBA156799F13}"/>
              </a:ext>
            </a:extLst>
          </p:cNvPr>
          <p:cNvSpPr/>
          <p:nvPr/>
        </p:nvSpPr>
        <p:spPr bwMode="gray">
          <a:xfrm>
            <a:off x="3756355" y="4494011"/>
            <a:ext cx="770993" cy="197004"/>
          </a:xfrm>
          <a:prstGeom prst="wedgeRectCallout">
            <a:avLst>
              <a:gd name="adj1" fmla="val 62638"/>
              <a:gd name="adj2" fmla="val -161571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SSA (None)</a:t>
            </a:r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BB10DBA-09D5-E187-58A4-B9D67CD48B71}"/>
              </a:ext>
            </a:extLst>
          </p:cNvPr>
          <p:cNvSpPr/>
          <p:nvPr/>
        </p:nvSpPr>
        <p:spPr bwMode="gray">
          <a:xfrm>
            <a:off x="5982081" y="3884382"/>
            <a:ext cx="770993" cy="197004"/>
          </a:xfrm>
          <a:prstGeom prst="wedgeRectCallout">
            <a:avLst>
              <a:gd name="adj1" fmla="val -58658"/>
              <a:gd name="adj2" fmla="val -432327"/>
            </a:avLst>
          </a:prstGeom>
          <a:solidFill>
            <a:schemeClr val="accent3"/>
          </a:solidFill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914378"/>
            <a:r>
              <a:rPr lang="en-US" sz="7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 (None)</a:t>
            </a:r>
            <a:endParaRPr lang="en-US" sz="525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6601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B571EC-2CC1-8E83-C813-0B261E8A9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29490" y="1463163"/>
            <a:ext cx="4142510" cy="164333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/>
              <a:t>Review 2025: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5,2 Mio. €  hard savings (FTE, Scrap, Energy)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757 projects since platform launch (2021); 342 projects in 2025 (45%!!!) Improvement approach gaining traction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Platform &amp; Power BI live and aligned with corporate strategy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Discipline in application needs improvement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900" dirty="0"/>
          </a:p>
          <a:p>
            <a:endParaRPr lang="en-GB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9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D09C7F-12F7-73D0-2F9C-AB280F2CEA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GB" dirty="0"/>
              <a:t>Progress and approach of </a:t>
            </a:r>
            <a:r>
              <a:rPr lang="en-US" dirty="0"/>
              <a:t>Improvement projects 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5E8CDB-E249-93DD-E4F2-38A2156A4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SG 3: Improve Performance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27B80-6E8F-C34C-F379-4993FD76DD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B7652F1-68DE-4965-A7A5-0EF85A165A80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1085-1440-8CBC-FCC8-1F50CBC072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00945-3221-F833-9119-77CE7C54514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NEXT 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47F6F8-E26B-67AD-CEFC-BBB7D314409F}"/>
              </a:ext>
            </a:extLst>
          </p:cNvPr>
          <p:cNvGrpSpPr/>
          <p:nvPr/>
        </p:nvGrpSpPr>
        <p:grpSpPr>
          <a:xfrm>
            <a:off x="429490" y="3257911"/>
            <a:ext cx="8109750" cy="1723491"/>
            <a:chOff x="286718" y="3179733"/>
            <a:chExt cx="8525387" cy="19034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F96785B-4B28-A070-88AC-4BEA3736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718" y="3179733"/>
              <a:ext cx="8525387" cy="19034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CFCE40A-7C69-8815-8B07-05549F172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5126" y="4399369"/>
              <a:ext cx="271429" cy="15238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97B9FD9-A00C-A1CF-E3A4-393A7297CB90}"/>
              </a:ext>
            </a:extLst>
          </p:cNvPr>
          <p:cNvSpPr/>
          <p:nvPr/>
        </p:nvSpPr>
        <p:spPr bwMode="gray">
          <a:xfrm>
            <a:off x="4660749" y="1463163"/>
            <a:ext cx="3859796" cy="164333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de-DE" sz="900" b="1" dirty="0">
                <a:solidFill>
                  <a:schemeClr val="tx1"/>
                </a:solidFill>
              </a:rPr>
              <a:t>Focus 2026: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900" b="1" dirty="0"/>
              <a:t>Alignement OPEX, BU, AME and Supply Chain: </a:t>
            </a:r>
            <a:r>
              <a:rPr lang="en-US" sz="900" dirty="0"/>
              <a:t>to align resources and focus on the right projects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Projects and savings reporting</a:t>
            </a:r>
            <a:r>
              <a:rPr lang="en-US" sz="900" dirty="0"/>
              <a:t> in JEDOX currently ongoing with Hannah Nussbaumer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10 Mio € Hard Savings </a:t>
            </a:r>
            <a:r>
              <a:rPr lang="en-US" sz="900" dirty="0"/>
              <a:t>through OPEX improvement projects</a:t>
            </a:r>
            <a:endParaRPr lang="en-GB" sz="9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9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575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B571EC-2CC1-8E83-C813-0B261E8A9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363"/>
            <a:ext cx="4067992" cy="2700000"/>
          </a:xfrm>
          <a:solidFill>
            <a:schemeClr val="accent2"/>
          </a:solidFill>
        </p:spPr>
        <p:txBody>
          <a:bodyPr vert="horz" lIns="72000" tIns="72000" rIns="72000" bIns="72000" rtlCol="0" anchor="t">
            <a:noAutofit/>
          </a:bodyPr>
          <a:lstStyle/>
          <a:p>
            <a:r>
              <a:rPr lang="en-US" sz="900" b="1" dirty="0"/>
              <a:t>Our observations &amp; challenges: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Our impression is that Regional OPEX Managers are seen as </a:t>
            </a:r>
            <a:r>
              <a:rPr lang="en-US" sz="900" b="1" dirty="0"/>
              <a:t>implementers </a:t>
            </a:r>
            <a:r>
              <a:rPr lang="en-US" sz="900" dirty="0"/>
              <a:t>rather than </a:t>
            </a:r>
            <a:r>
              <a:rPr lang="en-US" sz="900" b="1" dirty="0"/>
              <a:t>improvers</a:t>
            </a:r>
            <a:r>
              <a:rPr lang="en-US" sz="900" b="1" dirty="0">
                <a:cs typeface="Arial"/>
              </a:rPr>
              <a:t> </a:t>
            </a:r>
            <a:r>
              <a:rPr lang="en-US" sz="900" dirty="0">
                <a:cs typeface="Arial"/>
              </a:rPr>
              <a:t>by regional management.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cs typeface="Arial"/>
              </a:rPr>
              <a:t>Lack of alignment between corporate functions </a:t>
            </a:r>
            <a:r>
              <a:rPr lang="en-US" sz="900" dirty="0">
                <a:cs typeface="Arial"/>
              </a:rPr>
              <a:t>– multiple agendas.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cs typeface="Arial"/>
              </a:rPr>
              <a:t>Lack of alignment of </a:t>
            </a:r>
            <a:r>
              <a:rPr lang="en-US" sz="900" b="1" dirty="0">
                <a:cs typeface="Arial"/>
              </a:rPr>
              <a:t>functional leaders in the regions with many different agendas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cs typeface="Arial"/>
              </a:rPr>
              <a:t>Very different OPEX structures</a:t>
            </a:r>
            <a:r>
              <a:rPr lang="en-US" sz="900" dirty="0">
                <a:cs typeface="Arial"/>
              </a:rPr>
              <a:t> in the regions with</a:t>
            </a:r>
            <a:r>
              <a:rPr lang="en-US" sz="900" dirty="0"/>
              <a:t> </a:t>
            </a:r>
            <a:r>
              <a:rPr lang="en-US" sz="900" b="1" dirty="0"/>
              <a:t>different styles </a:t>
            </a:r>
            <a:r>
              <a:rPr lang="en-US" sz="900" dirty="0"/>
              <a:t>reduces influence – Many of them reporting to QA.</a:t>
            </a:r>
            <a:endParaRPr lang="en-US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Not enough pull or prioritizing from management </a:t>
            </a:r>
            <a:r>
              <a:rPr lang="en-US" sz="900" dirty="0"/>
              <a:t>on real operational issues – OPEX often needs to ask to support.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cs typeface="Arial"/>
              </a:rPr>
              <a:t>In struggling plants, </a:t>
            </a:r>
            <a:r>
              <a:rPr lang="en-US" sz="900" b="1" dirty="0">
                <a:cs typeface="Arial"/>
              </a:rPr>
              <a:t>many different stakeholders are involved </a:t>
            </a:r>
            <a:r>
              <a:rPr lang="en-US" sz="900" dirty="0">
                <a:cs typeface="Arial"/>
              </a:rPr>
              <a:t>(AME, BU, QA, Region) without coordination or alignment</a:t>
            </a:r>
          </a:p>
          <a:p>
            <a:endParaRPr lang="en-US" sz="900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D09C7F-12F7-73D0-2F9C-AB280F2CEA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US" dirty="0"/>
              <a:t>With rising cost, challenging markets and more complex operations it is evident to utilize our OPEX teams to achieve SG 3: Improve performance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5E8CDB-E249-93DD-E4F2-38A2156A4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OPEX as Improvers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27B80-6E8F-C34C-F379-4993FD76DD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8FABA9E-9BA0-4A9D-AF2C-7C6D49335791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1085-1440-8CBC-FCC8-1F50CBC072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29E283E-7B96-70EE-8598-703336577D46}"/>
              </a:ext>
            </a:extLst>
          </p:cNvPr>
          <p:cNvSpPr txBox="1">
            <a:spLocks/>
          </p:cNvSpPr>
          <p:nvPr/>
        </p:nvSpPr>
        <p:spPr bwMode="gray">
          <a:xfrm>
            <a:off x="4644008" y="1851025"/>
            <a:ext cx="4067992" cy="2700000"/>
          </a:xfrm>
          <a:prstGeom prst="rect">
            <a:avLst/>
          </a:prstGeom>
          <a:solidFill>
            <a:schemeClr val="accent2"/>
          </a:solidFill>
        </p:spPr>
        <p:txBody>
          <a:bodyPr vert="horz" lIns="72000" tIns="72000" rIns="72000" bIns="7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-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lphaLcPeriod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 i="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/>
              <a:t>Recommendation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Make OPEX Managers the drivers of cost reduction or turnaround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Improved alignments between corporate functions necessary.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Position OPEX Managers as cross-functional coordinators: </a:t>
            </a:r>
            <a:r>
              <a:rPr lang="en-US" sz="900" dirty="0"/>
              <a:t>L</a:t>
            </a:r>
            <a:r>
              <a:rPr lang="en-US" sz="900" dirty="0">
                <a:cs typeface="Arial"/>
              </a:rPr>
              <a:t>inking all functional departments and driving improvements end-to-end.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cs typeface="Arial"/>
              </a:rPr>
              <a:t>Tighten governance: </a:t>
            </a:r>
            <a:r>
              <a:rPr lang="en-US" sz="900" dirty="0">
                <a:cs typeface="Arial"/>
              </a:rPr>
              <a:t>Regional OPEX Managers should report directly to the regional/cluster Head of Operations (Sparring Partners).</a:t>
            </a:r>
            <a:endParaRPr lang="en-US" sz="900" dirty="0">
              <a:highlight>
                <a:srgbClr val="FFFF00"/>
              </a:highlight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cs typeface="Arial"/>
              </a:rPr>
              <a:t>Directors to set and enforce plant priorities so </a:t>
            </a:r>
            <a:r>
              <a:rPr lang="en-US" sz="900" b="1" dirty="0">
                <a:cs typeface="Arial"/>
              </a:rPr>
              <a:t>Plant Managers use OPEX as the main coordinators of improvement initiatives </a:t>
            </a:r>
            <a:r>
              <a:rPr lang="en-US" sz="900" dirty="0">
                <a:cs typeface="Arial"/>
              </a:rPr>
              <a:t>(especially in struggling plants).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Run an annual, structured Plant Diagnostic: </a:t>
            </a:r>
            <a:r>
              <a:rPr lang="en-US" sz="900" dirty="0"/>
              <a:t>To</a:t>
            </a:r>
            <a:r>
              <a:rPr lang="en-US" sz="900" b="1" dirty="0"/>
              <a:t> </a:t>
            </a:r>
            <a:r>
              <a:rPr lang="en-US" sz="900" dirty="0">
                <a:cs typeface="Arial"/>
              </a:rPr>
              <a:t>align ALL initiatives, limit overload, and prioritize the plant project portfolio.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2C8A9-B4D1-AC50-DDE5-1A819CB1863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OPEX Days 2024 - Regional OPEX Expectations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0050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40C254-DE57-9472-0EEC-247B83DC7196}"/>
              </a:ext>
            </a:extLst>
          </p:cNvPr>
          <p:cNvSpPr/>
          <p:nvPr/>
        </p:nvSpPr>
        <p:spPr bwMode="gray">
          <a:xfrm>
            <a:off x="431800" y="1492250"/>
            <a:ext cx="8316664" cy="33837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5E8CDB-E249-93DD-E4F2-38A2156A4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3 Key Objectives for OPEX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27B80-6E8F-C34C-F379-4993FD76DD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7D51DF5-D1F2-4F94-84A9-8AD188D30176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1085-1440-8CBC-FCC8-1F50CBC072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6</a:t>
            </a:fld>
            <a:endParaRPr lang="en-GB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8C0C6E-EC27-76B6-F147-1C84412A29DD}"/>
              </a:ext>
            </a:extLst>
          </p:cNvPr>
          <p:cNvGrpSpPr/>
          <p:nvPr/>
        </p:nvGrpSpPr>
        <p:grpSpPr>
          <a:xfrm>
            <a:off x="597503" y="1615194"/>
            <a:ext cx="2593493" cy="1613145"/>
            <a:chOff x="567606" y="1635646"/>
            <a:chExt cx="1619250" cy="10071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74DA66-7E13-CDB6-8FE7-9E7B70D2EF09}"/>
                </a:ext>
              </a:extLst>
            </p:cNvPr>
            <p:cNvSpPr/>
            <p:nvPr/>
          </p:nvSpPr>
          <p:spPr bwMode="gray">
            <a:xfrm>
              <a:off x="567606" y="1635646"/>
              <a:ext cx="1619250" cy="100716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lIns="72000" tIns="72000" rIns="72000" bIns="7200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>
                <a:solidFill>
                  <a:schemeClr val="tx1"/>
                </a:solidFill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/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/>
                <a:t>Improve Performance (Costs)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pic>
          <p:nvPicPr>
            <p:cNvPr id="10" name="Graphic 9" descr="Badge 1 with solid fill">
              <a:extLst>
                <a:ext uri="{FF2B5EF4-FFF2-40B4-BE49-F238E27FC236}">
                  <a16:creationId xmlns:a16="http://schemas.microsoft.com/office/drawing/2014/main" id="{FF5282CA-1E9E-CBA7-8505-7A8B6AF53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97231" y="1782979"/>
              <a:ext cx="360000" cy="360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0BDF3E-2776-C150-3DAF-440EE5F539C3}"/>
              </a:ext>
            </a:extLst>
          </p:cNvPr>
          <p:cNvGrpSpPr/>
          <p:nvPr/>
        </p:nvGrpSpPr>
        <p:grpSpPr>
          <a:xfrm>
            <a:off x="5953006" y="1615194"/>
            <a:ext cx="2593491" cy="1613145"/>
            <a:chOff x="567607" y="3794646"/>
            <a:chExt cx="1619249" cy="9364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E55036-7E87-13AC-50BC-E04E1F16683D}"/>
                </a:ext>
              </a:extLst>
            </p:cNvPr>
            <p:cNvSpPr/>
            <p:nvPr/>
          </p:nvSpPr>
          <p:spPr bwMode="gray">
            <a:xfrm>
              <a:off x="567607" y="3794646"/>
              <a:ext cx="1619249" cy="936401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txBody>
            <a:bodyPr vert="horz" lIns="72000" tIns="72000" rIns="72000" bIns="7200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>
                <a:solidFill>
                  <a:schemeClr val="tx1"/>
                </a:solidFill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>
                <a:solidFill>
                  <a:schemeClr val="tx1"/>
                </a:solidFill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Ensure (OPEX) Standards</a:t>
              </a:r>
            </a:p>
          </p:txBody>
        </p:sp>
        <p:pic>
          <p:nvPicPr>
            <p:cNvPr id="15" name="Graphic 14" descr="Badge 3 with solid fill">
              <a:extLst>
                <a:ext uri="{FF2B5EF4-FFF2-40B4-BE49-F238E27FC236}">
                  <a16:creationId xmlns:a16="http://schemas.microsoft.com/office/drawing/2014/main" id="{348480BF-804B-ED45-938B-B8FA47041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97231" y="3931627"/>
              <a:ext cx="360000" cy="322817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A1E22F-67D4-1C96-F50D-07A05EB1597C}"/>
              </a:ext>
            </a:extLst>
          </p:cNvPr>
          <p:cNvGrpSpPr/>
          <p:nvPr/>
        </p:nvGrpSpPr>
        <p:grpSpPr>
          <a:xfrm>
            <a:off x="3275256" y="1615194"/>
            <a:ext cx="2593491" cy="1613145"/>
            <a:chOff x="567607" y="2715146"/>
            <a:chExt cx="1619249" cy="10071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8E84B9-CC1B-540E-1715-B40D19815698}"/>
                </a:ext>
              </a:extLst>
            </p:cNvPr>
            <p:cNvSpPr/>
            <p:nvPr/>
          </p:nvSpPr>
          <p:spPr bwMode="gray">
            <a:xfrm>
              <a:off x="567607" y="2715146"/>
              <a:ext cx="1619249" cy="100716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lIns="72000" tIns="72000" rIns="72000" bIns="7200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/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b="1" dirty="0"/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/>
                <a:t>Improve Culture &amp; Change</a:t>
              </a:r>
            </a:p>
          </p:txBody>
        </p:sp>
        <p:pic>
          <p:nvPicPr>
            <p:cNvPr id="17" name="Graphic 16" descr="Badge with solid fill">
              <a:extLst>
                <a:ext uri="{FF2B5EF4-FFF2-40B4-BE49-F238E27FC236}">
                  <a16:creationId xmlns:a16="http://schemas.microsoft.com/office/drawing/2014/main" id="{4437D53D-5CA2-7FBB-0E6F-D4B75984F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7231" y="2853646"/>
              <a:ext cx="360000" cy="3600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81769FA-E48F-815F-A41E-25CE9DA7CD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2303" y="3588840"/>
            <a:ext cx="4297210" cy="66305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5E872CDA-C736-D4A8-008C-590CAE8D1CC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OPEX Days 2024 - Regional OPEX Expectations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F37C1A-659E-75EB-D83E-CF7A88284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055197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B571EC-2CC1-8E83-C813-0B261E8A9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5593113" cy="27000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100" b="1" dirty="0">
                <a:solidFill>
                  <a:schemeClr val="accent1"/>
                </a:solidFill>
              </a:rPr>
              <a:t>Make sure that the OPEX teams globally focus on:</a:t>
            </a:r>
            <a:endParaRPr lang="en-GB" sz="1100" b="1" dirty="0">
              <a:solidFill>
                <a:schemeClr val="accent1"/>
              </a:solidFill>
              <a:cs typeface="Arial"/>
            </a:endParaRPr>
          </a:p>
          <a:p>
            <a:endParaRPr lang="en-GB" sz="1100" b="1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/>
                </a:solidFill>
                <a:cs typeface="Arial"/>
              </a:rPr>
              <a:t>Reduce cost, increase profitability through structured improvement projects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/>
                </a:solidFill>
                <a:cs typeface="Arial"/>
              </a:rPr>
              <a:t>Improve quality and reliability</a:t>
            </a:r>
            <a:endParaRPr lang="en-GB" sz="11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/>
                </a:solidFill>
                <a:cs typeface="Arial"/>
              </a:rPr>
              <a:t>Improve the culture and mindset in the plants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/>
                </a:solidFill>
                <a:cs typeface="Arial"/>
              </a:rPr>
              <a:t>Ensure standards are kept and in place</a:t>
            </a:r>
          </a:p>
          <a:p>
            <a:pPr>
              <a:spcAft>
                <a:spcPts val="600"/>
              </a:spcAft>
            </a:pPr>
            <a:endParaRPr lang="en-US" sz="1200" dirty="0">
              <a:cs typeface="Arial"/>
            </a:endParaRPr>
          </a:p>
          <a:p>
            <a:r>
              <a:rPr lang="en-GB" sz="2400" dirty="0">
                <a:cs typeface="Arial"/>
              </a:rPr>
              <a:t>We need to use them as IMPROVERS instead of IMPLEMENTERS!</a:t>
            </a:r>
          </a:p>
          <a:p>
            <a:pPr algn="ctr">
              <a:spcAft>
                <a:spcPts val="600"/>
              </a:spcAft>
            </a:pPr>
            <a:endParaRPr lang="en-US" sz="1800" b="1" dirty="0">
              <a:cs typeface="Arial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5E8CDB-E249-93DD-E4F2-38A2156A4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Objective of </a:t>
            </a:r>
            <a:r>
              <a:rPr lang="en-GB" b="1" dirty="0"/>
              <a:t>OPEX</a:t>
            </a:r>
            <a:r>
              <a:rPr lang="en-GB" b="1" baseline="30000" dirty="0"/>
              <a:t>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27B80-6E8F-C34C-F379-4993FD76DD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B63CA13-8112-49BB-8CE1-0BB20504A969}" type="datetime1">
              <a:rPr lang="en-GB" noProof="0" smtClean="0"/>
              <a:t>23/02/2026</a:t>
            </a:fld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61085-1440-8CBC-FCC8-1F50CBC072F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E46C6-40BD-16BD-DD13-4A16913BF8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COO Update_OPEX Days</a:t>
            </a:r>
            <a:endParaRPr lang="en-GB"/>
          </a:p>
        </p:txBody>
      </p:sp>
      <p:pic>
        <p:nvPicPr>
          <p:cNvPr id="5" name="Picture 4" descr="Football team kneeling on playing field">
            <a:extLst>
              <a:ext uri="{FF2B5EF4-FFF2-40B4-BE49-F238E27FC236}">
                <a16:creationId xmlns:a16="http://schemas.microsoft.com/office/drawing/2014/main" id="{D1CDABB1-D8B0-1AB0-7211-CEC7C3074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14" r="35070"/>
          <a:stretch/>
        </p:blipFill>
        <p:spPr>
          <a:xfrm>
            <a:off x="6025116" y="0"/>
            <a:ext cx="3118884" cy="5143500"/>
          </a:xfrm>
          <a:prstGeom prst="rect">
            <a:avLst/>
          </a:prstGeom>
        </p:spPr>
      </p:pic>
      <p:pic>
        <p:nvPicPr>
          <p:cNvPr id="7" name="Picture 6" descr="Lines intersecting at pushpin">
            <a:extLst>
              <a:ext uri="{FF2B5EF4-FFF2-40B4-BE49-F238E27FC236}">
                <a16:creationId xmlns:a16="http://schemas.microsoft.com/office/drawing/2014/main" id="{CDFB8552-51D9-8DB1-A677-3091D8976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06" r="19379"/>
          <a:stretch/>
        </p:blipFill>
        <p:spPr>
          <a:xfrm>
            <a:off x="6025114" y="0"/>
            <a:ext cx="3118885" cy="51435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A1DB3E-B5B5-60B4-AE14-556B6DD9DC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21176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NNOVA_CATEGORY" val="None"/>
  <p:tag name="ISPRING_RESOURCE_PATHS_HASH_PRESENTER" val="a8324ed4d463bf80e7fc17985c4abcc19ef548c"/>
</p:tagLst>
</file>

<file path=ppt/theme/theme1.xml><?xml version="1.0" encoding="utf-8"?>
<a:theme xmlns:a="http://schemas.openxmlformats.org/drawingml/2006/main" name="ALPLA">
  <a:themeElements>
    <a:clrScheme name="Alpla">
      <a:dk1>
        <a:srgbClr val="004D90"/>
      </a:dk1>
      <a:lt1>
        <a:srgbClr val="FFFFFF"/>
      </a:lt1>
      <a:dk2>
        <a:srgbClr val="E5F3FA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004D90"/>
        </a:solidFill>
        <a:ln>
          <a:noFill/>
        </a:ln>
      </a:spPr>
      <a:bodyPr lIns="72000" tIns="72000" rIns="72000" bIns="72000" rtlCol="0" anchor="ctr"/>
      <a:lstStyle>
        <a:defPPr algn="ctr">
          <a:defRPr sz="1000" dirty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  <a:extLst>
    <a:ext uri="{05A4C25C-085E-4340-85A3-A5531E510DB2}">
      <thm15:themeFamily xmlns:thm15="http://schemas.microsoft.com/office/thememl/2012/main" name="ALPLA_Quality_SUB_2025_EN" id="{018117C2-B63A-493A-9871-6597C2A11D57}" vid="{14FB6338-22D6-4450-AF34-DA5FED01CAD8}"/>
    </a:ext>
  </a:extLst>
</a:theme>
</file>

<file path=ppt/theme/theme2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ppt/theme/theme3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14acf9-97fa-433e-8b6c-d07f6b91928d">
      <Terms xmlns="http://schemas.microsoft.com/office/infopath/2007/PartnerControls"/>
    </lcf76f155ced4ddcb4097134ff3c332f>
    <TaxCatchAll xmlns="51944c6c-cc5b-4ba8-b307-1a41c4ba77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1E6A1B227C8C42BED820896E29CEA8" ma:contentTypeVersion="19" ma:contentTypeDescription="Create a new document." ma:contentTypeScope="" ma:versionID="6702f20029d85dea3cef1d596c8e7760">
  <xsd:schema xmlns:xsd="http://www.w3.org/2001/XMLSchema" xmlns:xs="http://www.w3.org/2001/XMLSchema" xmlns:p="http://schemas.microsoft.com/office/2006/metadata/properties" xmlns:ns2="4514acf9-97fa-433e-8b6c-d07f6b91928d" xmlns:ns3="51944c6c-cc5b-4ba8-b307-1a41c4ba7758" targetNamespace="http://schemas.microsoft.com/office/2006/metadata/properties" ma:root="true" ma:fieldsID="de270d328882213fa725e5f725dd5f26" ns2:_="" ns3:_="">
    <xsd:import namespace="4514acf9-97fa-433e-8b6c-d07f6b91928d"/>
    <xsd:import namespace="51944c6c-cc5b-4ba8-b307-1a41c4ba77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14acf9-97fa-433e-8b6c-d07f6b9192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cde2198-0f9c-420e-a507-006004157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44c6c-cc5b-4ba8-b307-1a41c4ba775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104fcc9-21f2-4102-8712-fbd84759b0aa}" ma:internalName="TaxCatchAll" ma:showField="CatchAllData" ma:web="51944c6c-cc5b-4ba8-b307-1a41c4ba77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6EFB64-8228-4F8B-AE90-AD6C47E3EC6C}">
  <ds:schemaRefs>
    <ds:schemaRef ds:uri="http://schemas.microsoft.com/office/2006/metadata/properties"/>
    <ds:schemaRef ds:uri="http://www.w3.org/2000/xmlns/"/>
    <ds:schemaRef ds:uri="4514acf9-97fa-433e-8b6c-d07f6b91928d"/>
    <ds:schemaRef ds:uri="http://schemas.microsoft.com/office/infopath/2007/PartnerControls"/>
    <ds:schemaRef ds:uri="51944c6c-cc5b-4ba8-b307-1a41c4ba7758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D708B640-C446-420A-B455-F8E8F4A723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51E69-B867-42A7-A33B-47FA2F183FA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514acf9-97fa-433e-8b6c-d07f6b91928d"/>
    <ds:schemaRef ds:uri="51944c6c-cc5b-4ba8-b307-1a41c4ba77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ALPLA_Quality_SUB_2025_EN</Template>
  <TotalTime>0</TotalTime>
  <Words>822</Words>
  <Application>Microsoft Office PowerPoint</Application>
  <PresentationFormat>Bildschirmpräsentation (16:9)</PresentationFormat>
  <Paragraphs>177</Paragraphs>
  <Slides>7</Slides>
  <Notes>3</Notes>
  <HiddenSlides>1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ALPLA</vt:lpstr>
      <vt:lpstr>OPEX Status 2026</vt:lpstr>
      <vt:lpstr>Functional Strategy 2026</vt:lpstr>
      <vt:lpstr>SG1: High Class Plants</vt:lpstr>
      <vt:lpstr>SG 3: Improve Performance</vt:lpstr>
      <vt:lpstr>OPEX as Improvers</vt:lpstr>
      <vt:lpstr>3 Key Objectives for OPEX</vt:lpstr>
      <vt:lpstr>Objective of OPEX2026</vt:lpstr>
    </vt:vector>
  </TitlesOfParts>
  <Company>Alpla Werke Alwin Lehner GmbH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OPEX Status 2026</dc:title>
  <dc:creator>Martin.Laur@alpla.com</dc:creator>
  <cp:lastModifiedBy>Gerhard Fehr</cp:lastModifiedBy>
  <cp:revision>8</cp:revision>
  <cp:lastPrinted>2025-09-10T16:42:38Z</cp:lastPrinted>
  <dcterms:created xsi:type="dcterms:W3CDTF">2025-08-26T06:01:44Z</dcterms:created>
  <dcterms:modified xsi:type="dcterms:W3CDTF">2026-02-23T07:39:06Z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0x010100671E6A1B227C8C42BED820896E29CEA8</vt:lpwstr>
  </property>
  <property fmtid="{D5CDD505-2E9C-101B-9397-08002B2CF9AE}" pid="3" name="MediaServiceImageTags">
    <vt:lpwstr/>
  </property>
</Properties>
</file>