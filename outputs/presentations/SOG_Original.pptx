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Ordnung im digitalen Raum:</a:t>
            </a:r>
          </a:p>
          <a:p>
            <a:pPr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Das Social Media Ordnungs-Gesetz (SOG)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 i="0">
                <a:solidFill>
                  <a:srgbClr val="333333"/>
                </a:solidFill>
                <a:latin typeface="Arial"/>
              </a:defRPr>
            </a:pPr>
            <a:r>
              <a:t>Strategisches Briefing zur Kommunikationsoffensive.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 i="1">
                <a:solidFill>
                  <a:srgbClr val="333333"/>
                </a:solidFill>
                <a:latin typeface="Arial"/>
              </a:defRPr>
            </a:pPr>
            <a:r>
              <a:t>[ Visualisierung: Rot-schwarze Punkte von Chaos zu Ordnung ]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6126480"/>
            <a:ext cx="2743200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Status: Strategisches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Management Summary: Wir schaffen</a:t>
            </a:r>
            <a:br/>
            <a:r>
              <a:t>Fairness und Verantwortung.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Der digitale Raum ist im Vergleich zu analogen Medien (TV, Radio) weitgehend unreguliert.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KOMPLIKATION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Dies gefaehrdet Kinder durch mangelnden Schutz und die Demokratie durch Desinformation und Polarisierung.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LOESUNG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Das SOG (Social Media Ordnungs-Gesetz). Kein Verbot, sondern die Einfuehrung von fairen Spielregeln, wie sie offline laengst gelten.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303520"/>
            <a:ext cx="12191695" cy="10972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1">
                <a:solidFill>
                  <a:srgbClr val="000000"/>
                </a:solidFill>
                <a:latin typeface="Arial"/>
              </a:defRPr>
            </a:pPr>
            <a:r>
              <a:t>Diese Regierung schafft Ordnung. Wer Reichweite hat, traegt Verantwortung.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 i="1">
                <a:solidFill>
                  <a:srgbClr val="000000"/>
                </a:solidFill>
                <a:latin typeface="Arial"/>
              </a:defRPr>
            </a:pPr>
            <a:r>
              <a:t>Der strategische Rahmen: Von "Verbot" zu "Ordnung".</a:t>
            </a:r>
          </a:p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Wir verlassen die Defensive und argumentieren staatstragend.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5943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6248095" cy="38404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333333"/>
                </a:solidFill>
                <a:latin typeface="Arial"/>
              </a:defRPr>
            </a:pPr>
            <a:r>
              <a:t>NICHT MEHR SAGEN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333333"/>
                </a:solidFill>
                <a:latin typeface="Arial"/>
              </a:defRPr>
            </a:pPr>
            <a:r>
              <a:t>--- Verbot / Einschraenkung 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333333"/>
                </a:solidFill>
                <a:latin typeface="Arial"/>
              </a:defRPr>
            </a:pPr>
            <a:r>
              <a:t>--- Ich / Mein Ministerium 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333333"/>
                </a:solidFill>
                <a:latin typeface="Arial"/>
              </a:defRPr>
            </a:pPr>
            <a:r>
              <a:t>--- Strafen 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333333"/>
                </a:solidFill>
                <a:latin typeface="Arial"/>
              </a:defRPr>
            </a:pPr>
            <a:r>
              <a:t>--- Defensive Erklaerungen 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NEU: STRATEGISCHE TONALITAET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-&gt; Ordnung / Regeln / Schutz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-&gt; Diese Regierung / Wir als Regierung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-&gt; Verantwortung einfordern / Konsequenzen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-&gt; Gleiche Spielregeln fuer 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C8102E"/>
                </a:solidFill>
                <a:latin typeface="Arial"/>
              </a:defRPr>
            </a:pPr>
            <a:r>
              <a:t>Wir rechtfertigen uns nicht fuer Regeln. Wir schaffen sie.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Vier Saeulen fuer die digitale Souveraenitaet.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265176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Altersgerechter</a:t>
            </a:r>
            <a:br/>
            <a:r>
              <a:t>Zugang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Schutz fuer Kinder und Jugendliche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6517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3017520"/>
            <a:ext cx="265176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Plattform-</a:t>
            </a:r>
            <a:br/>
            <a:r>
              <a:t>Haftung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Wer verdient, haftet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26517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017520"/>
            <a:ext cx="265176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Medien-</a:t>
            </a:r>
            <a:br/>
            <a:r>
              <a:t>kompetenz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Demokratie braucht muendige Buerger:innen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6517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3017520"/>
            <a:ext cx="265176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Transparenz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Gleiche Spielregeln fuer alle Medien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00000"/>
                </a:solidFill>
                <a:latin typeface="Arial"/>
              </a:defRPr>
            </a:pPr>
            <a:r>
              <a:t>Saeule 1: Konsequenter Schutz fuer unsere Kinder.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1">
                <a:solidFill>
                  <a:srgbClr val="000000"/>
                </a:solidFill>
                <a:latin typeface="Arial"/>
              </a:defRPr>
            </a:pPr>
            <a:r>
              <a:t>Unter 15 Jahren brauchen Kinder Schutz. Das ist konsequenter Jugendschutz - so wie bei Filmen, so wie bei Alkohol.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4114800"/>
            <a:ext cx="5029200" cy="16459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4206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Strategischer Standpunkt:</a:t>
            </a:r>
          </a:p>
          <a:p>
            <a:pPr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Wenn Europa nicht schnell genug ist, gehen wir national voran. Das ist Ordnung schaffen. Nicht zusehen.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Saeule 2: Verantwortung und Haftung.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Wer Reichweite hat, traegt Verantwortung.</a:t>
            </a:r>
            <a:br/>
            <a:r>
              <a:t>Wer verdient, haftet.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 i="1">
                <a:solidFill>
                  <a:srgbClr val="333333"/>
                </a:solidFill>
                <a:latin typeface="Arial"/>
              </a:defRPr>
            </a:pPr>
            <a:r>
              <a:t>[ Visualisierung: Rote Waage mit Gewinn vs Haftung (DSA Rules)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Der Mechanismus</a:t>
            </a:r>
          </a:p>
          <a:p>
            <a:pPr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Der DSA (Digital Services Act) gibt den Rahmen. Strafen bis zu 6% des Jahresumsatzes.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Das Framing</a:t>
            </a:r>
          </a:p>
          <a:p>
            <a:pPr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Im Fernsehen und Radio gelten Regeln. Das muss auch fuer Social Media gelten. Gleiche Spielregeln fuer alle Medien sind keine Einschraenkung - das ist Fairness.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00000"/>
                </a:solidFill>
                <a:latin typeface="Arial"/>
              </a:defRPr>
            </a:pPr>
            <a:r>
              <a:t>Saeule 3: Medienkompetenz ist Demokratiepolitik.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Kontext: Junge Menschen informieren sich ueber Plattformen. Dort verschwimmen Journalismus und Desinformation.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303520" cy="137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C8102E"/>
                </a:solidFill>
                <a:latin typeface="Arial"/>
              </a:defRPr>
            </a:pPr>
            <a:r>
              <a:t>Ziel: Demokratie braucht muendige Buerger:innen, die Quellen bewerten koennen.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Diese Regierung wird nicht nur darueber reden.</a:t>
            </a:r>
            <a:br/>
            <a:r>
              <a:t>Wir bauen die Struktur auf.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14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Start der Massnahmen:</a:t>
            </a:r>
            <a:br/>
            <a:r>
              <a:t>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Saeule 4: Transparenz und Algorithmen.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Keine Sonderrechte fuer Big Tech.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Traditionelle Medien</a:t>
            </a:r>
            <a:br/>
            <a:r>
              <a:t>(TV/Print)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Fake News verboten.</a:t>
            </a:r>
            <a:br/>
            <a:r>
              <a:t>Betruegerische Werbung verboten.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Social Media</a:t>
            </a:r>
            <a:br/>
            <a:r>
              <a:t>Plattformen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Verdienen Milliarden mit Polarisierung, Radikalisierung und Suchtverhalten.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77295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All das ist klassischen Medien verboten. Warum sollten wir es Social Media erlauben? Gleiche Spielregeln fuer alle.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 i="1">
                <a:solidFill>
                  <a:srgbClr val="000000"/>
                </a:solidFill>
                <a:latin typeface="Arial"/>
              </a:defRPr>
            </a:pPr>
            <a:r>
              <a:t>Counter-Narrativ: Die "Zensur"-Luege der FPOE.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i="0">
                <a:solidFill>
                  <a:srgbClr val="000000"/>
                </a:solidFill>
                <a:latin typeface="Arial"/>
              </a:defRPr>
            </a:pPr>
            <a:r>
              <a:t>Die FPOE ruft:</a:t>
            </a:r>
            <a:br/>
            <a:r>
              <a:t>Zensur!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i="0">
                <a:solidFill>
                  <a:srgbClr val="C8102E"/>
                </a:solidFill>
                <a:latin typeface="Arial"/>
              </a:defRPr>
            </a:pPr>
            <a:r>
              <a:t>Die strategische Antwort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Arial"/>
              </a:defRPr>
            </a:pPr>
            <a:r>
              <a:t>* Ich erinnere daran: Unter FPOE-Regierungsbeteiligung ist in Sachen Plattformregulierung nichts passiert. Null.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8346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Arial"/>
              </a:defRPr>
            </a:pPr>
            <a:r>
              <a:t>* Die rufen Zensur - und meinen: Keine Regeln fuer ihre Freunde in den Tech-Konzernen.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8404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Arial"/>
              </a:defRPr>
            </a:pPr>
            <a:r>
              <a:t>* Im Fernsehen gelten Regeln. Im Radio gelten Regeln. Warum soll ausgerechnet TikTok keine Regeln haben?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Das ist keine Zensur. Das ist Ordnung.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00000"/>
                </a:solidFill>
                <a:latin typeface="Arial"/>
              </a:defRPr>
            </a:pPr>
            <a:r>
              <a:t>Antworten auf kritische Fragen der Umsetzung.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8102E"/>
                </a:solidFill>
                <a:latin typeface="Arial"/>
              </a:defRPr>
            </a:pPr>
            <a:r>
              <a:t>Frage 1: Werden Kinder das Verbot nicht umgehen (VPN)?</a:t>
            </a:r>
          </a:p>
          <a:p>
            <a:pPr>
              <a:defRPr sz="1600" b="0" i="1">
                <a:solidFill>
                  <a:srgbClr val="333333"/>
                </a:solidFill>
                <a:latin typeface="Arial"/>
              </a:defRPr>
            </a:pPr>
            <a:r>
              <a:t>Natuerlich werden manche es versuchen. Wie beim Alkohol. Aber die klare Grenze wirkt - sie schafft Bewusstsein. Wer weiss, dass etwas potenziell schaedlich ist, geht anders damit 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1277295" cy="20116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8102E"/>
                </a:solidFill>
                <a:latin typeface="Arial"/>
              </a:defRPr>
            </a:pPr>
            <a:r>
              <a:t>Frage 2: Sehen Experten ein Grundrechtsproblem (Datenschutz)?</a:t>
            </a:r>
          </a:p>
          <a:p>
            <a:pPr>
              <a:defRPr sz="1600" b="0" i="1">
                <a:solidFill>
                  <a:srgbClr val="333333"/>
                </a:solidFill>
                <a:latin typeface="Arial"/>
              </a:defRPr>
            </a:pPr>
            <a:r>
              <a:t>Ein Eingriff ist zulaessig, wenn er verhaeltnismaessig ist. Alle Erkenntnisse zeigen: Der Schutzbedarf ist erheblich. Wir arbeiten daran, dass der Eingriff so gering wie moeglich ist - aber wirksam bleibt.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t>Wir warten nicht.</a:t>
            </a:r>
            <a:br/>
            <a:r>
              <a:t>Wir handeln.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E8E8E8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C8102E"/>
                </a:solidFill>
                <a:latin typeface="Arial"/>
              </a:defRPr>
            </a:pPr>
            <a:r>
              <a:t>Strategische Ambition</a:t>
            </a:r>
          </a:p>
          <a:p>
            <a:pPr>
              <a:defRPr sz="1400" b="0" i="0">
                <a:solidFill>
                  <a:srgbClr val="000000"/>
                </a:solidFill>
                <a:latin typeface="Arial"/>
              </a:defRPr>
            </a:pPr>
            <a:r>
              <a:t>Wenn Europa nicht schnell genug ist, gehen wir national voran.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7200" y="4114800"/>
            <a:ext cx="11277295" cy="45720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Bis Sommer</a:t>
            </a:r>
          </a:p>
          <a:p>
            <a:pPr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Vorlage des Gesetzesentwurfs (SOG). Diese Regierung schafft Ordnung im digitalen Raum.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754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2026</a:t>
            </a:r>
          </a:p>
          <a:p>
            <a:pPr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Implementierung der Massnahmen zur Medienkompetenz.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 i="0">
                <a:solidFill>
                  <a:srgbClr val="000000"/>
                </a:solidFill>
                <a:latin typeface="Arial"/>
              </a:defRPr>
            </a:pPr>
            <a:r>
              <a:t>Kommunikation auf einen Blick:</a:t>
            </a:r>
            <a:br/>
            <a:r>
              <a:t>Die 5 Kernbotschaften.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Cheat Sheet fuer Interviews und Pressetermine.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566160" cy="1828800"/>
          </a:xfrm>
          <a:prstGeom prst="roundRect">
            <a:avLst/>
          </a:prstGeom>
          <a:solidFill>
            <a:srgbClr val="E8E8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SOG Allgemein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333333"/>
                </a:solidFill>
                <a:latin typeface="Arial"/>
              </a:defRPr>
            </a:pPr>
            <a:r>
              <a:t>Diese Regierung schafft Ordnung im digitalen Raum.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566160" cy="1828800"/>
          </a:xfrm>
          <a:prstGeom prst="roundRect">
            <a:avLst/>
          </a:prstGeom>
          <a:solidFill>
            <a:srgbClr val="E8E8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Altersschutz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333333"/>
                </a:solidFill>
                <a:latin typeface="Arial"/>
              </a:defRPr>
            </a:pPr>
            <a:r>
              <a:t>Kinder schuetzen. So wie bei Filmen, so bei Social Media.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566160" cy="1828800"/>
          </a:xfrm>
          <a:prstGeom prst="roundRect">
            <a:avLst/>
          </a:prstGeom>
          <a:solidFill>
            <a:srgbClr val="E8E8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Plattformen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333333"/>
                </a:solidFill>
                <a:latin typeface="Arial"/>
              </a:defRPr>
            </a:pPr>
            <a:r>
              <a:t>Wer Reichweite hat, traegt Verantwortung.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566160" cy="1828800"/>
          </a:xfrm>
          <a:prstGeom prst="roundRect">
            <a:avLst/>
          </a:prstGeom>
          <a:solidFill>
            <a:srgbClr val="E8E8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Gegen FPOE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333333"/>
                </a:solidFill>
                <a:latin typeface="Arial"/>
              </a:defRPr>
            </a:pPr>
            <a:r>
              <a:t>Gleiche Spielregeln fuer alle Medien. Das ist keine Zensur - das ist Ordnung.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14800"/>
            <a:ext cx="3566160" cy="1828800"/>
          </a:xfrm>
          <a:prstGeom prst="roundRect">
            <a:avLst/>
          </a:prstGeom>
          <a:solidFill>
            <a:srgbClr val="E8E8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C8102E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Geschwindigkeit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333333"/>
                </a:solidFill>
                <a:latin typeface="Arial"/>
              </a:defRPr>
            </a:pPr>
            <a:r>
              <a:t>Wenn Europa nicht schnell genug ist, gehen wir voran.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