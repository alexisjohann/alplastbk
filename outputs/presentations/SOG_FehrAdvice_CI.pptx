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024079"/>
                </a:solidFill>
                <a:latin typeface="Roboto"/>
              </a:defRPr>
            </a:pPr>
            <a:r>
              <a:t>Ordnung im digitalen Raum:</a:t>
            </a:r>
          </a:p>
          <a:p>
            <a:pPr>
              <a:defRPr sz="4400" b="1" i="0">
                <a:solidFill>
                  <a:srgbClr val="024079"/>
                </a:solidFill>
                <a:latin typeface="Roboto"/>
              </a:defRPr>
            </a:pPr>
            <a:r>
              <a:t>Das Social Media Ordnungs-Gesetz (SOG)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 i="0">
                <a:solidFill>
                  <a:srgbClr val="25212A"/>
                </a:solidFill>
                <a:latin typeface="Open Sans"/>
              </a:defRPr>
            </a:pPr>
            <a:r>
              <a:t>Strategisches Briefing zur Kommunikationsoffensive.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 i="1">
                <a:solidFill>
                  <a:srgbClr val="25212A"/>
                </a:solidFill>
                <a:latin typeface="Open Sans"/>
              </a:defRPr>
            </a:pPr>
            <a:r>
              <a:t>[ Visualisierung: Chaos → Ordnung - Punkte die sich von chaotisch zu geordnet formieren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6126480"/>
            <a:ext cx="2560320" cy="4572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 i="0">
                <a:solidFill>
                  <a:srgbClr val="FFFFFF"/>
                </a:solidFill>
                <a:latin typeface="Open Sans"/>
              </a:defRPr>
            </a:pPr>
            <a:r>
              <a:t>Status: Strategisches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24079"/>
                </a:solidFill>
                <a:latin typeface="Roboto"/>
              </a:defRPr>
            </a:pPr>
            <a:r>
              <a:t>Management Summary: Wir schaffen</a:t>
            </a:r>
            <a:br/>
            <a:r>
              <a:t>Fairness und Verantwortung.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0" i="0">
                <a:solidFill>
                  <a:srgbClr val="024079"/>
                </a:solidFill>
                <a:latin typeface="Open Sans"/>
              </a:defRPr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Der digitale Raum ist im Vergleich zu analogen Medien (TV, Radio) weitgehend unreguliert.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KOMPLIKATION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0" i="0">
                <a:solidFill>
                  <a:srgbClr val="024079"/>
                </a:solidFill>
                <a:latin typeface="Open Sans"/>
              </a:defRPr>
            </a:pPr>
            <a: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1089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Dies gefährdet Kinder durch mangelnden Schutz und die Demokratie durch Desinformation und Polarisierung.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0" i="0">
                <a:solidFill>
                  <a:srgbClr val="024079"/>
                </a:solidFill>
                <a:latin typeface="Open Sans"/>
              </a:defRPr>
            </a:pPr>
            <a: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1089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Das SOG (Social Media Ordnungs-Gesetz). Kein Verbot, sondern die Einführung von fairen Spielregeln, wie sie offline längst gelten.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1">
                <a:solidFill>
                  <a:srgbClr val="024079"/>
                </a:solidFill>
                <a:latin typeface="Open Sans"/>
              </a:defRPr>
            </a:pPr>
            <a:r>
              <a:t>«Diese Regierung schafft Ordnung. Wer Reichweite hat, trägt Verantwortung.»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24079"/>
                </a:solidFill>
                <a:latin typeface="Roboto"/>
              </a:defRPr>
            </a:pPr>
            <a:r>
              <a:t>Der strategische Rahmen: Von «Verbot» zu «Ordnung».</a:t>
            </a:r>
          </a:p>
          <a:p>
            <a:pPr>
              <a:defRPr sz="2400" b="0" i="1">
                <a:solidFill>
                  <a:srgbClr val="25212A"/>
                </a:solidFill>
                <a:latin typeface="Open Sans"/>
              </a:defRPr>
            </a:pPr>
            <a:r>
              <a:t>Wir verlassen die Defensive und argumentieren staatstragend.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i="0">
                <a:solidFill>
                  <a:srgbClr val="25212A"/>
                </a:solidFill>
                <a:latin typeface="Roboto"/>
              </a:defRPr>
            </a:pPr>
            <a:r>
              <a:t>NICHT MEHR SAGEN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25212A"/>
                </a:solidFill>
                <a:latin typeface="Open Sans"/>
              </a:defRPr>
            </a:pPr>
            <a:r>
              <a:t>—Verbot / Einschränkung—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25212A"/>
                </a:solidFill>
                <a:latin typeface="Open Sans"/>
              </a:defRPr>
            </a:pPr>
            <a:r>
              <a:t>—Ich / Mein Ministerium—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25212A"/>
                </a:solidFill>
                <a:latin typeface="Open Sans"/>
              </a:defRPr>
            </a:pPr>
            <a:r>
              <a:t>—Strafen—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 i="0">
                <a:solidFill>
                  <a:srgbClr val="25212A"/>
                </a:solidFill>
                <a:latin typeface="Open Sans"/>
              </a:defRPr>
            </a:pPr>
            <a:r>
              <a:t>—Defensive Erklärungen—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NEU: STRATEGISCHE TONALITÄT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Open Sans"/>
              </a:defRPr>
            </a:pPr>
            <a:r>
              <a:t>→ Ordnung / Regeln / Schutz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Open Sans"/>
              </a:defRPr>
            </a:pPr>
            <a:r>
              <a:t>→ Diese Regierung / Wir als Regierung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Open Sans"/>
              </a:defRPr>
            </a:pPr>
            <a:r>
              <a:t>→ Verantwortung einfordern / Konsequenzen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Open Sans"/>
              </a:defRPr>
            </a:pPr>
            <a:r>
              <a:t>→ Gleiche Spielregeln für 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24079"/>
                </a:solidFill>
                <a:latin typeface="Roboto"/>
              </a:defRPr>
            </a:pPr>
            <a:r>
              <a:t>Wir rechtfertigen uns nicht für Regeln. Wir schaffen sie.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24079"/>
                </a:solidFill>
                <a:latin typeface="Roboto"/>
              </a:defRPr>
            </a:pPr>
            <a:r>
              <a:t>Vier Säulen für die digitale Souveränität.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 i="0">
                <a:solidFill>
                  <a:srgbClr val="FFFFFF"/>
                </a:solidFill>
                <a:latin typeface="Open Sans"/>
              </a:defRPr>
            </a:pPr>
            <a:r>
              <a:t>🛡️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2651760" cy="2286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Altersgerechter</a:t>
            </a:r>
            <a:br/>
            <a:r>
              <a:t>Zugang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Schutz für Kinder und Jugendliche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45920"/>
            <a:ext cx="2651760" cy="13716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 i="0">
                <a:solidFill>
                  <a:srgbClr val="FFFFFF"/>
                </a:solidFill>
                <a:latin typeface="Open Sans"/>
              </a:defRPr>
            </a:pPr>
            <a:r>
              <a:t>⚖️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017520"/>
            <a:ext cx="2651760" cy="2286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Plattform-</a:t>
            </a:r>
            <a:br/>
            <a:r>
              <a:t>Haftung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Wer verdient, haftet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2651760" cy="13716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 i="0">
                <a:solidFill>
                  <a:srgbClr val="FFFFFF"/>
                </a:solidFill>
                <a:latin typeface="Open Sans"/>
              </a:defRPr>
            </a:pPr>
            <a:r>
              <a:t>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17520"/>
            <a:ext cx="2651760" cy="2286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Medien-</a:t>
            </a:r>
            <a:br/>
            <a:r>
              <a:t>kompetenz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Demokratie braucht mündige Bürger:innen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2651760" cy="13716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 i="0">
                <a:solidFill>
                  <a:srgbClr val="FFFFFF"/>
                </a:solidFill>
                <a:latin typeface="Open Sans"/>
              </a:defRPr>
            </a:pPr>
            <a:r>
              <a:t>👁️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017520"/>
            <a:ext cx="2651760" cy="22860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Transparenz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Gleiche Spielregeln für alle Medien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24079"/>
                </a:solidFill>
                <a:latin typeface="Roboto"/>
              </a:defRPr>
            </a:pPr>
            <a:r>
              <a:t>Säule 1: Konsequenter Schutz für unsere Kinder.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1">
                <a:solidFill>
                  <a:srgbClr val="024079"/>
                </a:solidFill>
                <a:latin typeface="Roboto"/>
              </a:defRPr>
            </a:pPr>
            <a:r>
              <a:t>«Unter 15 Jahren brauchen Kinder Schutz. Das ist konsequenter Jugendschutz – so wie bei Filmen, so wie bei Alkohol.»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25212A"/>
                </a:solidFill>
                <a:latin typeface="Open Sans"/>
              </a:defRPr>
            </a:pPr>
            <a:r>
              <a:t>15+ = Kein Alkohol unter 15 = Schutz auf Social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114800"/>
            <a:ext cx="5029200" cy="164592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4206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Strategischer Standpunkt:</a:t>
            </a:r>
          </a:p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Wenn Europa nicht schnell genug ist, gehen wir national voran. Das ist Ordnung schaffen. Nicht zusehen.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24079"/>
                </a:solidFill>
                <a:latin typeface="Roboto"/>
              </a:defRPr>
            </a:pPr>
            <a:r>
              <a:t>Säule 2: Verantwortung und Haftung.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24079"/>
                </a:solidFill>
                <a:latin typeface="Roboto"/>
              </a:defRPr>
            </a:pPr>
            <a:r>
              <a:t>Wer Reichweite hat, trägt Verantwortung.</a:t>
            </a:r>
            <a:br/>
            <a:r>
              <a:t>Wer verdient, haftet.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 i="1">
                <a:solidFill>
                  <a:srgbClr val="25212A"/>
                </a:solidFill>
                <a:latin typeface="Open Sans"/>
              </a:defRPr>
            </a:pPr>
            <a:r>
              <a:t>[ Visualisierung: Waage mit «Gewinn» vs «Haftung (DSA Rules)»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Der Mechanismus</a:t>
            </a:r>
          </a:p>
          <a:p>
            <a:pPr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Der DSA (Digital Services Act) gibt den Rahmen. Strafen bis zu 6% des Jahresumsatzes.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Das Framing</a:t>
            </a:r>
          </a:p>
          <a:p>
            <a:pPr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Im Fernsehen und Radio gelten Regeln. Das muss auch für Social Media gelten. Gleiche Spielregeln für alle Medien sind keine Einschränkung – das ist Fairness.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24079"/>
                </a:solidFill>
                <a:latin typeface="Roboto"/>
              </a:defRPr>
            </a:pPr>
            <a:r>
              <a:t>Säule 3: Medienkompetenz ist Demokratiepolitik.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25212A"/>
                </a:solidFill>
                <a:latin typeface="Open Sans"/>
              </a:defRPr>
            </a:pPr>
            <a:r>
              <a:t>Kontext: Junge Menschen informieren sich über Plattformen. Dort verschwimmen Journalismus und Desinformation.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303520" cy="137160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Ziel: Demokratie braucht mündige Bürger:innen, die Quellen bewerten können.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 i="0">
                <a:solidFill>
                  <a:srgbClr val="024079"/>
                </a:solidFill>
                <a:latin typeface="Roboto"/>
              </a:defRPr>
            </a:pPr>
            <a:r>
              <a:t>Diese Regierung wird nicht nur darüber reden.</a:t>
            </a:r>
            <a:br/>
            <a:r>
              <a:t>Wir bauen die Struktur auf.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14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24079"/>
                </a:solidFill>
                <a:latin typeface="Roboto"/>
              </a:defRPr>
            </a:pPr>
            <a:r>
              <a:t>Start der Massnahmen:</a:t>
            </a:r>
            <a:br/>
            <a:r>
              <a:t>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024079"/>
                </a:solidFill>
                <a:latin typeface="Roboto"/>
              </a:defRPr>
            </a:pPr>
            <a:r>
              <a:t>Säule 4: Transparenz und Algorithmen.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 i="0">
                <a:solidFill>
                  <a:srgbClr val="25212A"/>
                </a:solidFill>
                <a:latin typeface="Open Sans"/>
              </a:defRPr>
            </a:pPr>
            <a:r>
              <a:t>Keine Sonderrechte für Big Tech.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Traditionelle Medien</a:t>
            </a:r>
            <a:br/>
            <a:r>
              <a:t>(TV/Print)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5212A"/>
                </a:solidFill>
                <a:latin typeface="Open Sans"/>
              </a:defRPr>
            </a:pPr>
            <a:r>
              <a:t>Fake News verboten.</a:t>
            </a:r>
            <a:br/>
            <a:r>
              <a:t>Betrügerische Werbung verboten.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Social Media</a:t>
            </a:r>
            <a:br/>
            <a:r>
              <a:t>Plattformen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5212A"/>
                </a:solidFill>
                <a:latin typeface="Open Sans"/>
              </a:defRPr>
            </a:pPr>
            <a:r>
              <a:t>Verdienen Milliarden mit Polarisierung, Radikalisierung und Suchtverhalten. ⚠️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77295" cy="109728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Roboto"/>
              </a:defRPr>
            </a:pPr>
            <a:r>
              <a:t>All das ist klassischen Medien verboten. Warum sollten wir es Social Media erlauben? Gleiche Spielregeln für alle.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 i="1">
                <a:solidFill>
                  <a:srgbClr val="024079"/>
                </a:solidFill>
                <a:latin typeface="Roboto"/>
              </a:defRPr>
            </a:pPr>
            <a:r>
              <a:t>Counter-Narrativ: Die «Zensur»-Lüge der FPÖ.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Die FPÖ ruft:</a:t>
            </a:r>
            <a:br/>
            <a:r>
              <a:t>Zensur!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i="0">
                <a:solidFill>
                  <a:srgbClr val="024079"/>
                </a:solidFill>
                <a:latin typeface="Roboto"/>
              </a:defRPr>
            </a:pPr>
            <a:r>
              <a:t>Die strategische Antwort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● Ich erinnere daran: Unter FPÖ-Regierungsbeteiligung ist in Sachen Plattformregulierung nichts passiert. Null.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8346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● Die rufen ‚Zensur' – und meinen: Keine Regeln für ihre Freunde in den Tech-Konzernen.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8404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● Im Fernsehen gelten Regeln. Im Radio gelten Regeln. Warum soll ausgerechnet TikTok keine Regeln haben?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Das ist keine Zensur. Das ist Ordnung.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024079"/>
                </a:solidFill>
                <a:latin typeface="Roboto"/>
              </a:defRPr>
            </a:pPr>
            <a:r>
              <a:t>Antworten auf kritische Fragen der Umsetzung.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Frage 1: Werden Kinder das Verbot nicht umgehen (VPN)?</a:t>
            </a:r>
          </a:p>
          <a:p>
            <a:pPr>
              <a:defRPr sz="1600" b="0" i="1">
                <a:solidFill>
                  <a:srgbClr val="25212A"/>
                </a:solidFill>
                <a:latin typeface="Open Sans"/>
              </a:defRPr>
            </a:pPr>
            <a:r>
              <a:t>«Natürlich werden manche es versuchen. Wie beim Alkohol. Aber die klare Grenze wirkt – sie schafft Bewusstsein. Wer weiss, dass etwas potenziell schädlich ist, geht anders damit um.»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1277295" cy="201168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Frage 2: Sehen Experten ein Grundrechtsproblem (Datenschutz)?</a:t>
            </a:r>
          </a:p>
          <a:p>
            <a:pPr>
              <a:defRPr sz="1600" b="0" i="1">
                <a:solidFill>
                  <a:srgbClr val="25212A"/>
                </a:solidFill>
                <a:latin typeface="Open Sans"/>
              </a:defRPr>
            </a:pPr>
            <a:r>
              <a:t>«Ein Eingriff ist zulässig, wenn er verhältnismässig ist. Alle Erkenntnisse zeigen: Der Schutzbedarf ist erheblich. Wir arbeiten daran, dass der Eingriff so gering wie möglich ist – aber wirksam bleibt.»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 i="0">
                <a:solidFill>
                  <a:srgbClr val="024079"/>
                </a:solidFill>
                <a:latin typeface="Roboto"/>
              </a:defRPr>
            </a:pPr>
            <a:r>
              <a:t>Wir warten nicht.</a:t>
            </a:r>
            <a:br/>
            <a:r>
              <a:t>Wir handeln.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F3F5F7"/>
          </a:solidFill>
          <a:ln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24079"/>
                </a:solidFill>
                <a:latin typeface="Roboto"/>
              </a:defRPr>
            </a:pPr>
            <a:r>
              <a:t>Strategische Ambition</a:t>
            </a:r>
          </a:p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Wenn Europa nicht schnell genug ist, gehen wir national voran.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7200" y="4114800"/>
            <a:ext cx="11277295" cy="457200"/>
          </a:xfrm>
          <a:prstGeom prst="rightArrow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Bis Sommer</a:t>
            </a:r>
          </a:p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Vorlage des Gesetzesentwurfs (SOG). Diese Regierung schafft Ordnung im digitalen Raum.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754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24079"/>
                </a:solidFill>
                <a:latin typeface="Roboto"/>
              </a:defRPr>
            </a:pPr>
            <a:r>
              <a:t>2026</a:t>
            </a:r>
          </a:p>
          <a:p>
            <a:pPr>
              <a:defRPr sz="1400" b="0" i="0">
                <a:solidFill>
                  <a:srgbClr val="25212A"/>
                </a:solidFill>
                <a:latin typeface="Open Sans"/>
              </a:defRPr>
            </a:pPr>
            <a:r>
              <a:t>Implementierung der Massnahmen zur Medienkompetenz.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 i="0">
                <a:solidFill>
                  <a:srgbClr val="024079"/>
                </a:solidFill>
                <a:latin typeface="Roboto"/>
              </a:defRPr>
            </a:pPr>
            <a:r>
              <a:t>Kommunikation auf einen Blick:</a:t>
            </a:r>
            <a:br/>
            <a:r>
              <a:t>Die 5 Kernbotschaften.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0">
                <a:solidFill>
                  <a:srgbClr val="25212A"/>
                </a:solidFill>
                <a:latin typeface="Open Sans"/>
              </a:defRPr>
            </a:pPr>
            <a:r>
              <a:t>Cheat Sheet für Interviews und Pressetermine.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56616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SOG Allgemein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25212A"/>
                </a:solidFill>
                <a:latin typeface="Open Sans"/>
              </a:defRPr>
            </a:pPr>
            <a:r>
              <a:t>«Diese Regierung schafft Ordnung im digitalen Raum.»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56616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Altersschutz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25212A"/>
                </a:solidFill>
                <a:latin typeface="Open Sans"/>
              </a:defRPr>
            </a:pPr>
            <a:r>
              <a:t>«Kinder schützen. So wie bei Filmen, so bei Social Media.»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56616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Plattformen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25212A"/>
                </a:solidFill>
                <a:latin typeface="Open Sans"/>
              </a:defRPr>
            </a:pPr>
            <a:r>
              <a:t>«Wer Reichweite hat, trägt Verantwortung.»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56616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Gegen FPÖ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25212A"/>
                </a:solidFill>
                <a:latin typeface="Open Sans"/>
              </a:defRPr>
            </a:pPr>
            <a:r>
              <a:t>«Gleiche Spielregeln für alle Medien. Das ist keine Zensur – das ist Ordnung.»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14800"/>
            <a:ext cx="356616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25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024079"/>
                </a:solidFill>
                <a:latin typeface="Roboto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0">
                <a:solidFill>
                  <a:srgbClr val="024079"/>
                </a:solidFill>
                <a:latin typeface="Roboto"/>
              </a:defRPr>
            </a:pPr>
            <a:r>
              <a:t>Geschwindigkeit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25212A"/>
                </a:solidFill>
                <a:latin typeface="Open Sans"/>
              </a:defRPr>
            </a:pPr>
            <a:r>
              <a:t>«Wenn Europa nicht schnell genug ist, gehen wir voran.»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25212A"/>
                </a:solidFill>
                <a:latin typeface="Open San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