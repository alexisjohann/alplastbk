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3" Type="http://schemas.openxmlformats.org/officeDocument/2006/relationships/viewProps" Target="viewProps.xml" /><Relationship Id="rId3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5" Type="http://schemas.openxmlformats.org/officeDocument/2006/relationships/tableStyles" Target="tableStyles.xml" /><Relationship Id="rId3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Verstehen Menschen Interdependenzen?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Eine verhaltensökonomische Analyse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Session:</a:t>
            </a:r>
            <a:r>
              <a:rPr/>
              <a:t> EBF-S-2026-01-26-COG-001 </a:t>
            </a:r>
            <a:r>
              <a:rPr b="1"/>
              <a:t>Fragesteller:</a:t>
            </a:r>
            <a:r>
              <a:rPr/>
              <a:t> Johannes Luger </a:t>
            </a:r>
            <a:r>
              <a:rPr b="1"/>
              <a:t>Datum:</a:t>
            </a:r>
            <a:r>
              <a:rPr/>
              <a:t> 26. Januar 2026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FehrAdvice &amp; Partners AG</a:t>
            </a:r>
            <a:r>
              <a:rPr/>
              <a:t> </a:t>
            </a:r>
            <a:r>
              <a:rPr i="1"/>
              <a:t>Evidence-Based Framework (EBF)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Kernbefund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Menschen verstehen Interdependenzen nur unter sehr engen Bedingungen.</a:t>
            </a:r>
          </a:p>
          <a:p>
            <a:pPr lvl="0" indent="0" marL="0">
              <a:buNone/>
            </a:p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Wert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Median strategisches Denken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1.5 Levels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Anteil mit max. 1 Schritt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Haupttreiber für Scheitern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Komplexität (42%)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Konfidenz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85%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Implikation:</a:t>
            </a:r>
            <a:r>
              <a:rPr/>
              <a:t> Bei Interventionsdesign NIEMALS davon ausgehen, dass Menschen Interdependenzen verstehen.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Die Frage: Drei Lesarten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Lesart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Antwort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L1: Kognitiv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Können Menschen komplexe Systeme mental simulieren?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NEIN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L2: Strategisch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Antizipieren Menschen die Reaktionen anderer?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BEGRENZT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L3: Systemisch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Verstehen Menschen Feedback-Loops?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KAUM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Relevante Dimensionen (10C Framework)</a:t>
            </a:r>
          </a:p>
          <a:p>
            <a:pPr lvl="0"/>
            <a:r>
              <a:rPr b="1"/>
              <a:t>AWARE:</a:t>
            </a:r>
            <a:r>
              <a:rPr/>
              <a:t> Bewusstsein für Interdependenz</a:t>
            </a:r>
          </a:p>
          <a:p>
            <a:pPr lvl="0"/>
            <a:r>
              <a:rPr b="1"/>
              <a:t>HOW:</a:t>
            </a:r>
            <a:r>
              <a:rPr/>
              <a:t> Verarbeitung von Komplementarität</a:t>
            </a:r>
          </a:p>
          <a:p>
            <a:pPr lvl="0"/>
            <a:r>
              <a:rPr b="1"/>
              <a:t>HIERARCHY:</a:t>
            </a:r>
            <a:r>
              <a:rPr/>
              <a:t> Kognitive Tiefe (Level-k)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Modell: Interdependenz-Verständnis (IDV-2.0)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Formel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V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κ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m:t>⋅</m:t>
                              </m:r>
                              <m:r>
                                <m:t>E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⋅</m:t>
                          </m:r>
                          <m:r>
                            <m:t>ψ</m:t>
                          </m:r>
                          <m:r>
                            <m:rPr>
                              <m:sty m:val="p"/>
                            </m:rPr>
                            <m:t>⋅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μ</m:t>
                              </m:r>
                              <m:r>
                                <m:rPr>
                                  <m:sty m:val="p"/>
                                </m:rPr>
                                <m:t>⋅</m:t>
                              </m:r>
                              <m:r>
                                <m:t>S</m:t>
                              </m:r>
                            </m:e>
                          </m:d>
                        </m:num>
                        <m:den>
                          <m:sSup>
                            <m:e>
                              <m:r>
                                <m:t>n</m:t>
                              </m:r>
                            </m:e>
                            <m:sup>
                              <m:sSub>
                                <m:e>
                                  <m:r>
                                    <m:t>α</m:t>
                                  </m:r>
                                </m:e>
                                <m:sub>
                                  <m:r>
                                    <m:t>d</m:t>
                                  </m:r>
                                </m:sub>
                              </m:sSub>
                            </m:sup>
                          </m:sSup>
                          <m:r>
                            <m:rPr>
                              <m:sty m:val="p"/>
                            </m:rPr>
                            <m:t>⋅</m:t>
                          </m:r>
                          <m:sSup>
                            <m:e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m:t>+</m:t>
                                  </m:r>
                                  <m:r>
                                    <m:t>τ</m:t>
                                  </m:r>
                                </m:e>
                              </m:d>
                            </m:e>
                            <m:sup>
                              <m:sSub>
                                <m:e>
                                  <m:r>
                                    <m:t>β</m:t>
                                  </m:r>
                                </m:e>
                                <m:sub>
                                  <m:r>
                                    <m:t>d</m:t>
                                  </m:r>
                                </m:sub>
                              </m:sSub>
                            </m:sup>
                          </m:sSup>
                          <m:r>
                            <m:rPr>
                              <m:sty m:val="p"/>
                            </m:rPr>
                            <m:t>⋅</m:t>
                          </m:r>
                          <m:sSup>
                            <m:e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m:t>+</m:t>
                                  </m:r>
                                  <m:r>
                                    <m:t>σ</m:t>
                                  </m:r>
                                </m:e>
                              </m:d>
                            </m:e>
                            <m:sup>
                              <m:sSub>
                                <m:e>
                                  <m:r>
                                    <m:t>γ</m:t>
                                  </m:r>
                                </m:e>
                                <m:sub>
                                  <m:r>
                                    <m:t>d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Bedeutung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Effekt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Systemkomplexität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↑n → ↓V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Zeit-Delay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↑τ → ↓V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Soziale Distanz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↑σ → ↓V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Feedback-Sichtbarkeit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↑ψ → ↑V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λ·E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Lernen durch Erfahrung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↑E → ↑V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Basis: Camerer et al. (2004), Kahneman (2011), Simon (1955)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Cognitive Hierarchy: Wie weit denken Menschen?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latin typeface="Courier"/>
              </a:rPr>
              <a:t>Level-0 (21%):  ████████████████████░░░░░░░░░░░░░░░░░░░░  Keine Überlegung
Level-1 (49%):  ████████████████████████████████████████  "Was machen die anderen?"
Level-2 (24%):  ████████████████████████░░░░░░░░░░░░░░░░  "Was denken die, was ich denke?"
Level-3+ (6%):  ██████░░░░░░░░░░░░░░░░░░░░░░░░░░░░░░░░░░  Tiefe Rekursion (selten!)</a:t>
            </a:r>
          </a:p>
          <a:p>
            <a:pPr lvl="0" indent="0" marL="0">
              <a:buNone/>
            </a:pP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Kernbefund</a:t>
            </a:r>
          </a:p>
          <a:p>
            <a:pPr lvl="0"/>
            <a:r>
              <a:rPr b="1"/>
              <a:t>Median: 1.47 Levels</a:t>
            </a:r>
            <a:r>
              <a:rPr/>
              <a:t> (±0.25)</a:t>
            </a:r>
          </a:p>
          <a:p>
            <a:pPr lvl="0"/>
            <a:r>
              <a:rPr b="1"/>
              <a:t>70%</a:t>
            </a:r>
            <a:r>
              <a:rPr/>
              <a:t> der Menschen denken maximal 1 Schritt voraus</a:t>
            </a:r>
          </a:p>
          <a:p>
            <a:pPr lvl="0"/>
            <a:r>
              <a:rPr b="1"/>
              <a:t>Nash-Equilibrium</a:t>
            </a:r>
            <a:r>
              <a:rPr/>
              <a:t> (∞ Schritte) erreicht fast niemand</a:t>
            </a:r>
          </a:p>
          <a:p>
            <a:pPr lvl="0" indent="0" marL="0">
              <a:buNone/>
            </a:pPr>
            <a:r>
              <a:rPr/>
              <a:t>Quelle: Camerer, Ho, Chong (2004), Quarterly Journal of Economics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Verständnis nach Situation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0"/>
                <a:gridCol w="850900"/>
                <a:gridCol w="850900"/>
                <a:gridCol w="850900"/>
                <a:gridCol w="850900"/>
                <a:gridCol w="850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Situation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Bewertung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Verhandlung 1:1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Gut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Teamarbeit (5P)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Mässig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Markt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Schlecht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Klimawandel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❌❌ Minimal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Rentensystem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❌❌ Minimal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Erkenntnis</a:t>
            </a:r>
          </a:p>
          <a:p>
            <a:pPr lvl="0" indent="0" marL="1270000">
              <a:buNone/>
            </a:pPr>
            <a:r>
              <a:rPr sz="2000"/>
              <a:t>Bei </a:t>
            </a:r>
            <a:r>
              <a:rPr sz="2000" b="1"/>
              <a:t>n &gt; 10 Elementen</a:t>
            </a:r>
            <a:r>
              <a:rPr sz="2000"/>
              <a:t> fällt das Verständnis unter 25% – unabhängig von Intelligenz oder Motivation.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Was treibt (mangelndes) Verständnis?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latin typeface="Courier"/>
              </a:rPr>
              <a:t>Komplexität (n)     ████████████████████████████████████████████  42%  ← DOMINANT
Zeit-Delay (τ)      ████████████████████████████░░░░░░░░░░░░░░░░  28%
Feedback (ψ)        ██████████████████░░░░░░░░░░░░░░░░░░░░░░░░░░  18%
Soz. Distanz (σ)    ████████░░░░░░░░░░░░░░░░░░░░░░░░░░░░░░░░░░░░   8%
Kapazität (κ)       ████░░░░░░░░░░░░░░░░░░░░░░░░░░░░░░░░░░░░░░░░   4%</a:t>
            </a:r>
          </a:p>
          <a:p>
            <a:pPr lvl="0" indent="0" marL="0">
              <a:buNone/>
            </a:pP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Haupterkenntnis</a:t>
            </a:r>
          </a:p>
          <a:p>
            <a:pPr lvl="0" indent="0" marL="0">
              <a:buNone/>
            </a:pPr>
            <a:r>
              <a:rPr b="1"/>
              <a:t>Komplexität dominiert alles.</a:t>
            </a:r>
          </a:p>
          <a:p>
            <a:pPr lvl="0" indent="0" marL="0">
              <a:buNone/>
            </a:pPr>
            <a:r>
              <a:rPr/>
              <a:t>Selbst mit perfektem Feedback (ψ=1), hoher Motivation (μ·S=1) und viel Erfahrung: - Bei </a:t>
            </a:r>
            <a:r>
              <a:rPr b="1"/>
              <a:t>n &gt; 10:</a:t>
            </a:r>
            <a:r>
              <a:rPr/>
              <a:t> V &lt; 0.25 - Bei </a:t>
            </a:r>
            <a:r>
              <a:rPr b="1"/>
              <a:t>n &gt; 50:</a:t>
            </a:r>
            <a:r>
              <a:rPr/>
              <a:t> V &lt; 0.10</a:t>
            </a:r>
          </a:p>
          <a:p>
            <a:pPr lvl="0" indent="0" marL="0">
              <a:buNone/>
            </a:pPr>
            <a:r>
              <a:rPr b="1"/>
              <a:t>→ Kognitive Kapazität ist NICHT der Engpass!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Schlussfolgerungen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Wann Menschen Interdependenzen verstehen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2-3 Akteure (n ≤ 3)</a:t>
            </a:r>
          </a:p>
          <a:p>
            <a:pPr lvl="0"/>
            <a:r>
              <a:rPr/>
              <a:t>Sofortiges Feedback (τ ≈ 0)</a:t>
            </a:r>
          </a:p>
          <a:p>
            <a:pPr lvl="0"/>
            <a:r>
              <a:rPr/>
              <a:t>Konkrete, nahe Andere (σ niedrig)</a:t>
            </a:r>
          </a:p>
          <a:p>
            <a:pPr lvl="0"/>
            <a:r>
              <a:rPr/>
              <a:t>Wiederholte Erfahrung (E hoch)</a:t>
            </a:r>
          </a:p>
          <a:p>
            <a:pPr lvl="0" indent="0" marL="0">
              <a:buNone/>
            </a:pP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Wann Menschen scheitern 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Viele Akteure (Märkte, Gesellschaft, Ökosysteme)</a:t>
            </a:r>
          </a:p>
          <a:p>
            <a:pPr lvl="0"/>
            <a:r>
              <a:rPr/>
              <a:t>Verzögerte Effekte (Klima, Rente, Gesundheit)</a:t>
            </a:r>
          </a:p>
          <a:p>
            <a:pPr lvl="0"/>
            <a:r>
              <a:rPr/>
              <a:t>Abstrakte Andere («zukünftige Generationen»)</a:t>
            </a:r>
          </a:p>
          <a:p>
            <a:pPr lvl="0"/>
            <a:r>
              <a:rPr/>
              <a:t>Verstecktes Feedback (keine sichtbaren Konsequenzen)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Praktische Implikationen für Interventionsdesign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 4 Hebel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Massnahme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Effekt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Komplexität 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Weniger Optionen, klare Pfade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n↓ → V↑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Feedback 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Sofortige Konsequenz-Anzeige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ψ↑ → V↑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Delays überbrücken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Future Self salient machen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τ_eff↓ → V↑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Abstrakte konkretisieren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«Dein Nachbar» statt «die Welt»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σ↓ → V↑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Goldene Regel</a:t>
            </a:r>
          </a:p>
          <a:p>
            <a:pPr lvl="0" indent="0" marL="1270000">
              <a:buNone/>
            </a:pPr>
            <a:r>
              <a:rPr sz="2000" b="1"/>
              <a:t>NIEMALS</a:t>
            </a:r>
            <a:r>
              <a:rPr sz="2000"/>
              <a:t> davon ausgehen, dass Menschen Interdependenzen verstehen. </a:t>
            </a:r>
            <a:r>
              <a:rPr sz="2000" b="1"/>
              <a:t>IMMER</a:t>
            </a:r>
            <a:r>
              <a:rPr sz="2000"/>
              <a:t> das System für sie vereinfachen.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Quellen &amp; Kontakt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Wissenschaftliche Basis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Camerer, Ho, Chong (2004): </a:t>
            </a:r>
            <a:r>
              <a:rPr i="1"/>
              <a:t>Cognitive Hierarchy Model</a:t>
            </a:r>
            <a:r>
              <a:rPr/>
              <a:t>, QJE</a:t>
            </a:r>
          </a:p>
          <a:p>
            <a:pPr lvl="0"/>
            <a:r>
              <a:rPr/>
              <a:t>Crawford, Costa-Gomes, Iriberri (2013): </a:t>
            </a:r>
            <a:r>
              <a:rPr i="1"/>
              <a:t>Structural Models of Strategic Thinking</a:t>
            </a:r>
            <a:r>
              <a:rPr/>
              <a:t>, JEL</a:t>
            </a:r>
          </a:p>
          <a:p>
            <a:pPr lvl="0"/>
            <a:r>
              <a:rPr/>
              <a:t>Kahneman (2011): </a:t>
            </a:r>
            <a:r>
              <a:rPr i="1"/>
              <a:t>Thinking, Fast and Slow</a:t>
            </a:r>
          </a:p>
          <a:p>
            <a:pPr lvl="0"/>
            <a:r>
              <a:rPr/>
              <a:t>Simon (1955): </a:t>
            </a:r>
            <a:r>
              <a:rPr i="1"/>
              <a:t>A Behavioral Model of Rational Choice</a:t>
            </a:r>
            <a:r>
              <a:rPr/>
              <a:t>, QJE</a:t>
            </a:r>
          </a:p>
          <a:p>
            <a:pPr lvl="0" indent="0" marL="0">
              <a:buNone/>
            </a:pP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Kontakt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FehrAdvice &amp; Partners AG</a:t>
            </a:r>
            <a:r>
              <a:rPr/>
              <a:t> Klausstrasse 20, 8008 Zürich</a:t>
            </a:r>
          </a:p>
          <a:p>
            <a:pPr lvl="0" indent="0" marL="0">
              <a:buNone/>
            </a:pPr>
            <a:r>
              <a:rPr b="1"/>
              <a:t>Evidence-Based Framework (EBF)</a:t>
            </a:r>
            <a:r>
              <a:rPr/>
              <a:t> Session-ID: EBF-S-2026-01-26-COG-001 Modell-ID: EBF-MOD-IDV-001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Backup: Domain-spezifische Parameter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α (Komplexität)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β (Zeit)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γ (Distanz)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Beschreibung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Soziale Interdependenz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ECO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Ökonomische Märkte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ENV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Umwelt/Klima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TEC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Technische Systeme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Interpretation</a:t>
            </a:r>
          </a:p>
          <a:p>
            <a:pPr lvl="0"/>
            <a:r>
              <a:rPr b="1"/>
              <a:t>Höheres α:</a:t>
            </a:r>
            <a:r>
              <a:rPr/>
              <a:t> Komplexität schadet mehr</a:t>
            </a:r>
          </a:p>
          <a:p>
            <a:pPr lvl="0"/>
            <a:r>
              <a:rPr b="1"/>
              <a:t>Höheres β:</a:t>
            </a:r>
            <a:r>
              <a:rPr/>
              <a:t> Zeit-Delays schaden mehr</a:t>
            </a:r>
          </a:p>
          <a:p>
            <a:pPr lvl="0"/>
            <a:r>
              <a:rPr b="1"/>
              <a:t>Höheres γ:</a:t>
            </a:r>
            <a:r>
              <a:rPr/>
              <a:t> Soziale Distanz schadet mehr</a:t>
            </a:r>
          </a:p>
          <a:p>
            <a:pPr lvl="0" indent="0" marL="0">
              <a:buNone/>
            </a:pPr>
            <a:r>
              <a:rPr b="1"/>
              <a:t>→ ENV (Klima) ist die schwierigste Domain für menschliches Verständnis.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2026-01-26T16:49:35Z</dcterms:created>
  <dcterms:modified xsi:type="dcterms:W3CDTF">2026-01-26T16:49:35Z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ackgroundColor">
    <vt:lpwstr/>
  </property>
  <property fmtid="{D5CDD505-2E9C-101B-9397-08002B2CF9AE}" pid="3" name="marp">
    <vt:lpwstr>True</vt:lpwstr>
  </property>
  <property fmtid="{D5CDD505-2E9C-101B-9397-08002B2CF9AE}" pid="4" name="paginate">
    <vt:lpwstr>True</vt:lpwstr>
  </property>
  <property fmtid="{D5CDD505-2E9C-101B-9397-08002B2CF9AE}" pid="5" name="style">
    <vt:lpwstr>:root { –fa-darkblue: #024079; –fa-lightblue: #549EDE; –fa-darkgray: #25212A; –fa-lightgray: #F3F5F7; } section { font-family: ‘Open Sans’, sans-serif; color: #25212A; } h1, h2 { font-family: ‘Roboto’, sans-serif; font-weight: bold; color: #024079; } h3, h4 { font-family: ‘Roboto’, sans-serif; font-weight: normal; color: #024079; } table { font-size: 0.85em; } th { background-color: #024079; color: white; } tr:nth-child(even) { background-color: #F3F5F7; } .highlight { color: #549EDE; font-weight: bold; } .source { font-size: 0.6em; color: #888; position: absolute; bottom: 20px; }</vt:lpwstr>
  </property>
  <property fmtid="{D5CDD505-2E9C-101B-9397-08002B2CF9AE}" pid="6" name="theme">
    <vt:lpwstr>default</vt:lpwstr>
  </property>
</Properties>
</file>