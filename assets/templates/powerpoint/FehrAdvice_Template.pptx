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37160" cy="1828800"/>
          </a:xfrm>
          <a:prstGeom prst="rect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Roboto"/>
              </a:rPr>
              <a:t>Präsentationstitel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0">
                <a:solidFill>
                  <a:srgbClr val="549EDE"/>
                </a:solidFill>
                <a:latin typeface="Open Sans"/>
              </a:rPr>
              <a:t>Untertitel der Präsentation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F3F5F7"/>
                </a:solidFill>
                <a:latin typeface="Open Sans"/>
              </a:rPr>
              <a:t>Januar 2026 | FehrAdvice &amp; Partners 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760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F3F5F7"/>
                </a:solidFill>
                <a:latin typeface="Open Sans"/>
              </a:rPr>
              <a:t>[LOGO]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Robot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549EDE"/>
                </a:solidFill>
                <a:latin typeface="Robot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25212A"/>
                </a:solidFill>
                <a:latin typeface="Open Sans"/>
              </a:rPr>
              <a:t>Ausgangslage und Ziele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549EDE"/>
                </a:solidFill>
                <a:latin typeface="Robot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25212A"/>
                </a:solidFill>
                <a:latin typeface="Open Sans"/>
              </a:rPr>
              <a:t>Analyse und Erkenntnisse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549EDE"/>
                </a:solidFill>
                <a:latin typeface="Robo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57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25212A"/>
                </a:solidFill>
                <a:latin typeface="Open Sans"/>
              </a:rPr>
              <a:t>Empfehlungen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549EDE"/>
                </a:solidFill>
                <a:latin typeface="Roboto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6634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25212A"/>
                </a:solidFill>
                <a:latin typeface="Open Sans"/>
              </a:rPr>
              <a:t>Nächste Schritte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560320"/>
            <a:ext cx="1371600" cy="1371600"/>
          </a:xfrm>
          <a:prstGeom prst="ellipse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Ausgangslage und Ziele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Roboto"/>
              </a:rPr>
              <a:t>Kontext und Herausforderung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Erster Aufzählungspunkt mit wichtiger Information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Zweiter Punkt erklärt weitere Details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Dritter Punkt fasst Erkenntnisse zusammen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Vierter Punkt gibt Handlungsempfehlung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25212A"/>
                </a:solidFill>
                <a:latin typeface="Open Sans"/>
              </a:rPr>
              <a:t>FehrAdvice &amp; Partners 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5212A"/>
                </a:solidFill>
                <a:latin typeface="Open Sans"/>
              </a:rPr>
              <a:t>Vertraulich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Roboto"/>
              </a:rPr>
              <a:t>Vergleich: Ist vs. Soll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549EDE"/>
                </a:solidFill>
                <a:latin typeface="Roboto"/>
              </a:rPr>
              <a:t>Linke Spalte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25212A"/>
                </a:solidFill>
                <a:latin typeface="Open Sans"/>
              </a:rPr>
              <a:t>Inhalt der linken Spalte. Hier können Texte, Aufzählungen oder andere Inhalte platziert werden.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371600"/>
            <a:ext cx="27432" cy="4572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549EDE"/>
                </a:solidFill>
                <a:latin typeface="Roboto"/>
              </a:rPr>
              <a:t>Rechte Spalte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25212A"/>
                </a:solidFill>
                <a:latin typeface="Open Sans"/>
              </a:rPr>
              <a:t>Inhalt der rechten Spalte. Ideal für Vergleiche, Gegenüberstellungen oder ergänzende Informationen.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25212A"/>
                </a:solidFill>
                <a:latin typeface="Open Sans"/>
              </a:rPr>
              <a:t>FehrAdvice &amp; Partners 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5212A"/>
                </a:solidFill>
                <a:latin typeface="Open Sans"/>
              </a:rPr>
              <a:t>Vertraulich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560320"/>
            <a:ext cx="1371600" cy="1371600"/>
          </a:xfrm>
          <a:prstGeom prst="ellipse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Analyse und Erkenntnisse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Roboto"/>
              </a:rPr>
              <a:t>Datenanalyse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00" cy="4754880"/>
          </a:xfrm>
          <a:prstGeom prst="rect">
            <a:avLst/>
          </a:prstGeom>
          <a:solidFill>
            <a:srgbClr val="F3F5F7"/>
          </a:solidFill>
          <a:ln>
            <a:solidFill>
              <a:srgbClr val="549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25212A"/>
                </a:solidFill>
                <a:latin typeface="Open Sans"/>
              </a:rPr>
              <a:t>[Chart / Grafik hier einfügen]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549EDE"/>
                </a:solidFill>
                <a:latin typeface="Roboto"/>
              </a:rPr>
              <a:t>Kernaussagen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400" b="0" i="0">
                <a:solidFill>
                  <a:srgbClr val="25212A"/>
                </a:solidFill>
                <a:latin typeface="Open Sans"/>
              </a:rPr>
              <a:t>●  Erste Beobachtung aus den Daten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25212A"/>
                </a:solidFill>
                <a:latin typeface="Open Sans"/>
              </a:rPr>
              <a:t>●  Zweite wichtige Erkenntnis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25212A"/>
                </a:solidFill>
                <a:latin typeface="Open Sans"/>
              </a:rPr>
              <a:t>●  Implikation für die Praxis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25212A"/>
                </a:solidFill>
                <a:latin typeface="Open Sans"/>
              </a:rPr>
              <a:t>FehrAdvice &amp; Partners 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5212A"/>
                </a:solidFill>
                <a:latin typeface="Open Sans"/>
              </a:rPr>
              <a:t>Vertraulich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49EDE"/>
                </a:solidFill>
                <a:latin typeface="Roboto"/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24079"/>
                </a:solidFill>
                <a:latin typeface="Roboto"/>
              </a:rPr>
              <a:t>Verhaltensökonomische Interventionen können die Conversion Rate um 23% steigern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→  Basierend auf 15 A/B-Tests mit &gt;10'000 Teilnehmenden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→  Grösster Effekt durch optimierte Default-Optionen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→  ROI von 4.2x innerhalb von 6 Monaten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25212A"/>
                </a:solidFill>
                <a:latin typeface="Open Sans"/>
              </a:rPr>
              <a:t>FehrAdvice &amp; Partners 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5212A"/>
                </a:solidFill>
                <a:latin typeface="Open Sans"/>
              </a:rPr>
              <a:t>Vertraulich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560320"/>
            <a:ext cx="1371600" cy="1371600"/>
          </a:xfrm>
          <a:prstGeom prst="ellipse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Empfehlungen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Roboto"/>
              </a:rPr>
              <a:t>Handlungsempfehlungen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Implementierung eines Nudge-Frameworks für alle Kundenkontaktpunkte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Schulung der Teams in verhaltensökonomischen Grundlagen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Aufbau eines systematischen A/B-Testing Prozesses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Quartalsweise Review und Optimierung der Massnahmen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25212A"/>
                </a:solidFill>
                <a:latin typeface="Open Sans"/>
              </a:rPr>
              <a:t>FehrAdvice &amp; Partners 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5212A"/>
                </a:solidFill>
                <a:latin typeface="Open Sans"/>
              </a:rPr>
              <a:t>Vertraulich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0" i="0">
                <a:solidFill>
                  <a:srgbClr val="024079"/>
                </a:solidFill>
                <a:latin typeface="Playfair Display"/>
              </a:rPr>
              <a:t>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i="1">
                <a:solidFill>
                  <a:srgbClr val="FFFFFF"/>
                </a:solidFill>
                <a:latin typeface="Playfair Display"/>
              </a:rPr>
              <a:t>Der beste Weg, Verhalten zu ändern, ist nicht, Menschen zu überzeugen, sondern es ihnen leicht zu machen.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24079"/>
                </a:solidFill>
                <a:latin typeface="Open Sans"/>
              </a:rPr>
              <a:t>— Richard Thaler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560320"/>
            <a:ext cx="1371600" cy="1371600"/>
          </a:xfrm>
          <a:prstGeom prst="ellipse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Nächste Schritte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Roboto"/>
              </a:rPr>
              <a:t>Projektplan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73152"/>
          </a:xfrm>
          <a:prstGeom prst="rect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Phase 1: Discovery Workshop (2 Wochen)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Phase 2: Analyse und Konzeption (4 Wochen)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Phase 3: Pilotierung (6 Wochen)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0" i="0">
                <a:solidFill>
                  <a:srgbClr val="25212A"/>
                </a:solidFill>
                <a:latin typeface="Open Sans"/>
              </a:rPr>
              <a:t>●  Phase 4: Rollout und Skalierung (8 Wochen)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25212A"/>
                </a:solidFill>
                <a:latin typeface="Open Sans"/>
              </a:rPr>
              <a:t>FehrAdvice &amp; Partners 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5212A"/>
                </a:solidFill>
                <a:latin typeface="Open Sans"/>
              </a:rPr>
              <a:t>Vertraulich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Roboto"/>
              </a:rPr>
              <a:t>Vielen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0">
                <a:solidFill>
                  <a:srgbClr val="549EDE"/>
                </a:solidFill>
                <a:latin typeface="Open Sans"/>
              </a:rPr>
              <a:t>für Ihre Aufmerksamkeit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FehrAdvice &amp; Partners AG</a:t>
            </a:r>
          </a:p>
          <a:p>
            <a:r>
              <a:rPr sz="1400" b="0" i="0">
                <a:solidFill>
                  <a:srgbClr val="F3F5F7"/>
                </a:solidFill>
                <a:latin typeface="Open Sans"/>
              </a:rPr>
              <a:t>Klausstrasse 20</a:t>
            </a:r>
          </a:p>
          <a:p>
            <a:r>
              <a:rPr sz="1400" b="0" i="0">
                <a:solidFill>
                  <a:srgbClr val="F3F5F7"/>
                </a:solidFill>
                <a:latin typeface="Open Sans"/>
              </a:rPr>
              <a:t>8008 Zürich</a:t>
            </a:r>
          </a:p>
          <a:p>
            <a:r>
              <a:rPr sz="1400" b="0" i="0">
                <a:solidFill>
                  <a:srgbClr val="F3F5F7"/>
                </a:solidFill>
                <a:latin typeface="Open Sans"/>
              </a:rPr>
              <a:t/>
            </a:r>
          </a:p>
          <a:p>
            <a:r>
              <a:rPr sz="1400" b="0" i="0">
                <a:solidFill>
                  <a:srgbClr val="549EDE"/>
                </a:solidFill>
                <a:latin typeface="Open Sans"/>
              </a:rPr>
              <a:t>www.fehradvice.com</a:t>
            </a:r>
          </a:p>
          <a:p>
            <a:r>
              <a:rPr sz="1400" b="0" i="0">
                <a:solidFill>
                  <a:srgbClr val="549EDE"/>
                </a:solidFill>
                <a:latin typeface="Open Sans"/>
              </a:rPr>
              <a:t>info@fehradvice.com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200400" cy="4114800"/>
          </a:xfrm>
          <a:prstGeom prst="rect">
            <a:avLst/>
          </a:prstGeom>
          <a:solidFill>
            <a:srgbClr val="549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292608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024079"/>
                </a:solidFill>
                <a:latin typeface="Open Sans"/>
              </a:rPr>
              <a:t>[LOGO]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